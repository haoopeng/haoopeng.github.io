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15" r:id="rId4"/>
    <p:sldId id="316" r:id="rId5"/>
    <p:sldId id="261" r:id="rId6"/>
    <p:sldId id="299" r:id="rId7"/>
    <p:sldId id="300" r:id="rId8"/>
    <p:sldId id="301" r:id="rId9"/>
    <p:sldId id="302" r:id="rId10"/>
    <p:sldId id="303" r:id="rId11"/>
    <p:sldId id="314" r:id="rId12"/>
    <p:sldId id="307" r:id="rId13"/>
    <p:sldId id="312" r:id="rId14"/>
    <p:sldId id="313" r:id="rId15"/>
    <p:sldId id="309" r:id="rId16"/>
    <p:sldId id="310" r:id="rId17"/>
    <p:sldId id="311" r:id="rId18"/>
    <p:sldId id="317" r:id="rId19"/>
    <p:sldId id="306" r:id="rId20"/>
    <p:sldId id="305" r:id="rId2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103"/>
    <p:restoredTop sz="96176"/>
  </p:normalViewPr>
  <p:slideViewPr>
    <p:cSldViewPr snapToGrid="0">
      <p:cViewPr varScale="1">
        <p:scale>
          <a:sx n="75" d="100"/>
          <a:sy n="75" d="100"/>
        </p:scale>
        <p:origin x="16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9" name="Shape 1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5000"/>
              </a:lnSpc>
              <a:defRPr sz="2000"/>
            </a:pPr>
            <a:r>
              <a:rPr dirty="0"/>
              <a:t>Good morning, everyone. Thanks for the nice intro. My name is Hao. I’m very thrilled to be here today</a:t>
            </a:r>
            <a:r>
              <a:rPr lang="en-US" dirty="0"/>
              <a:t>.</a:t>
            </a:r>
          </a:p>
          <a:p>
            <a:pPr>
              <a:lnSpc>
                <a:spcPct val="125000"/>
              </a:lnSpc>
              <a:defRPr sz="2000"/>
            </a:pPr>
            <a:endParaRPr dirty="0"/>
          </a:p>
          <a:p>
            <a:pPr>
              <a:lnSpc>
                <a:spcPct val="125000"/>
              </a:lnSpc>
              <a:defRPr sz="2000"/>
            </a:pPr>
            <a:r>
              <a:rPr dirty="0"/>
              <a:t>Today, I want to share with you about my recent work on the science of innovation.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5" name="Shape 19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25000"/>
              </a:lnSpc>
              <a:defRPr sz="2000"/>
            </a:lvl1pPr>
          </a:lstStyle>
          <a:p>
            <a:r>
              <a:rPr dirty="0"/>
              <a:t>My recent work studies …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5000"/>
              </a:lnSpc>
              <a:defRPr sz="2000"/>
            </a:pPr>
            <a:r>
              <a:rPr dirty="0"/>
              <a:t>Recent lite suggests that …</a:t>
            </a:r>
          </a:p>
          <a:p>
            <a:pPr>
              <a:lnSpc>
                <a:spcPct val="125000"/>
              </a:lnSpc>
              <a:defRPr sz="2000"/>
            </a:pPr>
            <a:r>
              <a:rPr dirty="0"/>
              <a:t>E.g. While grants are expected to fund novel research, existing evidence shows that …</a:t>
            </a:r>
          </a:p>
          <a:p>
            <a:pPr>
              <a:lnSpc>
                <a:spcPct val="125000"/>
              </a:lnSpc>
              <a:defRPr sz="2000"/>
            </a:pPr>
            <a:r>
              <a:rPr dirty="0"/>
              <a:t>A paper published last year in Nature shows that …</a:t>
            </a:r>
          </a:p>
          <a:p>
            <a:pPr>
              <a:lnSpc>
                <a:spcPct val="125000"/>
              </a:lnSpc>
              <a:defRPr sz="2000"/>
            </a:pPr>
            <a:endParaRPr lang="en-US" dirty="0"/>
          </a:p>
          <a:p>
            <a:pPr>
              <a:lnSpc>
                <a:spcPct val="125000"/>
              </a:lnSpc>
              <a:defRPr sz="2000"/>
            </a:pPr>
            <a:r>
              <a:rPr lang="en-US" dirty="0"/>
              <a:t>Our previous work shows that…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0" name="Shape 2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 fact, we find systematic difficulties in …</a:t>
            </a:r>
          </a:p>
          <a:p>
            <a:r>
              <a:t>First, there is a paradigm shift towards …, which creates a mismatch between inter. and reviewer expertise.</a:t>
            </a:r>
          </a:p>
          <a:p>
            <a:r>
              <a:t>Second, although everyone likes novel work, but gatekeepers show different sensitivity to novelty in reality.</a:t>
            </a:r>
          </a:p>
          <a:p>
            <a:endParaRPr/>
          </a:p>
          <a:p>
            <a:r>
              <a:t>To find solutions, we need a deep understanding of innovation.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4" name="Shape 2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While reasons of rejections are complex, our recent work published in PNAS reveals that …</a:t>
            </a:r>
          </a:p>
          <a:p>
            <a:r>
              <a:rPr lang="en-US" dirty="0"/>
              <a:t>The communication process is often overlooked by researchers.</a:t>
            </a:r>
          </a:p>
          <a:p>
            <a:r>
              <a:rPr lang="en-US" dirty="0"/>
              <a:t>We find that …</a:t>
            </a:r>
          </a:p>
          <a:p>
            <a:r>
              <a:rPr lang="en-US" dirty="0"/>
              <a:t>Our next question is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60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05" name="Shape 60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Function words are words that do not contain actual meaning but support the delivery of the content, such as quantifiers and pronouns.</a:t>
            </a:r>
          </a:p>
          <a:p>
            <a:r>
              <a:rPr dirty="0"/>
              <a:t>For example, “you” is very useful in addressing reviewer comments in author response letters.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hape 61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13" name="Shape 61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This motivates our focus on first-person plural …</a:t>
            </a:r>
          </a:p>
          <a:p>
            <a:r>
              <a:rPr lang="en-US" dirty="0"/>
              <a:t>Social media and cultural products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Creates</a:t>
            </a:r>
          </a:p>
          <a:p>
            <a:r>
              <a:rPr lang="en-US" dirty="0" err="1"/>
              <a:t>Singals</a:t>
            </a:r>
            <a:endParaRPr lang="en-US" dirty="0"/>
          </a:p>
          <a:p>
            <a:r>
              <a:rPr lang="en-US" dirty="0"/>
              <a:t>Communicates</a:t>
            </a:r>
          </a:p>
          <a:p>
            <a:r>
              <a:rPr lang="en-US" dirty="0"/>
              <a:t>Softens </a:t>
            </a:r>
          </a:p>
        </p:txBody>
      </p:sp>
    </p:spTree>
    <p:extLst>
      <p:ext uri="{BB962C8B-B14F-4D97-AF65-F5344CB8AC3E}">
        <p14:creationId xmlns:p14="http://schemas.microsoft.com/office/powerpoint/2010/main" val="795908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62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24" name="Shape 62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first is the NNF,</a:t>
            </a:r>
          </a:p>
          <a:p>
            <a:r>
              <a:t>We also got full-text manuscripts (including rejected ones) submitted to BMJO and ICLR. </a:t>
            </a:r>
          </a:p>
          <a:p>
            <a:r>
              <a:t>BMJO is a journal focusing on biology and ICLR is a top CS conference focusing on AI and LLM.</a:t>
            </a:r>
          </a:p>
          <a:p>
            <a:r>
              <a:t>This collection of data covers across …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Explaining power.</a:t>
            </a:r>
          </a:p>
        </p:txBody>
      </p:sp>
    </p:spTree>
    <p:extLst>
      <p:ext uri="{BB962C8B-B14F-4D97-AF65-F5344CB8AC3E}">
        <p14:creationId xmlns:p14="http://schemas.microsoft.com/office/powerpoint/2010/main" val="2266537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3B5D9-3661-2E96-4363-98D9737EC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4EC53-74E1-69B0-1419-D43F2B0D0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005A6-B4E7-868D-7DDC-CBE4C120B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Explaining power.</a:t>
            </a:r>
          </a:p>
        </p:txBody>
      </p:sp>
    </p:spTree>
    <p:extLst>
      <p:ext uri="{BB962C8B-B14F-4D97-AF65-F5344CB8AC3E}">
        <p14:creationId xmlns:p14="http://schemas.microsoft.com/office/powerpoint/2010/main" val="3452571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Shape 68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82" name="Shape 68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25000"/>
              </a:lnSpc>
              <a:defRPr sz="2000"/>
            </a:lvl1pPr>
          </a:lstStyle>
          <a:p>
            <a:r>
              <a:t>Finally, I would like to acknowledge my awesome collaborators, and funders and organizations who provided resources and datasets in our research.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40714" y="7544460"/>
            <a:ext cx="11717870" cy="339723"/>
          </a:xfrm>
          <a:prstGeom prst="rect">
            <a:avLst/>
          </a:prstGeom>
        </p:spPr>
        <p:txBody>
          <a:bodyPr lIns="24383" tIns="24383" rIns="24383" bIns="24383"/>
          <a:lstStyle>
            <a:lvl1pPr defTabSz="487228">
              <a:defRPr sz="1992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616374" y="528319"/>
            <a:ext cx="14264642" cy="85434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43466" y="5019040"/>
            <a:ext cx="11717868" cy="2479041"/>
          </a:xfrm>
          <a:prstGeom prst="rect">
            <a:avLst/>
          </a:prstGeom>
        </p:spPr>
        <p:txBody>
          <a:bodyPr/>
          <a:lstStyle/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44101" y="1809140"/>
            <a:ext cx="11716599" cy="339722"/>
          </a:xfrm>
          <a:prstGeom prst="rect">
            <a:avLst/>
          </a:prstGeom>
        </p:spPr>
        <p:txBody>
          <a:bodyPr lIns="24383" tIns="24383" rIns="24383" bIns="24383"/>
          <a:lstStyle>
            <a:lvl1pPr defTabSz="487228">
              <a:defRPr sz="1992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43466" y="7411152"/>
            <a:ext cx="11717868" cy="595708"/>
          </a:xfrm>
          <a:prstGeom prst="rect">
            <a:avLst/>
          </a:prstGeom>
        </p:spPr>
        <p:txBody>
          <a:bodyPr/>
          <a:lstStyle/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>
            <a:spLocks noGrp="1"/>
          </p:cNvSpPr>
          <p:nvPr>
            <p:ph type="pic" sz="half" idx="21"/>
          </p:nvPr>
        </p:nvSpPr>
        <p:spPr>
          <a:xfrm>
            <a:off x="5852159" y="1110826"/>
            <a:ext cx="6477248" cy="75387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43466" y="1896533"/>
            <a:ext cx="5215468" cy="3137213"/>
          </a:xfrm>
          <a:prstGeom prst="rect">
            <a:avLst/>
          </a:prstGeom>
        </p:spPr>
        <p:txBody>
          <a:bodyPr/>
          <a:lstStyle>
            <a:lvl1pPr>
              <a:defRPr sz="6000" spc="-119"/>
            </a:lvl1pPr>
          </a:lstStyle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43466" y="4984841"/>
            <a:ext cx="5215468" cy="2872226"/>
          </a:xfrm>
          <a:prstGeom prst="rect">
            <a:avLst/>
          </a:prstGeom>
        </p:spPr>
        <p:txBody>
          <a:bodyPr/>
          <a:lstStyle/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52645" y="8120884"/>
            <a:ext cx="292846" cy="276894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43466" y="1794933"/>
            <a:ext cx="11717868" cy="764354"/>
          </a:xfrm>
          <a:prstGeom prst="rect">
            <a:avLst/>
          </a:prstGeom>
        </p:spPr>
        <p:txBody>
          <a:bodyPr anchor="t"/>
          <a:lstStyle>
            <a:lvl1pPr>
              <a:defRPr sz="6000" spc="-119"/>
            </a:lvl1pPr>
          </a:lstStyle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43466" y="2484779"/>
            <a:ext cx="117178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43466" y="3485069"/>
            <a:ext cx="11717868" cy="4403207"/>
          </a:xfrm>
          <a:prstGeom prst="rect">
            <a:avLst/>
          </a:prstGeom>
        </p:spPr>
        <p:txBody>
          <a:bodyPr/>
          <a:lstStyle>
            <a:lvl1pPr marL="4318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1pPr>
            <a:lvl2pPr marL="10414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2pPr>
            <a:lvl3pPr marL="16510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3pPr>
            <a:lvl4pPr marL="22606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4pPr>
            <a:lvl5pPr marL="28702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43466" y="3485069"/>
            <a:ext cx="11717868" cy="4403207"/>
          </a:xfrm>
          <a:prstGeom prst="rect">
            <a:avLst/>
          </a:prstGeom>
        </p:spPr>
        <p:txBody>
          <a:bodyPr numCol="2" spcCol="585893"/>
          <a:lstStyle>
            <a:lvl1pPr marL="4318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1pPr>
            <a:lvl2pPr marL="10414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2pPr>
            <a:lvl3pPr marL="16510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3pPr>
            <a:lvl4pPr marL="22606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4pPr>
            <a:lvl5pPr marL="28702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43466" y="2484779"/>
            <a:ext cx="52154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43466" y="3485069"/>
            <a:ext cx="5215468" cy="4403536"/>
          </a:xfrm>
          <a:prstGeom prst="rect">
            <a:avLst/>
          </a:prstGeom>
        </p:spPr>
        <p:txBody>
          <a:bodyPr/>
          <a:lstStyle>
            <a:lvl1pPr marL="4318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1pPr>
            <a:lvl2pPr marL="10414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2pPr>
            <a:lvl3pPr marL="16510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3pPr>
            <a:lvl4pPr marL="22606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4pPr>
            <a:lvl5pPr marL="28702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, and shaved parmesan cheese"/>
          <p:cNvSpPr>
            <a:spLocks noGrp="1"/>
          </p:cNvSpPr>
          <p:nvPr>
            <p:ph type="pic" sz="half" idx="22"/>
          </p:nvPr>
        </p:nvSpPr>
        <p:spPr>
          <a:xfrm>
            <a:off x="6502400" y="1001991"/>
            <a:ext cx="5822333" cy="776311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43466" y="1794933"/>
            <a:ext cx="5215468" cy="765387"/>
          </a:xfrm>
          <a:prstGeom prst="rect">
            <a:avLst/>
          </a:prstGeom>
        </p:spPr>
        <p:txBody>
          <a:bodyPr anchor="t"/>
          <a:lstStyle>
            <a:lvl1pPr>
              <a:defRPr sz="6000" spc="-119"/>
            </a:lvl1pPr>
          </a:lstStyle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43466" y="2484779"/>
            <a:ext cx="52154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43466" y="3485069"/>
            <a:ext cx="5215468" cy="4403536"/>
          </a:xfrm>
          <a:prstGeom prst="rect">
            <a:avLst/>
          </a:prstGeom>
        </p:spPr>
        <p:txBody>
          <a:bodyPr/>
          <a:lstStyle>
            <a:lvl1pPr marL="4318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1pPr>
            <a:lvl2pPr marL="10414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2pPr>
            <a:lvl3pPr marL="16510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3pPr>
            <a:lvl4pPr marL="22606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4pPr>
            <a:lvl5pPr marL="28702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43466" y="1794933"/>
            <a:ext cx="5215468" cy="765387"/>
          </a:xfrm>
          <a:prstGeom prst="rect">
            <a:avLst/>
          </a:prstGeom>
        </p:spPr>
        <p:txBody>
          <a:bodyPr anchor="t"/>
          <a:lstStyle>
            <a:lvl1pPr>
              <a:defRPr sz="6000" spc="-119"/>
            </a:lvl1pPr>
          </a:lstStyle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43466" y="2484779"/>
            <a:ext cx="52154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43466" y="3485069"/>
            <a:ext cx="5215468" cy="4403536"/>
          </a:xfrm>
          <a:prstGeom prst="rect">
            <a:avLst/>
          </a:prstGeom>
        </p:spPr>
        <p:txBody>
          <a:bodyPr/>
          <a:lstStyle>
            <a:lvl1pPr marL="4318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1pPr>
            <a:lvl2pPr marL="10414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2pPr>
            <a:lvl3pPr marL="16510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3pPr>
            <a:lvl4pPr marL="22606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4pPr>
            <a:lvl5pPr marL="2870200" indent="-431800" defTabSz="1733930">
              <a:lnSpc>
                <a:spcPct val="90000"/>
              </a:lnSpc>
              <a:spcBef>
                <a:spcPts val="3200"/>
              </a:spcBef>
              <a:buSzPct val="123000"/>
              <a:buChar char="•"/>
              <a:defRPr sz="3400" b="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43466" y="1794933"/>
            <a:ext cx="5215468" cy="765387"/>
          </a:xfrm>
          <a:prstGeom prst="rect">
            <a:avLst/>
          </a:prstGeom>
        </p:spPr>
        <p:txBody>
          <a:bodyPr anchor="t"/>
          <a:lstStyle>
            <a:lvl1pPr>
              <a:defRPr sz="6000" spc="-119"/>
            </a:lvl1pPr>
          </a:lstStyle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43464" y="3637279"/>
            <a:ext cx="11717870" cy="2479042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52645" y="8120884"/>
            <a:ext cx="292846" cy="276894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43466" y="1794933"/>
            <a:ext cx="11717868" cy="765307"/>
          </a:xfrm>
          <a:prstGeom prst="rect">
            <a:avLst/>
          </a:prstGeom>
        </p:spPr>
        <p:txBody>
          <a:bodyPr anchor="t"/>
          <a:lstStyle>
            <a:lvl1pPr>
              <a:defRPr sz="6000" spc="-119"/>
            </a:lvl1pPr>
          </a:lstStyle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43466" y="2484779"/>
            <a:ext cx="117178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643466" y="1794933"/>
            <a:ext cx="11717868" cy="765387"/>
          </a:xfrm>
          <a:prstGeom prst="rect">
            <a:avLst/>
          </a:prstGeom>
        </p:spPr>
        <p:txBody>
          <a:bodyPr anchor="t"/>
          <a:lstStyle>
            <a:lvl1pPr>
              <a:defRPr sz="6000" spc="-119"/>
            </a:lvl1pPr>
          </a:lstStyle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43466" y="2484779"/>
            <a:ext cx="11717868" cy="498550"/>
          </a:xfrm>
          <a:prstGeom prst="rect">
            <a:avLst/>
          </a:prstGeom>
        </p:spPr>
        <p:txBody>
          <a:bodyPr lIns="24383" tIns="24383" rIns="24383" bIns="24383"/>
          <a:lstStyle>
            <a:lvl1pPr defTabSz="457877">
              <a:defRPr sz="2964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43466" y="3485069"/>
            <a:ext cx="11717868" cy="4403207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b="0" spc="-38"/>
            </a:lvl1pPr>
            <a:lvl2pPr>
              <a:spcBef>
                <a:spcPts val="1200"/>
              </a:spcBef>
              <a:defRPr b="0" spc="-38"/>
            </a:lvl2pPr>
            <a:lvl3pPr>
              <a:spcBef>
                <a:spcPts val="1200"/>
              </a:spcBef>
              <a:defRPr b="0" spc="-38"/>
            </a:lvl3pPr>
            <a:lvl4pPr>
              <a:spcBef>
                <a:spcPts val="1200"/>
              </a:spcBef>
              <a:defRPr b="0" spc="-38"/>
            </a:lvl4pPr>
            <a:lvl5pPr>
              <a:spcBef>
                <a:spcPts val="1200"/>
              </a:spcBef>
              <a:defRPr b="0" spc="-38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43466" y="3843649"/>
            <a:ext cx="11717868" cy="2066302"/>
          </a:xfrm>
          <a:prstGeom prst="rect">
            <a:avLst/>
          </a:prstGeom>
        </p:spPr>
        <p:txBody>
          <a:bodyPr anchor="ctr"/>
          <a:lstStyle>
            <a:lvl1pPr algn="ctr" defTabSz="1733930">
              <a:lnSpc>
                <a:spcPct val="80000"/>
              </a:lnSpc>
              <a:defRPr sz="8200" b="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algn="ctr" defTabSz="1733930">
              <a:lnSpc>
                <a:spcPct val="80000"/>
              </a:lnSpc>
              <a:defRPr sz="8200" b="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algn="ctr" defTabSz="1733930">
              <a:lnSpc>
                <a:spcPct val="80000"/>
              </a:lnSpc>
              <a:defRPr sz="8200" b="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algn="ctr" defTabSz="1733930">
              <a:lnSpc>
                <a:spcPct val="80000"/>
              </a:lnSpc>
              <a:defRPr sz="8200" b="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algn="ctr" defTabSz="1733930">
              <a:lnSpc>
                <a:spcPct val="80000"/>
              </a:lnSpc>
              <a:defRPr sz="8200" b="0" spc="-1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43466" y="1793027"/>
            <a:ext cx="11717868" cy="3862179"/>
          </a:xfrm>
          <a:prstGeom prst="rect">
            <a:avLst/>
          </a:prstGeom>
        </p:spPr>
        <p:txBody>
          <a:bodyPr anchor="b"/>
          <a:lstStyle>
            <a:lvl1pPr algn="ctr" defTabSz="1733930">
              <a:lnSpc>
                <a:spcPct val="80000"/>
              </a:lnSpc>
              <a:defRPr sz="17600" spc="-176"/>
            </a:lvl1pPr>
            <a:lvl2pPr algn="ctr" defTabSz="1733930">
              <a:lnSpc>
                <a:spcPct val="80000"/>
              </a:lnSpc>
              <a:defRPr sz="17600" spc="-176"/>
            </a:lvl2pPr>
            <a:lvl3pPr algn="ctr" defTabSz="1733930">
              <a:lnSpc>
                <a:spcPct val="80000"/>
              </a:lnSpc>
              <a:defRPr sz="17600" spc="-176"/>
            </a:lvl3pPr>
            <a:lvl4pPr algn="ctr" defTabSz="1733930">
              <a:lnSpc>
                <a:spcPct val="80000"/>
              </a:lnSpc>
              <a:defRPr sz="17600" spc="-176"/>
            </a:lvl4pPr>
            <a:lvl5pPr algn="ctr" defTabSz="1733930">
              <a:lnSpc>
                <a:spcPct val="80000"/>
              </a:lnSpc>
              <a:defRPr sz="17600" spc="-176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43466" y="5625696"/>
            <a:ext cx="11717868" cy="498550"/>
          </a:xfrm>
          <a:prstGeom prst="rect">
            <a:avLst/>
          </a:prstGeom>
        </p:spPr>
        <p:txBody>
          <a:bodyPr lIns="24383" tIns="24383" rIns="24383" bIns="24383"/>
          <a:lstStyle>
            <a:lvl1pPr algn="ctr" defTabSz="457877">
              <a:defRPr sz="2964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96013" y="6912775"/>
            <a:ext cx="10773362" cy="339723"/>
          </a:xfrm>
          <a:prstGeom prst="rect">
            <a:avLst/>
          </a:prstGeom>
        </p:spPr>
        <p:txBody>
          <a:bodyPr lIns="24383" tIns="24383" rIns="24383" bIns="24383"/>
          <a:lstStyle>
            <a:lvl1pPr defTabSz="487228">
              <a:defRPr sz="1992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935425" y="3853792"/>
            <a:ext cx="11133950" cy="2046016"/>
          </a:xfrm>
          <a:prstGeom prst="rect">
            <a:avLst/>
          </a:prstGeom>
        </p:spPr>
        <p:txBody>
          <a:bodyPr/>
          <a:lstStyle>
            <a:lvl1pPr marL="454345" indent="-334151" defTabSz="1733930">
              <a:lnSpc>
                <a:spcPct val="90000"/>
              </a:lnSpc>
              <a:defRPr sz="6000" b="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4345" indent="123048" defTabSz="1733930">
              <a:lnSpc>
                <a:spcPct val="90000"/>
              </a:lnSpc>
              <a:defRPr sz="6000" b="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4345" indent="580248" defTabSz="1733930">
              <a:lnSpc>
                <a:spcPct val="90000"/>
              </a:lnSpc>
              <a:defRPr sz="6000" b="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4345" indent="1037448" defTabSz="1733930">
              <a:lnSpc>
                <a:spcPct val="90000"/>
              </a:lnSpc>
              <a:defRPr sz="6000" b="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4345" indent="1494648" defTabSz="1733930">
              <a:lnSpc>
                <a:spcPct val="90000"/>
              </a:lnSpc>
              <a:defRPr sz="6000" b="0" spc="-119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>
            <a:spLocks noGrp="1"/>
          </p:cNvSpPr>
          <p:nvPr>
            <p:ph type="pic" sz="quarter" idx="21"/>
          </p:nvPr>
        </p:nvSpPr>
        <p:spPr>
          <a:xfrm>
            <a:off x="8405707" y="1761066"/>
            <a:ext cx="3967520" cy="317316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, and hummus "/>
          <p:cNvSpPr>
            <a:spLocks noGrp="1"/>
          </p:cNvSpPr>
          <p:nvPr>
            <p:ph type="pic" sz="half" idx="22"/>
          </p:nvPr>
        </p:nvSpPr>
        <p:spPr>
          <a:xfrm>
            <a:off x="7200053" y="3340946"/>
            <a:ext cx="5567681" cy="648009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, and shaved parmesan cheese"/>
          <p:cNvSpPr>
            <a:spLocks noGrp="1"/>
          </p:cNvSpPr>
          <p:nvPr>
            <p:ph type="pic" idx="23"/>
          </p:nvPr>
        </p:nvSpPr>
        <p:spPr>
          <a:xfrm>
            <a:off x="-74508" y="1483359"/>
            <a:ext cx="8859522" cy="664464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711201" y="-1727201"/>
            <a:ext cx="14427201" cy="1154176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80889" y="8167799"/>
            <a:ext cx="236357" cy="227721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43464" y="2592528"/>
            <a:ext cx="11717870" cy="247904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7093" tIns="27093" rIns="27093" bIns="27093" anchor="b">
            <a:normAutofit/>
          </a:bodyPr>
          <a:lstStyle/>
          <a:p>
            <a:r>
              <a:t>Presentation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40715" y="5071568"/>
            <a:ext cx="11717868" cy="101600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7093" tIns="27093" rIns="27093" bIns="27093">
            <a:normAutofit/>
          </a:bodyPr>
          <a:lstStyle/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52645" y="8118626"/>
            <a:ext cx="292846" cy="276894"/>
          </a:xfrm>
          <a:prstGeom prst="rect">
            <a:avLst/>
          </a:prstGeom>
          <a:ln w="3175">
            <a:miter lim="400000"/>
          </a:ln>
        </p:spPr>
        <p:txBody>
          <a:bodyPr wrap="none" lIns="27093" tIns="27093" rIns="27093" bIns="27093" anchor="b">
            <a:spAutoFit/>
          </a:bodyPr>
          <a:lstStyle>
            <a:lvl1pPr algn="ctr" defTabSz="415431">
              <a:lnSpc>
                <a:spcPct val="100000"/>
              </a:lnSpc>
              <a:spcBef>
                <a:spcPts val="0"/>
              </a:spcBef>
              <a:defRPr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200" b="1" i="0" u="none" strike="noStrike" cap="none" spc="-1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200" b="1" i="0" u="none" strike="noStrike" cap="none" spc="-1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200" b="1" i="0" u="none" strike="noStrike" cap="none" spc="-1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200" b="1" i="0" u="none" strike="noStrike" cap="none" spc="-1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200" b="1" i="0" u="none" strike="noStrike" cap="none" spc="-1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200" b="1" i="0" u="none" strike="noStrike" cap="none" spc="-1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200" b="1" i="0" u="none" strike="noStrike" cap="none" spc="-1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200" b="1" i="0" u="none" strike="noStrike" cap="none" spc="-1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200" b="1" i="0" u="none" strike="noStrike" cap="none" spc="-1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58702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8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4154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haoopeng.github.i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jpe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3" Type="http://schemas.openxmlformats.org/officeDocument/2006/relationships/image" Target="../media/image31.png"/><Relationship Id="rId21" Type="http://schemas.openxmlformats.org/officeDocument/2006/relationships/image" Target="../media/image49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jpeg"/><Relationship Id="rId22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530705" y="9333986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72" name="AI for Driving Discoveries in Computational Social Science and Science of Innovation"/>
          <p:cNvSpPr txBox="1"/>
          <p:nvPr/>
        </p:nvSpPr>
        <p:spPr>
          <a:xfrm>
            <a:off x="-88900" y="1219104"/>
            <a:ext cx="13182600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 defTabSz="584200">
              <a:lnSpc>
                <a:spcPct val="100000"/>
              </a:lnSpc>
              <a:spcBef>
                <a:spcPts val="400"/>
              </a:spcBef>
              <a:defRPr sz="4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sz="4000" dirty="0"/>
              <a:t>The Power of WE in Science Funding &amp; Publi</a:t>
            </a:r>
            <a:r>
              <a:rPr lang="en-US" altLang="zh-CN" sz="4000" dirty="0"/>
              <a:t>cation</a:t>
            </a:r>
            <a:endParaRPr sz="4000" dirty="0"/>
          </a:p>
        </p:txBody>
      </p:sp>
      <p:sp>
        <p:nvSpPr>
          <p:cNvPr id="173" name="Line"/>
          <p:cNvSpPr/>
          <p:nvPr/>
        </p:nvSpPr>
        <p:spPr>
          <a:xfrm>
            <a:off x="360548" y="2390583"/>
            <a:ext cx="12351664" cy="1"/>
          </a:xfrm>
          <a:prstGeom prst="line">
            <a:avLst/>
          </a:prstGeom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74" name="Hao Peng…"/>
          <p:cNvSpPr txBox="1"/>
          <p:nvPr/>
        </p:nvSpPr>
        <p:spPr>
          <a:xfrm>
            <a:off x="5671950" y="3316303"/>
            <a:ext cx="5831186" cy="284861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584200">
              <a:lnSpc>
                <a:spcPct val="100000"/>
              </a:lnSpc>
              <a:spcBef>
                <a:spcPts val="0"/>
              </a:spcBef>
              <a:defRPr sz="3000">
                <a:solidFill>
                  <a:srgbClr val="2076B4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Hao Peng</a:t>
            </a:r>
          </a:p>
          <a:p>
            <a:pPr defTabSz="584200">
              <a:lnSpc>
                <a:spcPct val="100000"/>
              </a:lnSpc>
              <a:spcBef>
                <a:spcPts val="0"/>
              </a:spcBef>
              <a:defRPr sz="2500"/>
            </a:pPr>
            <a:r>
              <a:t>Assistant Professor</a:t>
            </a:r>
          </a:p>
          <a:p>
            <a:pPr defTabSz="584200">
              <a:lnSpc>
                <a:spcPct val="100000"/>
              </a:lnSpc>
              <a:spcBef>
                <a:spcPts val="0"/>
              </a:spcBef>
              <a:defRPr sz="2500"/>
            </a:pPr>
            <a:r>
              <a:t>Department of Data Science</a:t>
            </a:r>
          </a:p>
          <a:p>
            <a:pPr defTabSz="584200">
              <a:lnSpc>
                <a:spcPct val="100000"/>
              </a:lnSpc>
              <a:spcBef>
                <a:spcPts val="0"/>
              </a:spcBef>
              <a:defRPr sz="2500"/>
            </a:pPr>
            <a:r>
              <a:t>City University of Hong Kong</a:t>
            </a:r>
          </a:p>
          <a:p>
            <a:pPr defTabSz="584200">
              <a:lnSpc>
                <a:spcPct val="100000"/>
              </a:lnSpc>
              <a:spcBef>
                <a:spcPts val="0"/>
              </a:spcBef>
              <a:defRPr sz="2500">
                <a:solidFill>
                  <a:srgbClr val="942192"/>
                </a:solidFill>
              </a:defRPr>
            </a:pPr>
            <a:r>
              <a:rPr u="sng">
                <a:hlinkClick r:id="rId3"/>
              </a:rPr>
              <a:t>https://haoopeng.github.io/</a:t>
            </a:r>
          </a:p>
        </p:txBody>
      </p:sp>
      <p:pic>
        <p:nvPicPr>
          <p:cNvPr id="175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337" y="3323829"/>
            <a:ext cx="1908890" cy="2544564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pic>
        <p:nvPicPr>
          <p:cNvPr id="176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1247" y="7090633"/>
            <a:ext cx="2927624" cy="1644953"/>
          </a:xfrm>
          <a:prstGeom prst="rect">
            <a:avLst/>
          </a:prstGeom>
          <a:ln w="3175">
            <a:miter lim="400000"/>
          </a:ln>
        </p:spPr>
      </p:pic>
      <p:sp>
        <p:nvSpPr>
          <p:cNvPr id="177" name="第三届计算社会科学国际会议@CUHK"/>
          <p:cNvSpPr txBox="1"/>
          <p:nvPr/>
        </p:nvSpPr>
        <p:spPr>
          <a:xfrm>
            <a:off x="6282700" y="7913109"/>
            <a:ext cx="2771933" cy="50783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8100" tIns="38100" rIns="38100" bIns="38100" anchor="ctr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500">
                <a:latin typeface="Corbel"/>
                <a:ea typeface="Corbel"/>
                <a:cs typeface="Corbel"/>
                <a:sym typeface="Corbel"/>
              </a:defRPr>
            </a:lvl1pPr>
          </a:lstStyle>
          <a:p>
            <a:r>
              <a:rPr lang="en-US" altLang="zh-TW" sz="2800" dirty="0"/>
              <a:t>Ju</a:t>
            </a:r>
            <a:r>
              <a:rPr lang="en-US" altLang="zh-CN" sz="2800" dirty="0"/>
              <a:t>ly</a:t>
            </a:r>
            <a:r>
              <a:rPr lang="zh-CN" altLang="en-US" sz="2800" dirty="0"/>
              <a:t> </a:t>
            </a:r>
            <a:r>
              <a:rPr lang="en-US" altLang="zh-CN" sz="2800" dirty="0"/>
              <a:t>0</a:t>
            </a:r>
            <a:r>
              <a:rPr lang="en-US" altLang="zh-TW" sz="2800" dirty="0"/>
              <a:t>3, 2026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530705" y="9333986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82" name="My current work: Leveraging AI and NLP to identify rhetorical strategies for facilitating the recognition of novel ideas in the whole scientific innovation pipeline"/>
          <p:cNvSpPr txBox="1"/>
          <p:nvPr/>
        </p:nvSpPr>
        <p:spPr>
          <a:xfrm>
            <a:off x="469762" y="755444"/>
            <a:ext cx="12381846" cy="133369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584200">
              <a:lnSpc>
                <a:spcPct val="100000"/>
              </a:lnSpc>
              <a:spcBef>
                <a:spcPts val="400"/>
              </a:spcBef>
              <a:defRPr sz="4000"/>
            </a:pPr>
            <a:r>
              <a:rPr lang="en-US" dirty="0"/>
              <a:t>Our</a:t>
            </a:r>
            <a:r>
              <a:rPr dirty="0"/>
              <a:t> current </a:t>
            </a:r>
            <a:r>
              <a:rPr lang="en-US" dirty="0"/>
              <a:t>work</a:t>
            </a:r>
            <a:r>
              <a:rPr dirty="0"/>
              <a:t>: </a:t>
            </a:r>
            <a:r>
              <a:rPr dirty="0">
                <a:solidFill>
                  <a:srgbClr val="2076B4"/>
                </a:solidFill>
              </a:rPr>
              <a:t>Leveraging NLP </a:t>
            </a:r>
            <a:r>
              <a:rPr lang="en-US" dirty="0">
                <a:solidFill>
                  <a:srgbClr val="2076B4"/>
                </a:solidFill>
              </a:rPr>
              <a:t>&amp; LLM </a:t>
            </a:r>
            <a:r>
              <a:rPr dirty="0">
                <a:solidFill>
                  <a:srgbClr val="2076B4"/>
                </a:solidFill>
              </a:rPr>
              <a:t>to identify </a:t>
            </a:r>
            <a:r>
              <a:rPr lang="en-US" altLang="zh-CN" dirty="0">
                <a:solidFill>
                  <a:srgbClr val="2076B4"/>
                </a:solidFill>
              </a:rPr>
              <a:t>linguistic</a:t>
            </a:r>
            <a:r>
              <a:rPr lang="zh-CN" altLang="en-US" dirty="0">
                <a:solidFill>
                  <a:srgbClr val="2076B4"/>
                </a:solidFill>
              </a:rPr>
              <a:t> </a:t>
            </a:r>
            <a:r>
              <a:rPr dirty="0">
                <a:solidFill>
                  <a:srgbClr val="2076B4"/>
                </a:solidFill>
              </a:rPr>
              <a:t>strateg</a:t>
            </a:r>
            <a:r>
              <a:rPr lang="en-US" dirty="0">
                <a:solidFill>
                  <a:srgbClr val="2076B4"/>
                </a:solidFill>
              </a:rPr>
              <a:t>y</a:t>
            </a:r>
            <a:r>
              <a:rPr dirty="0">
                <a:solidFill>
                  <a:srgbClr val="2076B4"/>
                </a:solidFill>
              </a:rPr>
              <a:t> for facilitating</a:t>
            </a:r>
            <a:r>
              <a:rPr lang="zh-CN" altLang="en-US" dirty="0">
                <a:solidFill>
                  <a:srgbClr val="2076B4"/>
                </a:solidFill>
              </a:rPr>
              <a:t> </a:t>
            </a:r>
            <a:r>
              <a:rPr lang="en-US" altLang="zh-CN" dirty="0">
                <a:solidFill>
                  <a:srgbClr val="2076B4"/>
                </a:solidFill>
              </a:rPr>
              <a:t>research</a:t>
            </a:r>
            <a:r>
              <a:rPr lang="zh-CN" altLang="en-US" dirty="0">
                <a:solidFill>
                  <a:srgbClr val="2076B4"/>
                </a:solidFill>
              </a:rPr>
              <a:t> </a:t>
            </a:r>
            <a:r>
              <a:rPr lang="en-US" altLang="zh-CN" dirty="0">
                <a:solidFill>
                  <a:srgbClr val="2076B4"/>
                </a:solidFill>
              </a:rPr>
              <a:t>evaluation</a:t>
            </a:r>
            <a:endParaRPr dirty="0">
              <a:solidFill>
                <a:srgbClr val="2076B4"/>
              </a:solidFill>
            </a:endParaRPr>
          </a:p>
        </p:txBody>
      </p:sp>
      <p:grpSp>
        <p:nvGrpSpPr>
          <p:cNvPr id="192" name="Group"/>
          <p:cNvGrpSpPr/>
          <p:nvPr/>
        </p:nvGrpSpPr>
        <p:grpSpPr>
          <a:xfrm>
            <a:off x="913637" y="3040990"/>
            <a:ext cx="10529197" cy="2494342"/>
            <a:chOff x="0" y="-6962"/>
            <a:chExt cx="10529195" cy="2494341"/>
          </a:xfrm>
        </p:grpSpPr>
        <p:grpSp>
          <p:nvGrpSpPr>
            <p:cNvPr id="189" name="Group"/>
            <p:cNvGrpSpPr/>
            <p:nvPr/>
          </p:nvGrpSpPr>
          <p:grpSpPr>
            <a:xfrm>
              <a:off x="0" y="-6962"/>
              <a:ext cx="10529195" cy="2494341"/>
              <a:chOff x="0" y="-6961"/>
              <a:chExt cx="10529194" cy="2494339"/>
            </a:xfrm>
          </p:grpSpPr>
          <p:pic>
            <p:nvPicPr>
              <p:cNvPr id="183" name="Funding-Featured-Image.png" descr="Funding-Featured-Image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719905"/>
                <a:ext cx="3081855" cy="1764926"/>
              </a:xfrm>
              <a:prstGeom prst="rect">
                <a:avLst/>
              </a:prstGeom>
              <a:ln w="25400" cap="flat">
                <a:solidFill>
                  <a:srgbClr val="F3F7F5"/>
                </a:solidFill>
                <a:prstDash val="solid"/>
                <a:miter lim="400000"/>
              </a:ln>
              <a:effectLst>
                <a:outerShdw blurRad="50800" dist="25400" dir="3600000" rotWithShape="0">
                  <a:srgbClr val="000000">
                    <a:alpha val="70000"/>
                  </a:srgbClr>
                </a:outerShdw>
              </a:effectLst>
            </p:spPr>
          </p:pic>
          <p:pic>
            <p:nvPicPr>
              <p:cNvPr id="184" name="6-min-1024x675.jpg" descr="6-min-1024x675.jp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75078" y="719905"/>
                <a:ext cx="2677459" cy="1764926"/>
              </a:xfrm>
              <a:prstGeom prst="rect">
                <a:avLst/>
              </a:prstGeom>
              <a:ln w="25400" cap="flat">
                <a:solidFill>
                  <a:srgbClr val="F3F7F5"/>
                </a:solidFill>
                <a:prstDash val="solid"/>
                <a:miter lim="400000"/>
              </a:ln>
              <a:effectLst>
                <a:outerShdw blurRad="50800" dist="25400" dir="3600000" rotWithShape="0">
                  <a:srgbClr val="000000">
                    <a:alpha val="70000"/>
                  </a:srgbClr>
                </a:outerShdw>
              </a:effectLst>
            </p:spPr>
          </p:pic>
          <p:sp>
            <p:nvSpPr>
              <p:cNvPr id="185" name="Funding"/>
              <p:cNvSpPr txBox="1"/>
              <p:nvPr/>
            </p:nvSpPr>
            <p:spPr>
              <a:xfrm>
                <a:off x="886877" y="0"/>
                <a:ext cx="1308101" cy="473391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 defTabSz="584200">
                  <a:lnSpc>
                    <a:spcPct val="100000"/>
                  </a:lnSpc>
                  <a:spcBef>
                    <a:spcPts val="0"/>
                  </a:spcBef>
                  <a:defRPr sz="25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r>
                  <a:t>Funding</a:t>
                </a:r>
              </a:p>
            </p:txBody>
          </p:sp>
          <p:sp>
            <p:nvSpPr>
              <p:cNvPr id="186" name="Publishing / Citation / Patent Application"/>
              <p:cNvSpPr txBox="1"/>
              <p:nvPr/>
            </p:nvSpPr>
            <p:spPr>
              <a:xfrm>
                <a:off x="3804508" y="-6961"/>
                <a:ext cx="3618599" cy="487312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 defTabSz="584200">
                  <a:lnSpc>
                    <a:spcPct val="100000"/>
                  </a:lnSpc>
                  <a:spcBef>
                    <a:spcPts val="0"/>
                  </a:spcBef>
                  <a:defRPr sz="25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r>
                  <a:rPr dirty="0"/>
                  <a:t>Publi</a:t>
                </a:r>
                <a:r>
                  <a:rPr lang="en-US" dirty="0"/>
                  <a:t>cation</a:t>
                </a:r>
                <a:r>
                  <a:rPr dirty="0"/>
                  <a:t> / Citation</a:t>
                </a:r>
              </a:p>
            </p:txBody>
          </p:sp>
          <p:sp>
            <p:nvSpPr>
              <p:cNvPr id="187" name="News Coverage"/>
              <p:cNvSpPr txBox="1"/>
              <p:nvPr/>
            </p:nvSpPr>
            <p:spPr>
              <a:xfrm>
                <a:off x="8097143" y="0"/>
                <a:ext cx="2432051" cy="473391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 algn="ctr" defTabSz="584200">
                  <a:lnSpc>
                    <a:spcPct val="100000"/>
                  </a:lnSpc>
                  <a:spcBef>
                    <a:spcPts val="0"/>
                  </a:spcBef>
                  <a:defRPr sz="2500"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lvl1pPr>
              </a:lstStyle>
              <a:p>
                <a:r>
                  <a:t>News Coverage</a:t>
                </a:r>
              </a:p>
            </p:txBody>
          </p:sp>
          <p:pic>
            <p:nvPicPr>
              <p:cNvPr id="188" name="GettyImages_97233613.jpg" descr="GettyImages_97233613.jpg"/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>
              <a:xfrm>
                <a:off x="8133060" y="717336"/>
                <a:ext cx="2360055" cy="1770042"/>
              </a:xfrm>
              <a:prstGeom prst="rect">
                <a:avLst/>
              </a:prstGeom>
              <a:ln w="3175" cap="flat">
                <a:noFill/>
                <a:miter lim="400000"/>
              </a:ln>
              <a:effectLst/>
            </p:spPr>
          </p:pic>
        </p:grpSp>
        <p:sp>
          <p:nvSpPr>
            <p:cNvPr id="190" name="Arrow"/>
            <p:cNvSpPr/>
            <p:nvPr/>
          </p:nvSpPr>
          <p:spPr>
            <a:xfrm>
              <a:off x="3259615" y="1534717"/>
              <a:ext cx="781406" cy="324307"/>
            </a:xfrm>
            <a:prstGeom prst="rightArrow">
              <a:avLst>
                <a:gd name="adj1" fmla="val 54688"/>
                <a:gd name="adj2" fmla="val 120941"/>
              </a:avLst>
            </a:prstGeom>
            <a:solidFill>
              <a:schemeClr val="accent1">
                <a:lumOff val="-13575"/>
              </a:schemeClr>
            </a:solidFill>
            <a:ln w="3175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1" name="Arrow"/>
            <p:cNvSpPr/>
            <p:nvPr/>
          </p:nvSpPr>
          <p:spPr>
            <a:xfrm>
              <a:off x="7186390" y="1534717"/>
              <a:ext cx="781405" cy="324306"/>
            </a:xfrm>
            <a:prstGeom prst="rightArrow">
              <a:avLst>
                <a:gd name="adj1" fmla="val 54688"/>
                <a:gd name="adj2" fmla="val 120941"/>
              </a:avLst>
            </a:prstGeom>
            <a:solidFill>
              <a:schemeClr val="accent1">
                <a:lumOff val="-13575"/>
              </a:schemeClr>
            </a:solidFill>
            <a:ln w="3175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193" name="Why is this necessary?"/>
          <p:cNvSpPr txBox="1"/>
          <p:nvPr/>
        </p:nvSpPr>
        <p:spPr>
          <a:xfrm>
            <a:off x="1824743" y="6568950"/>
            <a:ext cx="9049314" cy="102006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584200">
              <a:lnSpc>
                <a:spcPct val="100000"/>
              </a:lnSpc>
              <a:spcBef>
                <a:spcPts val="400"/>
              </a:spcBef>
              <a:defRPr sz="6000">
                <a:solidFill>
                  <a:srgbClr val="C00100"/>
                </a:solidFill>
              </a:defRPr>
            </a:lvl1pPr>
          </a:lstStyle>
          <a:p>
            <a:r>
              <a:t>Why is this necessary?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1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530705" y="9333986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205" name="Yet, conventional ideas are often selected…"/>
          <p:cNvSpPr txBox="1"/>
          <p:nvPr/>
        </p:nvSpPr>
        <p:spPr>
          <a:xfrm>
            <a:off x="421108" y="740626"/>
            <a:ext cx="10619425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4200">
              <a:lnSpc>
                <a:spcPct val="100000"/>
              </a:lnSpc>
              <a:spcBef>
                <a:spcPts val="400"/>
              </a:spcBef>
              <a:defRPr sz="4000">
                <a:solidFill>
                  <a:srgbClr val="C00100"/>
                </a:solidFill>
              </a:defRPr>
            </a:lvl1pPr>
          </a:lstStyle>
          <a:p>
            <a:r>
              <a:rPr lang="en-US" altLang="zh-CN" dirty="0"/>
              <a:t>Flaws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selecting</a:t>
            </a:r>
            <a:r>
              <a:rPr lang="zh-CN" altLang="en-US" dirty="0"/>
              <a:t> </a:t>
            </a:r>
            <a:r>
              <a:rPr lang="en-US" altLang="zh-CN" dirty="0"/>
              <a:t>high-quality</a:t>
            </a:r>
            <a:r>
              <a:rPr lang="zh-CN" altLang="en-US" dirty="0"/>
              <a:t> </a:t>
            </a:r>
            <a:r>
              <a:rPr lang="en-US" altLang="zh-CN" dirty="0"/>
              <a:t>ideas</a:t>
            </a:r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21E5A1-BF5E-A570-2B91-B0B2B084D3F9}"/>
              </a:ext>
            </a:extLst>
          </p:cNvPr>
          <p:cNvGrpSpPr/>
          <p:nvPr/>
        </p:nvGrpSpPr>
        <p:grpSpPr>
          <a:xfrm>
            <a:off x="1046732" y="2381187"/>
            <a:ext cx="11286260" cy="2234674"/>
            <a:chOff x="1046732" y="2381187"/>
            <a:chExt cx="11286260" cy="2234674"/>
          </a:xfrm>
        </p:grpSpPr>
        <p:pic>
          <p:nvPicPr>
            <p:cNvPr id="206" name="pasted-movie.png" descr="pasted-movi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732" y="2381187"/>
              <a:ext cx="7853590" cy="2234674"/>
            </a:xfrm>
            <a:prstGeom prst="rect">
              <a:avLst/>
            </a:prstGeom>
            <a:ln w="25400">
              <a:solidFill>
                <a:srgbClr val="000000"/>
              </a:solidFill>
              <a:miter lim="400000"/>
            </a:ln>
          </p:spPr>
        </p:pic>
        <p:pic>
          <p:nvPicPr>
            <p:cNvPr id="5" name="Funding-Featured-Image.png" descr="Funding-Featured-Image.png">
              <a:extLst>
                <a:ext uri="{FF2B5EF4-FFF2-40B4-BE49-F238E27FC236}">
                  <a16:creationId xmlns:a16="http://schemas.microsoft.com/office/drawing/2014/main" id="{C5AC236C-734A-DB8C-EFC6-AB3EBC50C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37987" y="2982610"/>
              <a:ext cx="1895005" cy="1085238"/>
            </a:xfrm>
            <a:prstGeom prst="rect">
              <a:avLst/>
            </a:prstGeom>
            <a:ln w="25400" cap="flat">
              <a:solidFill>
                <a:srgbClr val="F3F7F5"/>
              </a:solidFill>
              <a:prstDash val="solid"/>
              <a:miter lim="400000"/>
            </a:ln>
            <a:effectLst>
              <a:outerShdw blurRad="50800" dist="25400" dir="3600000" rotWithShape="0">
                <a:srgbClr val="000000">
                  <a:alpha val="70000"/>
                </a:srgbClr>
              </a:outerShdw>
            </a:effec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D32268E-E2D7-76E2-9A5E-7C6983C72029}"/>
              </a:ext>
            </a:extLst>
          </p:cNvPr>
          <p:cNvGrpSpPr/>
          <p:nvPr/>
        </p:nvGrpSpPr>
        <p:grpSpPr>
          <a:xfrm>
            <a:off x="1647882" y="4876800"/>
            <a:ext cx="10706375" cy="1825910"/>
            <a:chOff x="1647882" y="4876800"/>
            <a:chExt cx="10706375" cy="1825910"/>
          </a:xfrm>
        </p:grpSpPr>
        <p:pic>
          <p:nvPicPr>
            <p:cNvPr id="207" name="pasted-movie.png" descr="pasted-movi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47882" y="4876800"/>
              <a:ext cx="8165875" cy="1825910"/>
            </a:xfrm>
            <a:prstGeom prst="rect">
              <a:avLst/>
            </a:prstGeom>
            <a:ln w="25400">
              <a:solidFill>
                <a:srgbClr val="000000"/>
              </a:solidFill>
              <a:miter lim="400000"/>
            </a:ln>
          </p:spPr>
        </p:pic>
        <p:pic>
          <p:nvPicPr>
            <p:cNvPr id="6" name="6-min-1024x675.jpg" descr="6-min-1024x675.jpg">
              <a:extLst>
                <a:ext uri="{FF2B5EF4-FFF2-40B4-BE49-F238E27FC236}">
                  <a16:creationId xmlns:a16="http://schemas.microsoft.com/office/drawing/2014/main" id="{90657A8B-723E-6872-5A25-58F783E04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459252" y="5063091"/>
              <a:ext cx="1895005" cy="1249149"/>
            </a:xfrm>
            <a:prstGeom prst="rect">
              <a:avLst/>
            </a:prstGeom>
            <a:ln w="25400" cap="flat">
              <a:solidFill>
                <a:srgbClr val="F3F7F5"/>
              </a:solidFill>
              <a:prstDash val="solid"/>
              <a:miter lim="400000"/>
            </a:ln>
            <a:effectLst>
              <a:outerShdw blurRad="50800" dist="25400" dir="3600000" rotWithShape="0">
                <a:srgbClr val="000000">
                  <a:alpha val="70000"/>
                </a:srgbClr>
              </a:outerShdw>
            </a:effec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E6A1104-2C37-723A-6AA4-6FC93C87879C}"/>
              </a:ext>
            </a:extLst>
          </p:cNvPr>
          <p:cNvGrpSpPr/>
          <p:nvPr/>
        </p:nvGrpSpPr>
        <p:grpSpPr>
          <a:xfrm>
            <a:off x="1046732" y="6963649"/>
            <a:ext cx="11286259" cy="1825910"/>
            <a:chOff x="1046732" y="6963649"/>
            <a:chExt cx="11286259" cy="182591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294ABA8-35A9-7C85-4484-D8F6FEAB6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46732" y="6963649"/>
              <a:ext cx="8827036" cy="1825910"/>
            </a:xfrm>
            <a:prstGeom prst="rect">
              <a:avLst/>
            </a:prstGeom>
          </p:spPr>
        </p:pic>
        <p:pic>
          <p:nvPicPr>
            <p:cNvPr id="7" name="GettyImages_97233613.jpg" descr="GettyImages_97233613.jpg">
              <a:extLst>
                <a:ext uri="{FF2B5EF4-FFF2-40B4-BE49-F238E27FC236}">
                  <a16:creationId xmlns:a16="http://schemas.microsoft.com/office/drawing/2014/main" id="{2FEE61EF-C906-7FEB-21D4-6F10C50FE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>
              <a:off x="10437986" y="7165976"/>
              <a:ext cx="1895005" cy="1421255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530705" y="9333986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229" name="Are there practical strategies for facilitating this process?"/>
          <p:cNvSpPr txBox="1"/>
          <p:nvPr/>
        </p:nvSpPr>
        <p:spPr>
          <a:xfrm>
            <a:off x="737383" y="8177524"/>
            <a:ext cx="11926181" cy="600542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7093" tIns="27093" rIns="27093" bIns="27093" anchor="ctr">
            <a:spAutoFit/>
          </a:bodyPr>
          <a:lstStyle>
            <a:lvl1pPr defTabSz="457200">
              <a:lnSpc>
                <a:spcPts val="5200"/>
              </a:lnSpc>
              <a:spcBef>
                <a:spcPts val="0"/>
              </a:spcBef>
              <a:defRPr sz="3500">
                <a:solidFill>
                  <a:srgbClr val="C00100"/>
                </a:solidFill>
              </a:defRPr>
            </a:lvl1pPr>
          </a:lstStyle>
          <a:p>
            <a:r>
              <a:t>Are there practical strategies for facilitating this process?</a:t>
            </a:r>
          </a:p>
        </p:txBody>
      </p:sp>
      <p:sp>
        <p:nvSpPr>
          <p:cNvPr id="230" name="Systematic difficulties in recognizing novel ideas"/>
          <p:cNvSpPr txBox="1"/>
          <p:nvPr/>
        </p:nvSpPr>
        <p:spPr>
          <a:xfrm>
            <a:off x="463735" y="442972"/>
            <a:ext cx="12366235" cy="133369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584200">
              <a:lnSpc>
                <a:spcPct val="100000"/>
              </a:lnSpc>
              <a:spcBef>
                <a:spcPts val="400"/>
              </a:spcBef>
              <a:defRPr sz="4000"/>
            </a:pPr>
            <a:r>
              <a:rPr lang="en-US" dirty="0"/>
              <a:t>We find s</a:t>
            </a:r>
            <a:r>
              <a:rPr dirty="0"/>
              <a:t>ystematic </a:t>
            </a:r>
            <a:r>
              <a:rPr dirty="0">
                <a:solidFill>
                  <a:srgbClr val="2076B4"/>
                </a:solidFill>
              </a:rPr>
              <a:t>difficulties</a:t>
            </a:r>
            <a:r>
              <a:rPr dirty="0"/>
              <a:t> in recognizing novel idea</a:t>
            </a:r>
            <a:r>
              <a:rPr lang="en-US" dirty="0"/>
              <a:t>s w/ growing complexity in research landscape</a:t>
            </a:r>
            <a:endParaRPr dirty="0"/>
          </a:p>
        </p:txBody>
      </p:sp>
      <p:grpSp>
        <p:nvGrpSpPr>
          <p:cNvPr id="234" name="Group"/>
          <p:cNvGrpSpPr/>
          <p:nvPr/>
        </p:nvGrpSpPr>
        <p:grpSpPr>
          <a:xfrm>
            <a:off x="662811" y="2244347"/>
            <a:ext cx="12075326" cy="2653254"/>
            <a:chOff x="0" y="-3264"/>
            <a:chExt cx="12075325" cy="2653253"/>
          </a:xfrm>
        </p:grpSpPr>
        <p:sp>
          <p:nvSpPr>
            <p:cNvPr id="231" name="The rise of interdisciplinary work poses challenges to research evaluation:"/>
            <p:cNvSpPr txBox="1"/>
            <p:nvPr/>
          </p:nvSpPr>
          <p:spPr>
            <a:xfrm>
              <a:off x="0" y="-3264"/>
              <a:ext cx="12075325" cy="470214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7093" tIns="27093" rIns="27093" bIns="27093" numCol="1" anchor="ctr">
              <a:spAutoFit/>
            </a:bodyPr>
            <a:lstStyle>
              <a:lvl1pPr marL="254000" indent="-254000" defTabSz="457200">
                <a:lnSpc>
                  <a:spcPct val="100000"/>
                </a:lnSpc>
                <a:spcBef>
                  <a:spcPts val="0"/>
                </a:spcBef>
                <a:buSzPct val="100000"/>
                <a:buChar char="•"/>
                <a:defRPr sz="2700">
                  <a:solidFill>
                    <a:srgbClr val="2076B4"/>
                  </a:solidFill>
                </a:defRPr>
              </a:lvl1pPr>
            </a:lstStyle>
            <a:p>
              <a:r>
                <a:rPr dirty="0"/>
                <a:t>The rise of interdisciplinary work poses challenges to research evaluation</a:t>
              </a:r>
            </a:p>
          </p:txBody>
        </p:sp>
        <p:pic>
          <p:nvPicPr>
            <p:cNvPr id="232" name="pasted-movie.png" descr="pasted-movi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2444" y="605288"/>
              <a:ext cx="7023101" cy="2044701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233" name="Screenshot 2025-07-12 at 12.13.17.png" descr="Screenshot 2025-07-12 at 12.13.17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5318" y="588593"/>
              <a:ext cx="2054784" cy="1993901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</p:grpSp>
      <p:grpSp>
        <p:nvGrpSpPr>
          <p:cNvPr id="238" name="Group"/>
          <p:cNvGrpSpPr/>
          <p:nvPr/>
        </p:nvGrpSpPr>
        <p:grpSpPr>
          <a:xfrm>
            <a:off x="525172" y="5087186"/>
            <a:ext cx="11993881" cy="2653703"/>
            <a:chOff x="0" y="-3264"/>
            <a:chExt cx="11993879" cy="2653701"/>
          </a:xfrm>
        </p:grpSpPr>
        <p:pic>
          <p:nvPicPr>
            <p:cNvPr id="235" name="pasted-movie.png" descr="pasted-movi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20655" y="622789"/>
              <a:ext cx="9194801" cy="1993901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236" name="Screenshot 2025-07-12 at 12.14.48.png" descr="Screenshot 2025-07-12 at 12.14.48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4845" y="656536"/>
              <a:ext cx="2026588" cy="1993901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237" name="Peer reviewers misrecognize novel ideas despite strong editorial preference:"/>
            <p:cNvSpPr txBox="1"/>
            <p:nvPr/>
          </p:nvSpPr>
          <p:spPr>
            <a:xfrm>
              <a:off x="0" y="-3264"/>
              <a:ext cx="11993879" cy="470214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27093" tIns="27093" rIns="27093" bIns="27093" numCol="1" anchor="ctr">
              <a:spAutoFit/>
            </a:bodyPr>
            <a:lstStyle>
              <a:lvl1pPr marL="254000" indent="-254000" defTabSz="457200">
                <a:lnSpc>
                  <a:spcPct val="100000"/>
                </a:lnSpc>
                <a:spcBef>
                  <a:spcPts val="0"/>
                </a:spcBef>
                <a:buSzPct val="100000"/>
                <a:buChar char="•"/>
                <a:defRPr sz="2700">
                  <a:solidFill>
                    <a:srgbClr val="2076B4"/>
                  </a:solidFill>
                </a:defRPr>
              </a:lvl1pPr>
            </a:lstStyle>
            <a:p>
              <a:r>
                <a:rPr dirty="0"/>
                <a:t>Peer reviewers misrecognize novel ideas despite strong editorial preference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 animBg="1" advAuto="0"/>
      <p:bldP spid="238" grpId="0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Our findings on linguistic strategies using AI &amp; NLP"/>
          <p:cNvSpPr txBox="1"/>
          <p:nvPr/>
        </p:nvSpPr>
        <p:spPr>
          <a:xfrm>
            <a:off x="565335" y="750748"/>
            <a:ext cx="11750371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584200">
              <a:lnSpc>
                <a:spcPct val="100000"/>
              </a:lnSpc>
              <a:spcBef>
                <a:spcPts val="400"/>
              </a:spcBef>
              <a:defRPr sz="4000"/>
            </a:pPr>
            <a:r>
              <a:rPr lang="en-US" altLang="zh-CN" dirty="0">
                <a:solidFill>
                  <a:srgbClr val="0078B9"/>
                </a:solidFill>
              </a:rPr>
              <a:t>Communication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 key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success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ideas</a:t>
            </a:r>
            <a:endParaRPr dirty="0"/>
          </a:p>
        </p:txBody>
      </p:sp>
      <p:sp>
        <p:nvSpPr>
          <p:cNvPr id="228" name="Promotional words help communicate merits of new ideas in grant application.…"/>
          <p:cNvSpPr txBox="1"/>
          <p:nvPr/>
        </p:nvSpPr>
        <p:spPr>
          <a:xfrm>
            <a:off x="751710" y="1970515"/>
            <a:ext cx="11501379" cy="48887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7093" tIns="27093" rIns="27093" bIns="27093" anchor="ctr">
            <a:spAutoFit/>
          </a:bodyPr>
          <a:lstStyle/>
          <a:p>
            <a:pPr marL="254000" indent="-254000" defTabSz="457200">
              <a:lnSpc>
                <a:spcPct val="110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076B4"/>
                </a:solidFill>
              </a:defRPr>
            </a:pPr>
            <a:r>
              <a:rPr sz="2800" dirty="0">
                <a:solidFill>
                  <a:schemeClr val="tx1"/>
                </a:solidFill>
              </a:rPr>
              <a:t>Promotional </a:t>
            </a:r>
            <a:r>
              <a:rPr lang="en-US" sz="2800" dirty="0">
                <a:solidFill>
                  <a:schemeClr val="tx1"/>
                </a:solidFill>
              </a:rPr>
              <a:t>words (</a:t>
            </a:r>
            <a:r>
              <a:rPr lang="en-US" sz="2800" i="1" dirty="0">
                <a:solidFill>
                  <a:srgbClr val="0078B9"/>
                </a:solidFill>
              </a:rPr>
              <a:t>crucial, substantial, etc.</a:t>
            </a:r>
            <a:r>
              <a:rPr lang="en-US" sz="2800" dirty="0">
                <a:solidFill>
                  <a:schemeClr val="tx1"/>
                </a:solidFill>
              </a:rPr>
              <a:t>) boost funding success</a:t>
            </a:r>
          </a:p>
        </p:txBody>
      </p:sp>
      <p:sp>
        <p:nvSpPr>
          <p:cNvPr id="22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530705" y="9333986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230" name="What are other powerful rhetorical strategies for facilitating the recognition, adoption, and dissemination of novel ideas?"/>
          <p:cNvSpPr txBox="1"/>
          <p:nvPr/>
        </p:nvSpPr>
        <p:spPr>
          <a:xfrm>
            <a:off x="566419" y="7547304"/>
            <a:ext cx="11964286" cy="113193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7093" tIns="27093" rIns="27093" bIns="27093" anchor="ctr">
            <a:spAutoFit/>
          </a:bodyPr>
          <a:lstStyle>
            <a:lvl1pPr defTabSz="457200">
              <a:lnSpc>
                <a:spcPts val="5200"/>
              </a:lnSpc>
              <a:spcBef>
                <a:spcPts val="0"/>
              </a:spcBef>
              <a:defRPr sz="3500">
                <a:solidFill>
                  <a:srgbClr val="C00100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dirty="0"/>
              <a:t>A</a:t>
            </a:r>
            <a:r>
              <a:rPr dirty="0"/>
              <a:t>re </a:t>
            </a:r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dirty="0"/>
              <a:t>other </a:t>
            </a:r>
            <a:r>
              <a:rPr lang="en-US" altLang="zh-CN" dirty="0"/>
              <a:t>linguistic strategies that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help</a:t>
            </a:r>
            <a:r>
              <a:rPr lang="zh-CN" altLang="en-US" dirty="0"/>
              <a:t> </a:t>
            </a:r>
            <a:r>
              <a:rPr lang="en-US" altLang="zh-CN" dirty="0"/>
              <a:t>us covey the value of our new </a:t>
            </a:r>
            <a:r>
              <a:rPr dirty="0"/>
              <a:t>ideas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scientific evaluation contexts</a:t>
            </a:r>
            <a:r>
              <a:rPr dirty="0"/>
              <a:t>?</a:t>
            </a:r>
          </a:p>
        </p:txBody>
      </p:sp>
      <p:pic>
        <p:nvPicPr>
          <p:cNvPr id="231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333" y="2961009"/>
            <a:ext cx="8188682" cy="1952787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pic>
        <p:nvPicPr>
          <p:cNvPr id="232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8111" y="5301571"/>
            <a:ext cx="9647880" cy="1855952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1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474216" y="9333986"/>
            <a:ext cx="340259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601" name="Prior work on the power of function words"/>
          <p:cNvSpPr txBox="1"/>
          <p:nvPr/>
        </p:nvSpPr>
        <p:spPr>
          <a:xfrm>
            <a:off x="518268" y="693142"/>
            <a:ext cx="11413151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584200">
              <a:lnSpc>
                <a:spcPct val="100000"/>
              </a:lnSpc>
              <a:spcBef>
                <a:spcPts val="400"/>
              </a:spcBef>
              <a:defRPr sz="4000"/>
            </a:pPr>
            <a:r>
              <a:rPr dirty="0"/>
              <a:t>Prior work on the </a:t>
            </a:r>
            <a:r>
              <a:rPr lang="en-US" dirty="0">
                <a:solidFill>
                  <a:srgbClr val="2076B4"/>
                </a:solidFill>
              </a:rPr>
              <a:t>strengths </a:t>
            </a:r>
            <a:r>
              <a:rPr dirty="0">
                <a:solidFill>
                  <a:srgbClr val="2076B4"/>
                </a:solidFill>
              </a:rPr>
              <a:t>of function words</a:t>
            </a:r>
          </a:p>
        </p:txBody>
      </p:sp>
      <p:pic>
        <p:nvPicPr>
          <p:cNvPr id="602" name="Screenshot 2025-04-22 at 12.20.48.png" descr="Screenshot 2025-04-22 at 12.20.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91" y="2369462"/>
            <a:ext cx="8806929" cy="1624092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pic>
        <p:nvPicPr>
          <p:cNvPr id="603" name="Screenshot 2025-04-22 at 15.14.44.png" descr="Screenshot 2025-04-22 at 15.14.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649564"/>
            <a:ext cx="9575800" cy="354330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474216" y="9333986"/>
            <a:ext cx="340259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608" name="First-person plural pronouns (“we”) are used more often in many contexts, esp. in scientific writing"/>
          <p:cNvSpPr txBox="1"/>
          <p:nvPr/>
        </p:nvSpPr>
        <p:spPr>
          <a:xfrm>
            <a:off x="617897" y="773975"/>
            <a:ext cx="11769007" cy="133369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584200">
              <a:lnSpc>
                <a:spcPct val="100000"/>
              </a:lnSpc>
              <a:spcBef>
                <a:spcPts val="400"/>
              </a:spcBef>
              <a:defRPr sz="4000"/>
            </a:pPr>
            <a:r>
              <a:rPr dirty="0"/>
              <a:t>First-person plural pronouns (</a:t>
            </a:r>
            <a:r>
              <a:rPr dirty="0">
                <a:solidFill>
                  <a:srgbClr val="C00000"/>
                </a:solidFill>
              </a:rPr>
              <a:t>“we”</a:t>
            </a:r>
            <a:r>
              <a:rPr dirty="0"/>
              <a:t>) </a:t>
            </a:r>
            <a:r>
              <a:rPr dirty="0">
                <a:solidFill>
                  <a:srgbClr val="0078B9"/>
                </a:solidFill>
              </a:rPr>
              <a:t>are used </a:t>
            </a:r>
            <a:r>
              <a:rPr lang="en-US" dirty="0">
                <a:solidFill>
                  <a:srgbClr val="0078B9"/>
                </a:solidFill>
              </a:rPr>
              <a:t>much </a:t>
            </a:r>
            <a:r>
              <a:rPr dirty="0">
                <a:solidFill>
                  <a:srgbClr val="0078B9"/>
                </a:solidFill>
              </a:rPr>
              <a:t>more often</a:t>
            </a:r>
            <a:r>
              <a:rPr dirty="0"/>
              <a:t> in contexts</a:t>
            </a:r>
            <a:r>
              <a:rPr lang="en-US" dirty="0"/>
              <a:t> including academic</a:t>
            </a:r>
            <a:r>
              <a:rPr dirty="0"/>
              <a:t> writing</a:t>
            </a:r>
          </a:p>
        </p:txBody>
      </p:sp>
      <p:pic>
        <p:nvPicPr>
          <p:cNvPr id="609" name="we.jpg" descr="w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18" y="3098922"/>
            <a:ext cx="4868214" cy="6156263"/>
          </a:xfrm>
          <a:prstGeom prst="rect">
            <a:avLst/>
          </a:prstGeom>
          <a:ln w="3175">
            <a:miter lim="400000"/>
          </a:ln>
        </p:spPr>
      </p:pic>
      <p:pic>
        <p:nvPicPr>
          <p:cNvPr id="610" name="dd.jpg" descr="d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254" y="2557767"/>
            <a:ext cx="3970414" cy="3970414"/>
          </a:xfrm>
          <a:prstGeom prst="rect">
            <a:avLst/>
          </a:prstGeom>
          <a:ln w="3175">
            <a:miter lim="400000"/>
          </a:ln>
        </p:spPr>
      </p:pic>
      <p:pic>
        <p:nvPicPr>
          <p:cNvPr id="611" name="Screenshot 2025-04-23 at 15.08.13.png" descr="Screenshot 2025-04-23 at 15.08.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91" y="4225925"/>
            <a:ext cx="11140511" cy="3970414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474216" y="9333986"/>
            <a:ext cx="340259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616" name="We have limited understanding of “we” words in research evaluations"/>
          <p:cNvSpPr txBox="1"/>
          <p:nvPr/>
        </p:nvSpPr>
        <p:spPr>
          <a:xfrm>
            <a:off x="658313" y="741625"/>
            <a:ext cx="11324424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584200">
              <a:lnSpc>
                <a:spcPct val="100000"/>
              </a:lnSpc>
              <a:spcBef>
                <a:spcPts val="400"/>
              </a:spcBef>
              <a:defRPr sz="4000"/>
            </a:pPr>
            <a:r>
              <a:rPr lang="en-US" dirty="0"/>
              <a:t>Theoretical framework from social psychology</a:t>
            </a:r>
            <a:endParaRPr dirty="0"/>
          </a:p>
        </p:txBody>
      </p:sp>
      <p:sp>
        <p:nvSpPr>
          <p:cNvPr id="617" name="Most grant proposals &amp; research papers use “we” instead of “you”.…"/>
          <p:cNvSpPr txBox="1"/>
          <p:nvPr/>
        </p:nvSpPr>
        <p:spPr>
          <a:xfrm>
            <a:off x="658313" y="2318305"/>
            <a:ext cx="11815903" cy="37035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334863" indent="-334863" defTabSz="457200">
              <a:lnSpc>
                <a:spcPct val="100000"/>
              </a:lnSpc>
              <a:spcBef>
                <a:spcPts val="1000"/>
              </a:spcBef>
              <a:buSzPct val="145000"/>
              <a:buChar char="•"/>
              <a:defRPr sz="2800"/>
            </a:pPr>
            <a:r>
              <a:rPr lang="en-US" dirty="0"/>
              <a:t>WE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>
                <a:solidFill>
                  <a:srgbClr val="0078B9"/>
                </a:solidFill>
                <a:sym typeface="Wingdings" pitchFamily="2" charset="2"/>
              </a:rPr>
              <a:t>t</a:t>
            </a:r>
            <a:r>
              <a:rPr lang="en-US" dirty="0">
                <a:solidFill>
                  <a:srgbClr val="0078B9"/>
                </a:solidFill>
              </a:rPr>
              <a:t>eamwork</a:t>
            </a:r>
            <a:r>
              <a:rPr lang="en-US" dirty="0"/>
              <a:t>, collaborati</a:t>
            </a:r>
            <a:r>
              <a:rPr lang="en-US" altLang="zh-CN" dirty="0"/>
              <a:t>ve</a:t>
            </a:r>
            <a:r>
              <a:rPr lang="zh-CN" altLang="en-US" dirty="0"/>
              <a:t> </a:t>
            </a:r>
            <a:r>
              <a:rPr lang="en-US" altLang="zh-CN" dirty="0"/>
              <a:t>work</a:t>
            </a:r>
            <a:endParaRPr lang="en-US" dirty="0"/>
          </a:p>
          <a:p>
            <a:pPr defTabSz="457200">
              <a:lnSpc>
                <a:spcPct val="100000"/>
              </a:lnSpc>
              <a:spcBef>
                <a:spcPts val="1000"/>
              </a:spcBef>
              <a:buSzPct val="145000"/>
              <a:defRPr sz="2800"/>
            </a:pPr>
            <a:r>
              <a:rPr lang="en-US" sz="2400" dirty="0"/>
              <a:t>	(adds perceived confidence and strength)</a:t>
            </a:r>
          </a:p>
          <a:p>
            <a:pPr marL="334863" indent="-334863" defTabSz="457200">
              <a:lnSpc>
                <a:spcPct val="100000"/>
              </a:lnSpc>
              <a:spcBef>
                <a:spcPts val="1000"/>
              </a:spcBef>
              <a:buSzPct val="145000"/>
              <a:buChar char="•"/>
              <a:defRPr sz="2800"/>
            </a:pPr>
            <a:r>
              <a:rPr lang="en-US" dirty="0"/>
              <a:t>WE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>
                <a:solidFill>
                  <a:srgbClr val="0078B9"/>
                </a:solidFill>
              </a:rPr>
              <a:t>credibility</a:t>
            </a:r>
            <a:r>
              <a:rPr lang="en-US" dirty="0"/>
              <a:t>, consensus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interpretation</a:t>
            </a:r>
            <a:endParaRPr lang="en-US" dirty="0"/>
          </a:p>
          <a:p>
            <a:pPr defTabSz="457200">
              <a:lnSpc>
                <a:spcPct val="100000"/>
              </a:lnSpc>
              <a:spcBef>
                <a:spcPts val="1000"/>
              </a:spcBef>
              <a:buSzPct val="145000"/>
              <a:defRPr sz="2800"/>
            </a:pPr>
            <a:r>
              <a:rPr lang="en-US" sz="2400" dirty="0"/>
              <a:t>	(adds perceived accuracy, increasing trustworthiness)</a:t>
            </a:r>
          </a:p>
          <a:p>
            <a:pPr marL="349250" indent="-349250" defTabSz="457200">
              <a:lnSpc>
                <a:spcPct val="100000"/>
              </a:lnSpc>
              <a:spcBef>
                <a:spcPts val="1000"/>
              </a:spcBef>
              <a:buSzPct val="145000"/>
              <a:buFont typeface="Arial" panose="020B0604020202020204" pitchFamily="34" charset="0"/>
              <a:buChar char="•"/>
              <a:defRPr sz="2800"/>
            </a:pPr>
            <a:r>
              <a:rPr lang="en-US" dirty="0"/>
              <a:t>WE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altLang="zh-CN" dirty="0">
                <a:solidFill>
                  <a:srgbClr val="0078B9"/>
                </a:solidFill>
              </a:rPr>
              <a:t>robustness</a:t>
            </a:r>
            <a:r>
              <a:rPr lang="en-US" dirty="0"/>
              <a:t>, </a:t>
            </a:r>
            <a:r>
              <a:rPr lang="en-US" altLang="zh-CN" dirty="0"/>
              <a:t>rigor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methodology</a:t>
            </a:r>
          </a:p>
          <a:p>
            <a:pPr marL="334863" indent="-334863" defTabSz="457200">
              <a:lnSpc>
                <a:spcPct val="100000"/>
              </a:lnSpc>
              <a:spcBef>
                <a:spcPts val="1000"/>
              </a:spcBef>
              <a:buSzPct val="145000"/>
              <a:buChar char="•"/>
              <a:defRPr sz="2800"/>
            </a:pPr>
            <a:r>
              <a:rPr lang="en-US" dirty="0"/>
              <a:t>WE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>
                <a:solidFill>
                  <a:srgbClr val="0078B9"/>
                </a:solidFill>
              </a:rPr>
              <a:t>a sense of collective identity</a:t>
            </a:r>
            <a:r>
              <a:rPr lang="en-US" dirty="0"/>
              <a:t> between authors &amp; reviewers</a:t>
            </a:r>
          </a:p>
          <a:p>
            <a:pPr lvl="5" indent="0" defTabSz="457200">
              <a:lnSpc>
                <a:spcPct val="100000"/>
              </a:lnSpc>
              <a:spcBef>
                <a:spcPts val="1000"/>
              </a:spcBef>
              <a:buSzPct val="145000"/>
              <a:defRPr sz="2800"/>
            </a:pPr>
            <a:r>
              <a:rPr lang="en-US" sz="2400" dirty="0"/>
              <a:t>	(e.g., “These findings can advance progress in our</a:t>
            </a:r>
            <a:r>
              <a:rPr lang="zh-CN" altLang="en-US" sz="2400" dirty="0"/>
              <a:t> </a:t>
            </a:r>
            <a:r>
              <a:rPr lang="en-US" altLang="zh-CN" sz="2400" dirty="0"/>
              <a:t>field</a:t>
            </a:r>
            <a:r>
              <a:rPr lang="en-US" sz="2400" dirty="0"/>
              <a:t>.”)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474216" y="9333986"/>
            <a:ext cx="340259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620" name="Three datasets in grant funding and publishing"/>
          <p:cNvSpPr txBox="1"/>
          <p:nvPr/>
        </p:nvSpPr>
        <p:spPr>
          <a:xfrm>
            <a:off x="511494" y="711204"/>
            <a:ext cx="12185011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584200">
              <a:lnSpc>
                <a:spcPct val="100000"/>
              </a:lnSpc>
              <a:spcBef>
                <a:spcPts val="400"/>
              </a:spcBef>
              <a:defRPr sz="4000"/>
            </a:pPr>
            <a:r>
              <a:rPr dirty="0"/>
              <a:t>Three datasets </a:t>
            </a:r>
            <a:r>
              <a:rPr lang="en-US" dirty="0"/>
              <a:t>on</a:t>
            </a:r>
            <a:r>
              <a:rPr dirty="0"/>
              <a:t> </a:t>
            </a:r>
            <a:r>
              <a:rPr lang="en-US" dirty="0">
                <a:solidFill>
                  <a:srgbClr val="C00100"/>
                </a:solidFill>
              </a:rPr>
              <a:t>grants </a:t>
            </a:r>
            <a:r>
              <a:rPr dirty="0">
                <a:solidFill>
                  <a:srgbClr val="C00100"/>
                </a:solidFill>
              </a:rPr>
              <a:t>and</a:t>
            </a:r>
            <a:r>
              <a:rPr lang="en-US" dirty="0">
                <a:solidFill>
                  <a:srgbClr val="C00100"/>
                </a:solidFill>
              </a:rPr>
              <a:t> papers</a:t>
            </a:r>
            <a:endParaRPr dirty="0">
              <a:solidFill>
                <a:srgbClr val="C00100"/>
              </a:solidFill>
            </a:endParaRPr>
          </a:p>
        </p:txBody>
      </p:sp>
      <p:graphicFrame>
        <p:nvGraphicFramePr>
          <p:cNvPr id="621" name="Table 1"/>
          <p:cNvGraphicFramePr/>
          <p:nvPr>
            <p:extLst>
              <p:ext uri="{D42A27DB-BD31-4B8C-83A1-F6EECF244321}">
                <p14:modId xmlns:p14="http://schemas.microsoft.com/office/powerpoint/2010/main" val="1452133632"/>
              </p:ext>
            </p:extLst>
          </p:nvPr>
        </p:nvGraphicFramePr>
        <p:xfrm>
          <a:off x="582044" y="1907645"/>
          <a:ext cx="12018508" cy="5465574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208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0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14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5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94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6200">
                <a:tc>
                  <a:txBody>
                    <a:bodyPr/>
                    <a:lstStyle/>
                    <a:p>
                      <a:pPr defTabSz="914400">
                        <a:defRPr sz="1800" b="0"/>
                      </a:pPr>
                      <a:r>
                        <a:rPr sz="2500" b="1">
                          <a:solidFill>
                            <a:srgbClr val="FFFFFF"/>
                          </a:solidFill>
                          <a:sym typeface="Helvetica Neue"/>
                        </a:rPr>
                        <a:t>Agency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chemeClr val="accent1">
                        <a:lumOff val="1684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/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sym typeface="Helvetica Neue"/>
                        </a:rPr>
                        <a:t>N</a:t>
                      </a:r>
                      <a:r>
                        <a:rPr lang="en-US" sz="2500" b="1" dirty="0">
                          <a:solidFill>
                            <a:srgbClr val="FFFFFF"/>
                          </a:solidFill>
                          <a:sym typeface="Helvetica Neue"/>
                        </a:rPr>
                        <a:t>um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sym typeface="Helvetica Neue"/>
                        </a:rPr>
                        <a:t>.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chemeClr val="accent1">
                        <a:lumOff val="1684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/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sym typeface="Helvetica Neue"/>
                        </a:rPr>
                        <a:t>Year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chemeClr val="accent1">
                        <a:lumOff val="1684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/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sym typeface="Helvetica Neue"/>
                        </a:rPr>
                        <a:t>Review mode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chemeClr val="accent1">
                        <a:lumOff val="1684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/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sym typeface="Helvetica Neue"/>
                        </a:rPr>
                        <a:t>Research areas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chemeClr val="accent1">
                        <a:lumOff val="1684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 b="0"/>
                      </a:pPr>
                      <a:r>
                        <a:rPr sz="2500" b="1">
                          <a:solidFill>
                            <a:srgbClr val="FFFFFF"/>
                          </a:solidFill>
                          <a:sym typeface="Helvetica Neue"/>
                        </a:rPr>
                        <a:t>Key variables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chemeClr val="accent1">
                        <a:lumOff val="16847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570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500">
                          <a:solidFill>
                            <a:srgbClr val="2076B4"/>
                          </a:solidFill>
                          <a:sym typeface="Helvetica Neue"/>
                        </a:rPr>
                        <a:t>Novo Nordisk Foundation (NNF)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500">
                          <a:sym typeface="Helvetica Neue"/>
                        </a:rPr>
                        <a:t>13,520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500" dirty="0">
                          <a:sym typeface="Helvetica Neue"/>
                        </a:rPr>
                        <a:t>2015 to 2022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500" dirty="0">
                          <a:sym typeface="Helvetica Neue"/>
                        </a:rPr>
                        <a:t>Single blind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2500" dirty="0">
                          <a:sym typeface="Helvetica Neue"/>
                        </a:rPr>
                        <a:t>Physical</a:t>
                      </a:r>
                      <a:r>
                        <a:rPr sz="2500" dirty="0">
                          <a:sym typeface="Helvetica Neue"/>
                        </a:rPr>
                        <a:t> Sci
</a:t>
                      </a:r>
                      <a:r>
                        <a:rPr lang="en-US" sz="2500" dirty="0">
                          <a:sym typeface="Helvetica Neue"/>
                        </a:rPr>
                        <a:t>M</a:t>
                      </a:r>
                      <a:r>
                        <a:rPr sz="2500" dirty="0">
                          <a:sym typeface="Helvetica Neue"/>
                        </a:rPr>
                        <a:t>e</a:t>
                      </a:r>
                      <a:r>
                        <a:rPr lang="en-US" sz="2500" dirty="0">
                          <a:sym typeface="Helvetica Neue"/>
                        </a:rPr>
                        <a:t>dical </a:t>
                      </a:r>
                      <a:r>
                        <a:rPr sz="2500" dirty="0">
                          <a:sym typeface="Helvetica Neue"/>
                        </a:rPr>
                        <a:t>Sci
</a:t>
                      </a:r>
                      <a:r>
                        <a:rPr lang="en-US" sz="2500" dirty="0">
                          <a:sym typeface="Helvetica Neue"/>
                        </a:rPr>
                        <a:t>Social </a:t>
                      </a:r>
                      <a:r>
                        <a:rPr sz="2500" dirty="0">
                          <a:sym typeface="Helvetica Neue"/>
                        </a:rPr>
                        <a:t>Sci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500" dirty="0">
                          <a:sym typeface="Helvetica Neue"/>
                        </a:rPr>
                        <a:t>Accept/Reject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816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zh-CN" sz="2500" dirty="0">
                          <a:solidFill>
                            <a:srgbClr val="2076B4"/>
                          </a:solidFill>
                          <a:sym typeface="Helvetica Neue"/>
                        </a:rPr>
                        <a:t>Nat.</a:t>
                      </a:r>
                      <a:r>
                        <a:rPr lang="zh-CN" altLang="en-US" sz="2500" dirty="0">
                          <a:solidFill>
                            <a:srgbClr val="2076B4"/>
                          </a:solidFill>
                          <a:sym typeface="Helvetica Neue"/>
                        </a:rPr>
                        <a:t> </a:t>
                      </a:r>
                      <a:r>
                        <a:rPr lang="en-US" altLang="zh-CN" sz="2500" dirty="0">
                          <a:solidFill>
                            <a:srgbClr val="2076B4"/>
                          </a:solidFill>
                          <a:sym typeface="Helvetica Neue"/>
                        </a:rPr>
                        <a:t>Comm.</a:t>
                      </a:r>
                      <a:endParaRPr sz="2500" dirty="0">
                        <a:solidFill>
                          <a:srgbClr val="2076B4"/>
                        </a:solidFill>
                        <a:sym typeface="Helvetica Neue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zh-CN" sz="2500" dirty="0">
                          <a:sym typeface="Helvetica Neue"/>
                        </a:rPr>
                        <a:t>42,233</a:t>
                      </a:r>
                      <a:endParaRPr sz="2500" dirty="0">
                        <a:sym typeface="Helvetica Neue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500" dirty="0">
                          <a:sym typeface="Helvetica Neue"/>
                        </a:rPr>
                        <a:t>201</a:t>
                      </a:r>
                      <a:r>
                        <a:rPr lang="en-US" altLang="zh-CN" sz="2500" dirty="0">
                          <a:sym typeface="Helvetica Neue"/>
                        </a:rPr>
                        <a:t>6</a:t>
                      </a:r>
                      <a:r>
                        <a:rPr sz="2500" dirty="0">
                          <a:sym typeface="Helvetica Neue"/>
                        </a:rPr>
                        <a:t> to 2022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500" dirty="0">
                          <a:sym typeface="Helvetica Neue"/>
                        </a:rPr>
                        <a:t>Single blind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zh-CN" sz="2500" dirty="0">
                          <a:sym typeface="Helvetica Neue"/>
                        </a:rPr>
                        <a:t>Health,</a:t>
                      </a:r>
                      <a:r>
                        <a:rPr lang="zh-CN" altLang="en-US" sz="2500" dirty="0">
                          <a:sym typeface="Helvetica Neue"/>
                        </a:rPr>
                        <a:t> </a:t>
                      </a:r>
                      <a:r>
                        <a:rPr lang="en-US" altLang="zh-CN" sz="2500" dirty="0">
                          <a:sym typeface="Helvetica Neue"/>
                        </a:rPr>
                        <a:t>Social,</a:t>
                      </a:r>
                      <a:r>
                        <a:rPr lang="zh-CN" altLang="en-US" sz="2500" dirty="0">
                          <a:sym typeface="Helvetica Neue"/>
                        </a:rPr>
                        <a:t> </a:t>
                      </a:r>
                      <a:r>
                        <a:rPr lang="en-US" altLang="zh-CN" sz="2500" dirty="0">
                          <a:sym typeface="Helvetica Neue"/>
                        </a:rPr>
                        <a:t>Physical,</a:t>
                      </a:r>
                      <a:r>
                        <a:rPr lang="zh-CN" altLang="en-US" sz="2500" dirty="0">
                          <a:sym typeface="Helvetica Neue"/>
                        </a:rPr>
                        <a:t> </a:t>
                      </a:r>
                      <a:r>
                        <a:rPr lang="en-US" altLang="zh-CN" sz="2500" dirty="0">
                          <a:sym typeface="Helvetica Neue"/>
                        </a:rPr>
                        <a:t>Life</a:t>
                      </a:r>
                      <a:r>
                        <a:rPr lang="zh-CN" altLang="en-US" sz="2500" dirty="0">
                          <a:sym typeface="Helvetica Neue"/>
                        </a:rPr>
                        <a:t> </a:t>
                      </a:r>
                      <a:r>
                        <a:rPr lang="en-US" altLang="zh-CN" sz="2500" dirty="0">
                          <a:sym typeface="Helvetica Neue"/>
                        </a:rPr>
                        <a:t>Sciences</a:t>
                      </a:r>
                      <a:endParaRPr sz="2500" dirty="0">
                        <a:sym typeface="Helvetica Neue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500" dirty="0">
                          <a:sym typeface="Helvetica Neue"/>
                        </a:rPr>
                        <a:t>Accept</a:t>
                      </a:r>
                      <a:r>
                        <a:rPr lang="en-US" altLang="zh-CN" sz="2500" dirty="0">
                          <a:sym typeface="Helvetica Neue"/>
                        </a:rPr>
                        <a:t>ed</a:t>
                      </a:r>
                      <a:r>
                        <a:rPr lang="zh-CN" altLang="en-US" sz="2500" dirty="0">
                          <a:sym typeface="Helvetica Neue"/>
                        </a:rPr>
                        <a:t> </a:t>
                      </a:r>
                      <a:r>
                        <a:rPr lang="en-US" altLang="zh-CN" sz="2500" dirty="0">
                          <a:sym typeface="Helvetica Neue"/>
                        </a:rPr>
                        <a:t>only</a:t>
                      </a:r>
                      <a:endParaRPr lang="en-US" sz="2500" dirty="0">
                        <a:sym typeface="Helvetica Neue"/>
                      </a:endParaRPr>
                    </a:p>
                    <a:p>
                      <a:pPr defTabSz="914400">
                        <a:defRPr sz="1800"/>
                      </a:pPr>
                      <a:r>
                        <a:rPr lang="en-US" sz="2500" dirty="0">
                          <a:sym typeface="Helvetica Neue"/>
                        </a:rPr>
                        <a:t>(r</a:t>
                      </a:r>
                      <a:r>
                        <a:rPr sz="2500" dirty="0">
                          <a:sym typeface="Helvetica Neue"/>
                        </a:rPr>
                        <a:t>ev</a:t>
                      </a:r>
                      <a:r>
                        <a:rPr lang="en-US" sz="2500" dirty="0">
                          <a:sym typeface="Helvetica Neue"/>
                        </a:rPr>
                        <a:t>iew</a:t>
                      </a:r>
                      <a:r>
                        <a:rPr lang="zh-CN" altLang="en-US" sz="2500" dirty="0">
                          <a:sym typeface="Helvetica Neue"/>
                        </a:rPr>
                        <a:t> </a:t>
                      </a:r>
                      <a:r>
                        <a:rPr lang="en-US" altLang="zh-CN" sz="2500" dirty="0">
                          <a:sym typeface="Helvetica Neue"/>
                        </a:rPr>
                        <a:t>comments</a:t>
                      </a:r>
                      <a:r>
                        <a:rPr lang="en-US" sz="2500" dirty="0">
                          <a:sym typeface="Helvetica Neue"/>
                        </a:rPr>
                        <a:t>)</a:t>
                      </a:r>
                      <a:endParaRPr sz="2500" dirty="0">
                        <a:sym typeface="Helvetica Neue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811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500">
                          <a:solidFill>
                            <a:srgbClr val="2076B4"/>
                          </a:solidFill>
                          <a:sym typeface="Helvetica Neue"/>
                        </a:rPr>
                        <a:t>ICLR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500">
                          <a:sym typeface="Helvetica Neue"/>
                        </a:rPr>
                        <a:t>19,287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500">
                          <a:sym typeface="Helvetica Neue"/>
                        </a:rPr>
                        <a:t>2018 to 2024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500">
                          <a:sym typeface="Helvetica Neue"/>
                        </a:rPr>
                        <a:t>Double blind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500">
                          <a:sym typeface="Helvetica Neue"/>
                        </a:rPr>
                        <a:t>AI, ML, LLM</a:t>
                      </a: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500" dirty="0">
                          <a:sym typeface="Helvetica Neue"/>
                        </a:rPr>
                        <a:t>Accept/Reject </a:t>
                      </a:r>
                      <a:r>
                        <a:rPr lang="en-US" sz="2500" dirty="0">
                          <a:sym typeface="Helvetica Neue"/>
                        </a:rPr>
                        <a:t>(r</a:t>
                      </a:r>
                      <a:r>
                        <a:rPr sz="2500" dirty="0">
                          <a:sym typeface="Helvetica Neue"/>
                        </a:rPr>
                        <a:t>e</a:t>
                      </a:r>
                      <a:r>
                        <a:rPr lang="en-US" sz="2500" dirty="0">
                          <a:sym typeface="Helvetica Neue"/>
                        </a:rPr>
                        <a:t>view </a:t>
                      </a:r>
                      <a:r>
                        <a:rPr sz="2500" dirty="0">
                          <a:sym typeface="Helvetica Neue"/>
                        </a:rPr>
                        <a:t>comment</a:t>
                      </a:r>
                      <a:r>
                        <a:rPr lang="en-US" sz="2500" dirty="0">
                          <a:sym typeface="Helvetica Neue"/>
                        </a:rPr>
                        <a:t>s)</a:t>
                      </a:r>
                      <a:endParaRPr sz="2500" dirty="0">
                        <a:sym typeface="Helvetica Neue"/>
                      </a:endParaRPr>
                    </a:p>
                  </a:txBody>
                  <a:tcPr marL="50800" marR="50800" marT="50800" marB="50800" anchor="ctr" horzOverflow="overflow">
                    <a:lnL w="25400">
                      <a:solidFill>
                        <a:srgbClr val="B8B8B8"/>
                      </a:solidFill>
                      <a:miter lim="400000"/>
                    </a:lnL>
                    <a:lnR w="25400">
                      <a:solidFill>
                        <a:srgbClr val="B8B8B8"/>
                      </a:solidFill>
                      <a:miter lim="400000"/>
                    </a:lnR>
                    <a:lnT w="25400">
                      <a:solidFill>
                        <a:srgbClr val="B8B8B8"/>
                      </a:solidFill>
                      <a:miter lim="400000"/>
                    </a:lnT>
                    <a:lnB w="25400">
                      <a:solidFill>
                        <a:srgbClr val="B8B8B8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2" name="Across research activities, venues, areas, review mode…"/>
          <p:cNvSpPr txBox="1"/>
          <p:nvPr/>
        </p:nvSpPr>
        <p:spPr>
          <a:xfrm>
            <a:off x="766611" y="7563771"/>
            <a:ext cx="11471578" cy="157966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334863" indent="-334863" defTabSz="457200">
              <a:lnSpc>
                <a:spcPct val="117999"/>
              </a:lnSpc>
              <a:spcBef>
                <a:spcPts val="0"/>
              </a:spcBef>
              <a:buSzPct val="145000"/>
              <a:buChar char="•"/>
              <a:defRPr sz="2600"/>
            </a:pPr>
            <a:r>
              <a:rPr sz="2800" dirty="0"/>
              <a:t>Across </a:t>
            </a:r>
            <a:r>
              <a:rPr lang="en-US" sz="2800" dirty="0">
                <a:solidFill>
                  <a:srgbClr val="2076B4"/>
                </a:solidFill>
              </a:rPr>
              <a:t>2 research </a:t>
            </a:r>
            <a:r>
              <a:rPr sz="2800" dirty="0">
                <a:solidFill>
                  <a:srgbClr val="2076B4"/>
                </a:solidFill>
              </a:rPr>
              <a:t>activities, </a:t>
            </a:r>
            <a:r>
              <a:rPr lang="en-US" sz="2800" dirty="0">
                <a:solidFill>
                  <a:srgbClr val="2076B4"/>
                </a:solidFill>
              </a:rPr>
              <a:t>3 venues, 2 review models</a:t>
            </a:r>
            <a:r>
              <a:rPr lang="en-US" altLang="zh-CN" sz="2800" dirty="0">
                <a:solidFill>
                  <a:srgbClr val="2076B4"/>
                </a:solidFill>
              </a:rPr>
              <a:t>,</a:t>
            </a:r>
            <a:r>
              <a:rPr lang="zh-CN" altLang="en-US" sz="2800" dirty="0">
                <a:solidFill>
                  <a:srgbClr val="2076B4"/>
                </a:solidFill>
              </a:rPr>
              <a:t> </a:t>
            </a:r>
            <a:r>
              <a:rPr lang="en-US" altLang="zh-CN" sz="2800" dirty="0">
                <a:solidFill>
                  <a:srgbClr val="2076B4"/>
                </a:solidFill>
              </a:rPr>
              <a:t>major</a:t>
            </a:r>
            <a:r>
              <a:rPr lang="en-US" sz="2800" dirty="0">
                <a:solidFill>
                  <a:srgbClr val="2076B4"/>
                </a:solidFill>
              </a:rPr>
              <a:t> areas</a:t>
            </a:r>
            <a:endParaRPr sz="2800" dirty="0">
              <a:solidFill>
                <a:srgbClr val="2076B4"/>
              </a:solidFill>
            </a:endParaRPr>
          </a:p>
          <a:p>
            <a:pPr marL="334863" indent="-334863" defTabSz="457200">
              <a:lnSpc>
                <a:spcPct val="117999"/>
              </a:lnSpc>
              <a:spcBef>
                <a:spcPts val="0"/>
              </a:spcBef>
              <a:buSzPct val="145000"/>
              <a:buChar char="•"/>
              <a:defRPr sz="2600"/>
            </a:pPr>
            <a:r>
              <a:rPr sz="2800" dirty="0"/>
              <a:t>Avg. acceptance rate: 16.8% (</a:t>
            </a:r>
            <a:r>
              <a:rPr sz="2800" dirty="0">
                <a:solidFill>
                  <a:srgbClr val="2076B4"/>
                </a:solidFill>
              </a:rPr>
              <a:t>NNF</a:t>
            </a:r>
            <a:r>
              <a:rPr sz="2800" dirty="0"/>
              <a:t>), 37.8% (</a:t>
            </a:r>
            <a:r>
              <a:rPr sz="2800" dirty="0">
                <a:solidFill>
                  <a:srgbClr val="2076B4"/>
                </a:solidFill>
              </a:rPr>
              <a:t>ICLR</a:t>
            </a:r>
            <a:r>
              <a:rPr sz="2800" dirty="0"/>
              <a:t>)</a:t>
            </a:r>
            <a:endParaRPr lang="en-US" sz="2800" dirty="0"/>
          </a:p>
          <a:p>
            <a:pPr marL="334863" indent="-334863" defTabSz="457200">
              <a:lnSpc>
                <a:spcPct val="117999"/>
              </a:lnSpc>
              <a:spcBef>
                <a:spcPts val="0"/>
              </a:spcBef>
              <a:buSzPct val="145000"/>
              <a:buChar char="•"/>
              <a:defRPr sz="2600"/>
            </a:pPr>
            <a:r>
              <a:rPr lang="en-US" sz="2800" dirty="0">
                <a:solidFill>
                  <a:srgbClr val="C00000"/>
                </a:solidFill>
              </a:rPr>
              <a:t>Median percentage of WE</a:t>
            </a:r>
            <a:r>
              <a:rPr lang="en-US" sz="2800" dirty="0"/>
              <a:t>: 0.8% (</a:t>
            </a:r>
            <a:r>
              <a:rPr lang="en-US" sz="2800" dirty="0">
                <a:solidFill>
                  <a:srgbClr val="2076B4"/>
                </a:solidFill>
              </a:rPr>
              <a:t>NNF</a:t>
            </a:r>
            <a:r>
              <a:rPr lang="en-US" sz="2800" dirty="0"/>
              <a:t>), 0.</a:t>
            </a:r>
            <a:r>
              <a:rPr lang="en-US" altLang="zh-CN" sz="2800" dirty="0"/>
              <a:t>9</a:t>
            </a:r>
            <a:r>
              <a:rPr lang="en-US" sz="2800" dirty="0"/>
              <a:t>% (</a:t>
            </a:r>
            <a:r>
              <a:rPr lang="en-US" altLang="zh-CN" sz="2800" dirty="0">
                <a:solidFill>
                  <a:srgbClr val="0078B9"/>
                </a:solidFill>
              </a:rPr>
              <a:t>NC</a:t>
            </a:r>
            <a:r>
              <a:rPr lang="en-US" sz="2800" dirty="0"/>
              <a:t>), 1.1% (</a:t>
            </a:r>
            <a:r>
              <a:rPr lang="en-US" sz="2800" dirty="0">
                <a:solidFill>
                  <a:srgbClr val="2076B4"/>
                </a:solidFill>
              </a:rPr>
              <a:t>ICLR</a:t>
            </a:r>
            <a:r>
              <a:rPr lang="en-US" sz="2800" dirty="0"/>
              <a:t>)</a:t>
            </a:r>
            <a:endParaRPr sz="2800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“We” predict funding &amp; publishing success 💪🏻!"/>
          <p:cNvSpPr txBox="1"/>
          <p:nvPr/>
        </p:nvSpPr>
        <p:spPr>
          <a:xfrm>
            <a:off x="511494" y="711204"/>
            <a:ext cx="12185011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584200">
              <a:lnSpc>
                <a:spcPct val="100000"/>
              </a:lnSpc>
              <a:spcBef>
                <a:spcPts val="400"/>
              </a:spcBef>
              <a:defRPr sz="4000">
                <a:solidFill>
                  <a:srgbClr val="C00100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Fixed-effects regression models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FF3165-6A2D-C813-0115-F337BD45D377}"/>
              </a:ext>
            </a:extLst>
          </p:cNvPr>
          <p:cNvSpPr txBox="1"/>
          <p:nvPr/>
        </p:nvSpPr>
        <p:spPr>
          <a:xfrm>
            <a:off x="708716" y="1899504"/>
            <a:ext cx="11953806" cy="4267663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27093" tIns="27093" rIns="27093" bIns="27093" numCol="1" spcCol="38100" rtlCol="0" anchor="ctr">
            <a:spAutoFit/>
          </a:bodyPr>
          <a:lstStyle/>
          <a:p>
            <a:pPr marL="334863" indent="-334863" defTabSz="457200">
              <a:lnSpc>
                <a:spcPct val="117999"/>
              </a:lnSpc>
              <a:spcBef>
                <a:spcPts val="0"/>
              </a:spcBef>
              <a:buSzPct val="145000"/>
              <a:buChar char="•"/>
              <a:defRPr sz="2500"/>
            </a:pPr>
            <a:r>
              <a:rPr lang="en-US" sz="3200" dirty="0"/>
              <a:t>Key variables:</a:t>
            </a:r>
          </a:p>
          <a:p>
            <a:pPr marL="812800" lvl="8" indent="-317500" defTabSz="457200">
              <a:lnSpc>
                <a:spcPct val="117999"/>
              </a:lnSpc>
              <a:spcBef>
                <a:spcPts val="0"/>
              </a:spcBef>
              <a:buSzPct val="145000"/>
              <a:buChar char="•"/>
              <a:defRPr sz="2500"/>
            </a:pPr>
            <a:r>
              <a:rPr lang="en-US" sz="2800" dirty="0"/>
              <a:t>DV: acceptance (binary</a:t>
            </a:r>
            <a:r>
              <a:rPr lang="en-US" altLang="zh-CN" sz="2800" dirty="0"/>
              <a:t>;</a:t>
            </a:r>
            <a:r>
              <a:rPr lang="zh-CN" altLang="en-US" sz="2800" dirty="0"/>
              <a:t> </a:t>
            </a:r>
            <a:r>
              <a:rPr lang="en-US" altLang="zh-CN" sz="2800" u="sng" dirty="0"/>
              <a:t>NNF</a:t>
            </a:r>
            <a:r>
              <a:rPr lang="zh-CN" altLang="en-US" sz="2800" u="sng" dirty="0"/>
              <a:t> </a:t>
            </a:r>
            <a:r>
              <a:rPr lang="en-US" altLang="zh-CN" sz="2800" u="sng" dirty="0"/>
              <a:t>&amp;</a:t>
            </a:r>
            <a:r>
              <a:rPr lang="zh-CN" altLang="en-US" sz="2800" u="sng" dirty="0"/>
              <a:t> </a:t>
            </a:r>
            <a:r>
              <a:rPr lang="en-US" altLang="zh-CN" sz="2800" u="sng" dirty="0"/>
              <a:t>ICLR</a:t>
            </a:r>
            <a:r>
              <a:rPr lang="en-US" sz="2800" dirty="0"/>
              <a:t>)</a:t>
            </a:r>
          </a:p>
          <a:p>
            <a:pPr marL="812800" lvl="8" indent="-317500" defTabSz="457200">
              <a:lnSpc>
                <a:spcPct val="117999"/>
              </a:lnSpc>
              <a:spcBef>
                <a:spcPts val="0"/>
              </a:spcBef>
              <a:buSzPct val="145000"/>
              <a:buChar char="•"/>
              <a:defRPr sz="2500"/>
            </a:pPr>
            <a:r>
              <a:rPr lang="en-US" altLang="zh-CN" sz="2800" dirty="0"/>
              <a:t>DV:</a:t>
            </a:r>
            <a:r>
              <a:rPr lang="zh-CN" altLang="en-US" sz="2800" dirty="0"/>
              <a:t> </a:t>
            </a:r>
            <a:r>
              <a:rPr lang="en-US" altLang="zh-CN" sz="2800" dirty="0"/>
              <a:t>engagement</a:t>
            </a:r>
            <a:r>
              <a:rPr lang="zh-CN" altLang="en-US" sz="2800" dirty="0"/>
              <a:t> </a:t>
            </a:r>
            <a:r>
              <a:rPr lang="en-US" altLang="zh-CN" sz="2800" dirty="0"/>
              <a:t>score</a:t>
            </a:r>
            <a:r>
              <a:rPr lang="zh-CN" altLang="en-US" sz="2800" dirty="0"/>
              <a:t> </a:t>
            </a:r>
            <a:r>
              <a:rPr lang="en-US" altLang="zh-CN" sz="2800" dirty="0"/>
              <a:t>(numeric,</a:t>
            </a:r>
            <a:r>
              <a:rPr lang="zh-CN" altLang="en-US" sz="2800" dirty="0"/>
              <a:t> </a:t>
            </a:r>
            <a:r>
              <a:rPr lang="en-US" altLang="zh-CN" sz="2800" dirty="0"/>
              <a:t>based</a:t>
            </a:r>
            <a:r>
              <a:rPr lang="zh-CN" altLang="en-US" sz="2800" dirty="0"/>
              <a:t> </a:t>
            </a:r>
            <a:r>
              <a:rPr lang="en-US" altLang="zh-CN" sz="2800" dirty="0"/>
              <a:t>on</a:t>
            </a:r>
            <a:r>
              <a:rPr lang="zh-CN" altLang="en-US" sz="2800" dirty="0"/>
              <a:t> </a:t>
            </a:r>
            <a:r>
              <a:rPr lang="en-US" altLang="zh-CN" sz="2800" dirty="0"/>
              <a:t>a</a:t>
            </a:r>
            <a:r>
              <a:rPr lang="zh-CN" altLang="en-US" sz="2800" dirty="0"/>
              <a:t> </a:t>
            </a:r>
            <a:r>
              <a:rPr lang="en-US" altLang="zh-CN" sz="2800" dirty="0"/>
              <a:t>word</a:t>
            </a:r>
            <a:r>
              <a:rPr lang="zh-CN" altLang="en-US" sz="2800" dirty="0"/>
              <a:t> </a:t>
            </a:r>
            <a:r>
              <a:rPr lang="en-US" altLang="zh-CN" sz="2800" dirty="0"/>
              <a:t>dictionary,</a:t>
            </a:r>
            <a:r>
              <a:rPr lang="zh-CN" altLang="en-US" sz="2800" dirty="0"/>
              <a:t> </a:t>
            </a:r>
            <a:r>
              <a:rPr lang="en-US" altLang="zh-CN" sz="2800" u="sng" dirty="0"/>
              <a:t>NC</a:t>
            </a:r>
            <a:r>
              <a:rPr lang="en-US" altLang="zh-CN" sz="2800" dirty="0"/>
              <a:t>)</a:t>
            </a:r>
            <a:endParaRPr lang="en-US" sz="2800" dirty="0"/>
          </a:p>
          <a:p>
            <a:pPr marL="812800" lvl="8" indent="-317500" defTabSz="457200">
              <a:lnSpc>
                <a:spcPct val="117999"/>
              </a:lnSpc>
              <a:spcBef>
                <a:spcPts val="0"/>
              </a:spcBef>
              <a:buSzPct val="145000"/>
              <a:buChar char="•"/>
              <a:defRPr sz="2500"/>
            </a:pPr>
            <a:r>
              <a:rPr lang="en-US" sz="2800" dirty="0">
                <a:solidFill>
                  <a:srgbClr val="C00000"/>
                </a:solidFill>
              </a:rPr>
              <a:t>IV: percentage of “We”</a:t>
            </a:r>
            <a:r>
              <a:rPr lang="zh-CN" altLang="en-US" sz="2800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words</a:t>
            </a:r>
            <a:r>
              <a:rPr lang="zh-CN" altLang="en-US" sz="2800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(we,</a:t>
            </a:r>
            <a:r>
              <a:rPr lang="zh-CN" altLang="en-US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our,</a:t>
            </a:r>
            <a:r>
              <a:rPr lang="zh-CN" altLang="en-US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us)</a:t>
            </a:r>
            <a:endParaRPr lang="en-US" sz="2800" dirty="0">
              <a:solidFill>
                <a:schemeClr val="tx1"/>
              </a:solidFill>
            </a:endParaRPr>
          </a:p>
          <a:p>
            <a:pPr marL="334863" indent="-334863" defTabSz="457200">
              <a:lnSpc>
                <a:spcPct val="117999"/>
              </a:lnSpc>
              <a:spcBef>
                <a:spcPts val="0"/>
              </a:spcBef>
              <a:buSzPct val="145000"/>
              <a:buChar char="•"/>
              <a:defRPr sz="2500"/>
            </a:pPr>
            <a:r>
              <a:rPr lang="en-US" sz="3200" dirty="0"/>
              <a:t>Control variables:</a:t>
            </a:r>
          </a:p>
          <a:p>
            <a:pPr marL="812800" lvl="8" indent="-317500" defTabSz="457200">
              <a:lnSpc>
                <a:spcPct val="117999"/>
              </a:lnSpc>
              <a:spcBef>
                <a:spcPts val="0"/>
              </a:spcBef>
              <a:buSzPct val="145000"/>
              <a:buFontTx/>
              <a:buChar char="•"/>
              <a:defRPr sz="2500"/>
            </a:pPr>
            <a:r>
              <a:rPr lang="en-US" sz="2800" dirty="0">
                <a:solidFill>
                  <a:srgbClr val="0078B9"/>
                </a:solidFill>
              </a:rPr>
              <a:t>Content features</a:t>
            </a:r>
            <a:r>
              <a:rPr lang="en-US" sz="2800" dirty="0"/>
              <a:t> (length, readability, </a:t>
            </a:r>
            <a:r>
              <a:rPr lang="en-US" sz="2800" dirty="0" err="1"/>
              <a:t>pwords</a:t>
            </a:r>
            <a:r>
              <a:rPr lang="en-US" sz="2800" dirty="0"/>
              <a:t>, novelty, reference, etc.)</a:t>
            </a:r>
          </a:p>
          <a:p>
            <a:pPr marL="812800" lvl="8" indent="-317500" defTabSz="457200">
              <a:lnSpc>
                <a:spcPct val="117999"/>
              </a:lnSpc>
              <a:spcBef>
                <a:spcPts val="0"/>
              </a:spcBef>
              <a:buSzPct val="145000"/>
              <a:buFontTx/>
              <a:buChar char="•"/>
              <a:defRPr sz="2500"/>
            </a:pPr>
            <a:r>
              <a:rPr lang="en-US" sz="2800" dirty="0">
                <a:solidFill>
                  <a:srgbClr val="0078B9"/>
                </a:solidFill>
              </a:rPr>
              <a:t>Author features</a:t>
            </a:r>
            <a:r>
              <a:rPr lang="en-US" sz="2800" dirty="0"/>
              <a:t> (institution, publication, citation)</a:t>
            </a:r>
          </a:p>
          <a:p>
            <a:pPr marL="812800" lvl="8" indent="-317500" defTabSz="457200">
              <a:lnSpc>
                <a:spcPct val="117999"/>
              </a:lnSpc>
              <a:spcBef>
                <a:spcPts val="0"/>
              </a:spcBef>
              <a:buSzPct val="145000"/>
              <a:buFontTx/>
              <a:buChar char="•"/>
              <a:defRPr sz="2500"/>
            </a:pPr>
            <a:r>
              <a:rPr lang="en-US" sz="2800" dirty="0">
                <a:solidFill>
                  <a:srgbClr val="0078B9"/>
                </a:solidFill>
              </a:rPr>
              <a:t>Gender, Year, Topics</a:t>
            </a:r>
            <a:r>
              <a:rPr lang="en-US" sz="2800" dirty="0">
                <a:solidFill>
                  <a:schemeClr val="tx1"/>
                </a:solidFill>
              </a:rPr>
              <a:t> (fixed effects)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2D0AE-EC4A-CFAA-D808-9DDB78BE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“We” predict funding &amp; publishing success 💪🏻!">
            <a:extLst>
              <a:ext uri="{FF2B5EF4-FFF2-40B4-BE49-F238E27FC236}">
                <a16:creationId xmlns:a16="http://schemas.microsoft.com/office/drawing/2014/main" id="{7698CA8D-B70D-0237-2647-67B9681C3E1B}"/>
              </a:ext>
            </a:extLst>
          </p:cNvPr>
          <p:cNvSpPr txBox="1"/>
          <p:nvPr/>
        </p:nvSpPr>
        <p:spPr>
          <a:xfrm>
            <a:off x="511494" y="711204"/>
            <a:ext cx="12185011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584200">
              <a:lnSpc>
                <a:spcPct val="100000"/>
              </a:lnSpc>
              <a:spcBef>
                <a:spcPts val="400"/>
              </a:spcBef>
              <a:defRPr sz="4000">
                <a:solidFill>
                  <a:srgbClr val="C00100"/>
                </a:solidFill>
              </a:defRPr>
            </a:lvl1pPr>
          </a:lstStyle>
          <a:p>
            <a:r>
              <a:rPr dirty="0">
                <a:solidFill>
                  <a:srgbClr val="0078B9"/>
                </a:solidFill>
              </a:rPr>
              <a:t>“We” predict funding &amp; publishing success 💪🏻!</a:t>
            </a:r>
          </a:p>
        </p:txBody>
      </p:sp>
      <p:sp>
        <p:nvSpPr>
          <p:cNvPr id="630" name="NNF grants">
            <a:extLst>
              <a:ext uri="{FF2B5EF4-FFF2-40B4-BE49-F238E27FC236}">
                <a16:creationId xmlns:a16="http://schemas.microsoft.com/office/drawing/2014/main" id="{2D641669-E94F-1C38-50FF-4717055F0518}"/>
              </a:ext>
            </a:extLst>
          </p:cNvPr>
          <p:cNvSpPr/>
          <p:nvPr/>
        </p:nvSpPr>
        <p:spPr>
          <a:xfrm>
            <a:off x="2007166" y="2033361"/>
            <a:ext cx="2006760" cy="696977"/>
          </a:xfrm>
          <a:prstGeom prst="rect">
            <a:avLst/>
          </a:prstGeom>
          <a:solidFill>
            <a:schemeClr val="accent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5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/>
              <a:t>NNF grants</a:t>
            </a:r>
          </a:p>
        </p:txBody>
      </p:sp>
      <p:sp>
        <p:nvSpPr>
          <p:cNvPr id="631" name="BMJO papers">
            <a:extLst>
              <a:ext uri="{FF2B5EF4-FFF2-40B4-BE49-F238E27FC236}">
                <a16:creationId xmlns:a16="http://schemas.microsoft.com/office/drawing/2014/main" id="{44FF8376-B493-5213-B7BD-A1DE2653D6FF}"/>
              </a:ext>
            </a:extLst>
          </p:cNvPr>
          <p:cNvSpPr/>
          <p:nvPr/>
        </p:nvSpPr>
        <p:spPr>
          <a:xfrm>
            <a:off x="5290273" y="2033361"/>
            <a:ext cx="2650663" cy="696977"/>
          </a:xfrm>
          <a:prstGeom prst="rect">
            <a:avLst/>
          </a:prstGeom>
          <a:solidFill>
            <a:schemeClr val="accent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5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altLang="zh-CN" dirty="0"/>
              <a:t>ICLR</a:t>
            </a:r>
            <a:r>
              <a:rPr dirty="0"/>
              <a:t> papers</a:t>
            </a:r>
          </a:p>
        </p:txBody>
      </p:sp>
      <p:sp>
        <p:nvSpPr>
          <p:cNvPr id="632" name="ICLR papers">
            <a:extLst>
              <a:ext uri="{FF2B5EF4-FFF2-40B4-BE49-F238E27FC236}">
                <a16:creationId xmlns:a16="http://schemas.microsoft.com/office/drawing/2014/main" id="{A0017DF2-7A8C-6D53-947B-63119D071A60}"/>
              </a:ext>
            </a:extLst>
          </p:cNvPr>
          <p:cNvSpPr/>
          <p:nvPr/>
        </p:nvSpPr>
        <p:spPr>
          <a:xfrm>
            <a:off x="8956696" y="2033361"/>
            <a:ext cx="2650663" cy="696977"/>
          </a:xfrm>
          <a:prstGeom prst="rect">
            <a:avLst/>
          </a:prstGeom>
          <a:solidFill>
            <a:schemeClr val="accent1"/>
          </a:solidFill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5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altLang="zh-CN" dirty="0"/>
              <a:t>NC</a:t>
            </a:r>
            <a:r>
              <a:rPr dirty="0"/>
              <a:t> papers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DA7283-4DCF-EB6C-D8BA-91C93F61D260}"/>
              </a:ext>
            </a:extLst>
          </p:cNvPr>
          <p:cNvSpPr txBox="1"/>
          <p:nvPr/>
        </p:nvSpPr>
        <p:spPr>
          <a:xfrm>
            <a:off x="999583" y="6789786"/>
            <a:ext cx="11696922" cy="179788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7093" tIns="27093" rIns="27093" bIns="27093" numCol="1" spcCol="38100" rtlCol="0" anchor="ctr">
            <a:spAutoFit/>
          </a:bodyPr>
          <a:lstStyle/>
          <a:p>
            <a:pPr defTabSz="457200">
              <a:lnSpc>
                <a:spcPct val="117999"/>
              </a:lnSpc>
              <a:spcBef>
                <a:spcPts val="0"/>
              </a:spcBef>
              <a:buSzPct val="145000"/>
              <a:defRPr sz="2500"/>
            </a:pPr>
            <a:r>
              <a:rPr lang="en-US" sz="3200" b="1" dirty="0">
                <a:solidFill>
                  <a:schemeClr val="tx1"/>
                </a:solidFill>
              </a:rPr>
              <a:t>Key findings:</a:t>
            </a:r>
          </a:p>
          <a:p>
            <a:pPr marL="334863" indent="-334863" defTabSz="457200">
              <a:lnSpc>
                <a:spcPct val="117999"/>
              </a:lnSpc>
              <a:spcBef>
                <a:spcPts val="0"/>
              </a:spcBef>
              <a:buSzPct val="145000"/>
              <a:buChar char="•"/>
              <a:defRPr sz="2500"/>
            </a:pPr>
            <a:r>
              <a:rPr lang="en-US" sz="3200" dirty="0"/>
              <a:t>More “We” words </a:t>
            </a:r>
            <a:r>
              <a:rPr lang="en-US" sz="3200" dirty="0">
                <a:sym typeface="Wingdings" pitchFamily="2" charset="2"/>
              </a:rPr>
              <a:t></a:t>
            </a:r>
            <a:r>
              <a:rPr lang="en-US" sz="3200" dirty="0"/>
              <a:t> higher acceptance</a:t>
            </a:r>
            <a:r>
              <a:rPr lang="zh-CN" altLang="en-US" sz="3200" dirty="0"/>
              <a:t> </a:t>
            </a:r>
            <a:r>
              <a:rPr lang="en-US" altLang="zh-CN" sz="3200" dirty="0"/>
              <a:t>&amp;</a:t>
            </a:r>
            <a:r>
              <a:rPr lang="zh-CN" altLang="en-US" sz="3200" dirty="0"/>
              <a:t> </a:t>
            </a:r>
            <a:r>
              <a:rPr lang="en-US" altLang="zh-CN" sz="3200" dirty="0"/>
              <a:t>engagement</a:t>
            </a:r>
            <a:endParaRPr lang="en-US" sz="3200" dirty="0"/>
          </a:p>
          <a:p>
            <a:pPr marL="334863" indent="-334863" defTabSz="457200">
              <a:lnSpc>
                <a:spcPct val="117999"/>
              </a:lnSpc>
              <a:spcBef>
                <a:spcPts val="0"/>
              </a:spcBef>
              <a:buSzPct val="145000"/>
              <a:buChar char="•"/>
              <a:defRPr sz="2500"/>
            </a:pPr>
            <a:r>
              <a:rPr lang="en-US" sz="3200" dirty="0">
                <a:solidFill>
                  <a:srgbClr val="0078B9"/>
                </a:solidFill>
              </a:rPr>
              <a:t>Robust patterns</a:t>
            </a:r>
            <a:r>
              <a:rPr lang="en-US" sz="3200" dirty="0"/>
              <a:t> across grants &amp; papers (different fields)</a:t>
            </a:r>
          </a:p>
        </p:txBody>
      </p:sp>
      <p:pic>
        <p:nvPicPr>
          <p:cNvPr id="5" name="Picture 4" descr="A comparison of a line graph&#10;&#10;AI-generated content may be incorrect.">
            <a:extLst>
              <a:ext uri="{FF2B5EF4-FFF2-40B4-BE49-F238E27FC236}">
                <a16:creationId xmlns:a16="http://schemas.microsoft.com/office/drawing/2014/main" id="{156CE8BA-A590-A2D9-AEF8-1237EBB50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24" y="2902594"/>
            <a:ext cx="7140222" cy="3512295"/>
          </a:xfrm>
          <a:prstGeom prst="rect">
            <a:avLst/>
          </a:prstGeom>
        </p:spPr>
      </p:pic>
      <p:pic>
        <p:nvPicPr>
          <p:cNvPr id="7" name="Picture 6" descr="A graph with a number of words&#10;&#10;AI-generated content may be incorrect.">
            <a:extLst>
              <a:ext uri="{FF2B5EF4-FFF2-40B4-BE49-F238E27FC236}">
                <a16:creationId xmlns:a16="http://schemas.microsoft.com/office/drawing/2014/main" id="{A0D73D2F-C82A-14F6-E3D9-89E3B6E984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038" y="2978562"/>
            <a:ext cx="3398685" cy="33768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F43352-9354-6F5B-F694-9E8B04F80526}"/>
              </a:ext>
            </a:extLst>
          </p:cNvPr>
          <p:cNvSpPr/>
          <p:nvPr/>
        </p:nvSpPr>
        <p:spPr>
          <a:xfrm>
            <a:off x="4534335" y="2008285"/>
            <a:ext cx="8470465" cy="4811179"/>
          </a:xfrm>
          <a:prstGeom prst="rect">
            <a:avLst/>
          </a:prstGeom>
          <a:solidFill>
            <a:schemeClr val="bg1"/>
          </a:solidFill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7093" tIns="27093" rIns="27093" bIns="27093" numCol="1" spcCol="38100" rtlCol="0" anchor="ctr">
            <a:spAutoFit/>
          </a:bodyPr>
          <a:lstStyle/>
          <a:p>
            <a:pPr marL="0" marR="0" indent="0" algn="ctr" defTabSz="58702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541073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31011-DAFD-5B20-A834-E1A46875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lide Number">
            <a:extLst>
              <a:ext uri="{FF2B5EF4-FFF2-40B4-BE49-F238E27FC236}">
                <a16:creationId xmlns:a16="http://schemas.microsoft.com/office/drawing/2014/main" id="{B5A10A52-B4FA-A806-F85A-5FBC8FD191C7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2474216" y="9333986"/>
            <a:ext cx="340259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616" name="We have limited understanding of “we” words in research evaluations">
            <a:extLst>
              <a:ext uri="{FF2B5EF4-FFF2-40B4-BE49-F238E27FC236}">
                <a16:creationId xmlns:a16="http://schemas.microsoft.com/office/drawing/2014/main" id="{175DE17D-BEA2-F785-F756-F1C9E8AB5922}"/>
              </a:ext>
            </a:extLst>
          </p:cNvPr>
          <p:cNvSpPr txBox="1"/>
          <p:nvPr/>
        </p:nvSpPr>
        <p:spPr>
          <a:xfrm>
            <a:off x="658313" y="741625"/>
            <a:ext cx="11324424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584200">
              <a:lnSpc>
                <a:spcPct val="100000"/>
              </a:lnSpc>
              <a:spcBef>
                <a:spcPts val="400"/>
              </a:spcBef>
              <a:defRPr sz="4000"/>
            </a:pPr>
            <a:r>
              <a:rPr lang="en-US" dirty="0"/>
              <a:t>LLM-based computational experiment (ICLR)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BCA17B-7871-9A86-A567-E6A4F074B1F0}"/>
              </a:ext>
            </a:extLst>
          </p:cNvPr>
          <p:cNvSpPr txBox="1">
            <a:spLocks/>
          </p:cNvSpPr>
          <p:nvPr/>
        </p:nvSpPr>
        <p:spPr>
          <a:xfrm>
            <a:off x="658313" y="2051058"/>
            <a:ext cx="10254939" cy="7607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HK" sz="3200" b="0" i="0" u="none" strike="noStrike" kern="1200" cap="none" spc="0" normalizeH="0" baseline="0" noProof="0" dirty="0">
                <a:ln>
                  <a:noFill/>
                </a:ln>
                <a:solidFill>
                  <a:srgbClr val="0078B9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Replace “we” with “this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8B9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/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8B9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8B9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the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8B9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 </a:t>
            </a:r>
            <a:r>
              <a:rPr kumimoji="0" lang="en-HK" sz="3200" b="0" i="0" u="none" strike="noStrike" kern="1200" cap="none" spc="0" normalizeH="0" baseline="0" noProof="0" dirty="0">
                <a:ln>
                  <a:noFill/>
                </a:ln>
                <a:solidFill>
                  <a:srgbClr val="0078B9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paper” in each ICLR abstract: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HK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Sans 12" pitchFamily="2" charset="77"/>
                <a:ea typeface="Helvetica Neue"/>
                <a:cs typeface="Helvetica Neue"/>
                <a:sym typeface="Helvetica Neue"/>
              </a:rPr>
              <a:t>[Only uses the ICLR dataset for privacy considerations]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HK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FB556E-3E99-6D58-2058-B4B67C21ED77}"/>
              </a:ext>
            </a:extLst>
          </p:cNvPr>
          <p:cNvSpPr txBox="1"/>
          <p:nvPr/>
        </p:nvSpPr>
        <p:spPr>
          <a:xfrm>
            <a:off x="862518" y="3447801"/>
            <a:ext cx="5458007" cy="4524315"/>
          </a:xfrm>
          <a:prstGeom prst="rect">
            <a:avLst/>
          </a:prstGeom>
          <a:noFill/>
          <a:ln w="254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000" dirty="0"/>
              <a:t>Identifying the status of individual network units is critical for understanding the mechanism of convolutional neural networks (CNNs). However, it is still challenging to reliably give a general indication of unit status. To this end, </a:t>
            </a:r>
            <a:r>
              <a:rPr lang="en-US" sz="2000" b="1" dirty="0">
                <a:solidFill>
                  <a:srgbClr val="C00000"/>
                </a:solidFill>
              </a:rPr>
              <a:t>we</a:t>
            </a:r>
            <a:r>
              <a:rPr lang="en-US" sz="2000" dirty="0"/>
              <a:t> propose a novel method for quantitatively clarifying the status of single unit in CNN using algebraic topological tools. </a:t>
            </a:r>
            <a:r>
              <a:rPr lang="en-US" sz="2000" b="1" dirty="0">
                <a:solidFill>
                  <a:srgbClr val="C00000"/>
                </a:solidFill>
              </a:rPr>
              <a:t>Our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analyses </a:t>
            </a:r>
            <a:r>
              <a:rPr lang="en-US" sz="2000" dirty="0"/>
              <a:t>show that feature entropy decreases as the layer goes deeper and shares almost simultaneous trend with loss during training. </a:t>
            </a:r>
            <a:r>
              <a:rPr lang="en-US" sz="2000" b="1" dirty="0">
                <a:solidFill>
                  <a:srgbClr val="C00000"/>
                </a:solidFill>
              </a:rPr>
              <a:t>We</a:t>
            </a:r>
            <a:r>
              <a:rPr lang="en-US" sz="2000" dirty="0"/>
              <a:t> find that it can accurately investigate the feature entropy of units on complex data. Further, the method proposed by </a:t>
            </a:r>
            <a:r>
              <a:rPr lang="en-US" sz="2000" b="1" dirty="0">
                <a:solidFill>
                  <a:srgbClr val="C00000"/>
                </a:solidFill>
              </a:rPr>
              <a:t>us</a:t>
            </a:r>
            <a:r>
              <a:rPr lang="en-US" sz="2000" dirty="0"/>
              <a:t> could give discrimination between networks with different generalization ability.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FE906-AD6E-E896-C630-F223FDEC9F63}"/>
              </a:ext>
            </a:extLst>
          </p:cNvPr>
          <p:cNvSpPr txBox="1"/>
          <p:nvPr/>
        </p:nvSpPr>
        <p:spPr>
          <a:xfrm>
            <a:off x="6684277" y="3447800"/>
            <a:ext cx="5662210" cy="4524315"/>
          </a:xfrm>
          <a:prstGeom prst="rect">
            <a:avLst/>
          </a:prstGeom>
          <a:noFill/>
          <a:ln w="254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000" dirty="0"/>
              <a:t>Identifying the status of individual network units is critical for understanding the mechanism of convolutional neural networks (CNNs). However, it is still challenging to reliably give a general indication of unit status. To this end, </a:t>
            </a:r>
            <a:r>
              <a:rPr lang="en-US" sz="2000" b="1" dirty="0">
                <a:solidFill>
                  <a:srgbClr val="C00000"/>
                </a:solidFill>
              </a:rPr>
              <a:t>this paper</a:t>
            </a:r>
            <a:r>
              <a:rPr lang="en-US" sz="2000" dirty="0"/>
              <a:t> proposes a novel method for quantitatively clarifying the status of single unit in CNN using algebraic topological tools. </a:t>
            </a:r>
            <a:r>
              <a:rPr lang="en-US" sz="2000" b="1" dirty="0">
                <a:solidFill>
                  <a:srgbClr val="C00000"/>
                </a:solidFill>
              </a:rPr>
              <a:t>Th</a:t>
            </a:r>
            <a:r>
              <a:rPr lang="en-US" altLang="zh-CN" sz="2000" b="1" dirty="0">
                <a:solidFill>
                  <a:srgbClr val="C00000"/>
                </a:solidFill>
              </a:rPr>
              <a:t>e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analyses </a:t>
            </a:r>
            <a:r>
              <a:rPr lang="en-US" sz="2000" dirty="0"/>
              <a:t>show that feature entropy decreases as the layer goes deeper and shares almost simultaneous trend with loss during training. </a:t>
            </a:r>
            <a:r>
              <a:rPr lang="en-US" sz="2000" b="1" dirty="0">
                <a:solidFill>
                  <a:srgbClr val="C00000"/>
                </a:solidFill>
              </a:rPr>
              <a:t>This paper</a:t>
            </a:r>
            <a:r>
              <a:rPr lang="en-US" sz="2000" dirty="0"/>
              <a:t> finds that it can accurately investigate the feature entropy of units on complex data. Further, the method proposed by </a:t>
            </a:r>
            <a:r>
              <a:rPr lang="en-US" sz="2000" b="1" dirty="0">
                <a:solidFill>
                  <a:srgbClr val="C00000"/>
                </a:solidFill>
              </a:rPr>
              <a:t>th</a:t>
            </a:r>
            <a:r>
              <a:rPr lang="en-US" altLang="zh-CN" sz="2000" b="1" dirty="0">
                <a:solidFill>
                  <a:srgbClr val="C00000"/>
                </a:solidFill>
              </a:rPr>
              <a:t>e</a:t>
            </a:r>
            <a:r>
              <a:rPr lang="en-US" sz="2000" b="1" dirty="0">
                <a:solidFill>
                  <a:srgbClr val="C00000"/>
                </a:solidFill>
              </a:rPr>
              <a:t> paper</a:t>
            </a:r>
            <a:r>
              <a:rPr lang="en-US" sz="2000" dirty="0"/>
              <a:t> could give discrimination between networks with different generalization ability.</a:t>
            </a:r>
          </a:p>
        </p:txBody>
      </p:sp>
    </p:spTree>
    <p:extLst>
      <p:ext uri="{BB962C8B-B14F-4D97-AF65-F5344CB8AC3E}">
        <p14:creationId xmlns:p14="http://schemas.microsoft.com/office/powerpoint/2010/main" val="36996004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6B89F-8FB9-1127-FE0B-2BFE371AE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lide Number">
            <a:extLst>
              <a:ext uri="{FF2B5EF4-FFF2-40B4-BE49-F238E27FC236}">
                <a16:creationId xmlns:a16="http://schemas.microsoft.com/office/drawing/2014/main" id="{D3ACD739-C02B-F05A-8454-982D6CB446A5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2474216" y="9333986"/>
            <a:ext cx="340259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616" name="We have limited understanding of “we” words in research evaluations">
            <a:extLst>
              <a:ext uri="{FF2B5EF4-FFF2-40B4-BE49-F238E27FC236}">
                <a16:creationId xmlns:a16="http://schemas.microsoft.com/office/drawing/2014/main" id="{67431EFC-28A5-36EC-1BFA-87EB829DEC0A}"/>
              </a:ext>
            </a:extLst>
          </p:cNvPr>
          <p:cNvSpPr txBox="1"/>
          <p:nvPr/>
        </p:nvSpPr>
        <p:spPr>
          <a:xfrm>
            <a:off x="658313" y="741625"/>
            <a:ext cx="11324424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584200">
              <a:lnSpc>
                <a:spcPct val="100000"/>
              </a:lnSpc>
              <a:spcBef>
                <a:spcPts val="400"/>
              </a:spcBef>
              <a:defRPr sz="4000"/>
            </a:pPr>
            <a:r>
              <a:rPr lang="en-US" dirty="0"/>
              <a:t>LLM agents as human evaluators / participants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144F84-1762-ED78-2B10-66617986B7BA}"/>
              </a:ext>
            </a:extLst>
          </p:cNvPr>
          <p:cNvSpPr txBox="1">
            <a:spLocks/>
          </p:cNvSpPr>
          <p:nvPr/>
        </p:nvSpPr>
        <p:spPr>
          <a:xfrm>
            <a:off x="658313" y="2051058"/>
            <a:ext cx="11584487" cy="72829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HK" sz="3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GPT-4o rates two versions of each abstract on five factors:</a:t>
            </a:r>
          </a:p>
          <a:p>
            <a:pPr marL="0" indent="0">
              <a:buNone/>
            </a:pPr>
            <a:r>
              <a:rPr kumimoji="0" lang="en-HK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   (Assign a score in [1, 10])</a:t>
            </a:r>
          </a:p>
          <a:p>
            <a:pPr marL="0" indent="0">
              <a:buNone/>
            </a:pPr>
            <a:endParaRPr kumimoji="0" lang="en-HK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HK" sz="3200" b="1" dirty="0">
                <a:solidFill>
                  <a:sysClr val="windowText" lastClr="000000"/>
                </a:solidFill>
              </a:rPr>
              <a:t>Significance</a:t>
            </a:r>
          </a:p>
          <a:p>
            <a:pPr lvl="2">
              <a:defRPr/>
            </a:pPr>
            <a:r>
              <a:rPr lang="en-HK" sz="2800" dirty="0">
                <a:solidFill>
                  <a:sysClr val="windowText" lastClr="000000"/>
                </a:solidFill>
              </a:rPr>
              <a:t>A higher score means a more important contribution of the study.</a:t>
            </a:r>
          </a:p>
          <a:p>
            <a:pPr lvl="1"/>
            <a:r>
              <a:rPr kumimoji="0" lang="en-HK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Robustness</a:t>
            </a:r>
          </a:p>
          <a:p>
            <a:pPr lvl="2"/>
            <a:r>
              <a:rPr lang="en-HK" sz="2800" dirty="0">
                <a:solidFill>
                  <a:sysClr val="windowText" lastClr="000000"/>
                </a:solidFill>
              </a:rPr>
              <a:t>A higher score indicates a higher confidence in the reliability of findings.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HK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Credibility</a:t>
            </a:r>
          </a:p>
          <a:p>
            <a:pPr lvl="2">
              <a:defRPr/>
            </a:pPr>
            <a:r>
              <a:rPr kumimoji="0" lang="en-HK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A higher score reflects stronger scientific rigor and sound methodology.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HK" sz="3200" b="1" dirty="0">
                <a:solidFill>
                  <a:sysClr val="windowText" lastClr="000000"/>
                </a:solidFill>
              </a:rPr>
              <a:t>Teamwork</a:t>
            </a:r>
          </a:p>
          <a:p>
            <a:pPr lvl="2">
              <a:defRPr/>
            </a:pPr>
            <a:r>
              <a:rPr lang="en-HK" sz="2800" dirty="0">
                <a:solidFill>
                  <a:sysClr val="windowText" lastClr="000000"/>
                </a:solidFill>
              </a:rPr>
              <a:t>A higher score suggests that the study is more likely a collaborative work.</a:t>
            </a:r>
          </a:p>
          <a:p>
            <a:pPr lvl="1">
              <a:defRPr/>
            </a:pPr>
            <a:r>
              <a:rPr kumimoji="0" lang="en-HK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Decision</a:t>
            </a:r>
          </a:p>
          <a:p>
            <a:pPr lvl="2">
              <a:defRPr/>
            </a:pPr>
            <a:r>
              <a:rPr kumimoji="0" lang="en-HK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This is an overall rating score based on synthesis of the above four aspects and any other relevant information provided in the paper abstract.</a:t>
            </a:r>
          </a:p>
        </p:txBody>
      </p:sp>
    </p:spTree>
    <p:extLst>
      <p:ext uri="{BB962C8B-B14F-4D97-AF65-F5344CB8AC3E}">
        <p14:creationId xmlns:p14="http://schemas.microsoft.com/office/powerpoint/2010/main" val="304160948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B11B2-207F-8EAE-0B3E-06673DAA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lide Number">
            <a:extLst>
              <a:ext uri="{FF2B5EF4-FFF2-40B4-BE49-F238E27FC236}">
                <a16:creationId xmlns:a16="http://schemas.microsoft.com/office/drawing/2014/main" id="{7C696984-71CD-41EC-91D2-3B9C4103BDB8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2474216" y="9333986"/>
            <a:ext cx="340259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14</a:t>
            </a:fld>
            <a:endParaRPr dirty="0"/>
          </a:p>
        </p:txBody>
      </p:sp>
      <p:sp>
        <p:nvSpPr>
          <p:cNvPr id="616" name="We have limited understanding of “we” words in research evaluations">
            <a:extLst>
              <a:ext uri="{FF2B5EF4-FFF2-40B4-BE49-F238E27FC236}">
                <a16:creationId xmlns:a16="http://schemas.microsoft.com/office/drawing/2014/main" id="{DB79E09F-DE02-07C1-9179-0FA97B3B5589}"/>
              </a:ext>
            </a:extLst>
          </p:cNvPr>
          <p:cNvSpPr txBox="1"/>
          <p:nvPr/>
        </p:nvSpPr>
        <p:spPr>
          <a:xfrm>
            <a:off x="658313" y="741625"/>
            <a:ext cx="11324424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584200">
              <a:lnSpc>
                <a:spcPct val="100000"/>
              </a:lnSpc>
              <a:spcBef>
                <a:spcPts val="400"/>
              </a:spcBef>
              <a:defRPr sz="4000"/>
            </a:pPr>
            <a:r>
              <a:rPr lang="en-US" dirty="0">
                <a:solidFill>
                  <a:srgbClr val="0078B9"/>
                </a:solidFill>
              </a:rPr>
              <a:t>Prompt</a:t>
            </a:r>
            <a:r>
              <a:rPr lang="en-US" dirty="0"/>
              <a:t> GPT-4o to rate the </a:t>
            </a:r>
            <a:r>
              <a:rPr lang="en-US" i="1" dirty="0">
                <a:solidFill>
                  <a:srgbClr val="0078B9"/>
                </a:solidFill>
              </a:rPr>
              <a:t>perceived</a:t>
            </a:r>
            <a:r>
              <a:rPr lang="en-US" dirty="0"/>
              <a:t> quality</a:t>
            </a:r>
            <a:endParaRPr dirty="0"/>
          </a:p>
        </p:txBody>
      </p:sp>
      <p:pic>
        <p:nvPicPr>
          <p:cNvPr id="3" name="Picture 2" descr="A paper with text on it&#10;&#10;AI-generated content may be incorrect.">
            <a:extLst>
              <a:ext uri="{FF2B5EF4-FFF2-40B4-BE49-F238E27FC236}">
                <a16:creationId xmlns:a16="http://schemas.microsoft.com/office/drawing/2014/main" id="{0258D24F-23BC-385D-A750-490E4B214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26" y="1703802"/>
            <a:ext cx="9995719" cy="763018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146674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1EF95-0611-F7A6-7748-B99558C87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lide Number">
            <a:extLst>
              <a:ext uri="{FF2B5EF4-FFF2-40B4-BE49-F238E27FC236}">
                <a16:creationId xmlns:a16="http://schemas.microsoft.com/office/drawing/2014/main" id="{707B4613-944C-4E7D-DC2D-F66894573E7A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2474216" y="9333986"/>
            <a:ext cx="340259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616" name="We have limited understanding of “we” words in research evaluations">
            <a:extLst>
              <a:ext uri="{FF2B5EF4-FFF2-40B4-BE49-F238E27FC236}">
                <a16:creationId xmlns:a16="http://schemas.microsoft.com/office/drawing/2014/main" id="{6A9D4E7B-7E95-0C36-19C9-086F1E631BD7}"/>
              </a:ext>
            </a:extLst>
          </p:cNvPr>
          <p:cNvSpPr txBox="1"/>
          <p:nvPr/>
        </p:nvSpPr>
        <p:spPr>
          <a:xfrm>
            <a:off x="658312" y="741625"/>
            <a:ext cx="11815903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/>
          <a:p>
            <a:pPr defTabSz="584200">
              <a:lnSpc>
                <a:spcPct val="100000"/>
              </a:lnSpc>
              <a:spcBef>
                <a:spcPts val="400"/>
              </a:spcBef>
              <a:defRPr sz="4000"/>
            </a:pPr>
            <a:r>
              <a:rPr lang="en-US" dirty="0"/>
              <a:t>How does GPT-4o compare with humans?</a:t>
            </a:r>
            <a:endParaRPr dirty="0"/>
          </a:p>
        </p:txBody>
      </p:sp>
      <p:sp>
        <p:nvSpPr>
          <p:cNvPr id="2" name="Most grant proposals &amp; research papers use “we” instead of “you”.…">
            <a:extLst>
              <a:ext uri="{FF2B5EF4-FFF2-40B4-BE49-F238E27FC236}">
                <a16:creationId xmlns:a16="http://schemas.microsoft.com/office/drawing/2014/main" id="{51637E36-3D6A-0F51-58EF-DC2C480402D6}"/>
              </a:ext>
            </a:extLst>
          </p:cNvPr>
          <p:cNvSpPr txBox="1"/>
          <p:nvPr/>
        </p:nvSpPr>
        <p:spPr>
          <a:xfrm>
            <a:off x="658311" y="1808776"/>
            <a:ext cx="11815903" cy="109260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334863" indent="-334863" defTabSz="457200">
              <a:lnSpc>
                <a:spcPct val="100000"/>
              </a:lnSpc>
              <a:spcBef>
                <a:spcPts val="1000"/>
              </a:spcBef>
              <a:buSzPct val="145000"/>
              <a:buChar char="•"/>
              <a:defRPr sz="2800"/>
            </a:pPr>
            <a:r>
              <a:rPr lang="en-US" dirty="0">
                <a:solidFill>
                  <a:srgbClr val="0078B9"/>
                </a:solidFill>
              </a:rPr>
              <a:t>Substantial agreement btw. LLM and Human (on 100 </a:t>
            </a:r>
            <a:r>
              <a:rPr lang="en-US" altLang="zh-CN" dirty="0">
                <a:solidFill>
                  <a:srgbClr val="0078B9"/>
                </a:solidFill>
              </a:rPr>
              <a:t>abs.</a:t>
            </a:r>
            <a:r>
              <a:rPr lang="en-US" dirty="0">
                <a:solidFill>
                  <a:srgbClr val="0078B9"/>
                </a:solidFill>
              </a:rPr>
              <a:t>)</a:t>
            </a:r>
          </a:p>
          <a:p>
            <a:pPr marL="334863" indent="-334863" defTabSz="457200">
              <a:lnSpc>
                <a:spcPct val="100000"/>
              </a:lnSpc>
              <a:spcBef>
                <a:spcPts val="1000"/>
              </a:spcBef>
              <a:buSzPct val="145000"/>
              <a:buChar char="•"/>
              <a:defRPr sz="2800"/>
            </a:pPr>
            <a:r>
              <a:rPr lang="en-US" dirty="0">
                <a:solidFill>
                  <a:srgbClr val="C00000"/>
                </a:solidFill>
              </a:rPr>
              <a:t>Agreement is even higher than that among human raters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8912B6D-E26B-DA99-302D-12E7D9157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019" y="3313551"/>
            <a:ext cx="9398618" cy="54050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9031D2-8154-BFB9-D93C-F46E1ADA1FAC}"/>
              </a:ext>
            </a:extLst>
          </p:cNvPr>
          <p:cNvSpPr/>
          <p:nvPr/>
        </p:nvSpPr>
        <p:spPr>
          <a:xfrm>
            <a:off x="3262184" y="4876800"/>
            <a:ext cx="518984" cy="3377514"/>
          </a:xfrm>
          <a:prstGeom prst="rect">
            <a:avLst/>
          </a:prstGeom>
          <a:noFill/>
          <a:ln w="635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7093" tIns="27093" rIns="27093" bIns="27093" numCol="1" spcCol="38100" rtlCol="0" anchor="ctr">
            <a:spAutoFit/>
          </a:bodyPr>
          <a:lstStyle/>
          <a:p>
            <a:pPr marL="0" marR="0" indent="0" algn="ctr" defTabSz="58702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79931-8EEC-E448-B0F0-D37445F3EB1B}"/>
              </a:ext>
            </a:extLst>
          </p:cNvPr>
          <p:cNvSpPr/>
          <p:nvPr/>
        </p:nvSpPr>
        <p:spPr>
          <a:xfrm>
            <a:off x="6615690" y="4876800"/>
            <a:ext cx="518984" cy="3377514"/>
          </a:xfrm>
          <a:prstGeom prst="rect">
            <a:avLst/>
          </a:prstGeom>
          <a:noFill/>
          <a:ln w="635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7093" tIns="27093" rIns="27093" bIns="27093" numCol="1" spcCol="38100" rtlCol="0" anchor="ctr">
            <a:spAutoFit/>
          </a:bodyPr>
          <a:lstStyle/>
          <a:p>
            <a:pPr marL="0" marR="0" indent="0" algn="ctr" defTabSz="58702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0D3FA-9887-A88B-77ED-1CE781306449}"/>
              </a:ext>
            </a:extLst>
          </p:cNvPr>
          <p:cNvSpPr/>
          <p:nvPr/>
        </p:nvSpPr>
        <p:spPr>
          <a:xfrm>
            <a:off x="9944482" y="4876800"/>
            <a:ext cx="518984" cy="3377514"/>
          </a:xfrm>
          <a:prstGeom prst="rect">
            <a:avLst/>
          </a:prstGeom>
          <a:noFill/>
          <a:ln w="635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7093" tIns="27093" rIns="27093" bIns="27093" numCol="1" spcCol="38100" rtlCol="0" anchor="ctr">
            <a:spAutoFit/>
          </a:bodyPr>
          <a:lstStyle/>
          <a:p>
            <a:pPr marL="0" marR="0" indent="0" algn="ctr" defTabSz="58702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8220932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dvAuto="0"/>
      <p:bldP spid="3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F7444-6C81-89B4-9DEE-6863F4803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lide Number">
            <a:extLst>
              <a:ext uri="{FF2B5EF4-FFF2-40B4-BE49-F238E27FC236}">
                <a16:creationId xmlns:a16="http://schemas.microsoft.com/office/drawing/2014/main" id="{E7CB60AE-05DC-E858-759E-95341218406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2474216" y="9333986"/>
            <a:ext cx="340259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616" name="We have limited understanding of “we” words in research evaluations">
            <a:extLst>
              <a:ext uri="{FF2B5EF4-FFF2-40B4-BE49-F238E27FC236}">
                <a16:creationId xmlns:a16="http://schemas.microsoft.com/office/drawing/2014/main" id="{A625F4FE-BD42-AFAF-C561-E1FCF1E3EE1C}"/>
              </a:ext>
            </a:extLst>
          </p:cNvPr>
          <p:cNvSpPr txBox="1"/>
          <p:nvPr/>
        </p:nvSpPr>
        <p:spPr>
          <a:xfrm>
            <a:off x="658313" y="741625"/>
            <a:ext cx="11324424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584200">
              <a:lnSpc>
                <a:spcPct val="100000"/>
              </a:lnSpc>
              <a:spcBef>
                <a:spcPts val="400"/>
              </a:spcBef>
              <a:defRPr sz="4000"/>
            </a:pPr>
            <a:r>
              <a:rPr lang="en-US" dirty="0"/>
              <a:t>Causal evidence of “We” on paper acceptance</a:t>
            </a:r>
            <a:endParaRPr dirty="0"/>
          </a:p>
        </p:txBody>
      </p:sp>
      <p:sp>
        <p:nvSpPr>
          <p:cNvPr id="2" name="Most grant proposals &amp; research papers use “we” instead of “you”.…">
            <a:extLst>
              <a:ext uri="{FF2B5EF4-FFF2-40B4-BE49-F238E27FC236}">
                <a16:creationId xmlns:a16="http://schemas.microsoft.com/office/drawing/2014/main" id="{F1CE85F8-8B55-6699-6C74-3D8DFF7220F1}"/>
              </a:ext>
            </a:extLst>
          </p:cNvPr>
          <p:cNvSpPr txBox="1"/>
          <p:nvPr/>
        </p:nvSpPr>
        <p:spPr>
          <a:xfrm>
            <a:off x="840188" y="1630722"/>
            <a:ext cx="11324424" cy="165173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334863" indent="-334863" defTabSz="457200">
              <a:lnSpc>
                <a:spcPct val="100000"/>
              </a:lnSpc>
              <a:spcBef>
                <a:spcPts val="1000"/>
              </a:spcBef>
              <a:buSzPct val="145000"/>
              <a:buChar char="•"/>
              <a:defRPr sz="2800"/>
            </a:pPr>
            <a:r>
              <a:rPr lang="en-US" dirty="0">
                <a:solidFill>
                  <a:srgbClr val="0078B9"/>
                </a:solidFill>
              </a:rPr>
              <a:t>Acceptance score drops sharply after replacement of “We”</a:t>
            </a:r>
          </a:p>
          <a:p>
            <a:pPr marL="334863" indent="-334863" defTabSz="457200">
              <a:lnSpc>
                <a:spcPct val="100000"/>
              </a:lnSpc>
              <a:spcBef>
                <a:spcPts val="1000"/>
              </a:spcBef>
              <a:buSzPct val="145000"/>
              <a:buChar char="•"/>
              <a:defRPr sz="2800"/>
            </a:pPr>
            <a:r>
              <a:rPr lang="en-US" dirty="0">
                <a:solidFill>
                  <a:srgbClr val="0078B9"/>
                </a:solidFill>
              </a:rPr>
              <a:t>The effect is more pronounced for abstracts with more “We”</a:t>
            </a:r>
          </a:p>
          <a:p>
            <a:pPr marL="334863" indent="-334863" defTabSz="457200">
              <a:lnSpc>
                <a:spcPct val="100000"/>
              </a:lnSpc>
              <a:spcBef>
                <a:spcPts val="1000"/>
              </a:spcBef>
              <a:buSzPct val="145000"/>
              <a:buChar char="•"/>
              <a:defRPr sz="2800"/>
            </a:pPr>
            <a:r>
              <a:rPr lang="en-US" dirty="0">
                <a:solidFill>
                  <a:srgbClr val="C00000"/>
                </a:solidFill>
              </a:rPr>
              <a:t>Four mediators also drop in their rating scores</a:t>
            </a:r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F0575802-94E7-4E61-9427-3F3CCD11A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000" y="3453408"/>
            <a:ext cx="6426199" cy="588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4197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0AC54-1A88-E42D-F214-90335A799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lide Number">
            <a:extLst>
              <a:ext uri="{FF2B5EF4-FFF2-40B4-BE49-F238E27FC236}">
                <a16:creationId xmlns:a16="http://schemas.microsoft.com/office/drawing/2014/main" id="{3E8168FB-A7B7-42B9-33DA-76659C9062BC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2474216" y="9333986"/>
            <a:ext cx="340259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616" name="We have limited understanding of “we” words in research evaluations">
            <a:extLst>
              <a:ext uri="{FF2B5EF4-FFF2-40B4-BE49-F238E27FC236}">
                <a16:creationId xmlns:a16="http://schemas.microsoft.com/office/drawing/2014/main" id="{07505204-BF4C-4DB3-F12F-143B03B1794D}"/>
              </a:ext>
            </a:extLst>
          </p:cNvPr>
          <p:cNvSpPr txBox="1"/>
          <p:nvPr/>
        </p:nvSpPr>
        <p:spPr>
          <a:xfrm>
            <a:off x="658313" y="741625"/>
            <a:ext cx="11324424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584200">
              <a:lnSpc>
                <a:spcPct val="100000"/>
              </a:lnSpc>
              <a:spcBef>
                <a:spcPts val="400"/>
              </a:spcBef>
              <a:defRPr sz="4000"/>
            </a:pPr>
            <a:r>
              <a:rPr lang="en-US" dirty="0"/>
              <a:t>Four mediators explain most power of “We”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A78B2A-6774-A0BB-DD93-B98E35861349}"/>
              </a:ext>
            </a:extLst>
          </p:cNvPr>
          <p:cNvSpPr txBox="1">
            <a:spLocks/>
          </p:cNvSpPr>
          <p:nvPr/>
        </p:nvSpPr>
        <p:spPr>
          <a:xfrm>
            <a:off x="658313" y="1898658"/>
            <a:ext cx="11559087" cy="7607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Effect of WE that can be explained</a:t>
            </a:r>
            <a:r>
              <a:rPr lang="en-US" altLang="zh-CN" sz="3200" dirty="0">
                <a:solidFill>
                  <a:srgbClr val="C00000"/>
                </a:solidFill>
              </a:rPr>
              <a:t> by four mediators: </a:t>
            </a:r>
            <a:r>
              <a:rPr lang="en-US" altLang="zh-CN" sz="3200" b="1" dirty="0">
                <a:solidFill>
                  <a:srgbClr val="C00000"/>
                </a:solidFill>
              </a:rPr>
              <a:t>95%</a:t>
            </a:r>
          </a:p>
          <a:p>
            <a:r>
              <a:rPr lang="en-US" sz="3200" dirty="0"/>
              <a:t>Importance: </a:t>
            </a:r>
            <a:r>
              <a:rPr lang="en-US" sz="3200" dirty="0">
                <a:solidFill>
                  <a:srgbClr val="0078B9"/>
                </a:solidFill>
              </a:rPr>
              <a:t>Credibility &gt; Teamwork &gt; Significance &gt; Robustness</a:t>
            </a:r>
            <a:endParaRPr lang="en-HK" sz="3200" dirty="0">
              <a:solidFill>
                <a:srgbClr val="0078B9"/>
              </a:solidFill>
            </a:endParaRPr>
          </a:p>
        </p:txBody>
      </p:sp>
      <p:pic>
        <p:nvPicPr>
          <p:cNvPr id="3" name="Picture 2" descr="A diagram of a number of individuals&#10;&#10;AI-generated content may be incorrect.">
            <a:extLst>
              <a:ext uri="{FF2B5EF4-FFF2-40B4-BE49-F238E27FC236}">
                <a16:creationId xmlns:a16="http://schemas.microsoft.com/office/drawing/2014/main" id="{F7032CB6-4916-4456-CA88-66A71FDE6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88" y="3251484"/>
            <a:ext cx="9146593" cy="533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79006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AE244-C511-5543-F1BA-1FB49C94B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lide Number">
            <a:extLst>
              <a:ext uri="{FF2B5EF4-FFF2-40B4-BE49-F238E27FC236}">
                <a16:creationId xmlns:a16="http://schemas.microsoft.com/office/drawing/2014/main" id="{9FD5442D-EDD4-A331-8521-746CBD29372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2474216" y="9333986"/>
            <a:ext cx="340259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616" name="We have limited understanding of “we” words in research evaluations">
            <a:extLst>
              <a:ext uri="{FF2B5EF4-FFF2-40B4-BE49-F238E27FC236}">
                <a16:creationId xmlns:a16="http://schemas.microsoft.com/office/drawing/2014/main" id="{F9474B44-68DC-A22A-1B58-248C7E13CD8B}"/>
              </a:ext>
            </a:extLst>
          </p:cNvPr>
          <p:cNvSpPr txBox="1"/>
          <p:nvPr/>
        </p:nvSpPr>
        <p:spPr>
          <a:xfrm>
            <a:off x="658313" y="741625"/>
            <a:ext cx="11324424" cy="71814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584200">
              <a:lnSpc>
                <a:spcPct val="100000"/>
              </a:lnSpc>
              <a:spcBef>
                <a:spcPts val="400"/>
              </a:spcBef>
              <a:defRPr sz="4000"/>
            </a:pPr>
            <a:r>
              <a:rPr lang="en-US" dirty="0"/>
              <a:t>Implications &amp; limitations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D79003-F4A6-C2FE-332E-B9B3A2E19C1E}"/>
              </a:ext>
            </a:extLst>
          </p:cNvPr>
          <p:cNvSpPr txBox="1">
            <a:spLocks/>
          </p:cNvSpPr>
          <p:nvPr/>
        </p:nvSpPr>
        <p:spPr>
          <a:xfrm>
            <a:off x="658313" y="1898658"/>
            <a:ext cx="11815903" cy="7607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LM Sans 12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For scientists: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8B9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pronouns can help us win grants and papers.</a:t>
            </a:r>
          </a:p>
          <a:p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For funders &amp; journals: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8B9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 need to train reviewers to be language blind.</a:t>
            </a:r>
          </a:p>
          <a:p>
            <a:pPr marL="0" indent="0">
              <a:buNone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M Sans 12" pitchFamily="2" charset="77"/>
              <a:ea typeface="+mn-ea"/>
              <a:cs typeface="+mn-cs"/>
            </a:endParaRPr>
          </a:p>
          <a:p>
            <a:pPr marL="0" indent="0">
              <a:buNone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More broadly:</a:t>
            </a:r>
          </a:p>
          <a:p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M Sans 12" pitchFamily="2" charset="77"/>
                <a:ea typeface="+mn-ea"/>
                <a:cs typeface="+mn-cs"/>
              </a:rPr>
              <a:t>Innovation success depends on more than just technical merits.</a:t>
            </a:r>
            <a:endParaRPr lang="en-US" altLang="zh-CN" sz="3200" b="1" dirty="0"/>
          </a:p>
          <a:p>
            <a:r>
              <a:rPr lang="en-US" sz="3200" dirty="0">
                <a:solidFill>
                  <a:srgbClr val="0078B9"/>
                </a:solidFill>
              </a:rPr>
              <a:t>The presentation / writing style also matters (sometimes more).</a:t>
            </a:r>
          </a:p>
          <a:p>
            <a:endParaRPr lang="en-US" sz="3200" dirty="0">
              <a:solidFill>
                <a:srgbClr val="0078B9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C00000"/>
                </a:solidFill>
              </a:rPr>
              <a:t>Limitations:</a:t>
            </a:r>
          </a:p>
          <a:p>
            <a:r>
              <a:rPr lang="en-US" altLang="zh-CN" sz="3200" dirty="0"/>
              <a:t>Data from</a:t>
            </a:r>
            <a:r>
              <a:rPr lang="zh-CN" altLang="en-US" sz="3200" dirty="0"/>
              <a:t> </a:t>
            </a:r>
            <a:r>
              <a:rPr lang="en-US" altLang="zh-CN" sz="3200" dirty="0"/>
              <a:t>some</a:t>
            </a:r>
            <a:r>
              <a:rPr lang="zh-CN" altLang="en-US" sz="3200" dirty="0"/>
              <a:t> </a:t>
            </a:r>
            <a:r>
              <a:rPr lang="en-US" altLang="zh-CN" sz="3200" dirty="0"/>
              <a:t>disciplines</a:t>
            </a:r>
            <a:r>
              <a:rPr lang="zh-CN" altLang="en-US" sz="3200" dirty="0"/>
              <a:t> </a:t>
            </a:r>
            <a:r>
              <a:rPr lang="en-US" altLang="zh-CN" sz="3200" dirty="0"/>
              <a:t>(NC)</a:t>
            </a:r>
            <a:r>
              <a:rPr lang="zh-CN" altLang="en-US" sz="3200" dirty="0"/>
              <a:t> </a:t>
            </a:r>
            <a:r>
              <a:rPr lang="en-US" altLang="zh-CN" sz="3200" dirty="0"/>
              <a:t>are limited to</a:t>
            </a:r>
            <a:r>
              <a:rPr lang="zh-CN" altLang="en-US" sz="3200" dirty="0"/>
              <a:t> </a:t>
            </a:r>
            <a:r>
              <a:rPr lang="en-US" altLang="zh-CN" sz="3200" dirty="0"/>
              <a:t>accepted</a:t>
            </a:r>
            <a:r>
              <a:rPr lang="zh-CN" altLang="en-US" sz="3200" dirty="0"/>
              <a:t> </a:t>
            </a:r>
            <a:r>
              <a:rPr lang="en-US" altLang="zh-CN" sz="3200" dirty="0"/>
              <a:t>papers.</a:t>
            </a:r>
          </a:p>
          <a:p>
            <a:r>
              <a:rPr lang="en-US" altLang="zh-CN" sz="3200" dirty="0"/>
              <a:t>LLM agents cannot fully replace human participants.</a:t>
            </a:r>
          </a:p>
          <a:p>
            <a:r>
              <a:rPr lang="en-US" altLang="zh-CN" sz="3200" dirty="0"/>
              <a:t>Need robustness tests on unseen data and other LLMs.</a:t>
            </a:r>
          </a:p>
          <a:p>
            <a:pPr marL="0" indent="0">
              <a:buNone/>
            </a:pPr>
            <a:endParaRPr lang="en-HK" sz="3200" dirty="0">
              <a:solidFill>
                <a:srgbClr val="0078B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1087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More details in our papers:"/>
          <p:cNvSpPr txBox="1"/>
          <p:nvPr/>
        </p:nvSpPr>
        <p:spPr>
          <a:xfrm>
            <a:off x="721449" y="828847"/>
            <a:ext cx="11485703" cy="69697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584200">
              <a:lnSpc>
                <a:spcPct val="100000"/>
              </a:lnSpc>
              <a:spcBef>
                <a:spcPts val="400"/>
              </a:spcBef>
              <a:defRPr sz="4000"/>
            </a:lvl1pPr>
          </a:lstStyle>
          <a:p>
            <a:r>
              <a:t>More details in our papers:</a:t>
            </a:r>
          </a:p>
        </p:txBody>
      </p:sp>
      <p:sp>
        <p:nvSpPr>
          <p:cNvPr id="68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474216" y="9333986"/>
            <a:ext cx="340259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pic>
        <p:nvPicPr>
          <p:cNvPr id="686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1748" y="2265793"/>
            <a:ext cx="2011958" cy="2047886"/>
          </a:xfrm>
          <a:prstGeom prst="rect">
            <a:avLst/>
          </a:prstGeom>
          <a:ln w="3175">
            <a:miter lim="400000"/>
          </a:ln>
        </p:spPr>
      </p:pic>
      <p:pic>
        <p:nvPicPr>
          <p:cNvPr id="687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1748" y="4795867"/>
            <a:ext cx="2011958" cy="2043893"/>
          </a:xfrm>
          <a:prstGeom prst="rect">
            <a:avLst/>
          </a:prstGeom>
          <a:ln w="3175">
            <a:miter lim="400000"/>
          </a:ln>
        </p:spPr>
      </p:pic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3BA345D-70E3-C0AD-0ED1-BFA3ACAF9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1748" y="7260102"/>
            <a:ext cx="2011958" cy="20119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3A0B04-A319-A1F5-0715-C140CF4FA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684" y="7424444"/>
            <a:ext cx="7772400" cy="15522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0C383B-149B-C999-D225-ED06674D26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684" y="2230635"/>
            <a:ext cx="7772400" cy="471201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474216" y="9333986"/>
            <a:ext cx="340259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/>
          <a:lstStyle>
            <a:lvl1pPr defTabSz="584200"/>
          </a:lstStyle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640" name="Acknowledgement"/>
          <p:cNvSpPr txBox="1"/>
          <p:nvPr/>
        </p:nvSpPr>
        <p:spPr>
          <a:xfrm>
            <a:off x="790412" y="811534"/>
            <a:ext cx="5497406" cy="77139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584200">
              <a:lnSpc>
                <a:spcPct val="100000"/>
              </a:lnSpc>
              <a:spcBef>
                <a:spcPts val="400"/>
              </a:spcBef>
              <a:defRPr sz="4500"/>
            </a:lvl1pPr>
          </a:lstStyle>
          <a:p>
            <a:r>
              <a:t>Acknowledgement</a:t>
            </a:r>
          </a:p>
        </p:txBody>
      </p:sp>
      <p:sp>
        <p:nvSpPr>
          <p:cNvPr id="641" name="Thank You!"/>
          <p:cNvSpPr txBox="1"/>
          <p:nvPr/>
        </p:nvSpPr>
        <p:spPr>
          <a:xfrm>
            <a:off x="7917819" y="699901"/>
            <a:ext cx="3883153" cy="99466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2076B4"/>
                </a:solidFill>
              </a:defRPr>
            </a:lvl1pPr>
          </a:lstStyle>
          <a:p>
            <a:r>
              <a:t>Thank You!</a:t>
            </a:r>
          </a:p>
        </p:txBody>
      </p:sp>
      <p:grpSp>
        <p:nvGrpSpPr>
          <p:cNvPr id="655" name="Group"/>
          <p:cNvGrpSpPr/>
          <p:nvPr/>
        </p:nvGrpSpPr>
        <p:grpSpPr>
          <a:xfrm>
            <a:off x="930068" y="6137662"/>
            <a:ext cx="5497405" cy="3247510"/>
            <a:chOff x="-62261" y="-40747"/>
            <a:chExt cx="5497404" cy="3247508"/>
          </a:xfrm>
        </p:grpSpPr>
        <p:grpSp>
          <p:nvGrpSpPr>
            <p:cNvPr id="653" name="Group"/>
            <p:cNvGrpSpPr/>
            <p:nvPr/>
          </p:nvGrpSpPr>
          <p:grpSpPr>
            <a:xfrm>
              <a:off x="-62262" y="-40748"/>
              <a:ext cx="5497405" cy="3247510"/>
              <a:chOff x="0" y="0"/>
              <a:chExt cx="5497404" cy="3247508"/>
            </a:xfrm>
          </p:grpSpPr>
          <p:grpSp>
            <p:nvGrpSpPr>
              <p:cNvPr id="651" name="Group"/>
              <p:cNvGrpSpPr/>
              <p:nvPr/>
            </p:nvGrpSpPr>
            <p:grpSpPr>
              <a:xfrm>
                <a:off x="157219" y="40747"/>
                <a:ext cx="5340186" cy="3206762"/>
                <a:chOff x="0" y="0"/>
                <a:chExt cx="5340184" cy="3206761"/>
              </a:xfrm>
            </p:grpSpPr>
            <p:pic>
              <p:nvPicPr>
                <p:cNvPr id="642" name="pasted-movie.png" descr="pasted-movie.png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42222" y="1832992"/>
                  <a:ext cx="2453159" cy="1373770"/>
                </a:xfrm>
                <a:prstGeom prst="rect">
                  <a:avLst/>
                </a:prstGeom>
                <a:ln w="3175" cap="flat">
                  <a:noFill/>
                  <a:miter lim="400000"/>
                </a:ln>
                <a:effectLst/>
              </p:spPr>
            </p:pic>
            <p:pic>
              <p:nvPicPr>
                <p:cNvPr id="643" name="k.png" descr="k.png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04406" y="696070"/>
                  <a:ext cx="1160508" cy="620872"/>
                </a:xfrm>
                <a:prstGeom prst="rect">
                  <a:avLst/>
                </a:prstGeom>
                <a:ln w="3175" cap="flat">
                  <a:noFill/>
                  <a:miter lim="400000"/>
                </a:ln>
                <a:effectLst/>
              </p:spPr>
            </p:pic>
            <p:pic>
              <p:nvPicPr>
                <p:cNvPr id="644" name="pasted-movie.png" descr="pasted-movie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658" y="594514"/>
                  <a:ext cx="1077022" cy="1101279"/>
                </a:xfrm>
                <a:prstGeom prst="rect">
                  <a:avLst/>
                </a:prstGeom>
                <a:ln w="3175" cap="flat">
                  <a:noFill/>
                  <a:miter lim="400000"/>
                </a:ln>
                <a:effectLst/>
              </p:spPr>
            </p:pic>
            <p:pic>
              <p:nvPicPr>
                <p:cNvPr id="645" name="pasted-movie.png" descr="pasted-movie.png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0" y="1733255"/>
                  <a:ext cx="1122338" cy="1127349"/>
                </a:xfrm>
                <a:prstGeom prst="rect">
                  <a:avLst/>
                </a:prstGeom>
                <a:ln w="3175" cap="flat">
                  <a:noFill/>
                  <a:miter lim="400000"/>
                </a:ln>
                <a:effectLst/>
              </p:spPr>
            </p:pic>
            <p:pic>
              <p:nvPicPr>
                <p:cNvPr id="646" name="pasted-movie.png" descr="pasted-movie.png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9044" y="1579903"/>
                  <a:ext cx="1601139" cy="386717"/>
                </a:xfrm>
                <a:prstGeom prst="rect">
                  <a:avLst/>
                </a:prstGeom>
                <a:ln w="3175" cap="flat">
                  <a:noFill/>
                  <a:miter lim="400000"/>
                </a:ln>
                <a:effectLst/>
              </p:spPr>
            </p:pic>
            <p:pic>
              <p:nvPicPr>
                <p:cNvPr id="647" name="pasted-movie.png" descr="pasted-movie.png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128259" y="1519032"/>
                  <a:ext cx="1156827" cy="508459"/>
                </a:xfrm>
                <a:prstGeom prst="rect">
                  <a:avLst/>
                </a:prstGeom>
                <a:ln w="3175" cap="flat">
                  <a:noFill/>
                  <a:miter lim="400000"/>
                </a:ln>
                <a:effectLst/>
              </p:spPr>
            </p:pic>
            <p:pic>
              <p:nvPicPr>
                <p:cNvPr id="648" name="pasted-movie.png" descr="pasted-movie.png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51817" y="1279077"/>
                  <a:ext cx="988368" cy="988369"/>
                </a:xfrm>
                <a:prstGeom prst="rect">
                  <a:avLst/>
                </a:prstGeom>
                <a:ln w="3175" cap="flat">
                  <a:noFill/>
                  <a:miter lim="400000"/>
                </a:ln>
                <a:effectLst/>
              </p:spPr>
            </p:pic>
            <p:pic>
              <p:nvPicPr>
                <p:cNvPr id="649" name="pasted-movie.png" descr="pasted-movie.png"/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67167" y="2234519"/>
                  <a:ext cx="2468665" cy="592147"/>
                </a:xfrm>
                <a:prstGeom prst="rect">
                  <a:avLst/>
                </a:prstGeom>
                <a:ln w="3175" cap="flat">
                  <a:noFill/>
                  <a:miter lim="400000"/>
                </a:ln>
                <a:effectLst/>
              </p:spPr>
            </p:pic>
            <p:pic>
              <p:nvPicPr>
                <p:cNvPr id="650" name="NICO-1.png" descr="NICO-1.png"/>
                <p:cNvPicPr>
                  <a:picLocks noChangeAspect="1"/>
                </p:cNvPicPr>
                <p:nvPr/>
              </p:nvPicPr>
              <p:blipFill>
                <a:blip r:embed="rId11"/>
                <a:srcRect/>
                <a:stretch>
                  <a:fillRect/>
                </a:stretch>
              </p:blipFill>
              <p:spPr>
                <a:xfrm>
                  <a:off x="2804530" y="0"/>
                  <a:ext cx="2466315" cy="2056714"/>
                </a:xfrm>
                <a:prstGeom prst="rect">
                  <a:avLst/>
                </a:prstGeom>
                <a:ln w="3175" cap="flat">
                  <a:noFill/>
                  <a:miter lim="400000"/>
                </a:ln>
                <a:effectLst/>
              </p:spPr>
            </p:pic>
          </p:grpSp>
          <p:sp>
            <p:nvSpPr>
              <p:cNvPr id="652" name="Funders"/>
              <p:cNvSpPr txBox="1"/>
              <p:nvPr/>
            </p:nvSpPr>
            <p:spPr>
              <a:xfrm>
                <a:off x="0" y="0"/>
                <a:ext cx="1895175" cy="800231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584200">
                  <a:lnSpc>
                    <a:spcPct val="100000"/>
                  </a:lnSpc>
                  <a:spcBef>
                    <a:spcPts val="0"/>
                  </a:spcBef>
                  <a:defRPr sz="2500" b="1">
                    <a:solidFill>
                      <a:srgbClr val="2076B4"/>
                    </a:solidFill>
                  </a:defRPr>
                </a:lvl1pPr>
              </a:lstStyle>
              <a:p>
                <a:r>
                  <a:t>Funders</a:t>
                </a:r>
              </a:p>
            </p:txBody>
          </p:sp>
        </p:grpSp>
        <p:sp>
          <p:nvSpPr>
            <p:cNvPr id="654" name="Line"/>
            <p:cNvSpPr/>
            <p:nvPr/>
          </p:nvSpPr>
          <p:spPr>
            <a:xfrm flipV="1">
              <a:off x="-1" y="198343"/>
              <a:ext cx="2" cy="271251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71" name="Group"/>
          <p:cNvGrpSpPr/>
          <p:nvPr/>
        </p:nvGrpSpPr>
        <p:grpSpPr>
          <a:xfrm>
            <a:off x="6906331" y="6239787"/>
            <a:ext cx="4813777" cy="3043260"/>
            <a:chOff x="0" y="0"/>
            <a:chExt cx="4813775" cy="3043258"/>
          </a:xfrm>
        </p:grpSpPr>
        <p:pic>
          <p:nvPicPr>
            <p:cNvPr id="656" name="289px-Retraction_Watch_logo.webp.png" descr="289px-Retraction_Watch_logo.webp.png"/>
            <p:cNvPicPr>
              <a:picLocks noChangeAspect="1"/>
            </p:cNvPicPr>
            <p:nvPr/>
          </p:nvPicPr>
          <p:blipFill>
            <a:blip r:embed="rId12"/>
            <a:srcRect b="2657"/>
            <a:stretch>
              <a:fillRect/>
            </a:stretch>
          </p:blipFill>
          <p:spPr>
            <a:xfrm>
              <a:off x="256860" y="1140598"/>
              <a:ext cx="1273569" cy="1239719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657" name="Altmetric_rgb.png" descr="Altmetric_rgb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25559" y="576125"/>
              <a:ext cx="1336171" cy="460979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grpSp>
          <p:nvGrpSpPr>
            <p:cNvPr id="660" name="Group"/>
            <p:cNvGrpSpPr/>
            <p:nvPr/>
          </p:nvGrpSpPr>
          <p:grpSpPr>
            <a:xfrm>
              <a:off x="160241" y="2224004"/>
              <a:ext cx="710940" cy="722325"/>
              <a:chOff x="0" y="0"/>
              <a:chExt cx="710938" cy="722323"/>
            </a:xfrm>
          </p:grpSpPr>
          <p:pic>
            <p:nvPicPr>
              <p:cNvPr id="658" name="AI_Engage-1-800x550.jpg" descr="AI_Engage-1-800x550.jpg"/>
              <p:cNvPicPr>
                <a:picLocks noChangeAspect="1"/>
              </p:cNvPicPr>
              <p:nvPr/>
            </p:nvPicPr>
            <p:blipFill>
              <a:blip r:embed="rId14"/>
              <a:srcRect r="51989" b="29048"/>
              <a:stretch>
                <a:fillRect/>
              </a:stretch>
            </p:blipFill>
            <p:spPr>
              <a:xfrm>
                <a:off x="0" y="0"/>
                <a:ext cx="710939" cy="722324"/>
              </a:xfrm>
              <a:prstGeom prst="rect">
                <a:avLst/>
              </a:prstGeom>
              <a:ln w="3175" cap="flat">
                <a:noFill/>
                <a:miter lim="400000"/>
              </a:ln>
              <a:effectLst/>
            </p:spPr>
          </p:pic>
          <p:sp>
            <p:nvSpPr>
              <p:cNvPr id="659" name="Microsoft Academic Graph"/>
              <p:cNvSpPr txBox="1"/>
              <p:nvPr/>
            </p:nvSpPr>
            <p:spPr>
              <a:xfrm>
                <a:off x="678" y="191938"/>
                <a:ext cx="709524" cy="523106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defTabSz="457200">
                  <a:lnSpc>
                    <a:spcPct val="100000"/>
                  </a:lnSpc>
                  <a:spcBef>
                    <a:spcPts val="1600"/>
                  </a:spcBef>
                  <a:defRPr sz="10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Microsoft Academic Graph </a:t>
                </a:r>
              </a:p>
            </p:txBody>
          </p:sp>
        </p:grpSp>
        <p:pic>
          <p:nvPicPr>
            <p:cNvPr id="661" name="Image" descr="Image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96506" y="2224004"/>
              <a:ext cx="1726354" cy="722325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662" name="Image" descr="Image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845517" y="555557"/>
              <a:ext cx="633956" cy="699729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663" name="pasted-movie.png" descr="pasted-movie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860272" y="1378681"/>
              <a:ext cx="624690" cy="638178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664" name="pasted-movie.png" descr="pasted-movie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508541" y="1368179"/>
              <a:ext cx="2305235" cy="768413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665" name="pasted-movie.png" descr="pasted-movie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048184" y="2224004"/>
              <a:ext cx="1459240" cy="722325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666" name="pasted-movie.png" descr="pasted-movie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31546" y="581691"/>
              <a:ext cx="1573212" cy="413059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667" name="pasted-movie.png" descr="pasted-movie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837475" y="1134880"/>
              <a:ext cx="1633183" cy="253875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pic>
          <p:nvPicPr>
            <p:cNvPr id="668" name="pasted-movie.png" descr="pasted-movie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672573" y="994916"/>
              <a:ext cx="918049" cy="479645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669" name="Data sources"/>
            <p:cNvSpPr txBox="1"/>
            <p:nvPr/>
          </p:nvSpPr>
          <p:spPr>
            <a:xfrm>
              <a:off x="39117" y="0"/>
              <a:ext cx="2379737" cy="543140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lnSpc>
                  <a:spcPct val="100000"/>
                </a:lnSpc>
                <a:spcBef>
                  <a:spcPts val="0"/>
                </a:spcBef>
                <a:defRPr sz="2500" b="1">
                  <a:solidFill>
                    <a:srgbClr val="2076B4"/>
                  </a:solidFill>
                </a:defRPr>
              </a:lvl1pPr>
            </a:lstStyle>
            <a:p>
              <a:r>
                <a:t>Data sources</a:t>
              </a:r>
            </a:p>
          </p:txBody>
        </p:sp>
        <p:sp>
          <p:nvSpPr>
            <p:cNvPr id="670" name="Line"/>
            <p:cNvSpPr/>
            <p:nvPr/>
          </p:nvSpPr>
          <p:spPr>
            <a:xfrm flipV="1">
              <a:off x="-1" y="128794"/>
              <a:ext cx="2" cy="291446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E813D1F-406A-EB73-848E-F3F0A3D6760D}"/>
              </a:ext>
            </a:extLst>
          </p:cNvPr>
          <p:cNvGrpSpPr/>
          <p:nvPr/>
        </p:nvGrpSpPr>
        <p:grpSpPr>
          <a:xfrm>
            <a:off x="1542912" y="2741437"/>
            <a:ext cx="10258060" cy="2787809"/>
            <a:chOff x="1542912" y="2741437"/>
            <a:chExt cx="10258060" cy="2787809"/>
          </a:xfrm>
        </p:grpSpPr>
        <p:grpSp>
          <p:nvGrpSpPr>
            <p:cNvPr id="680" name="Group"/>
            <p:cNvGrpSpPr/>
            <p:nvPr/>
          </p:nvGrpSpPr>
          <p:grpSpPr>
            <a:xfrm>
              <a:off x="4463942" y="2741437"/>
              <a:ext cx="7337030" cy="2786711"/>
              <a:chOff x="0" y="0"/>
              <a:chExt cx="7337029" cy="2786709"/>
            </a:xfrm>
          </p:grpSpPr>
          <p:pic>
            <p:nvPicPr>
              <p:cNvPr id="672" name="Group" descr="Group"/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0" y="23665"/>
                <a:ext cx="2069575" cy="2069576"/>
              </a:xfrm>
              <a:prstGeom prst="rect">
                <a:avLst/>
              </a:prstGeom>
              <a:ln w="3175" cap="flat">
                <a:noFill/>
                <a:miter lim="400000"/>
              </a:ln>
              <a:effectLst/>
            </p:spPr>
          </p:pic>
          <p:pic>
            <p:nvPicPr>
              <p:cNvPr id="673" name="Group" descr="Group"/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195363" y="0"/>
                <a:ext cx="2141666" cy="2116906"/>
              </a:xfrm>
              <a:prstGeom prst="rect">
                <a:avLst/>
              </a:prstGeom>
              <a:ln w="3175" cap="flat">
                <a:noFill/>
                <a:miter lim="400000"/>
              </a:ln>
              <a:effectLst/>
            </p:spPr>
          </p:pic>
          <p:pic>
            <p:nvPicPr>
              <p:cNvPr id="674" name="Group" descr="Group"/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32950" y="17593"/>
                <a:ext cx="2081719" cy="2081719"/>
              </a:xfrm>
              <a:prstGeom prst="rect">
                <a:avLst/>
              </a:prstGeom>
              <a:ln w="3175" cap="flat">
                <a:noFill/>
                <a:miter lim="400000"/>
              </a:ln>
              <a:effectLst/>
            </p:spPr>
          </p:pic>
          <p:sp>
            <p:nvSpPr>
              <p:cNvPr id="675" name="Sophie Qiu"/>
              <p:cNvSpPr txBox="1"/>
              <p:nvPr/>
            </p:nvSpPr>
            <p:spPr>
              <a:xfrm>
                <a:off x="156752" y="2264189"/>
                <a:ext cx="1793585" cy="522520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584200">
                  <a:lnSpc>
                    <a:spcPct val="100000"/>
                  </a:lnSpc>
                  <a:spcBef>
                    <a:spcPts val="0"/>
                  </a:spcBef>
                  <a:defRPr sz="2000"/>
                </a:lvl1pPr>
              </a:lstStyle>
              <a:p>
                <a:r>
                  <a:t>Sophie Qiu</a:t>
                </a:r>
              </a:p>
            </p:txBody>
          </p:sp>
          <p:sp>
            <p:nvSpPr>
              <p:cNvPr id="676" name="Henrik Fosse"/>
              <p:cNvSpPr txBox="1"/>
              <p:nvPr/>
            </p:nvSpPr>
            <p:spPr>
              <a:xfrm>
                <a:off x="2621148" y="2264189"/>
                <a:ext cx="2094732" cy="522520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584200">
                  <a:lnSpc>
                    <a:spcPct val="100000"/>
                  </a:lnSpc>
                  <a:spcBef>
                    <a:spcPts val="0"/>
                  </a:spcBef>
                  <a:defRPr sz="2000"/>
                </a:lvl1pPr>
              </a:lstStyle>
              <a:p>
                <a:r>
                  <a:t>Henrik Fosse</a:t>
                </a:r>
              </a:p>
            </p:txBody>
          </p:sp>
          <p:sp>
            <p:nvSpPr>
              <p:cNvPr id="677" name="Brian Uzzi"/>
              <p:cNvSpPr txBox="1"/>
              <p:nvPr/>
            </p:nvSpPr>
            <p:spPr>
              <a:xfrm>
                <a:off x="5424967" y="2264189"/>
                <a:ext cx="1650325" cy="522520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 algn="ctr" defTabSz="584200">
                  <a:lnSpc>
                    <a:spcPct val="100000"/>
                  </a:lnSpc>
                  <a:spcBef>
                    <a:spcPts val="0"/>
                  </a:spcBef>
                  <a:defRPr sz="2000"/>
                </a:lvl1pPr>
              </a:lstStyle>
              <a:p>
                <a:r>
                  <a:t>Brian Uzzi</a:t>
                </a:r>
              </a:p>
            </p:txBody>
          </p:sp>
        </p:grpSp>
        <p:pic>
          <p:nvPicPr>
            <p:cNvPr id="2" name="pasted-movie.png" descr="pasted-movie.png">
              <a:extLst>
                <a:ext uri="{FF2B5EF4-FFF2-40B4-BE49-F238E27FC236}">
                  <a16:creationId xmlns:a16="http://schemas.microsoft.com/office/drawing/2014/main" id="{1CD6441B-AB2E-3E9F-F027-E48B3083C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691682" y="2753622"/>
              <a:ext cx="2094732" cy="2094734"/>
            </a:xfrm>
            <a:prstGeom prst="rect">
              <a:avLst/>
            </a:prstGeom>
            <a:ln w="3175" cap="flat">
              <a:noFill/>
              <a:miter lim="400000"/>
            </a:ln>
            <a:effectLst/>
          </p:spPr>
        </p:pic>
        <p:sp>
          <p:nvSpPr>
            <p:cNvPr id="3" name="Lijian Peng">
              <a:extLst>
                <a:ext uri="{FF2B5EF4-FFF2-40B4-BE49-F238E27FC236}">
                  <a16:creationId xmlns:a16="http://schemas.microsoft.com/office/drawing/2014/main" id="{E2A1FC0D-C825-5E5D-E2CD-4C4627EA2C31}"/>
                </a:ext>
              </a:extLst>
            </p:cNvPr>
            <p:cNvSpPr txBox="1"/>
            <p:nvPr/>
          </p:nvSpPr>
          <p:spPr>
            <a:xfrm>
              <a:off x="1542912" y="5006726"/>
              <a:ext cx="2392273" cy="522520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ctr" defTabSz="584200">
                <a:lnSpc>
                  <a:spcPct val="100000"/>
                </a:lnSpc>
                <a:spcBef>
                  <a:spcPts val="0"/>
                </a:spcBef>
                <a:defRPr sz="2000"/>
              </a:lvl1pPr>
            </a:lstStyle>
            <a:p>
              <a:r>
                <a:t>Lijian Peng</a:t>
              </a: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093" tIns="27093" rIns="27093" bIns="27093" numCol="1" spcCol="38100" rtlCol="0" anchor="ctr">
        <a:spAutoFit/>
      </a:bodyPr>
      <a:lstStyle>
        <a:defPPr marL="0" marR="0" indent="0" algn="ctr" defTabSz="58702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093" tIns="27093" rIns="27093" bIns="27093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093" tIns="27093" rIns="27093" bIns="27093" numCol="1" spcCol="38100" rtlCol="0" anchor="ctr">
        <a:spAutoFit/>
      </a:bodyPr>
      <a:lstStyle>
        <a:defPPr marL="0" marR="0" indent="0" algn="ctr" defTabSz="58702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7093" tIns="27093" rIns="27093" bIns="27093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1435</Words>
  <Application>Microsoft Macintosh PowerPoint</Application>
  <PresentationFormat>Custom</PresentationFormat>
  <Paragraphs>178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LM Sans 12</vt:lpstr>
      <vt:lpstr>Arial</vt:lpstr>
      <vt:lpstr>Helvetica Neue</vt:lpstr>
      <vt:lpstr>Helvetica Neue Light</vt:lpstr>
      <vt:lpstr>Helvetica Neue Medium</vt:lpstr>
      <vt:lpstr>Wingdings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 PENG</cp:lastModifiedBy>
  <cp:revision>72</cp:revision>
  <dcterms:modified xsi:type="dcterms:W3CDTF">2026-07-02T07:42:32Z</dcterms:modified>
</cp:coreProperties>
</file>