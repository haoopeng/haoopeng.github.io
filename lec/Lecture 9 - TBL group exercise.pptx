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5"/>
  </p:notesMasterIdLst>
  <p:sldIdLst>
    <p:sldId id="821" r:id="rId2"/>
    <p:sldId id="823" r:id="rId3"/>
    <p:sldId id="822" r:id="rId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8B9"/>
    <a:srgbClr val="001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1571DAA-4490-A644-95E2-4EB8D3701D61}" v="13" dt="2021-01-19T03:50:32.99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7994"/>
    <p:restoredTop sz="85000"/>
  </p:normalViewPr>
  <p:slideViewPr>
    <p:cSldViewPr snapToGrid="0" snapToObjects="1">
      <p:cViewPr varScale="1">
        <p:scale>
          <a:sx n="102" d="100"/>
          <a:sy n="102" d="100"/>
        </p:scale>
        <p:origin x="1576" y="192"/>
      </p:cViewPr>
      <p:guideLst/>
    </p:cSldViewPr>
  </p:slideViewPr>
  <p:outlineViewPr>
    <p:cViewPr>
      <p:scale>
        <a:sx n="33" d="100"/>
        <a:sy n="33" d="100"/>
      </p:scale>
      <p:origin x="0" y="-500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136B9E-612C-4041-827B-795ACB68482F}" type="datetimeFigureOut">
              <a:rPr lang="en-US" smtClean="0"/>
              <a:t>11/7/25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A2D53A-2AF6-4DBF-B05A-A2E1C10652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07427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2F44F8-B41C-CA8E-F0D9-205CD257D1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F11F24-7D50-5C4E-C25D-01A5D9E6B0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329530-057B-C872-D3E2-3113AC9ED9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Important nodes identified by PR are quite different from that identified by DC.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51BF36-C911-34D1-B3E6-E2FFCF2662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2B4756-B30B-4FB3-9E39-B2A906E2815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2450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8B0470-7C39-0956-5AAA-F7C62AB046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AE3B0F-64B7-5220-95EF-4A28E33CCC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EE1F9B-168A-93C8-9CD6-459F17E64A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Important nodes identified by PR are quite different from that identified by DC.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C8A5AD-8BF2-3696-1962-17D07A35D8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2B4756-B30B-4FB3-9E39-B2A906E2815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80388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45BA1D-1362-4982-1894-708B103B6E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52B852-9FC4-3892-71B4-EEB67F58E1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10EA88-74CC-5D18-4FD0-4511A564C3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Important nodes identified by PR are quite different from that identified by DC.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C2F4AC-5FB4-C73C-7AC6-6453DAB88B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2B4756-B30B-4FB3-9E39-B2A906E2815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1354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 b="0" i="0">
                <a:latin typeface="LM Sans 12" pitchFamily="2" charset="77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 b="0" i="0">
                <a:latin typeface="LM Sans 12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LM Sans 12" pitchFamily="2" charset="77"/>
              </a:defRPr>
            </a:lvl1pPr>
          </a:lstStyle>
          <a:p>
            <a:fld id="{817F82AE-4C26-3648-BB61-5E7CC9B50775}" type="datetime1">
              <a:rPr lang="en-US" smtClean="0"/>
              <a:t>11/7/25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LM Sans 12" pitchFamily="2" charset="77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LM Sans 12" pitchFamily="2" charset="77"/>
              </a:defRPr>
            </a:lvl1pPr>
          </a:lstStyle>
          <a:p>
            <a:fld id="{6DCFA791-3060-7643-8677-86D470F575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91533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>
                <a:latin typeface="LM Sans 12" pitchFamily="2" charset="77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="0" i="0">
                <a:latin typeface="LM Sans 12" pitchFamily="2" charset="77"/>
              </a:defRPr>
            </a:lvl1pPr>
            <a:lvl2pPr>
              <a:defRPr b="0" i="0">
                <a:latin typeface="LM Sans 12" pitchFamily="2" charset="77"/>
              </a:defRPr>
            </a:lvl2pPr>
            <a:lvl3pPr>
              <a:defRPr b="0" i="0">
                <a:latin typeface="LM Sans 12" pitchFamily="2" charset="77"/>
              </a:defRPr>
            </a:lvl3pPr>
            <a:lvl4pPr>
              <a:defRPr b="0" i="0">
                <a:latin typeface="LM Sans 12" pitchFamily="2" charset="77"/>
              </a:defRPr>
            </a:lvl4pPr>
            <a:lvl5pPr>
              <a:defRPr b="0" i="0">
                <a:latin typeface="LM Sans 12" pitchFamily="2" charset="77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LM Sans 12" pitchFamily="2" charset="77"/>
              </a:defRPr>
            </a:lvl1pPr>
          </a:lstStyle>
          <a:p>
            <a:fld id="{0C15676A-EC5D-E04D-88FA-7A948E786C3D}" type="datetime1">
              <a:rPr lang="en-US" smtClean="0"/>
              <a:t>11/7/25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LM Sans 12" pitchFamily="2" charset="77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LM Sans 12" pitchFamily="2" charset="77"/>
              </a:defRPr>
            </a:lvl1pPr>
          </a:lstStyle>
          <a:p>
            <a:fld id="{6DCFA791-3060-7643-8677-86D470F575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0389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CB6BC-0373-B34A-BBBF-329CB4518C58}" type="datetime1">
              <a:rPr lang="en-US" smtClean="0"/>
              <a:t>11/7/25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FA791-3060-7643-8677-86D470F57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7507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 i="0">
                <a:latin typeface="Abadi MT Condensed Extra Bold" panose="020B0306030101010103" pitchFamily="34" charset="77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>
            <a:lvl1pPr>
              <a:defRPr>
                <a:latin typeface="Abadi MT Condensed Light" panose="020B0306030101010103" pitchFamily="34" charset="77"/>
              </a:defRPr>
            </a:lvl1pPr>
            <a:lvl2pPr>
              <a:defRPr>
                <a:latin typeface="Abadi MT Condensed Light" panose="020B0306030101010103" pitchFamily="34" charset="77"/>
              </a:defRPr>
            </a:lvl2pPr>
            <a:lvl3pPr>
              <a:defRPr>
                <a:latin typeface="Abadi MT Condensed Light" panose="020B0306030101010103" pitchFamily="34" charset="77"/>
              </a:defRPr>
            </a:lvl3pPr>
            <a:lvl4pPr>
              <a:defRPr>
                <a:latin typeface="Abadi MT Condensed Light" panose="020B0306030101010103" pitchFamily="34" charset="77"/>
              </a:defRPr>
            </a:lvl4pPr>
            <a:lvl5pPr>
              <a:defRPr>
                <a:latin typeface="Abadi MT Condensed Light" panose="020B0306030101010103" pitchFamily="34" charset="77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>
            <a:lvl1pPr>
              <a:defRPr>
                <a:latin typeface="Abadi MT Condensed Light" panose="020B0306030101010103" pitchFamily="34" charset="77"/>
              </a:defRPr>
            </a:lvl1pPr>
            <a:lvl2pPr>
              <a:defRPr>
                <a:latin typeface="Abadi MT Condensed Light" panose="020B0306030101010103" pitchFamily="34" charset="77"/>
              </a:defRPr>
            </a:lvl2pPr>
            <a:lvl3pPr>
              <a:defRPr>
                <a:latin typeface="Abadi MT Condensed Light" panose="020B0306030101010103" pitchFamily="34" charset="77"/>
              </a:defRPr>
            </a:lvl3pPr>
            <a:lvl4pPr>
              <a:defRPr>
                <a:latin typeface="Abadi MT Condensed Light" panose="020B0306030101010103" pitchFamily="34" charset="77"/>
              </a:defRPr>
            </a:lvl4pPr>
            <a:lvl5pPr>
              <a:defRPr>
                <a:latin typeface="Abadi MT Condensed Light" panose="020B0306030101010103" pitchFamily="34" charset="77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badi MT Condensed Light" panose="020B0306030101010103" pitchFamily="34" charset="77"/>
              </a:defRPr>
            </a:lvl1pPr>
          </a:lstStyle>
          <a:p>
            <a:fld id="{DC260BE2-5EC7-BC45-9345-43F4F86B295E}" type="datetime1">
              <a:rPr lang="en-US" smtClean="0"/>
              <a:t>11/7/25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badi MT Condensed Light" panose="020B0306030101010103" pitchFamily="34" charset="77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badi MT Condensed Light" panose="020B0306030101010103" pitchFamily="34" charset="77"/>
              </a:defRPr>
            </a:lvl1pPr>
          </a:lstStyle>
          <a:p>
            <a:fld id="{6DCFA791-3060-7643-8677-86D470F575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42138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0C615-9D40-694C-8397-954A92AFCCC2}" type="datetime1">
              <a:rPr lang="en-US" smtClean="0"/>
              <a:t>11/7/25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FA791-3060-7643-8677-86D470F57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9504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9ED92-6FCB-6B47-A7CE-C82291F4D7B2}" type="datetime1">
              <a:rPr lang="en-US" smtClean="0"/>
              <a:t>11/7/25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FA791-3060-7643-8677-86D470F57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1241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7BC89-0BEE-2A40-BD81-8976EB4F42C6}" type="datetime1">
              <a:rPr lang="en-US" smtClean="0"/>
              <a:t>11/7/25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FA791-3060-7643-8677-86D470F57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5403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B4321-6B25-184F-939C-0BB283106455}" type="datetime1">
              <a:rPr lang="en-US" smtClean="0"/>
              <a:t>11/7/25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FA791-3060-7643-8677-86D470F57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48229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E8275-DDCB-1344-8A8F-294986990F90}" type="datetime1">
              <a:rPr lang="en-US" smtClean="0"/>
              <a:t>11/7/25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FA791-3060-7643-8677-86D470F57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0103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FF932-1F6C-B744-8994-2CACB25ECC37}" type="datetime1">
              <a:rPr lang="en-US" smtClean="0"/>
              <a:t>11/7/25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FA791-3060-7643-8677-86D470F57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4055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6B6C0-1E1D-7F45-B356-E6BE5A065D17}" type="datetime1">
              <a:rPr lang="en-US" smtClean="0"/>
              <a:t>11/7/25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FA791-3060-7643-8677-86D470F57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52158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badi MT Condensed Light" panose="020B0306030101010103" pitchFamily="34" charset="77"/>
              </a:defRPr>
            </a:lvl1pPr>
          </a:lstStyle>
          <a:p>
            <a:fld id="{9A938313-CA40-A14F-BDAF-37181D40A29F}" type="datetime1">
              <a:rPr lang="en-US" smtClean="0"/>
              <a:t>11/7/25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badi MT Condensed Light" panose="020B0306030101010103" pitchFamily="34" charset="77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badi MT Condensed Light" panose="020B0306030101010103" pitchFamily="34" charset="77"/>
              </a:defRPr>
            </a:lvl1pPr>
          </a:lstStyle>
          <a:p>
            <a:fld id="{6DCFA791-3060-7643-8677-86D470F575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9487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chemeClr val="tx1"/>
          </a:solidFill>
          <a:latin typeface="Abadi MT Condensed Extra Bold" panose="020B0306030101010103" pitchFamily="34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badi MT Condensed Light" panose="020B0306030101010103" pitchFamily="34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badi MT Condensed Light" panose="020B0306030101010103" pitchFamily="34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badi MT Condensed Light" panose="020B0306030101010103" pitchFamily="34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badi MT Condensed Light" panose="020B0306030101010103" pitchFamily="34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badi MT Condensed Light" panose="020B0306030101010103" pitchFamily="34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forms.gle/AkytuxkNGscB25Jh6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BC9420-42A0-3564-89C6-AAB08220D6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0292D-4F46-48B5-9A9A-DABF318DFB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49" y="365126"/>
            <a:ext cx="8127043" cy="1325563"/>
          </a:xfrm>
        </p:spPr>
        <p:txBody>
          <a:bodyPr/>
          <a:lstStyle/>
          <a:p>
            <a:r>
              <a:rPr lang="en-US" altLang="zh-CN" dirty="0"/>
              <a:t>Readiness test / discussion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90046C-0C91-ED5E-88AF-584A6EC7C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FA791-3060-7643-8677-86D470F57523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083092-21CA-0755-68A8-EBC41B700D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4025" y="1513616"/>
            <a:ext cx="7886700" cy="508794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400" dirty="0"/>
              <a:t>What’s the definition of </a:t>
            </a:r>
            <a:r>
              <a:rPr lang="en-US" sz="2400" dirty="0">
                <a:solidFill>
                  <a:srgbClr val="0078B9"/>
                </a:solidFill>
              </a:rPr>
              <a:t>degree</a:t>
            </a:r>
            <a:r>
              <a:rPr lang="en-US" sz="2400" dirty="0"/>
              <a:t> centrality?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What’s the definition of </a:t>
            </a:r>
            <a:r>
              <a:rPr lang="en-US" sz="2400" dirty="0">
                <a:solidFill>
                  <a:srgbClr val="0078B9"/>
                </a:solidFill>
              </a:rPr>
              <a:t>PageRank</a:t>
            </a:r>
            <a:r>
              <a:rPr lang="en-US" sz="2400" dirty="0"/>
              <a:t> centrality?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What’s the definition of </a:t>
            </a:r>
            <a:r>
              <a:rPr lang="en-US" sz="2400" dirty="0">
                <a:solidFill>
                  <a:srgbClr val="0078B9"/>
                </a:solidFill>
              </a:rPr>
              <a:t>betweenness</a:t>
            </a:r>
            <a:r>
              <a:rPr lang="en-US" sz="2400" dirty="0"/>
              <a:t> centrality?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What’s the definition of </a:t>
            </a:r>
            <a:r>
              <a:rPr lang="en-US" sz="2400" dirty="0">
                <a:solidFill>
                  <a:srgbClr val="0078B9"/>
                </a:solidFill>
              </a:rPr>
              <a:t>closeness</a:t>
            </a:r>
            <a:r>
              <a:rPr lang="en-US" sz="2400" dirty="0"/>
              <a:t> centrality?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How can we measure the </a:t>
            </a:r>
            <a:r>
              <a:rPr lang="en-US" sz="2400" dirty="0">
                <a:solidFill>
                  <a:srgbClr val="0078B9"/>
                </a:solidFill>
              </a:rPr>
              <a:t>importance of edges</a:t>
            </a:r>
            <a:r>
              <a:rPr lang="en-US" sz="2400" dirty="0"/>
              <a:t>?</a:t>
            </a:r>
          </a:p>
          <a:p>
            <a:endParaRPr lang="en-US" sz="2400" dirty="0"/>
          </a:p>
          <a:p>
            <a:r>
              <a:rPr lang="en-US" sz="2400" dirty="0"/>
              <a:t>Under which </a:t>
            </a:r>
            <a:r>
              <a:rPr lang="en-US" sz="2400" dirty="0">
                <a:solidFill>
                  <a:srgbClr val="C00000"/>
                </a:solidFill>
              </a:rPr>
              <a:t>contexts</a:t>
            </a:r>
            <a:r>
              <a:rPr lang="en-US" sz="2400" dirty="0"/>
              <a:t> should we use each measure?</a:t>
            </a:r>
          </a:p>
        </p:txBody>
      </p:sp>
    </p:spTree>
    <p:extLst>
      <p:ext uri="{BB962C8B-B14F-4D97-AF65-F5344CB8AC3E}">
        <p14:creationId xmlns:p14="http://schemas.microsoft.com/office/powerpoint/2010/main" val="26922587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8D9A42-B395-2124-7394-253269BFB1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B925CA-B8DE-2D6F-6071-C5EDEA1990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49" y="365126"/>
            <a:ext cx="8127043" cy="1325563"/>
          </a:xfrm>
        </p:spPr>
        <p:txBody>
          <a:bodyPr/>
          <a:lstStyle/>
          <a:p>
            <a:r>
              <a:rPr lang="en-US" altLang="zh-CN" dirty="0"/>
              <a:t>A survey on collaboration network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4341D3-F584-8DD4-3736-4C8108AFC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FA791-3060-7643-8677-86D470F57523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00DD31-B6C3-B755-37BE-D37B9386C4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4025" y="1513616"/>
            <a:ext cx="7886700" cy="5087940"/>
          </a:xfrm>
        </p:spPr>
        <p:txBody>
          <a:bodyPr>
            <a:normAutofit/>
          </a:bodyPr>
          <a:lstStyle/>
          <a:p>
            <a:r>
              <a:rPr lang="en-US" sz="2400" dirty="0"/>
              <a:t>Take this survey: </a:t>
            </a:r>
            <a:r>
              <a:rPr lang="en-US" sz="2400" dirty="0">
                <a:hlinkClick r:id="rId3"/>
              </a:rPr>
              <a:t>https://forms.gle/AkytuxkNGscB25Jh6</a:t>
            </a:r>
          </a:p>
          <a:p>
            <a:pPr lvl="1"/>
            <a:r>
              <a:rPr lang="en-US" sz="2000" dirty="0">
                <a:solidFill>
                  <a:srgbClr val="C00000"/>
                </a:solidFill>
              </a:rPr>
              <a:t>This is our third attendance checking! (+5 pts for final exam)</a:t>
            </a:r>
            <a:endParaRPr lang="en-US" sz="2000" dirty="0">
              <a:solidFill>
                <a:srgbClr val="C00000"/>
              </a:solidFill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r>
              <a:rPr lang="en-US" sz="2400" dirty="0"/>
              <a:t>Download data from Canvas after everyone is done.</a:t>
            </a:r>
          </a:p>
        </p:txBody>
      </p:sp>
      <p:pic>
        <p:nvPicPr>
          <p:cNvPr id="11" name="Picture 10" descr="A qr code on a white background&#10;&#10;AI-generated content may be incorrect.">
            <a:extLst>
              <a:ext uri="{FF2B5EF4-FFF2-40B4-BE49-F238E27FC236}">
                <a16:creationId xmlns:a16="http://schemas.microsoft.com/office/drawing/2014/main" id="{5C2CEAFB-844B-80B1-B2DF-B17B30AE21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9233" y="3095818"/>
            <a:ext cx="2534537" cy="2562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01779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2EB568-EE35-714F-E9FE-8DA366D7CB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F68520-3912-0926-FC1D-199B649508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/>
          <a:lstStyle/>
          <a:p>
            <a:r>
              <a:rPr lang="en-US" altLang="zh-CN" dirty="0"/>
              <a:t>TBL group exercise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8D1299-3A69-D2AE-2539-93CD5A8F96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FA791-3060-7643-8677-86D470F57523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D94C2C-BFA4-23D2-C22A-D0F0D0F1A2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4025" y="1513616"/>
            <a:ext cx="7886700" cy="5087940"/>
          </a:xfrm>
        </p:spPr>
        <p:txBody>
          <a:bodyPr>
            <a:normAutofit/>
          </a:bodyPr>
          <a:lstStyle/>
          <a:p>
            <a:r>
              <a:rPr lang="en-US" sz="2400" dirty="0"/>
              <a:t>Group activities:</a:t>
            </a:r>
          </a:p>
          <a:p>
            <a:pPr lvl="1"/>
            <a:r>
              <a:rPr lang="en-US" sz="2000" dirty="0"/>
              <a:t>Build and visualize the network in Python </a:t>
            </a:r>
            <a:r>
              <a:rPr lang="en-US" sz="2000" dirty="0" err="1"/>
              <a:t>NetworkX</a:t>
            </a:r>
            <a:r>
              <a:rPr lang="en-US" sz="2000" dirty="0"/>
              <a:t>.</a:t>
            </a:r>
          </a:p>
          <a:p>
            <a:pPr lvl="1"/>
            <a:r>
              <a:rPr lang="en-US" sz="2000" dirty="0"/>
              <a:t>Color nodes by attributes (e.g., gender), size by degree centrality.</a:t>
            </a:r>
          </a:p>
          <a:p>
            <a:pPr lvl="1"/>
            <a:r>
              <a:rPr lang="en-US" sz="2000" dirty="0"/>
              <a:t>Compute different node centrality measures.</a:t>
            </a:r>
            <a:endParaRPr lang="en-US" sz="2400" dirty="0"/>
          </a:p>
          <a:p>
            <a:r>
              <a:rPr lang="en-US" sz="2400" dirty="0"/>
              <a:t>Group presentation on interesting findings:</a:t>
            </a:r>
            <a:endParaRPr lang="en-US" sz="2000" dirty="0"/>
          </a:p>
          <a:p>
            <a:pPr lvl="1"/>
            <a:r>
              <a:rPr lang="en-US" sz="2000" dirty="0">
                <a:solidFill>
                  <a:srgbClr val="0078B9"/>
                </a:solidFill>
              </a:rPr>
              <a:t>Who are the central "hubs"? Bridges?</a:t>
            </a:r>
          </a:p>
          <a:p>
            <a:pPr lvl="1"/>
            <a:r>
              <a:rPr lang="en-US" sz="2000" dirty="0">
                <a:solidFill>
                  <a:srgbClr val="0078B9"/>
                </a:solidFill>
              </a:rPr>
              <a:t>How many communities are there?</a:t>
            </a:r>
          </a:p>
          <a:p>
            <a:pPr lvl="1"/>
            <a:r>
              <a:rPr lang="en-US" sz="2000" dirty="0">
                <a:solidFill>
                  <a:srgbClr val="0078B9"/>
                </a:solidFill>
              </a:rPr>
              <a:t>Is there homophily effect in the network?</a:t>
            </a:r>
          </a:p>
          <a:p>
            <a:pPr marL="457200" lvl="1" indent="0">
              <a:buNone/>
            </a:pPr>
            <a:r>
              <a:rPr lang="en-US" sz="2000" dirty="0">
                <a:solidFill>
                  <a:srgbClr val="C00000"/>
                </a:solidFill>
              </a:rPr>
              <a:t>Extra stuff:</a:t>
            </a:r>
          </a:p>
          <a:p>
            <a:pPr lvl="1"/>
            <a:r>
              <a:rPr lang="en-US" sz="2000" dirty="0">
                <a:solidFill>
                  <a:srgbClr val="0078B9"/>
                </a:solidFill>
              </a:rPr>
              <a:t>What’s the global / node-level degree Gini index?</a:t>
            </a:r>
          </a:p>
          <a:p>
            <a:pPr lvl="1"/>
            <a:r>
              <a:rPr lang="en-US" sz="2000" dirty="0">
                <a:solidFill>
                  <a:srgbClr val="0078B9"/>
                </a:solidFill>
              </a:rPr>
              <a:t>Who drives the degree inequality?</a:t>
            </a:r>
          </a:p>
          <a:p>
            <a:pPr lvl="1"/>
            <a:r>
              <a:rPr lang="en-US" sz="2000" dirty="0">
                <a:solidFill>
                  <a:srgbClr val="0078B9"/>
                </a:solidFill>
              </a:rPr>
              <a:t>What interventions can help increase degree equality?</a:t>
            </a:r>
          </a:p>
          <a:p>
            <a:pPr lvl="1"/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988765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zhang" id="{16B57925-4BF1-1F47-9CC9-F9B8FF84AD2B}" vid="{9FDA24BC-AEBA-8448-BDDE-8ACFED39388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11028</TotalTime>
  <Words>229</Words>
  <Application>Microsoft Macintosh PowerPoint</Application>
  <PresentationFormat>On-screen Show (4:3)</PresentationFormat>
  <Paragraphs>34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LM Sans 12</vt:lpstr>
      <vt:lpstr>Abadi MT Condensed Extra Bold</vt:lpstr>
      <vt:lpstr>Abadi MT Condensed Light</vt:lpstr>
      <vt:lpstr>Arial</vt:lpstr>
      <vt:lpstr>Calibri</vt:lpstr>
      <vt:lpstr>Office Theme</vt:lpstr>
      <vt:lpstr>Readiness test / discussion</vt:lpstr>
      <vt:lpstr>A survey on collaboration network</vt:lpstr>
      <vt:lpstr>TBL group exercise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SEEM4112 Computing Methods in Data Analytics 1. Introduction</dc:title>
  <dc:creator>Q Z</dc:creator>
  <cp:lastModifiedBy>Prof. PENG Hao</cp:lastModifiedBy>
  <cp:revision>271</cp:revision>
  <dcterms:created xsi:type="dcterms:W3CDTF">2019-01-16T16:49:18Z</dcterms:created>
  <dcterms:modified xsi:type="dcterms:W3CDTF">2025-11-07T00:44:44Z</dcterms:modified>
</cp:coreProperties>
</file>