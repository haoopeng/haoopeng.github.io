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9"/>
  </p:notesMasterIdLst>
  <p:sldIdLst>
    <p:sldId id="598" r:id="rId3"/>
    <p:sldId id="258" r:id="rId4"/>
    <p:sldId id="257" r:id="rId5"/>
    <p:sldId id="599" r:id="rId6"/>
    <p:sldId id="283" r:id="rId7"/>
    <p:sldId id="260" r:id="rId8"/>
    <p:sldId id="261" r:id="rId9"/>
    <p:sldId id="263" r:id="rId10"/>
    <p:sldId id="264" r:id="rId11"/>
    <p:sldId id="265" r:id="rId12"/>
    <p:sldId id="269" r:id="rId13"/>
    <p:sldId id="270" r:id="rId14"/>
    <p:sldId id="267" r:id="rId15"/>
    <p:sldId id="266" r:id="rId16"/>
    <p:sldId id="268" r:id="rId17"/>
    <p:sldId id="271" r:id="rId18"/>
    <p:sldId id="272" r:id="rId19"/>
    <p:sldId id="274" r:id="rId20"/>
    <p:sldId id="275" r:id="rId21"/>
    <p:sldId id="279" r:id="rId22"/>
    <p:sldId id="259" r:id="rId23"/>
    <p:sldId id="278" r:id="rId24"/>
    <p:sldId id="276" r:id="rId25"/>
    <p:sldId id="600" r:id="rId26"/>
    <p:sldId id="601" r:id="rId27"/>
    <p:sldId id="589" r:id="rId28"/>
    <p:sldId id="277" r:id="rId29"/>
    <p:sldId id="280" r:id="rId30"/>
    <p:sldId id="602" r:id="rId31"/>
    <p:sldId id="282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798" r:id="rId41"/>
    <p:sldId id="802" r:id="rId42"/>
    <p:sldId id="292" r:id="rId43"/>
    <p:sldId id="293" r:id="rId44"/>
    <p:sldId id="294" r:id="rId45"/>
    <p:sldId id="295" r:id="rId46"/>
    <p:sldId id="296" r:id="rId47"/>
    <p:sldId id="603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0432FF"/>
    <a:srgbClr val="00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6732-C8B6-1247-BB98-8D90FCEB993F}" v="1" dt="2021-01-12T06:42:57.8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45"/>
    <p:restoredTop sz="83361"/>
  </p:normalViewPr>
  <p:slideViewPr>
    <p:cSldViewPr snapToGrid="0" snapToObjects="1">
      <p:cViewPr varScale="1">
        <p:scale>
          <a:sx n="81" d="100"/>
          <a:sy n="8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 Z" userId="0598117016cd6850" providerId="LiveId" clId="{1E336732-C8B6-1247-BB98-8D90FCEB993F}"/>
    <pc:docChg chg="custSel modSld">
      <pc:chgData name="Q Z" userId="0598117016cd6850" providerId="LiveId" clId="{1E336732-C8B6-1247-BB98-8D90FCEB993F}" dt="2021-01-12T06:42:57.854" v="267"/>
      <pc:docMkLst>
        <pc:docMk/>
      </pc:docMkLst>
      <pc:sldChg chg="addSp">
        <pc:chgData name="Q Z" userId="0598117016cd6850" providerId="LiveId" clId="{1E336732-C8B6-1247-BB98-8D90FCEB993F}" dt="2021-01-12T06:42:57.854" v="267"/>
        <pc:sldMkLst>
          <pc:docMk/>
          <pc:sldMk cId="532418191" sldId="26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32418191" sldId="261"/>
            <ac:inkMk id="3" creationId="{A30FF634-57C9-7447-A2A9-0989AB6EC14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0450022" sldId="26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0450022" sldId="262"/>
            <ac:inkMk id="3" creationId="{60C952EA-9E65-F140-B5F4-DC99132B4E6A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495955489" sldId="26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495955489" sldId="264"/>
            <ac:inkMk id="6" creationId="{32BCD74E-1CC4-E842-8CA9-181800AB998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318632322" sldId="26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318632322" sldId="265"/>
            <ac:inkMk id="4" creationId="{B8BFEC17-95EF-214A-97B0-07A7611296C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502340965" sldId="27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02340965" sldId="274"/>
            <ac:inkMk id="5" creationId="{86494887-27ED-4E4F-AE19-1D4461D58E1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678248846" sldId="27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678248846" sldId="277"/>
            <ac:inkMk id="5" creationId="{EF01DF33-D127-9845-9AB3-86A8074B59B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48179530" sldId="28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48179530" sldId="281"/>
            <ac:inkMk id="5" creationId="{FCF82DE6-E3B1-C24C-8507-9D117A6BDB3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688405579" sldId="28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688405579" sldId="283"/>
            <ac:inkMk id="4" creationId="{1EE2DC9D-3483-374E-9030-025F16FF530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740026222" sldId="286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740026222" sldId="286"/>
            <ac:inkMk id="5" creationId="{51BFC437-AB53-E04E-B9D7-7F023A3FBEA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144012446" sldId="29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144012446" sldId="295"/>
            <ac:inkMk id="4" creationId="{3C202D86-3016-534E-83B1-6176C2AE067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0579994" sldId="29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0579994" sldId="298"/>
            <ac:inkMk id="3" creationId="{B1D23E70-D545-4040-85EB-59B1CFB82A4A}"/>
          </ac:inkMkLst>
        </pc:inkChg>
      </pc:sldChg>
      <pc:sldChg chg="modSp mod">
        <pc:chgData name="Q Z" userId="0598117016cd6850" providerId="LiveId" clId="{1E336732-C8B6-1247-BB98-8D90FCEB993F}" dt="2021-01-12T00:36:45.806" v="176" actId="20577"/>
        <pc:sldMkLst>
          <pc:docMk/>
          <pc:sldMk cId="1668323801" sldId="300"/>
        </pc:sldMkLst>
        <pc:spChg chg="mod">
          <ac:chgData name="Q Z" userId="0598117016cd6850" providerId="LiveId" clId="{1E336732-C8B6-1247-BB98-8D90FCEB993F}" dt="2021-01-12T00:36:45.806" v="17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105363865" sldId="30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105363865" sldId="302"/>
            <ac:inkMk id="4" creationId="{8587AAA6-D756-A64B-93AF-74519FE6053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62287952" sldId="30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62287952" sldId="304"/>
            <ac:inkMk id="2" creationId="{7C6ADA49-4D6A-3340-9313-17AFD1137008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989142146" sldId="30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989142146" sldId="307"/>
            <ac:inkMk id="4" creationId="{79E07468-77F3-514C-B80C-802205A4888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545004305" sldId="30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545004305" sldId="308"/>
            <ac:inkMk id="4" creationId="{5C043EB2-8D58-D448-A5A6-EF951083F642}"/>
          </ac:inkMkLst>
        </pc:inkChg>
      </pc:sldChg>
      <pc:sldChg chg="addSp modSp mod">
        <pc:chgData name="Q Z" userId="0598117016cd6850" providerId="LiveId" clId="{1E336732-C8B6-1247-BB98-8D90FCEB993F}" dt="2021-01-12T06:42:57.854" v="267"/>
        <pc:sldMkLst>
          <pc:docMk/>
          <pc:sldMk cId="581332896" sldId="309"/>
        </pc:sldMkLst>
        <pc:spChg chg="mod">
          <ac:chgData name="Q Z" userId="0598117016cd6850" providerId="LiveId" clId="{1E336732-C8B6-1247-BB98-8D90FCEB993F}" dt="2021-01-12T00:40:56.082" v="266" actId="113"/>
          <ac:spMkLst>
            <pc:docMk/>
            <pc:sldMk cId="581332896" sldId="309"/>
            <ac:spMk id="3" creationId="{1B15B996-5952-CA44-90B0-02ABAA4EAC6C}"/>
          </ac:spMkLst>
        </pc:spChg>
        <pc:inkChg chg="add">
          <ac:chgData name="Q Z" userId="0598117016cd6850" providerId="LiveId" clId="{1E336732-C8B6-1247-BB98-8D90FCEB993F}" dt="2021-01-12T06:42:57.854" v="267"/>
          <ac:inkMkLst>
            <pc:docMk/>
            <pc:sldMk cId="581332896" sldId="309"/>
            <ac:inkMk id="4" creationId="{B47DC87F-0A15-2342-BA53-E570C6B9257C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758662977" sldId="31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758662977" sldId="313"/>
            <ac:inkMk id="6" creationId="{236CEAF4-9349-8C43-97FA-E755F87043D3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6699933" sldId="31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6699933" sldId="314"/>
            <ac:inkMk id="4" creationId="{824F5F81-9516-B84B-85A3-183C8C8282B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690263055" sldId="31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690263055" sldId="315"/>
            <ac:inkMk id="6" creationId="{1D5ABB7D-7DB8-0242-92E5-1AC09ED2590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938421699" sldId="320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938421699" sldId="320"/>
            <ac:inkMk id="4" creationId="{F6C17624-A201-7443-A1EF-5BEF317DC94F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08173595" sldId="32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08173595" sldId="321"/>
            <ac:inkMk id="5" creationId="{50BE96FE-AAC5-B447-9208-F7FE53F6A0B9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2143924" sldId="32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2143924" sldId="322"/>
            <ac:inkMk id="4" creationId="{F0D28E15-1894-8146-8F56-660176DCC75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207180606" sldId="32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207180606" sldId="323"/>
            <ac:inkMk id="5" creationId="{D1CB38B3-DBF0-1043-9BE1-8314B02773AE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223405279" sldId="32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223405279" sldId="327"/>
            <ac:inkMk id="4" creationId="{BFFBAD07-1ABE-7246-BB7B-7B93C6C05F6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80820078" sldId="329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80820078" sldId="329"/>
            <ac:inkMk id="6" creationId="{B5F4D88E-6934-564D-BE81-1340A8E269E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730086564" sldId="33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730086564" sldId="331"/>
            <ac:inkMk id="4" creationId="{F8ED0622-DF26-A748-84B6-474F576CC577}"/>
          </ac:inkMkLst>
        </pc:inkChg>
      </pc:sldChg>
    </pc:docChg>
  </pc:docChgLst>
  <pc:docChgLst>
    <pc:chgData name="Q Z" userId="0598117016cd6850" providerId="LiveId" clId="{D2FDEEAF-84E1-154D-A946-0BAEA53F7449}"/>
    <pc:docChg chg="undo custSel addSld delSld modSld">
      <pc:chgData name="Q Z" userId="0598117016cd6850" providerId="LiveId" clId="{D2FDEEAF-84E1-154D-A946-0BAEA53F7449}" dt="2019-09-04T18:21:47.967" v="1277" actId="20577"/>
      <pc:docMkLst>
        <pc:docMk/>
      </pc:docMkLst>
      <pc:sldChg chg="modSp">
        <pc:chgData name="Q Z" userId="0598117016cd6850" providerId="LiveId" clId="{D2FDEEAF-84E1-154D-A946-0BAEA53F7449}" dt="2019-09-04T17:50:06.927" v="44" actId="20577"/>
        <pc:sldMkLst>
          <pc:docMk/>
          <pc:sldMk cId="2533019783" sldId="256"/>
        </pc:sldMkLst>
        <pc:spChg chg="mod">
          <ac:chgData name="Q Z" userId="0598117016cd6850" providerId="LiveId" clId="{D2FDEEAF-84E1-154D-A946-0BAEA53F7449}" dt="2019-09-04T17:50:06.927" v="44" actId="20577"/>
          <ac:spMkLst>
            <pc:docMk/>
            <pc:sldMk cId="2533019783" sldId="256"/>
            <ac:spMk id="2" creationId="{4F6B6359-AFC8-5749-ABD8-D22C31534A8C}"/>
          </ac:spMkLst>
        </pc:spChg>
        <pc:spChg chg="mod">
          <ac:chgData name="Q Z" userId="0598117016cd6850" providerId="LiveId" clId="{D2FDEEAF-84E1-154D-A946-0BAEA53F7449}" dt="2019-09-04T14:49:56.657" v="31" actId="20577"/>
          <ac:spMkLst>
            <pc:docMk/>
            <pc:sldMk cId="2533019783" sldId="256"/>
            <ac:spMk id="3" creationId="{03BB8D86-7309-C04C-901B-36514C38109C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95021793" sldId="25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1927036" sldId="258"/>
        </pc:sldMkLst>
      </pc:sldChg>
      <pc:sldChg chg="modSp">
        <pc:chgData name="Q Z" userId="0598117016cd6850" providerId="LiveId" clId="{D2FDEEAF-84E1-154D-A946-0BAEA53F7449}" dt="2019-09-04T17:51:15.354" v="96" actId="20577"/>
        <pc:sldMkLst>
          <pc:docMk/>
          <pc:sldMk cId="2090911193" sldId="260"/>
        </pc:sldMkLst>
        <pc:spChg chg="mod">
          <ac:chgData name="Q Z" userId="0598117016cd6850" providerId="LiveId" clId="{D2FDEEAF-84E1-154D-A946-0BAEA53F7449}" dt="2019-09-04T17:51:15.354" v="96" actId="20577"/>
          <ac:spMkLst>
            <pc:docMk/>
            <pc:sldMk cId="2090911193" sldId="260"/>
            <ac:spMk id="3" creationId="{858FDFE8-5660-3142-B97F-1D1C17F05F34}"/>
          </ac:spMkLst>
        </pc:spChg>
      </pc:sldChg>
      <pc:sldChg chg="modSp add">
        <pc:chgData name="Q Z" userId="0598117016cd6850" providerId="LiveId" clId="{D2FDEEAF-84E1-154D-A946-0BAEA53F7449}" dt="2019-09-04T18:17:04.095" v="715" actId="27636"/>
        <pc:sldMkLst>
          <pc:docMk/>
          <pc:sldMk cId="532418191" sldId="261"/>
        </pc:sldMkLst>
        <pc:spChg chg="mod">
          <ac:chgData name="Q Z" userId="0598117016cd6850" providerId="LiveId" clId="{D2FDEEAF-84E1-154D-A946-0BAEA53F7449}" dt="2019-09-04T18:17:04.095" v="715" actId="27636"/>
          <ac:spMkLst>
            <pc:docMk/>
            <pc:sldMk cId="532418191" sldId="261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1" v="34" actId="2696"/>
        <pc:sldMkLst>
          <pc:docMk/>
          <pc:sldMk cId="783585029" sldId="261"/>
        </pc:sldMkLst>
      </pc:sldChg>
      <pc:sldChg chg="modSp add">
        <pc:chgData name="Q Z" userId="0598117016cd6850" providerId="LiveId" clId="{D2FDEEAF-84E1-154D-A946-0BAEA53F7449}" dt="2019-09-04T18:17:04.108" v="716" actId="27636"/>
        <pc:sldMkLst>
          <pc:docMk/>
          <pc:sldMk cId="200450022" sldId="262"/>
        </pc:sldMkLst>
        <pc:spChg chg="mod">
          <ac:chgData name="Q Z" userId="0598117016cd6850" providerId="LiveId" clId="{D2FDEEAF-84E1-154D-A946-0BAEA53F7449}" dt="2019-09-04T18:17:04.108" v="716" actId="27636"/>
          <ac:spMkLst>
            <pc:docMk/>
            <pc:sldMk cId="200450022" sldId="262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4" v="37" actId="2696"/>
        <pc:sldMkLst>
          <pc:docMk/>
          <pc:sldMk cId="2838881580" sldId="262"/>
        </pc:sldMkLst>
      </pc:sldChg>
      <pc:sldChg chg="del">
        <pc:chgData name="Q Z" userId="0598117016cd6850" providerId="LiveId" clId="{D2FDEEAF-84E1-154D-A946-0BAEA53F7449}" dt="2019-09-04T14:50:58.823" v="36" actId="2696"/>
        <pc:sldMkLst>
          <pc:docMk/>
          <pc:sldMk cId="1942777124" sldId="26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48896579" sldId="263"/>
        </pc:sldMkLst>
      </pc:sldChg>
      <pc:sldChg chg="del">
        <pc:chgData name="Q Z" userId="0598117016cd6850" providerId="LiveId" clId="{D2FDEEAF-84E1-154D-A946-0BAEA53F7449}" dt="2019-09-04T14:50:58.825" v="38" actId="2696"/>
        <pc:sldMkLst>
          <pc:docMk/>
          <pc:sldMk cId="2231365434" sldId="26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495955489" sldId="264"/>
        </pc:sldMkLst>
      </pc:sldChg>
      <pc:sldChg chg="del">
        <pc:chgData name="Q Z" userId="0598117016cd6850" providerId="LiveId" clId="{D2FDEEAF-84E1-154D-A946-0BAEA53F7449}" dt="2019-09-04T14:50:58.834" v="42" actId="2696"/>
        <pc:sldMkLst>
          <pc:docMk/>
          <pc:sldMk cId="2283137282" sldId="26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318632322" sldId="265"/>
        </pc:sldMkLst>
      </pc:sldChg>
      <pc:sldChg chg="del">
        <pc:chgData name="Q Z" userId="0598117016cd6850" providerId="LiveId" clId="{D2FDEEAF-84E1-154D-A946-0BAEA53F7449}" dt="2019-09-04T14:50:58.827" v="40" actId="2696"/>
        <pc:sldMkLst>
          <pc:docMk/>
          <pc:sldMk cId="2210613991" sldId="26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92845242" sldId="266"/>
        </pc:sldMkLst>
      </pc:sldChg>
      <pc:sldChg chg="modSp">
        <pc:chgData name="Q Z" userId="0598117016cd6850" providerId="LiveId" clId="{D2FDEEAF-84E1-154D-A946-0BAEA53F7449}" dt="2019-09-04T17:52:07.105" v="112" actId="207"/>
        <pc:sldMkLst>
          <pc:docMk/>
          <pc:sldMk cId="2096993788" sldId="267"/>
        </pc:sldMkLst>
        <pc:spChg chg="mod">
          <ac:chgData name="Q Z" userId="0598117016cd6850" providerId="LiveId" clId="{D2FDEEAF-84E1-154D-A946-0BAEA53F7449}" dt="2019-09-04T17:52:07.105" v="112" actId="207"/>
          <ac:spMkLst>
            <pc:docMk/>
            <pc:sldMk cId="2096993788" sldId="267"/>
            <ac:spMk id="3" creationId="{92C5435D-7C46-D248-89C2-A468B8E05E4B}"/>
          </ac:spMkLst>
        </pc:spChg>
      </pc:sldChg>
      <pc:sldChg chg="del">
        <pc:chgData name="Q Z" userId="0598117016cd6850" providerId="LiveId" clId="{D2FDEEAF-84E1-154D-A946-0BAEA53F7449}" dt="2019-09-04T14:50:58.822" v="35" actId="2696"/>
        <pc:sldMkLst>
          <pc:docMk/>
          <pc:sldMk cId="1861225924" sldId="26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54883529" sldId="268"/>
        </pc:sldMkLst>
      </pc:sldChg>
      <pc:sldChg chg="add del">
        <pc:chgData name="Q Z" userId="0598117016cd6850" providerId="LiveId" clId="{D2FDEEAF-84E1-154D-A946-0BAEA53F7449}" dt="2019-09-04T17:53:35.526" v="120" actId="2696"/>
        <pc:sldMkLst>
          <pc:docMk/>
          <pc:sldMk cId="3305728334" sldId="270"/>
        </pc:sldMkLst>
      </pc:sldChg>
      <pc:sldChg chg="modSp add del">
        <pc:chgData name="Q Z" userId="0598117016cd6850" providerId="LiveId" clId="{D2FDEEAF-84E1-154D-A946-0BAEA53F7449}" dt="2019-09-04T17:55:57.015" v="138" actId="20577"/>
        <pc:sldMkLst>
          <pc:docMk/>
          <pc:sldMk cId="3331877505" sldId="271"/>
        </pc:sldMkLst>
        <pc:spChg chg="mod">
          <ac:chgData name="Q Z" userId="0598117016cd6850" providerId="LiveId" clId="{D2FDEEAF-84E1-154D-A946-0BAEA53F7449}" dt="2019-09-04T17:55:57.015" v="138" actId="20577"/>
          <ac:spMkLst>
            <pc:docMk/>
            <pc:sldMk cId="3331877505" sldId="271"/>
            <ac:spMk id="2" creationId="{6660E2C4-0D9F-6543-92DC-EEC98C67AB17}"/>
          </ac:spMkLst>
        </pc:spChg>
      </pc:sldChg>
      <pc:sldChg chg="add del">
        <pc:chgData name="Q Z" userId="0598117016cd6850" providerId="LiveId" clId="{D2FDEEAF-84E1-154D-A946-0BAEA53F7449}" dt="2019-09-04T17:53:35.482" v="117" actId="2696"/>
        <pc:sldMkLst>
          <pc:docMk/>
          <pc:sldMk cId="3558231805" sldId="272"/>
        </pc:sldMkLst>
      </pc:sldChg>
      <pc:sldChg chg="modSp add">
        <pc:chgData name="Q Z" userId="0598117016cd6850" providerId="LiveId" clId="{D2FDEEAF-84E1-154D-A946-0BAEA53F7449}" dt="2019-09-04T18:17:04.328" v="720" actId="27636"/>
        <pc:sldMkLst>
          <pc:docMk/>
          <pc:sldMk cId="502340965" sldId="274"/>
        </pc:sldMkLst>
        <pc:spChg chg="mod">
          <ac:chgData name="Q Z" userId="0598117016cd6850" providerId="LiveId" clId="{D2FDEEAF-84E1-154D-A946-0BAEA53F7449}" dt="2019-09-04T18:17:04.328" v="720" actId="27636"/>
          <ac:spMkLst>
            <pc:docMk/>
            <pc:sldMk cId="502340965" sldId="274"/>
            <ac:spMk id="3" creationId="{3E183C73-DAEA-B44A-A5FE-7317F31E7B1F}"/>
          </ac:spMkLst>
        </pc:spChg>
      </pc:sldChg>
      <pc:sldChg chg="add del">
        <pc:chgData name="Q Z" userId="0598117016cd6850" providerId="LiveId" clId="{D2FDEEAF-84E1-154D-A946-0BAEA53F7449}" dt="2019-09-04T17:56:05.978" v="139" actId="2696"/>
        <pc:sldMkLst>
          <pc:docMk/>
          <pc:sldMk cId="1213925051" sldId="274"/>
        </pc:sldMkLst>
      </pc:sldChg>
      <pc:sldChg chg="modSp">
        <pc:chgData name="Q Z" userId="0598117016cd6850" providerId="LiveId" clId="{D2FDEEAF-84E1-154D-A946-0BAEA53F7449}" dt="2019-09-04T17:55:32.064" v="121" actId="20577"/>
        <pc:sldMkLst>
          <pc:docMk/>
          <pc:sldMk cId="954695919" sldId="275"/>
        </pc:sldMkLst>
        <pc:spChg chg="mod">
          <ac:chgData name="Q Z" userId="0598117016cd6850" providerId="LiveId" clId="{D2FDEEAF-84E1-154D-A946-0BAEA53F7449}" dt="2019-09-04T17:55:32.064" v="121" actId="20577"/>
          <ac:spMkLst>
            <pc:docMk/>
            <pc:sldMk cId="954695919" sldId="275"/>
            <ac:spMk id="3" creationId="{8156CB1A-BF1B-814F-B131-5A4E9A2B2F55}"/>
          </ac:spMkLst>
        </pc:spChg>
      </pc:sldChg>
      <pc:sldChg chg="del">
        <pc:chgData name="Q Z" userId="0598117016cd6850" providerId="LiveId" clId="{D2FDEEAF-84E1-154D-A946-0BAEA53F7449}" dt="2019-09-04T17:56:38.052" v="144" actId="2696"/>
        <pc:sldMkLst>
          <pc:docMk/>
          <pc:sldMk cId="1065454564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678248846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081087372" sldId="280"/>
        </pc:sldMkLst>
      </pc:sldChg>
      <pc:sldChg chg="del">
        <pc:chgData name="Q Z" userId="0598117016cd6850" providerId="LiveId" clId="{D2FDEEAF-84E1-154D-A946-0BAEA53F7449}" dt="2019-09-04T17:56:34.037" v="142" actId="2696"/>
        <pc:sldMkLst>
          <pc:docMk/>
          <pc:sldMk cId="1143589674" sldId="28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548179530" sldId="281"/>
        </pc:sldMkLst>
      </pc:sldChg>
      <pc:sldChg chg="del">
        <pc:chgData name="Q Z" userId="0598117016cd6850" providerId="LiveId" clId="{D2FDEEAF-84E1-154D-A946-0BAEA53F7449}" dt="2019-09-04T17:56:34.036" v="141" actId="2696"/>
        <pc:sldMkLst>
          <pc:docMk/>
          <pc:sldMk cId="4098453554" sldId="28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94661934" sldId="282"/>
        </pc:sldMkLst>
      </pc:sldChg>
      <pc:sldChg chg="del">
        <pc:chgData name="Q Z" userId="0598117016cd6850" providerId="LiveId" clId="{D2FDEEAF-84E1-154D-A946-0BAEA53F7449}" dt="2019-09-04T17:56:34.038" v="143" actId="2696"/>
        <pc:sldMkLst>
          <pc:docMk/>
          <pc:sldMk cId="4145358547" sldId="28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688405579" sldId="283"/>
        </pc:sldMkLst>
      </pc:sldChg>
      <pc:sldChg chg="del">
        <pc:chgData name="Q Z" userId="0598117016cd6850" providerId="LiveId" clId="{D2FDEEAF-84E1-154D-A946-0BAEA53F7449}" dt="2019-09-04T14:50:58.826" v="39" actId="2696"/>
        <pc:sldMkLst>
          <pc:docMk/>
          <pc:sldMk cId="3749237926" sldId="283"/>
        </pc:sldMkLst>
      </pc:sldChg>
      <pc:sldChg chg="del">
        <pc:chgData name="Q Z" userId="0598117016cd6850" providerId="LiveId" clId="{D2FDEEAF-84E1-154D-A946-0BAEA53F7449}" dt="2019-09-04T17:56:34.035" v="140" actId="2696"/>
        <pc:sldMkLst>
          <pc:docMk/>
          <pc:sldMk cId="1766107003" sldId="284"/>
        </pc:sldMkLst>
      </pc:sldChg>
      <pc:sldChg chg="modSp add">
        <pc:chgData name="Q Z" userId="0598117016cd6850" providerId="LiveId" clId="{D2FDEEAF-84E1-154D-A946-0BAEA53F7449}" dt="2019-09-04T18:17:04.209" v="717" actId="27636"/>
        <pc:sldMkLst>
          <pc:docMk/>
          <pc:sldMk cId="3382824642" sldId="284"/>
        </pc:sldMkLst>
        <pc:spChg chg="mod">
          <ac:chgData name="Q Z" userId="0598117016cd6850" providerId="LiveId" clId="{D2FDEEAF-84E1-154D-A946-0BAEA53F7449}" dt="2019-09-04T18:17:04.209" v="717" actId="27636"/>
          <ac:spMkLst>
            <pc:docMk/>
            <pc:sldMk cId="3382824642" sldId="284"/>
            <ac:spMk id="3" creationId="{C7F9E529-8EAE-E242-ABE3-8FF4C6CFE94E}"/>
          </ac:spMkLst>
        </pc:spChg>
      </pc:sldChg>
      <pc:sldChg chg="modSp">
        <pc:chgData name="Q Z" userId="0598117016cd6850" providerId="LiveId" clId="{D2FDEEAF-84E1-154D-A946-0BAEA53F7449}" dt="2019-09-04T17:57:06.144" v="161" actId="20577"/>
        <pc:sldMkLst>
          <pc:docMk/>
          <pc:sldMk cId="1964004983" sldId="285"/>
        </pc:sldMkLst>
        <pc:spChg chg="mod">
          <ac:chgData name="Q Z" userId="0598117016cd6850" providerId="LiveId" clId="{D2FDEEAF-84E1-154D-A946-0BAEA53F7449}" dt="2019-09-04T17:57:06.144" v="161" actId="20577"/>
          <ac:spMkLst>
            <pc:docMk/>
            <pc:sldMk cId="1964004983" sldId="285"/>
            <ac:spMk id="3" creationId="{5F1D1A32-6966-D74D-BC08-BB6F9D54EB65}"/>
          </ac:spMkLst>
        </pc:spChg>
      </pc:sldChg>
      <pc:sldChg chg="del">
        <pc:chgData name="Q Z" userId="0598117016cd6850" providerId="LiveId" clId="{D2FDEEAF-84E1-154D-A946-0BAEA53F7449}" dt="2019-09-04T17:57:19.396" v="162" actId="2696"/>
        <pc:sldMkLst>
          <pc:docMk/>
          <pc:sldMk cId="1027414483" sldId="28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740026222" sldId="286"/>
        </pc:sldMkLst>
      </pc:sldChg>
      <pc:sldChg chg="del">
        <pc:chgData name="Q Z" userId="0598117016cd6850" providerId="LiveId" clId="{D2FDEEAF-84E1-154D-A946-0BAEA53F7449}" dt="2019-09-04T17:59:18.421" v="163" actId="2696"/>
        <pc:sldMkLst>
          <pc:docMk/>
          <pc:sldMk cId="3061299955" sldId="299"/>
        </pc:sldMkLst>
      </pc:sldChg>
      <pc:sldChg chg="modSp del">
        <pc:chgData name="Q Z" userId="0598117016cd6850" providerId="LiveId" clId="{D2FDEEAF-84E1-154D-A946-0BAEA53F7449}" dt="2019-09-04T18:15:41.903" v="685" actId="2696"/>
        <pc:sldMkLst>
          <pc:docMk/>
          <pc:sldMk cId="485196877" sldId="300"/>
        </pc:sldMkLst>
        <pc:spChg chg="mod">
          <ac:chgData name="Q Z" userId="0598117016cd6850" providerId="LiveId" clId="{D2FDEEAF-84E1-154D-A946-0BAEA53F7449}" dt="2019-09-04T18:13:29.105" v="592" actId="20577"/>
          <ac:spMkLst>
            <pc:docMk/>
            <pc:sldMk cId="485196877" sldId="300"/>
            <ac:spMk id="3" creationId="{551CAB00-106C-FD48-80DB-4E60597D50E9}"/>
          </ac:spMkLst>
        </pc:spChg>
      </pc:sldChg>
      <pc:sldChg chg="modSp add">
        <pc:chgData name="Q Z" userId="0598117016cd6850" providerId="LiveId" clId="{D2FDEEAF-84E1-154D-A946-0BAEA53F7449}" dt="2019-09-04T18:20:13.592" v="1095" actId="15"/>
        <pc:sldMkLst>
          <pc:docMk/>
          <pc:sldMk cId="1668323801" sldId="300"/>
        </pc:sldMkLst>
        <pc:spChg chg="mod">
          <ac:chgData name="Q Z" userId="0598117016cd6850" providerId="LiveId" clId="{D2FDEEAF-84E1-154D-A946-0BAEA53F7449}" dt="2019-09-04T18:20:13.592" v="1095" actId="15"/>
          <ac:spMkLst>
            <pc:docMk/>
            <pc:sldMk cId="1668323801" sldId="300"/>
            <ac:spMk id="3" creationId="{551CAB00-106C-FD48-80DB-4E60597D50E9}"/>
          </ac:spMkLst>
        </pc:spChg>
      </pc:sldChg>
      <pc:sldChg chg="add">
        <pc:chgData name="Q Z" userId="0598117016cd6850" providerId="LiveId" clId="{D2FDEEAF-84E1-154D-A946-0BAEA53F7449}" dt="2019-09-04T18:15:48.786" v="686"/>
        <pc:sldMkLst>
          <pc:docMk/>
          <pc:sldMk cId="164302631" sldId="301"/>
        </pc:sldMkLst>
      </pc:sldChg>
      <pc:sldChg chg="modSp del">
        <pc:chgData name="Q Z" userId="0598117016cd6850" providerId="LiveId" clId="{D2FDEEAF-84E1-154D-A946-0BAEA53F7449}" dt="2019-09-04T18:15:41.898" v="684" actId="2696"/>
        <pc:sldMkLst>
          <pc:docMk/>
          <pc:sldMk cId="3603428551" sldId="301"/>
        </pc:sldMkLst>
        <pc:spChg chg="mod">
          <ac:chgData name="Q Z" userId="0598117016cd6850" providerId="LiveId" clId="{D2FDEEAF-84E1-154D-A946-0BAEA53F7449}" dt="2019-09-04T18:15:28.173" v="683" actId="20577"/>
          <ac:spMkLst>
            <pc:docMk/>
            <pc:sldMk cId="3603428551" sldId="301"/>
            <ac:spMk id="3" creationId="{045F8D64-8F34-2744-8A83-F43DB949F89C}"/>
          </ac:spMkLst>
        </pc:spChg>
      </pc:sldChg>
      <pc:sldChg chg="modSp add">
        <pc:chgData name="Q Z" userId="0598117016cd6850" providerId="LiveId" clId="{D2FDEEAF-84E1-154D-A946-0BAEA53F7449}" dt="2019-09-04T18:21:47.967" v="1277" actId="20577"/>
        <pc:sldMkLst>
          <pc:docMk/>
          <pc:sldMk cId="3105363865" sldId="302"/>
        </pc:sldMkLst>
        <pc:spChg chg="mod">
          <ac:chgData name="Q Z" userId="0598117016cd6850" providerId="LiveId" clId="{D2FDEEAF-84E1-154D-A946-0BAEA53F7449}" dt="2019-09-04T18:21:47.967" v="1277" actId="20577"/>
          <ac:spMkLst>
            <pc:docMk/>
            <pc:sldMk cId="3105363865" sldId="302"/>
            <ac:spMk id="2" creationId="{284F9CDD-41B2-3041-9CA4-BA9DAE607F54}"/>
          </ac:spMkLst>
        </pc:spChg>
        <pc:spChg chg="mod">
          <ac:chgData name="Q Z" userId="0598117016cd6850" providerId="LiveId" clId="{D2FDEEAF-84E1-154D-A946-0BAEA53F7449}" dt="2019-09-04T18:17:52.749" v="841" actId="20577"/>
          <ac:spMkLst>
            <pc:docMk/>
            <pc:sldMk cId="3105363865" sldId="302"/>
            <ac:spMk id="3" creationId="{524CCAD7-23D9-E84C-8DAC-C00F9425778D}"/>
          </ac:spMkLst>
        </pc:spChg>
      </pc:sldChg>
      <pc:sldChg chg="del">
        <pc:chgData name="Q Z" userId="0598117016cd6850" providerId="LiveId" clId="{D2FDEEAF-84E1-154D-A946-0BAEA53F7449}" dt="2019-09-04T14:50:58.827" v="41" actId="2696"/>
        <pc:sldMkLst>
          <pc:docMk/>
          <pc:sldMk cId="3428064723" sldId="30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57279489" sldId="30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62287952" sldId="30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590203373" sldId="30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71758653" sldId="30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989142146" sldId="30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545004305" sldId="30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81332896" sldId="309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283312347" sldId="31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78548823" sldId="31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187985168" sldId="312"/>
        </pc:sldMkLst>
      </pc:sldChg>
      <pc:sldChg chg="modSp add">
        <pc:chgData name="Q Z" userId="0598117016cd6850" providerId="LiveId" clId="{D2FDEEAF-84E1-154D-A946-0BAEA53F7449}" dt="2019-09-04T18:17:04.231" v="718" actId="27636"/>
        <pc:sldMkLst>
          <pc:docMk/>
          <pc:sldMk cId="758662977" sldId="313"/>
        </pc:sldMkLst>
        <pc:spChg chg="mod">
          <ac:chgData name="Q Z" userId="0598117016cd6850" providerId="LiveId" clId="{D2FDEEAF-84E1-154D-A946-0BAEA53F7449}" dt="2019-09-04T18:17:04.231" v="718" actId="27636"/>
          <ac:spMkLst>
            <pc:docMk/>
            <pc:sldMk cId="758662977" sldId="313"/>
            <ac:spMk id="3" creationId="{ECDE4A1C-2F14-8F49-8E66-0CAD7BB35774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806699933" sldId="314"/>
        </pc:sldMkLst>
      </pc:sldChg>
      <pc:sldChg chg="modSp add">
        <pc:chgData name="Q Z" userId="0598117016cd6850" providerId="LiveId" clId="{D2FDEEAF-84E1-154D-A946-0BAEA53F7449}" dt="2019-09-04T18:17:04.304" v="719" actId="27636"/>
        <pc:sldMkLst>
          <pc:docMk/>
          <pc:sldMk cId="690263055" sldId="315"/>
        </pc:sldMkLst>
        <pc:spChg chg="mod">
          <ac:chgData name="Q Z" userId="0598117016cd6850" providerId="LiveId" clId="{D2FDEEAF-84E1-154D-A946-0BAEA53F7449}" dt="2019-09-04T18:17:04.304" v="719" actId="27636"/>
          <ac:spMkLst>
            <pc:docMk/>
            <pc:sldMk cId="690263055" sldId="315"/>
            <ac:spMk id="3" creationId="{833E0AB9-AE05-854F-B0E8-CCE667980C18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334250750" sldId="31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07632866" sldId="31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608597354" sldId="318"/>
        </pc:sldMkLst>
      </pc:sldChg>
      <pc:sldChg chg="modSp add">
        <pc:chgData name="Q Z" userId="0598117016cd6850" providerId="LiveId" clId="{D2FDEEAF-84E1-154D-A946-0BAEA53F7449}" dt="2019-09-04T18:21:23.153" v="1262" actId="20577"/>
        <pc:sldMkLst>
          <pc:docMk/>
          <pc:sldMk cId="2458459384" sldId="319"/>
        </pc:sldMkLst>
        <pc:spChg chg="mod">
          <ac:chgData name="Q Z" userId="0598117016cd6850" providerId="LiveId" clId="{D2FDEEAF-84E1-154D-A946-0BAEA53F7449}" dt="2019-09-04T18:18:07.927" v="853" actId="20577"/>
          <ac:spMkLst>
            <pc:docMk/>
            <pc:sldMk cId="2458459384" sldId="319"/>
            <ac:spMk id="2" creationId="{0AEC5667-D50F-3E47-A4DA-BC797509AD6B}"/>
          </ac:spMkLst>
        </pc:spChg>
        <pc:spChg chg="mod">
          <ac:chgData name="Q Z" userId="0598117016cd6850" providerId="LiveId" clId="{D2FDEEAF-84E1-154D-A946-0BAEA53F7449}" dt="2019-09-04T18:21:23.153" v="1262" actId="20577"/>
          <ac:spMkLst>
            <pc:docMk/>
            <pc:sldMk cId="2458459384" sldId="319"/>
            <ac:spMk id="3" creationId="{8232105E-677A-EF4D-B7AC-71CF68479263}"/>
          </ac:spMkLst>
        </pc:spChg>
      </pc:sldChg>
    </pc:docChg>
  </pc:docChgLst>
  <pc:docChgLst>
    <pc:chgData name="Q Z" userId="0598117016cd6850" providerId="LiveId" clId="{2BA66019-4591-C846-9028-2CD292E1765D}"/>
    <pc:docChg chg="undo custSel addSld delSld modSld">
      <pc:chgData name="Q Z" userId="0598117016cd6850" providerId="LiveId" clId="{2BA66019-4591-C846-9028-2CD292E1765D}" dt="2020-09-02T18:14:30.582" v="379" actId="2696"/>
      <pc:docMkLst>
        <pc:docMk/>
      </pc:docMkLst>
      <pc:sldChg chg="modSp mod">
        <pc:chgData name="Q Z" userId="0598117016cd6850" providerId="LiveId" clId="{2BA66019-4591-C846-9028-2CD292E1765D}" dt="2020-09-02T17:54:00.188" v="147" actId="404"/>
        <pc:sldMkLst>
          <pc:docMk/>
          <pc:sldMk cId="2090911193" sldId="260"/>
        </pc:sldMkLst>
        <pc:spChg chg="mod">
          <ac:chgData name="Q Z" userId="0598117016cd6850" providerId="LiveId" clId="{2BA66019-4591-C846-9028-2CD292E1765D}" dt="2020-09-02T17:54:00.188" v="147" actId="404"/>
          <ac:spMkLst>
            <pc:docMk/>
            <pc:sldMk cId="2090911193" sldId="260"/>
            <ac:spMk id="3" creationId="{858FDFE8-5660-3142-B97F-1D1C17F05F34}"/>
          </ac:spMkLst>
        </pc:spChg>
      </pc:sldChg>
      <pc:sldChg chg="modSp mod">
        <pc:chgData name="Q Z" userId="0598117016cd6850" providerId="LiveId" clId="{2BA66019-4591-C846-9028-2CD292E1765D}" dt="2020-09-02T18:06:08.458" v="310" actId="1076"/>
        <pc:sldMkLst>
          <pc:docMk/>
          <pc:sldMk cId="3690723403" sldId="279"/>
        </pc:sldMkLst>
        <pc:picChg chg="mod">
          <ac:chgData name="Q Z" userId="0598117016cd6850" providerId="LiveId" clId="{2BA66019-4591-C846-9028-2CD292E1765D}" dt="2020-09-02T18:06:08.458" v="310" actId="1076"/>
          <ac:picMkLst>
            <pc:docMk/>
            <pc:sldMk cId="3690723403" sldId="279"/>
            <ac:picMk id="4" creationId="{2B40250E-5C73-B04A-BBCC-724D95A16E1D}"/>
          </ac:picMkLst>
        </pc:picChg>
      </pc:sldChg>
      <pc:sldChg chg="modSp mod">
        <pc:chgData name="Q Z" userId="0598117016cd6850" providerId="LiveId" clId="{2BA66019-4591-C846-9028-2CD292E1765D}" dt="2020-09-02T17:57:35.733" v="206" actId="20577"/>
        <pc:sldMkLst>
          <pc:docMk/>
          <pc:sldMk cId="1668323801" sldId="300"/>
        </pc:sldMkLst>
        <pc:spChg chg="mod">
          <ac:chgData name="Q Z" userId="0598117016cd6850" providerId="LiveId" clId="{2BA66019-4591-C846-9028-2CD292E1765D}" dt="2020-09-02T17:57:35.733" v="20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modSp mod">
        <pc:chgData name="Q Z" userId="0598117016cd6850" providerId="LiveId" clId="{2BA66019-4591-C846-9028-2CD292E1765D}" dt="2020-09-02T18:04:21" v="307" actId="20577"/>
        <pc:sldMkLst>
          <pc:docMk/>
          <pc:sldMk cId="2458459384" sldId="319"/>
        </pc:sldMkLst>
        <pc:spChg chg="mod">
          <ac:chgData name="Q Z" userId="0598117016cd6850" providerId="LiveId" clId="{2BA66019-4591-C846-9028-2CD292E1765D}" dt="2020-09-02T18:04:21" v="307" actId="20577"/>
          <ac:spMkLst>
            <pc:docMk/>
            <pc:sldMk cId="2458459384" sldId="319"/>
            <ac:spMk id="3" creationId="{8232105E-677A-EF4D-B7AC-71CF68479263}"/>
          </ac:spMkLst>
        </pc:spChg>
      </pc:sldChg>
      <pc:sldChg chg="del">
        <pc:chgData name="Q Z" userId="0598117016cd6850" providerId="LiveId" clId="{2BA66019-4591-C846-9028-2CD292E1765D}" dt="2020-09-02T18:14:30.582" v="379" actId="2696"/>
        <pc:sldMkLst>
          <pc:docMk/>
          <pc:sldMk cId="1315374295" sldId="324"/>
        </pc:sldMkLst>
      </pc:sldChg>
      <pc:sldChg chg="addSp modSp add mod">
        <pc:chgData name="Q Z" userId="0598117016cd6850" providerId="LiveId" clId="{2BA66019-4591-C846-9028-2CD292E1765D}" dt="2020-09-02T18:10:24.651" v="378" actId="1076"/>
        <pc:sldMkLst>
          <pc:docMk/>
          <pc:sldMk cId="1771734156" sldId="326"/>
        </pc:sldMkLst>
        <pc:spChg chg="mod">
          <ac:chgData name="Q Z" userId="0598117016cd6850" providerId="LiveId" clId="{2BA66019-4591-C846-9028-2CD292E1765D}" dt="2020-09-02T18:07:38.347" v="353" actId="20577"/>
          <ac:spMkLst>
            <pc:docMk/>
            <pc:sldMk cId="1771734156" sldId="326"/>
            <ac:spMk id="2" creationId="{B9E0B195-2247-F141-ACF4-E4A1A8DA7C76}"/>
          </ac:spMkLst>
        </pc:spChg>
        <pc:spChg chg="mod">
          <ac:chgData name="Q Z" userId="0598117016cd6850" providerId="LiveId" clId="{2BA66019-4591-C846-9028-2CD292E1765D}" dt="2020-09-02T18:09:33.994" v="372" actId="404"/>
          <ac:spMkLst>
            <pc:docMk/>
            <pc:sldMk cId="1771734156" sldId="326"/>
            <ac:spMk id="3" creationId="{3541D7D8-FD16-F344-A89A-0C487F5F535C}"/>
          </ac:spMkLst>
        </pc:spChg>
        <pc:picChg chg="add mod">
          <ac:chgData name="Q Z" userId="0598117016cd6850" providerId="LiveId" clId="{2BA66019-4591-C846-9028-2CD292E1765D}" dt="2020-09-02T18:09:14.362" v="355" actId="1076"/>
          <ac:picMkLst>
            <pc:docMk/>
            <pc:sldMk cId="1771734156" sldId="326"/>
            <ac:picMk id="4" creationId="{28A2F7EC-1506-584F-9F84-478CF2DAE9A0}"/>
          </ac:picMkLst>
        </pc:picChg>
        <pc:picChg chg="add mod">
          <ac:chgData name="Q Z" userId="0598117016cd6850" providerId="LiveId" clId="{2BA66019-4591-C846-9028-2CD292E1765D}" dt="2020-09-02T18:10:24.651" v="378" actId="1076"/>
          <ac:picMkLst>
            <pc:docMk/>
            <pc:sldMk cId="1771734156" sldId="326"/>
            <ac:picMk id="1026" creationId="{06B1BA0E-569A-9645-9A7C-B513FF505C70}"/>
          </ac:picMkLst>
        </pc:picChg>
      </pc:sldChg>
    </pc:docChg>
  </pc:docChgLst>
  <pc:docChgLst>
    <pc:chgData name="Q Z" userId="0598117016cd6850" providerId="LiveId" clId="{3351F81B-803C-2C49-B9B7-94669ACAE3A8}"/>
    <pc:docChg chg="addSld modSld">
      <pc:chgData name="Q Z" userId="0598117016cd6850" providerId="LiveId" clId="{3351F81B-803C-2C49-B9B7-94669ACAE3A8}" dt="2020-09-03T09:04:41.933" v="55" actId="207"/>
      <pc:docMkLst>
        <pc:docMk/>
      </pc:docMkLst>
      <pc:sldChg chg="modSp">
        <pc:chgData name="Q Z" userId="0598117016cd6850" providerId="LiveId" clId="{3351F81B-803C-2C49-B9B7-94669ACAE3A8}" dt="2020-09-03T09:04:41.933" v="55" actId="207"/>
        <pc:sldMkLst>
          <pc:docMk/>
          <pc:sldMk cId="581332896" sldId="309"/>
        </pc:sldMkLst>
        <pc:spChg chg="mod">
          <ac:chgData name="Q Z" userId="0598117016cd6850" providerId="LiveId" clId="{3351F81B-803C-2C49-B9B7-94669ACAE3A8}" dt="2020-09-03T09:04:41.933" v="55" actId="207"/>
          <ac:spMkLst>
            <pc:docMk/>
            <pc:sldMk cId="581332896" sldId="309"/>
            <ac:spMk id="3" creationId="{1B15B996-5952-CA44-90B0-02ABAA4EAC6C}"/>
          </ac:spMkLst>
        </pc:spChg>
      </pc:sldChg>
      <pc:sldChg chg="addSp delSp modSp add">
        <pc:chgData name="Q Z" userId="0598117016cd6850" providerId="LiveId" clId="{3351F81B-803C-2C49-B9B7-94669ACAE3A8}" dt="2020-09-03T07:22:19.689" v="50" actId="1076"/>
        <pc:sldMkLst>
          <pc:docMk/>
          <pc:sldMk cId="2223405279" sldId="327"/>
        </pc:sldMkLst>
        <pc:spChg chg="mod">
          <ac:chgData name="Q Z" userId="0598117016cd6850" providerId="LiveId" clId="{3351F81B-803C-2C49-B9B7-94669ACAE3A8}" dt="2020-09-03T06:59:39.432" v="3"/>
          <ac:spMkLst>
            <pc:docMk/>
            <pc:sldMk cId="2223405279" sldId="327"/>
            <ac:spMk id="2" creationId="{1387362F-A24A-6342-BAAE-FACB800A3028}"/>
          </ac:spMkLst>
        </pc:spChg>
        <pc:spChg chg="mod">
          <ac:chgData name="Q Z" userId="0598117016cd6850" providerId="LiveId" clId="{3351F81B-803C-2C49-B9B7-94669ACAE3A8}" dt="2020-09-03T07:01:37.255" v="17" actId="14100"/>
          <ac:spMkLst>
            <pc:docMk/>
            <pc:sldMk cId="2223405279" sldId="327"/>
            <ac:spMk id="3" creationId="{09CB959C-A4EF-9742-8A17-1FEE29A4E276}"/>
          </ac:spMkLst>
        </pc:sp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6" creationId="{2CC0705B-C583-EB44-A6F0-3D7914EA4F67}"/>
          </ac:picMkLst>
        </pc:pic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8" creationId="{3C27A4E4-1D03-A64E-AD97-BCA56FBF8CD3}"/>
          </ac:picMkLst>
        </pc:picChg>
        <pc:picChg chg="add del mod">
          <ac:chgData name="Q Z" userId="0598117016cd6850" providerId="LiveId" clId="{3351F81B-803C-2C49-B9B7-94669ACAE3A8}" dt="2020-09-03T07:01:38.281" v="18"/>
          <ac:picMkLst>
            <pc:docMk/>
            <pc:sldMk cId="2223405279" sldId="327"/>
            <ac:picMk id="1030" creationId="{342F3586-D385-E742-A2C2-22F776B620DD}"/>
          </ac:picMkLst>
        </pc:picChg>
        <pc:picChg chg="add mod">
          <ac:chgData name="Q Z" userId="0598117016cd6850" providerId="LiveId" clId="{3351F81B-803C-2C49-B9B7-94669ACAE3A8}" dt="2020-09-03T07:22:19.689" v="50" actId="1076"/>
          <ac:picMkLst>
            <pc:docMk/>
            <pc:sldMk cId="2223405279" sldId="327"/>
            <ac:picMk id="1032" creationId="{51408161-DC70-BF41-B4E9-3A5ED79BA1B9}"/>
          </ac:picMkLst>
        </pc:picChg>
      </pc:sldChg>
      <pc:sldChg chg="addSp modSp add">
        <pc:chgData name="Q Z" userId="0598117016cd6850" providerId="LiveId" clId="{3351F81B-803C-2C49-B9B7-94669ACAE3A8}" dt="2020-09-03T07:04:16.074" v="38" actId="1076"/>
        <pc:sldMkLst>
          <pc:docMk/>
          <pc:sldMk cId="2711338742" sldId="328"/>
        </pc:sldMkLst>
        <pc:spChg chg="mod">
          <ac:chgData name="Q Z" userId="0598117016cd6850" providerId="LiveId" clId="{3351F81B-803C-2C49-B9B7-94669ACAE3A8}" dt="2020-09-03T07:03:29.915" v="31"/>
          <ac:spMkLst>
            <pc:docMk/>
            <pc:sldMk cId="2711338742" sldId="328"/>
            <ac:spMk id="2" creationId="{AC25ADB1-CF40-D540-82AD-CA29789D7DDA}"/>
          </ac:spMkLst>
        </pc:spChg>
        <pc:spChg chg="mod">
          <ac:chgData name="Q Z" userId="0598117016cd6850" providerId="LiveId" clId="{3351F81B-803C-2C49-B9B7-94669ACAE3A8}" dt="2020-09-03T07:02:22.768" v="26"/>
          <ac:spMkLst>
            <pc:docMk/>
            <pc:sldMk cId="2711338742" sldId="328"/>
            <ac:spMk id="3" creationId="{932B9BCA-7B9C-DF45-B6F8-04054E4A03F1}"/>
          </ac:spMkLst>
        </pc:spChg>
        <pc:picChg chg="add mod">
          <ac:chgData name="Q Z" userId="0598117016cd6850" providerId="LiveId" clId="{3351F81B-803C-2C49-B9B7-94669ACAE3A8}" dt="2020-09-03T07:04:16.074" v="38" actId="1076"/>
          <ac:picMkLst>
            <pc:docMk/>
            <pc:sldMk cId="2711338742" sldId="328"/>
            <ac:picMk id="4" creationId="{C25F8C83-F8D4-DD42-A362-8C519A77A271}"/>
          </ac:picMkLst>
        </pc:picChg>
      </pc:sldChg>
      <pc:sldChg chg="addSp delSp modSp add">
        <pc:chgData name="Q Z" userId="0598117016cd6850" providerId="LiveId" clId="{3351F81B-803C-2C49-B9B7-94669ACAE3A8}" dt="2020-09-03T07:05:16.381" v="42" actId="1076"/>
        <pc:sldMkLst>
          <pc:docMk/>
          <pc:sldMk cId="2580820078" sldId="329"/>
        </pc:sldMkLst>
        <pc:picChg chg="add mod">
          <ac:chgData name="Q Z" userId="0598117016cd6850" providerId="LiveId" clId="{3351F81B-803C-2C49-B9B7-94669ACAE3A8}" dt="2020-09-03T07:04:03.759" v="34"/>
          <ac:picMkLst>
            <pc:docMk/>
            <pc:sldMk cId="2580820078" sldId="329"/>
            <ac:picMk id="4" creationId="{23E38AF4-EE30-9748-8A9A-36C60CF5EA36}"/>
          </ac:picMkLst>
        </pc:picChg>
        <pc:picChg chg="add del mod">
          <ac:chgData name="Q Z" userId="0598117016cd6850" providerId="LiveId" clId="{3351F81B-803C-2C49-B9B7-94669ACAE3A8}" dt="2020-09-03T07:05:06.740" v="39" actId="1076"/>
          <ac:picMkLst>
            <pc:docMk/>
            <pc:sldMk cId="2580820078" sldId="329"/>
            <ac:picMk id="5" creationId="{E736130E-66FA-2E44-A00B-1FC5AD39B6DF}"/>
          </ac:picMkLst>
        </pc:picChg>
        <pc:picChg chg="add mod">
          <ac:chgData name="Q Z" userId="0598117016cd6850" providerId="LiveId" clId="{3351F81B-803C-2C49-B9B7-94669ACAE3A8}" dt="2020-09-03T07:05:16.381" v="42" actId="1076"/>
          <ac:picMkLst>
            <pc:docMk/>
            <pc:sldMk cId="2580820078" sldId="329"/>
            <ac:picMk id="2050" creationId="{885110A3-036A-974F-915C-551E62C9FA11}"/>
          </ac:picMkLst>
        </pc:picChg>
      </pc:sldChg>
      <pc:sldChg chg="addSp modSp add">
        <pc:chgData name="Q Z" userId="0598117016cd6850" providerId="LiveId" clId="{3351F81B-803C-2C49-B9B7-94669ACAE3A8}" dt="2020-09-03T07:23:27.125" v="54" actId="1076"/>
        <pc:sldMkLst>
          <pc:docMk/>
          <pc:sldMk cId="2355989735" sldId="330"/>
        </pc:sldMkLst>
        <pc:picChg chg="add mod">
          <ac:chgData name="Q Z" userId="0598117016cd6850" providerId="LiveId" clId="{3351F81B-803C-2C49-B9B7-94669ACAE3A8}" dt="2020-09-03T07:23:27.125" v="54" actId="1076"/>
          <ac:picMkLst>
            <pc:docMk/>
            <pc:sldMk cId="2355989735" sldId="330"/>
            <ac:picMk id="4098" creationId="{7CFFEB50-B1F5-4D46-8D41-1D790CF5C271}"/>
          </ac:picMkLst>
        </pc:picChg>
      </pc:sldChg>
      <pc:sldChg chg="modSp add">
        <pc:chgData name="Q Z" userId="0598117016cd6850" providerId="LiveId" clId="{3351F81B-803C-2C49-B9B7-94669ACAE3A8}" dt="2020-09-03T07:20:48.810" v="47" actId="20577"/>
        <pc:sldMkLst>
          <pc:docMk/>
          <pc:sldMk cId="3730086564" sldId="331"/>
        </pc:sldMkLst>
        <pc:spChg chg="mod">
          <ac:chgData name="Q Z" userId="0598117016cd6850" providerId="LiveId" clId="{3351F81B-803C-2C49-B9B7-94669ACAE3A8}" dt="2020-09-03T07:20:48.810" v="47" actId="20577"/>
          <ac:spMkLst>
            <pc:docMk/>
            <pc:sldMk cId="3730086564" sldId="331"/>
            <ac:spMk id="3" creationId="{52F30828-5CE0-BC4B-9D54-707C0B699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2524C-7966-684C-BDC9-CFD451BFAD4B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C42A-5AA1-B144-8688-E824ABDD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descriptive, lack of depth;</a:t>
            </a:r>
          </a:p>
          <a:p>
            <a:r>
              <a:rPr lang="en-US" dirty="0"/>
              <a:t>Too abstractive, lack of details;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50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X, LinkedIn and TikTok, you can check out everyone’s profile for public accounts.</a:t>
            </a:r>
          </a:p>
          <a:p>
            <a:r>
              <a:rPr lang="en-US" dirty="0"/>
              <a:t>On WeChat and Facebook, interactions and actions are more reciprocal / mutual, limited to close friends.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6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else?</a:t>
            </a:r>
          </a:p>
          <a:p>
            <a:endParaRPr lang="en-US" dirty="0"/>
          </a:p>
          <a:p>
            <a:r>
              <a:rPr lang="en-US" dirty="0"/>
              <a:t>Examples?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6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E.g., comparing the platform usage popularity (web vs. app) by social media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55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platforms are rich in Text 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14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examples for Directed vs. Undirected?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01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investigate the extent to which social ties between people can be inferred from co-occurrence in time and space?</a:t>
            </a:r>
          </a:p>
          <a:p>
            <a:r>
              <a:rPr lang="en-US" dirty="0"/>
              <a:t>Such issues arise in data originating in both online and off-line domains as well as settings that capture interfaces between online and offline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83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else? Only certain subpopulation is well represented in a platform. E.g., More women on </a:t>
            </a:r>
            <a:r>
              <a:rPr lang="en-US" dirty="0" err="1"/>
              <a:t>RedNote</a:t>
            </a:r>
            <a:r>
              <a:rPr lang="en-US" dirty="0"/>
              <a:t>. Where are the men represented? (hubs?)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68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streaming API</a:t>
            </a:r>
          </a:p>
          <a:p>
            <a:r>
              <a:rPr lang="en-US" dirty="0"/>
              <a:t>Identify similar hashtags (BLM, </a:t>
            </a:r>
            <a:r>
              <a:rPr lang="en-US" dirty="0" err="1"/>
              <a:t>blm</a:t>
            </a:r>
            <a:r>
              <a:rPr lang="en-US" dirty="0"/>
              <a:t>, </a:t>
            </a:r>
            <a:r>
              <a:rPr lang="en-US" dirty="0" err="1"/>
              <a:t>cybercab</a:t>
            </a:r>
            <a:r>
              <a:rPr lang="en-US" dirty="0"/>
              <a:t>, </a:t>
            </a:r>
            <a:r>
              <a:rPr lang="en-US" dirty="0" err="1"/>
              <a:t>cybercrab</a:t>
            </a:r>
            <a:r>
              <a:rPr lang="en-US" dirty="0"/>
              <a:t>, etc.)</a:t>
            </a:r>
          </a:p>
          <a:p>
            <a:r>
              <a:rPr lang="en-US" dirty="0"/>
              <a:t>Snowball bias towards famous accounts</a:t>
            </a:r>
          </a:p>
          <a:p>
            <a:r>
              <a:rPr lang="en-US" dirty="0"/>
              <a:t>Snapshot not always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15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dynamic page? E.g., your Instagram web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35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8F65-507F-1E1E-46D7-5EF0A567A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1B8D1-7AA1-EB36-2312-56552C44A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A20FF-77D5-6801-24C6-0EC922868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083BE-3525-3964-4D56-50A298898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38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2BBB-5C78-DFFA-C868-37DDCD481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15403-D13B-DBC7-37BB-23345DB86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2C65E-4B99-C732-882E-A750DCFF0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 an auth instance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D12DE-764A-A4AA-E59B-560A5D27F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77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47E4-2256-1EA2-794B-A7F5E00E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AB530-CBA9-4123-9DF3-4ACAE2C07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E2A87-CB2E-CA53-37C8-7075B76B6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D035-B43F-BC77-C668-FC4EA6BF7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80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to study the survival or success of online communities, how do you define them and what data do you collect?</a:t>
            </a:r>
          </a:p>
          <a:p>
            <a:endParaRPr lang="en-US" dirty="0"/>
          </a:p>
          <a:p>
            <a:r>
              <a:rPr lang="en-US" dirty="0"/>
              <a:t>If you want to understand the correlation between homophily and link formation, how do you define or operationalize and measure homophily?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66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hashtag co-occurrence to identify related posts with variants.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34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Xiaomi / </a:t>
            </a:r>
            <a:r>
              <a:rPr lang="en-US" dirty="0" err="1"/>
              <a:t>Xpeng</a:t>
            </a:r>
            <a:r>
              <a:rPr lang="en-US" dirty="0"/>
              <a:t> car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48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Q2: calculate the likelihood of sharing as a function of num of exposure. Build a network based on mentions, retweets, or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55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57ADC065-5400-D443-AFB1-FE1709851704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1D1A9ACC-33C0-2B45-AD01-237A039635CB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F063-5D00-8540-AF82-CF523D9AB3CB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9D6C2283-4AD0-924B-B8D0-855F2C3AE234}" type="datetime1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9407-79E9-A948-A058-D39C24A47559}" type="datetime1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EA76-B139-2B40-BAF5-D1291442D567}" type="datetime1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9D6AF-1479-7B46-9340-D0352A2CB812}" type="datetime1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CCAF-588E-7A42-959F-27F35CBDD492}" type="datetime1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E6616-E133-6D4A-B868-3F63AE813C4B}" type="datetime1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DADAB-D542-094E-9381-714543065BEA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C41D-BDDF-1140-8423-F0E939178D24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LM Sans 12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817F82AE-4C26-3648-BB61-5E7CC9B50775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67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  <a:lvl2pPr>
              <a:defRPr b="0" i="0">
                <a:latin typeface="LM Sans 12" pitchFamily="2" charset="77"/>
              </a:defRPr>
            </a:lvl2pPr>
            <a:lvl3pPr>
              <a:defRPr b="0" i="0">
                <a:latin typeface="LM Sans 12" pitchFamily="2" charset="77"/>
              </a:defRPr>
            </a:lvl3pPr>
            <a:lvl4pPr>
              <a:defRPr b="0" i="0">
                <a:latin typeface="LM Sans 12" pitchFamily="2" charset="77"/>
              </a:defRPr>
            </a:lvl4pPr>
            <a:lvl5pPr>
              <a:defRPr b="0" i="0">
                <a:latin typeface="LM Sans 12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0C15676A-EC5D-E04D-88FA-7A948E786C3D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96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CB6BC-0373-B34A-BBBF-329CB4518C58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39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DC260BE2-5EC7-BC45-9345-43F4F86B295E}" type="datetime1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62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C615-9D40-694C-8397-954A92AFCCC2}" type="datetime1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159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ED92-6FCB-6B47-A7CE-C82291F4D7B2}" type="datetime1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66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BC89-0BEE-2A40-BD81-8976EB4F42C6}" type="datetime1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42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4321-6B25-184F-939C-0BB283106455}" type="datetime1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752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8275-DDCB-1344-8A8F-294986990F90}" type="datetime1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01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FF932-1F6C-B744-8994-2CACB25ECC37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69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6B6C0-1E1D-7F45-B356-E6BE5A065D17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4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A5554979-2AA3-1B45-838F-C9965AA16869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9A938313-CA40-A14F-BDAF-37181D40A29F}" type="datetime1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5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nap.stanford.edu/data/" TargetMode="External"/><Relationship Id="rId2" Type="http://schemas.openxmlformats.org/officeDocument/2006/relationships/hyperlink" Target="https://www.nature.com/articles/s41467-025-60590-y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?search=Social+Media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prefs/app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dev/api/#section_accou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altmetric.com/details/60364782/twitte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or.org/stable/2776392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hyperlink" Target="https://www.youtube.com/watch?v=g3bBajcR5fE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6359-AFC8-5749-ABD8-D22C3153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US" dirty="0"/>
              <a:t>DSC3013 Intro. to Social</a:t>
            </a:r>
            <a:br>
              <a:rPr lang="en-US" dirty="0"/>
            </a:br>
            <a:r>
              <a:rPr lang="en-US" dirty="0"/>
              <a:t>Media Analytics (</a:t>
            </a:r>
            <a:r>
              <a:rPr lang="en-US" dirty="0" err="1"/>
              <a:t>Lec</a:t>
            </a:r>
            <a:r>
              <a:rPr lang="en-US" dirty="0"/>
              <a:t>. 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230220"/>
            <a:ext cx="6858000" cy="2653748"/>
          </a:xfrm>
        </p:spPr>
        <p:txBody>
          <a:bodyPr>
            <a:normAutofit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B3BD6-9BB0-9C5A-BC0A-9500A806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6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213" indent="-176213" algn="l"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What is social media analytics?</a:t>
            </a:r>
          </a:p>
          <a:p>
            <a:pPr marL="176213" indent="-176213" algn="l"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b="1" dirty="0"/>
              <a:t>Data foundations</a:t>
            </a:r>
            <a:r>
              <a:rPr dirty="0"/>
              <a:t>: types, </a:t>
            </a:r>
            <a:r>
              <a:rPr lang="en-US" dirty="0"/>
              <a:t>features</a:t>
            </a:r>
            <a:r>
              <a:rPr dirty="0"/>
              <a:t>, collection, quality, ethics</a:t>
            </a:r>
          </a:p>
          <a:p>
            <a:pPr marL="176213" indent="-176213" algn="l"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b="1" dirty="0"/>
              <a:t>Theoretical foundations</a:t>
            </a:r>
            <a:r>
              <a:rPr dirty="0"/>
              <a:t>: </a:t>
            </a:r>
            <a:r>
              <a:rPr lang="en-US" dirty="0"/>
              <a:t>SM-related </a:t>
            </a:r>
            <a:r>
              <a:rPr dirty="0"/>
              <a:t>social science theories</a:t>
            </a:r>
          </a:p>
          <a:p>
            <a:pPr marL="176213" indent="-176213" algn="l"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u="sng" dirty="0"/>
              <a:t>Integrating theory and data</a:t>
            </a:r>
          </a:p>
          <a:p>
            <a:pPr marL="176213" indent="-176213" algn="l"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In-class activity and summary</a:t>
            </a:r>
            <a:endParaRPr lang="en-US" dirty="0"/>
          </a:p>
          <a:p>
            <a:pPr marL="176213" indent="-176213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Find your home group on Canvas</a:t>
            </a:r>
          </a:p>
          <a:p>
            <a:pPr marL="633413" lvl="1" indent="-176213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Two group paper presentation each week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6B84B-EED9-8BB0-3C8D-5427614E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By the end of this lecture, you will be able to:</a:t>
            </a:r>
            <a:endParaRPr lang="en-US" dirty="0"/>
          </a:p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endParaRPr dirty="0"/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Define social media analytics and its core components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Identify major types of social media data</a:t>
            </a:r>
            <a:r>
              <a:rPr lang="en-US" dirty="0"/>
              <a:t> and its collection</a:t>
            </a:r>
            <a:endParaRPr dirty="0"/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Explain key data quality, access, and ethics challenges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</a:t>
            </a:r>
            <a:r>
              <a:rPr lang="en-US" dirty="0"/>
              <a:t>Understand</a:t>
            </a:r>
            <a:r>
              <a:rPr dirty="0"/>
              <a:t> and apply core theories to social media data</a:t>
            </a:r>
          </a:p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Match these theories to measurable </a:t>
            </a:r>
            <a:r>
              <a:rPr lang="en-US" dirty="0"/>
              <a:t>SM </a:t>
            </a:r>
            <a:r>
              <a:rPr dirty="0"/>
              <a:t>metrics</a:t>
            </a:r>
            <a:r>
              <a:rPr lang="en-US" dirty="0"/>
              <a:t> &amp; behaviors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04D5C-8BD1-50BA-7882-1AE55DBE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What Is Social Media Analytics?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M Sans"/>
              </a:defRPr>
            </a:pPr>
            <a:r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The systematic collection, processing, analysis, and interpretation of social media data to understand communication, behavior, networks, and social phenomena.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804672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Examples: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Brand</a:t>
            </a:r>
            <a:r>
              <a:rPr lang="en-US" dirty="0"/>
              <a:t> public opinion</a:t>
            </a:r>
            <a:endParaRPr dirty="0"/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User segmentation / profiling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Influencer identification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Election trend tracking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Misinformation detection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</a:t>
            </a:r>
            <a:r>
              <a:rPr lang="en-US" dirty="0"/>
              <a:t>Cascade / popularity prediction</a:t>
            </a:r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8A0E8-E4F1-2E2C-F0BD-2A278FF5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Levels of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M Sans"/>
              </a:defRPr>
            </a:pPr>
            <a:r>
              <a:t>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533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M Sans"/>
              </a:defRPr>
            </a:pPr>
            <a:r>
              <a:t>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533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M Sans"/>
              </a:defRPr>
            </a:pPr>
            <a: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Micro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01952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rPr dirty="0"/>
              <a:t>Individual user,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0195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Why do people share health news?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Meso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3347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Community, 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3347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How do activist groups coordinate?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Macro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64992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rPr dirty="0"/>
              <a:t>Platform, society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6499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rPr dirty="0"/>
              <a:t>How do platforms shape political talk?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F81E1F1-BD8C-DF86-034E-03FB015B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Why Data and Theory Together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Data without theory = noise, meaningless patterns</a:t>
            </a:r>
            <a:endParaRPr lang="en-US" dirty="0"/>
          </a:p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 </a:t>
            </a:r>
            <a:r>
              <a:rPr dirty="0"/>
              <a:t>Theory without data = untested speculation</a:t>
            </a:r>
            <a:r>
              <a:rPr lang="en-US" dirty="0"/>
              <a:t>s</a:t>
            </a:r>
            <a:endParaRPr dirty="0"/>
          </a:p>
          <a:p>
            <a:pPr algn="l">
              <a:spcAft>
                <a:spcPts val="600"/>
              </a:spcAft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Strong social media analytics asks: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What question am I answering?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Which theory </a:t>
            </a:r>
            <a:r>
              <a:rPr lang="en-US" dirty="0"/>
              <a:t>might </a:t>
            </a:r>
            <a:r>
              <a:rPr dirty="0"/>
              <a:t>explain</a:t>
            </a:r>
            <a:r>
              <a:rPr lang="en-US" dirty="0"/>
              <a:t> </a:t>
            </a:r>
            <a:r>
              <a:rPr dirty="0"/>
              <a:t>the phenomenon?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What data can </a:t>
            </a:r>
            <a:r>
              <a:rPr lang="en-US" dirty="0"/>
              <a:t>help </a:t>
            </a:r>
            <a:r>
              <a:rPr dirty="0"/>
              <a:t>test or explore that theory?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964F1-0835-CE2A-41B1-769954E4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From Social Action to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23774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M Sans"/>
              </a:defRPr>
            </a:pPr>
            <a:r>
              <a:t>Pipeline: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74980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LM Sans"/>
              </a:defRPr>
            </a:pPr>
            <a:r>
              <a:rPr sz="2800" dirty="0"/>
              <a:t>User behavior  →  Platform trace  →  API / scrape  →  Raw dataset  →  Cleaning  →  Analysis</a:t>
            </a:r>
            <a:r>
              <a:rPr lang="en-US" sz="2800" dirty="0"/>
              <a:t> → </a:t>
            </a:r>
            <a:r>
              <a:rPr lang="en-US" sz="2800" dirty="0">
                <a:solidFill>
                  <a:srgbClr val="0078B9"/>
                </a:solidFill>
              </a:rPr>
              <a:t>Interpretation</a:t>
            </a:r>
            <a:endParaRPr sz="2800" dirty="0">
              <a:solidFill>
                <a:srgbClr val="0078B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804672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A </a:t>
            </a:r>
            <a:r>
              <a:rPr lang="en-US" dirty="0"/>
              <a:t>(re)</a:t>
            </a:r>
            <a:r>
              <a:rPr dirty="0"/>
              <a:t>tweet, like, share, or view becomes a data point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endParaRPr lang="en-US" dirty="0"/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Each action is shaped by platform design and social context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5FB9A-4D08-3DFC-995D-6EBFA793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Major Types of Social Media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1. Content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280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LM Sans"/>
              </a:defRPr>
            </a:pPr>
            <a:r>
              <a:t>text, images,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2. User profile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057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LM Sans"/>
              </a:defRPr>
            </a:pPr>
            <a:r>
              <a:t>bio, location, follower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3. Network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834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LM Sans"/>
              </a:defRPr>
            </a:pPr>
            <a:r>
              <a:t>follows, retweets, mentions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4. Behavioral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611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LM Sans"/>
              </a:defRPr>
            </a:pPr>
            <a:r>
              <a:t>likes, shares, clicks, view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5. Temporal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389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LM Sans"/>
              </a:defRPr>
            </a:pPr>
            <a:r>
              <a:t>timestamps, posting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6635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6. Spatial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16635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LM Sans"/>
              </a:defRPr>
            </a:pPr>
            <a:r>
              <a:t>geotags, check-ins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F5CE7EF-92F5-0D24-0782-FBF2E0E6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Structured vs. Unstructured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840480" cy="21945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M Sans"/>
              </a:defRPr>
            </a:pPr>
            <a:r>
              <a:t>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29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User IDs, </a:t>
            </a:r>
            <a:r>
              <a:rPr lang="en-US" dirty="0"/>
              <a:t>avatar, </a:t>
            </a:r>
            <a:r>
              <a:rPr dirty="0"/>
              <a:t>timestamps, </a:t>
            </a:r>
            <a:r>
              <a:rPr lang="en-US" dirty="0"/>
              <a:t>metrics, </a:t>
            </a:r>
            <a:r>
              <a:rPr dirty="0"/>
              <a:t>locations</a:t>
            </a:r>
            <a:r>
              <a:rPr lang="en-US" dirty="0"/>
              <a:t>, etc.</a:t>
            </a:r>
            <a:br>
              <a:rPr dirty="0"/>
            </a:br>
            <a:br>
              <a:rPr dirty="0"/>
            </a:br>
            <a:r>
              <a:rPr dirty="0"/>
              <a:t>Easy to store in </a:t>
            </a:r>
            <a:r>
              <a:rPr lang="en-US" dirty="0"/>
              <a:t>data </a:t>
            </a:r>
            <a:r>
              <a:rPr dirty="0"/>
              <a:t>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80160"/>
            <a:ext cx="3840480" cy="21945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M Sans"/>
              </a:defRPr>
            </a:pPr>
            <a:r>
              <a:t>Unstructured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329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Text, images, video, audio</a:t>
            </a:r>
            <a:br>
              <a:rPr dirty="0"/>
            </a:br>
            <a:br>
              <a:rPr dirty="0"/>
            </a:br>
            <a:r>
              <a:rPr dirty="0"/>
              <a:t>Requires NLP, computer vision, </a:t>
            </a:r>
            <a:r>
              <a:rPr lang="en-US" dirty="0"/>
              <a:t>and data cleaning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8046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Analytics challenge: </a:t>
            </a:r>
            <a:endParaRPr lang="en-US" dirty="0"/>
          </a:p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C</a:t>
            </a:r>
            <a:r>
              <a:rPr dirty="0">
                <a:solidFill>
                  <a:srgbClr val="C00000"/>
                </a:solidFill>
              </a:rPr>
              <a:t>onverting unstructured data into analyzable form</a:t>
            </a:r>
            <a:endParaRPr lang="en-US" dirty="0">
              <a:solidFill>
                <a:srgbClr val="C00000"/>
              </a:solidFill>
            </a:endParaRPr>
          </a:p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* Text preprocessing</a:t>
            </a:r>
          </a:p>
          <a:p>
            <a:pPr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	* NLP pipelines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8C553B-1688-7485-9338-14B96308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Metadata — Data About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11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Metadata includes: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URLs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Language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Device type</a:t>
            </a:r>
            <a:endParaRPr lang="en-US" dirty="0"/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Hashtags / Geotag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Retweet / reply status</a:t>
            </a:r>
            <a:endParaRPr lang="en-US" dirty="0"/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Verified / unverified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439566"/>
            <a:ext cx="8046720" cy="758058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7496" y="4562533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Why it matters: Metadata gives context and enables filtering.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BBD66-88CC-2AB6-1D43-2DEC6FFE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F9CDD-9D64-C963-B1C2-1A824470F14A}"/>
              </a:ext>
            </a:extLst>
          </p:cNvPr>
          <p:cNvSpPr txBox="1"/>
          <p:nvPr/>
        </p:nvSpPr>
        <p:spPr>
          <a:xfrm>
            <a:off x="643236" y="5415025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How can we compare interface popularity of a platform?</a:t>
            </a:r>
          </a:p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(web vs. mobile; android vs. </a:t>
            </a:r>
            <a:r>
              <a:rPr lang="en-US" dirty="0" err="1"/>
              <a:t>ios</a:t>
            </a:r>
            <a:r>
              <a:rPr lang="en-US" dirty="0"/>
              <a:t>)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Text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Text appears in: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Posts, tweets, captions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Comments and replies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Bios and </a:t>
            </a:r>
            <a:r>
              <a:rPr dirty="0" err="1"/>
              <a:t>user</a:t>
            </a:r>
            <a:r>
              <a:rPr lang="en-US" dirty="0" err="1"/>
              <a:t>_</a:t>
            </a:r>
            <a:r>
              <a:rPr dirty="0" err="1"/>
              <a:t>names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Hashtags and mentions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Common techniques: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80467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Tokenization     </a:t>
            </a:r>
            <a:r>
              <a:rPr lang="en-US" dirty="0"/>
              <a:t>     </a:t>
            </a:r>
            <a:r>
              <a:rPr dirty="0"/>
              <a:t>•  </a:t>
            </a:r>
            <a:r>
              <a:rPr lang="en-US" dirty="0"/>
              <a:t>Normalization, cleaning</a:t>
            </a: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Topic modeling     •  Named entity recognition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F1B4C-7B10-9E95-9C4E-EC708B58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Image and Video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Instagram photos, TikTok videos, YouTube content</a:t>
            </a:r>
          </a:p>
          <a:p>
            <a:pPr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 </a:t>
            </a:r>
            <a:r>
              <a:rPr dirty="0"/>
              <a:t>Memes, infographics, screenshots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Requires: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Computer vision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OCR for text in images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Audio/video transcription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915A8-7AED-8854-95DB-F1AFC472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8D0CC67-4727-A510-C793-A351C1F77A1F}"/>
              </a:ext>
            </a:extLst>
          </p:cNvPr>
          <p:cNvGrpSpPr/>
          <p:nvPr/>
        </p:nvGrpSpPr>
        <p:grpSpPr>
          <a:xfrm>
            <a:off x="564406" y="4161969"/>
            <a:ext cx="8595360" cy="822960"/>
            <a:chOff x="548640" y="4448929"/>
            <a:chExt cx="8595360" cy="82296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38AD8C-C5CE-D46B-72B0-B713E979E48D}"/>
                </a:ext>
              </a:extLst>
            </p:cNvPr>
            <p:cNvSpPr/>
            <p:nvPr/>
          </p:nvSpPr>
          <p:spPr>
            <a:xfrm>
              <a:off x="548640" y="4448929"/>
              <a:ext cx="8477906" cy="82296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8CC8AD-0AC3-104D-2FE2-2BAA170BFFD2}"/>
                </a:ext>
              </a:extLst>
            </p:cNvPr>
            <p:cNvSpPr txBox="1"/>
            <p:nvPr/>
          </p:nvSpPr>
          <p:spPr>
            <a:xfrm>
              <a:off x="666094" y="4631571"/>
              <a:ext cx="847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00"/>
                </a:spcAft>
                <a:defRPr sz="2400" b="1">
                  <a:solidFill>
                    <a:srgbClr val="4C72B0"/>
                  </a:solidFill>
                  <a:latin typeface="LM Sans"/>
                </a:defRPr>
              </a:pPr>
              <a:r>
                <a:rPr lang="en-US" dirty="0"/>
                <a:t>Why it matters: Visual content often drives higher engagement.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1561DB9-E166-99D5-8430-0B6A86C3FDEA}"/>
              </a:ext>
            </a:extLst>
          </p:cNvPr>
          <p:cNvSpPr txBox="1"/>
          <p:nvPr/>
        </p:nvSpPr>
        <p:spPr>
          <a:xfrm>
            <a:off x="643236" y="5304663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What vocal / body features improve views of Ted Talks?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Behavioral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Includes: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Likes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Shares / retweets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Comments</a:t>
            </a:r>
            <a:r>
              <a:rPr lang="en-US" dirty="0"/>
              <a:t> / mentions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Reactions</a:t>
            </a:r>
            <a:r>
              <a:rPr lang="en-US" dirty="0"/>
              <a:t> (deleting)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Click-throughs</a:t>
            </a:r>
            <a:r>
              <a:rPr lang="en-US" dirty="0"/>
              <a:t> (CTR)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Time spent viewing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89120"/>
            <a:ext cx="8046720" cy="1371600"/>
          </a:xfrm>
          <a:prstGeom prst="rect">
            <a:avLst/>
          </a:prstGeom>
          <a:solidFill>
            <a:srgbClr val="F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4" y="4480560"/>
            <a:ext cx="749807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03030"/>
                </a:solidFill>
                <a:latin typeface="LM Sans"/>
              </a:defRPr>
            </a:pPr>
            <a:r>
              <a:rPr dirty="0"/>
              <a:t>Caveat: </a:t>
            </a:r>
            <a:r>
              <a:rPr lang="en-US" dirty="0"/>
              <a:t>b</a:t>
            </a:r>
            <a:r>
              <a:rPr dirty="0"/>
              <a:t>ehavior ≠ attitude. A like </a:t>
            </a:r>
            <a:r>
              <a:rPr lang="en-US" dirty="0"/>
              <a:t>or comment </a:t>
            </a:r>
            <a:r>
              <a:rPr dirty="0"/>
              <a:t>may be ironic, habitual, or </a:t>
            </a:r>
            <a:r>
              <a:rPr lang="en-US" dirty="0"/>
              <a:t>even </a:t>
            </a:r>
            <a:r>
              <a:rPr dirty="0"/>
              <a:t>accidental.</a:t>
            </a:r>
            <a:r>
              <a:rPr lang="en-US" dirty="0"/>
              <a:t> </a:t>
            </a:r>
          </a:p>
          <a:p>
            <a:pPr>
              <a:defRPr sz="2200" b="1">
                <a:solidFill>
                  <a:srgbClr val="B03030"/>
                </a:solidFill>
                <a:latin typeface="LM Sans"/>
              </a:defRPr>
            </a:pPr>
            <a:r>
              <a:rPr lang="en-US" dirty="0"/>
              <a:t>	• “Retweet does not imply endorsement”.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A2A93-2849-08B4-7018-07CE1047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376241-6153-053C-E0A0-D21DD16FC8C8}"/>
              </a:ext>
            </a:extLst>
          </p:cNvPr>
          <p:cNvSpPr/>
          <p:nvPr/>
        </p:nvSpPr>
        <p:spPr>
          <a:xfrm>
            <a:off x="548640" y="4079828"/>
            <a:ext cx="804672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lang="en-US" dirty="0"/>
              <a:t>Use case: Identify influencers, communities, information flow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Social Graph / Network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Nodes: users, pages, groups, hashtags</a:t>
            </a:r>
          </a:p>
          <a:p>
            <a:pPr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</a:t>
            </a:r>
            <a:r>
              <a:rPr dirty="0"/>
              <a:t>Edges: follows, retweets, replies, mentions, shares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(Un) </a:t>
            </a:r>
            <a:r>
              <a:rPr dirty="0"/>
              <a:t>Directed: A follows B, but B may not follow A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(Un) </a:t>
            </a:r>
            <a:r>
              <a:rPr dirty="0"/>
              <a:t>Weighted: number of interactions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D20B4-F24A-7303-EFD8-447475E9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Temporal and Spatial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840480" cy="2803109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M Sans"/>
              </a:defRPr>
            </a:pPr>
            <a:r>
              <a:t>Temporal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291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Timestamps</a:t>
            </a:r>
            <a:br>
              <a:rPr dirty="0"/>
            </a:br>
            <a:r>
              <a:rPr dirty="0"/>
              <a:t>• Posting times</a:t>
            </a:r>
            <a:br>
              <a:rPr dirty="0"/>
            </a:br>
            <a:r>
              <a:rPr dirty="0"/>
              <a:t>• Event sequences</a:t>
            </a:r>
            <a:br>
              <a:rPr dirty="0"/>
            </a:br>
            <a:br>
              <a:rPr dirty="0"/>
            </a:br>
            <a:r>
              <a:rPr dirty="0"/>
              <a:t>Detect trends, bursts, life cycles </a:t>
            </a:r>
            <a:r>
              <a:rPr lang="en-US" dirty="0"/>
              <a:t>(virality) </a:t>
            </a:r>
            <a:r>
              <a:rPr dirty="0"/>
              <a:t>of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80160"/>
            <a:ext cx="3840480" cy="2803109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M Sans"/>
              </a:defRPr>
            </a:pPr>
            <a:r>
              <a:t>Spatial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Geotags</a:t>
            </a:r>
            <a:br>
              <a:rPr dirty="0"/>
            </a:br>
            <a:r>
              <a:rPr dirty="0"/>
              <a:t>• Check-ins</a:t>
            </a:r>
            <a:br>
              <a:rPr dirty="0"/>
            </a:br>
            <a:r>
              <a:rPr dirty="0"/>
              <a:t>• Language location</a:t>
            </a:r>
            <a:br>
              <a:rPr dirty="0"/>
            </a:br>
            <a:br>
              <a:rPr dirty="0"/>
            </a:br>
            <a:r>
              <a:rPr dirty="0"/>
              <a:t>Map events, local crises, regional differences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16C18-F6E1-2394-07D8-3DED1B00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15</a:t>
            </a:fld>
            <a:endParaRPr lang="en-US"/>
          </a:p>
        </p:txBody>
      </p:sp>
      <p:pic>
        <p:nvPicPr>
          <p:cNvPr id="11" name="Picture 10" descr="A close-up of a text&#10;&#10;AI-generated content may be incorrect.">
            <a:extLst>
              <a:ext uri="{FF2B5EF4-FFF2-40B4-BE49-F238E27FC236}">
                <a16:creationId xmlns:a16="http://schemas.microsoft.com/office/drawing/2014/main" id="{63699AA6-41A4-878F-5F3F-38E4DBAFC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51240"/>
            <a:ext cx="7772400" cy="14249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The 5 Vs of Big Social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M Sans"/>
              </a:defRPr>
            </a:pPr>
            <a: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53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M Sans"/>
              </a:defRPr>
            </a:pPr>
            <a: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3533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M Sans"/>
              </a:defRPr>
            </a:pPr>
            <a:r>
              <a:t>Social media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rPr dirty="0"/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019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019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Millions of posts per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" y="2542032"/>
            <a:ext cx="1039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rPr dirty="0"/>
              <a:t>Velocity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420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4203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Real-time livestreams, trends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Variety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8211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rPr dirty="0"/>
              <a:t>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8211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Text, image, video,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22192"/>
            <a:ext cx="103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rPr dirty="0"/>
              <a:t>Veracity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2219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221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Bots, spam, misinformation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622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Usefulness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4622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M Sans"/>
              </a:defRPr>
            </a:pPr>
            <a:r>
              <a:t>Insights for decisions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31F6355-72B1-36D2-1B22-DAD91773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Big </a:t>
            </a:r>
            <a:r>
              <a:rPr lang="en-US" dirty="0"/>
              <a:t>SM </a:t>
            </a:r>
            <a:r>
              <a:rPr dirty="0"/>
              <a:t>Data</a:t>
            </a:r>
            <a:r>
              <a:rPr lang="en-US" dirty="0"/>
              <a:t> </a:t>
            </a:r>
            <a:r>
              <a:rPr dirty="0"/>
              <a:t>— Scale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Enormous scale enables </a:t>
            </a:r>
            <a:r>
              <a:rPr lang="en-US" dirty="0"/>
              <a:t>systematic </a:t>
            </a:r>
            <a:r>
              <a:rPr dirty="0"/>
              <a:t>pattern discovery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But “big” does not mean: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Complete</a:t>
            </a:r>
          </a:p>
          <a:p>
            <a:pPr>
              <a:spcAft>
                <a:spcPts val="4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lang="en-US" dirty="0"/>
              <a:t>• Objective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Representative</a:t>
            </a:r>
          </a:p>
          <a:p>
            <a:pPr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• </a:t>
            </a:r>
            <a:r>
              <a:rPr dirty="0">
                <a:solidFill>
                  <a:srgbClr val="C00000"/>
                </a:solidFill>
              </a:rPr>
              <a:t>Platform APIs often limit full access</a:t>
            </a:r>
            <a:endParaRPr lang="en-US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• Spam and bot accounts</a:t>
            </a:r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• Missing or incomplete data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F33AB1-1367-8914-49B6-77FC4511CAB4}"/>
              </a:ext>
            </a:extLst>
          </p:cNvPr>
          <p:cNvGrpSpPr/>
          <p:nvPr/>
        </p:nvGrpSpPr>
        <p:grpSpPr>
          <a:xfrm>
            <a:off x="548640" y="5544593"/>
            <a:ext cx="8046720" cy="889462"/>
            <a:chOff x="548640" y="5594468"/>
            <a:chExt cx="8046720" cy="889462"/>
          </a:xfrm>
        </p:grpSpPr>
        <p:sp>
          <p:nvSpPr>
            <p:cNvPr id="4" name="Rectangle 3"/>
            <p:cNvSpPr/>
            <p:nvPr/>
          </p:nvSpPr>
          <p:spPr>
            <a:xfrm>
              <a:off x="548640" y="5594468"/>
              <a:ext cx="8046720" cy="773081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3331" y="5752410"/>
              <a:ext cx="7498079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400" b="1">
                  <a:solidFill>
                    <a:srgbClr val="4C72B0"/>
                  </a:solidFill>
                  <a:latin typeface="LM Sans"/>
                </a:defRPr>
              </a:pPr>
              <a:r>
                <a:rPr dirty="0"/>
                <a:t>Key question: What is missing from the dataset?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69EB8A4-D1D6-EE12-AFC0-751268BAAC17}"/>
              </a:ext>
            </a:extLst>
          </p:cNvPr>
          <p:cNvSpPr txBox="1"/>
          <p:nvPr/>
        </p:nvSpPr>
        <p:spPr>
          <a:xfrm>
            <a:off x="573581" y="4929450"/>
            <a:ext cx="8188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03030"/>
                </a:solidFill>
                <a:latin typeface="LM Sans"/>
              </a:defRPr>
            </a:pPr>
            <a:r>
              <a:rPr dirty="0">
                <a:highlight>
                  <a:srgbClr val="FFFF00"/>
                </a:highlight>
              </a:rPr>
              <a:t>Impact: Poor quality data lead to </a:t>
            </a:r>
            <a:r>
              <a:rPr lang="en-US" dirty="0">
                <a:highlight>
                  <a:srgbClr val="FFFF00"/>
                </a:highlight>
              </a:rPr>
              <a:t>weak/</a:t>
            </a:r>
            <a:r>
              <a:rPr dirty="0">
                <a:highlight>
                  <a:srgbClr val="FFFF00"/>
                </a:highlight>
              </a:rPr>
              <a:t>wrong conclusions.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B7F2E-D161-3B90-6358-8BBDE05F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Missing Data and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Who is absent from social media data?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Older adults</a:t>
            </a:r>
            <a:r>
              <a:rPr lang="en-US" dirty="0"/>
              <a:t> (or Teenagers)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Low-income </a:t>
            </a:r>
            <a:r>
              <a:rPr lang="en-US" dirty="0"/>
              <a:t>(status) </a:t>
            </a:r>
            <a:r>
              <a:rPr dirty="0"/>
              <a:t>users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Non-users</a:t>
            </a:r>
            <a:r>
              <a:rPr lang="en-US" dirty="0"/>
              <a:t> (agents, zombie)</a:t>
            </a:r>
            <a:endParaRPr dirty="0"/>
          </a:p>
          <a:p>
            <a:pPr algn="l">
              <a:spcAft>
                <a:spcPts val="6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Other sources of bias: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Algorithmic filtering shapes what you see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Self-selection bias: only certain people post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Platform demographics differ</a:t>
            </a:r>
            <a:r>
              <a:rPr lang="en-US" dirty="0"/>
              <a:t> and evolve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442DE-3966-BA1B-26A5-33F016C7F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Sampling Social Media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Random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5331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hard to obtain via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36180"/>
            <a:ext cx="29607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Keyword</a:t>
            </a:r>
            <a:r>
              <a:rPr lang="en-US" dirty="0"/>
              <a:t> / </a:t>
            </a:r>
          </a:p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rPr dirty="0"/>
              <a:t>hashtag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26771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biased by topic interest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Snowball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8211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follows network links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096512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rPr lang="en-US" dirty="0"/>
              <a:t>Snapshot / Census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657600" y="409651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t>collect all available posts for a narrow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Always report sampling strategy and </a:t>
            </a:r>
            <a:r>
              <a:rPr lang="en-US" dirty="0"/>
              <a:t>acknowledge </a:t>
            </a:r>
            <a:r>
              <a:rPr dirty="0"/>
              <a:t>limitations.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E8D1514-9144-2F46-31D6-B3D89B8B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Data Preprocessing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11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Before analysis: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Remove duplicates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Filter bots and spam</a:t>
            </a:r>
            <a:r>
              <a:rPr lang="en-US" dirty="0"/>
              <a:t>, invalid data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Detect</a:t>
            </a:r>
            <a:r>
              <a:rPr lang="en-US" dirty="0"/>
              <a:t>/filter</a:t>
            </a:r>
            <a:r>
              <a:rPr dirty="0"/>
              <a:t> language</a:t>
            </a:r>
            <a:r>
              <a:rPr lang="en-US" dirty="0"/>
              <a:t> (e.g., focus on English)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Normalize text</a:t>
            </a:r>
            <a:r>
              <a:rPr lang="en-US" dirty="0"/>
              <a:t> (lowercasing, remove emoji?)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Handle missing values</a:t>
            </a:r>
            <a:r>
              <a:rPr lang="en-US" dirty="0"/>
              <a:t> (Drop? What percentage?)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Convert formats</a:t>
            </a:r>
            <a:r>
              <a:rPr lang="en-US" dirty="0"/>
              <a:t> (e.g., year to categorical data)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06300" y="4937760"/>
            <a:ext cx="6924215" cy="769357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2859" y="5092264"/>
            <a:ext cx="5893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Remember GIGO: Garbage In, Garbage Out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5CE60-D774-A2BF-4C1B-3C265C1D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690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A0F3-0EB3-9A4E-A092-7B4EDE35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6"/>
            <a:ext cx="915035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How to Collect SM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B3FA4-4D05-DF38-996E-200A57C11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3115"/>
            <a:ext cx="8229600" cy="4525963"/>
          </a:xfrm>
        </p:spPr>
        <p:txBody>
          <a:bodyPr/>
          <a:lstStyle/>
          <a:p>
            <a:pPr>
              <a:defRPr sz="1800"/>
            </a:pPr>
            <a:r>
              <a:rPr lang="en-US" sz="2400" dirty="0">
                <a:solidFill>
                  <a:srgbClr val="0078B9"/>
                </a:solidFill>
              </a:rPr>
              <a:t>Download data from public repositories </a:t>
            </a:r>
            <a:r>
              <a:rPr lang="en-US" sz="2400" dirty="0">
                <a:solidFill>
                  <a:srgbClr val="0078B9"/>
                </a:solidFill>
                <a:sym typeface="Wingdings" pitchFamily="2" charset="2"/>
              </a:rPr>
              <a:t></a:t>
            </a:r>
            <a:endParaRPr lang="en-US" sz="2400" dirty="0"/>
          </a:p>
          <a:p>
            <a:pPr algn="l">
              <a:defRPr sz="1800"/>
            </a:pPr>
            <a:r>
              <a:rPr lang="en-US" sz="2400" dirty="0"/>
              <a:t>API is also easy (official &amp; third-party APIs)</a:t>
            </a:r>
          </a:p>
          <a:p>
            <a:pPr lvl="1">
              <a:defRPr sz="1800"/>
            </a:pPr>
            <a:r>
              <a:rPr lang="en-US" sz="2000" dirty="0"/>
              <a:t>Tweet official API vs. </a:t>
            </a:r>
            <a:r>
              <a:rPr lang="en-US" sz="2000" dirty="0" err="1"/>
              <a:t>TweePy</a:t>
            </a:r>
            <a:endParaRPr lang="en-US" sz="2000" dirty="0"/>
          </a:p>
          <a:p>
            <a:pPr algn="l">
              <a:defRPr sz="1800"/>
            </a:pPr>
            <a:r>
              <a:rPr lang="en-US" sz="2400" dirty="0"/>
              <a:t>Build customized web crawler (parse data in html)</a:t>
            </a:r>
          </a:p>
          <a:p>
            <a:pPr lvl="1">
              <a:defRPr sz="1800"/>
            </a:pPr>
            <a:r>
              <a:rPr lang="en-US" sz="2000" dirty="0"/>
              <a:t>Python packages: </a:t>
            </a:r>
            <a:r>
              <a:rPr lang="en-US" sz="2000" i="1" dirty="0"/>
              <a:t>Requests, </a:t>
            </a:r>
            <a:r>
              <a:rPr lang="en-US" sz="2000" i="1" dirty="0" err="1"/>
              <a:t>BeautifulSoup</a:t>
            </a:r>
            <a:r>
              <a:rPr lang="en-US" sz="2000" i="1" dirty="0"/>
              <a:t>, etc.</a:t>
            </a:r>
          </a:p>
          <a:p>
            <a:pPr lvl="1">
              <a:defRPr sz="1800"/>
            </a:pPr>
            <a:r>
              <a:rPr lang="en-US" sz="2000" u="sng" dirty="0">
                <a:solidFill>
                  <a:srgbClr val="C00000"/>
                </a:solidFill>
              </a:rPr>
              <a:t>More details in DSC2005 course</a:t>
            </a:r>
          </a:p>
          <a:p>
            <a:pPr algn="l">
              <a:defRPr sz="1800"/>
            </a:pPr>
            <a:r>
              <a:rPr lang="en-US" sz="2400" dirty="0"/>
              <a:t>Browser-like crawler (e.g., Selenium, LLM agent)</a:t>
            </a:r>
          </a:p>
          <a:p>
            <a:pPr lvl="1">
              <a:defRPr sz="1800"/>
            </a:pPr>
            <a:r>
              <a:rPr lang="en-US" sz="2000" dirty="0"/>
              <a:t>To deal with dynamic pages (JavaScript)</a:t>
            </a:r>
          </a:p>
          <a:p>
            <a:pPr lvl="1">
              <a:defRPr sz="1800"/>
            </a:pPr>
            <a:endParaRPr lang="en-US" sz="20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0A25D9-508F-C618-E87A-1D08EED4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DCFA791-3060-7643-8677-86D470F57523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805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Secondary Data 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Using existing datasets can save time: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Academic datasets</a:t>
            </a:r>
            <a:r>
              <a:rPr lang="en-US" dirty="0"/>
              <a:t> (from published papers)</a:t>
            </a:r>
          </a:p>
          <a:p>
            <a:pPr marL="688975" lvl="1" indent="-231775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sz="2000" dirty="0">
                <a:hlinkClick r:id="rId2"/>
              </a:rPr>
              <a:t>https://www.nature.com/articles/s41597-021-00934-7</a:t>
            </a:r>
          </a:p>
          <a:p>
            <a:pPr marL="688975" lvl="1" indent="-231775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sz="2000" dirty="0">
                <a:hlinkClick r:id="rId2"/>
              </a:rPr>
              <a:t>https://www.nature.com/articles/s41467-025-60590-y</a:t>
            </a:r>
            <a:endParaRPr sz="2000"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SNAP network data</a:t>
            </a:r>
            <a:endParaRPr lang="en-US" dirty="0"/>
          </a:p>
          <a:p>
            <a:pPr marL="688975" lvl="1" indent="-231775">
              <a:spcAft>
                <a:spcPts val="6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sz="2000" dirty="0">
                <a:solidFill>
                  <a:srgbClr val="1A1A2E"/>
                </a:solidFill>
                <a:latin typeface="LM Sans"/>
                <a:hlinkClick r:id="rId3"/>
              </a:rPr>
              <a:t>https://snap.stanford.edu/data/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Kaggle social media dataset</a:t>
            </a:r>
            <a:r>
              <a:rPr lang="en-US" dirty="0"/>
              <a:t>s: </a:t>
            </a:r>
          </a:p>
          <a:p>
            <a:pPr marL="688975" lvl="1" indent="-231775">
              <a:spcAft>
                <a:spcPts val="6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sz="2000" dirty="0">
                <a:solidFill>
                  <a:srgbClr val="1A1A2E"/>
                </a:solidFill>
                <a:latin typeface="LM Sans"/>
                <a:hlinkClick r:id="rId4"/>
              </a:rPr>
              <a:t>https://www.kaggle.com/datasets?search=Social+Media</a:t>
            </a:r>
            <a:endParaRPr lang="en-US" sz="2000" dirty="0">
              <a:solidFill>
                <a:srgbClr val="1A1A2E"/>
              </a:solidFill>
              <a:latin typeface="LM Sans"/>
            </a:endParaRPr>
          </a:p>
          <a:p>
            <a:pPr marL="688975" lvl="1" indent="-231775">
              <a:spcAft>
                <a:spcPts val="6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M Sans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6A4B91-F2E5-ABF0-3B63-04B8CA5EA1F8}"/>
              </a:ext>
            </a:extLst>
          </p:cNvPr>
          <p:cNvGrpSpPr/>
          <p:nvPr/>
        </p:nvGrpSpPr>
        <p:grpSpPr>
          <a:xfrm>
            <a:off x="548640" y="4615987"/>
            <a:ext cx="8046720" cy="1645920"/>
            <a:chOff x="548640" y="3931920"/>
            <a:chExt cx="8046720" cy="1645920"/>
          </a:xfrm>
        </p:grpSpPr>
        <p:sp>
          <p:nvSpPr>
            <p:cNvPr id="4" name="Rectangle 3"/>
            <p:cNvSpPr/>
            <p:nvPr/>
          </p:nvSpPr>
          <p:spPr>
            <a:xfrm>
              <a:off x="548640" y="3931920"/>
              <a:ext cx="3840480" cy="1311847"/>
            </a:xfrm>
            <a:prstGeom prst="rect">
              <a:avLst/>
            </a:prstGeom>
            <a:solidFill>
              <a:srgbClr val="E8F5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4023360"/>
              <a:ext cx="32918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000" b="1">
                  <a:solidFill>
                    <a:srgbClr val="2E7D32"/>
                  </a:solidFill>
                  <a:latin typeface="LM Sans"/>
                </a:defRPr>
              </a:pPr>
              <a:r>
                <a:t>Advantages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4480560"/>
              <a:ext cx="329184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000" b="0">
                  <a:solidFill>
                    <a:srgbClr val="1A1A2E"/>
                  </a:solidFill>
                  <a:latin typeface="LM Sans"/>
                </a:defRPr>
              </a:pPr>
              <a:r>
                <a:t>Faster, often cleaned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754880" y="3931920"/>
              <a:ext cx="3840480" cy="1311847"/>
            </a:xfrm>
            <a:prstGeom prst="rect">
              <a:avLst/>
            </a:prstGeom>
            <a:solidFill>
              <a:srgbClr val="FDEC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29200" y="4023360"/>
              <a:ext cx="32918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000" b="1">
                  <a:solidFill>
                    <a:srgbClr val="B03030"/>
                  </a:solidFill>
                  <a:latin typeface="LM Sans"/>
                </a:defRPr>
              </a:pPr>
              <a:r>
                <a:t>Limitations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29200" y="4480560"/>
              <a:ext cx="329184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000" b="0">
                  <a:solidFill>
                    <a:srgbClr val="1A1A2E"/>
                  </a:solidFill>
                  <a:latin typeface="LM Sans"/>
                </a:defRPr>
              </a:pPr>
              <a:r>
                <a:t>May not fit your research question, lack documentation</a:t>
              </a: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1B71719-8DA2-046C-A67F-2F65F7C5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32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APIs for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16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API = Application Programming Interface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Many p</a:t>
            </a:r>
            <a:r>
              <a:rPr dirty="0"/>
              <a:t>latforms provide </a:t>
            </a:r>
            <a:r>
              <a:rPr lang="en-US" dirty="0"/>
              <a:t>(free) </a:t>
            </a:r>
            <a:r>
              <a:rPr dirty="0"/>
              <a:t>structured access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Types: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REST API: search</a:t>
            </a:r>
            <a:r>
              <a:rPr lang="en-US" dirty="0"/>
              <a:t> endpoints (</a:t>
            </a:r>
            <a:r>
              <a:rPr dirty="0"/>
              <a:t>user</a:t>
            </a:r>
            <a:r>
              <a:rPr lang="en-US" dirty="0"/>
              <a:t>s, posts, tags, etc.)</a:t>
            </a:r>
            <a:endParaRPr dirty="0"/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Streaming API: real-time sample</a:t>
            </a:r>
            <a:r>
              <a:rPr lang="en-US" dirty="0"/>
              <a:t> (often a small fraction)</a:t>
            </a:r>
            <a:endParaRPr dirty="0"/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Examples: </a:t>
            </a:r>
            <a:endParaRPr lang="en-US" dirty="0"/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>
                <a:solidFill>
                  <a:srgbClr val="C00000"/>
                </a:solidFill>
              </a:rPr>
              <a:t>X API (Twitter), Reddit API, Meta Graph API, YouTube Data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78B6B-0E67-6B8C-4136-9E2E02FB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DAB4-DB8F-8CD7-91E8-FFC324BF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14FF-185F-C41C-A53D-33539475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304798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Collecting Reddit Posts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83A36D-AA7F-B994-38A1-B32A8E059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436161"/>
            <a:ext cx="7886700" cy="4351338"/>
          </a:xfrm>
        </p:spPr>
        <p:txBody>
          <a:bodyPr/>
          <a:lstStyle/>
          <a:p>
            <a:r>
              <a:rPr lang="en-US" sz="2400" dirty="0"/>
              <a:t>Step 1: Create an APP and get API access token first</a:t>
            </a:r>
          </a:p>
          <a:p>
            <a:pPr lvl="1"/>
            <a:r>
              <a:rPr lang="en-US" sz="2000" dirty="0">
                <a:hlinkClick r:id="rId3"/>
              </a:rPr>
              <a:t>https://www.reddit.com/prefs/apps</a:t>
            </a:r>
            <a:endParaRPr lang="en-US" sz="20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97F4332-0D55-B3F2-FF5A-6350CFCB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AF2252DB-9404-A6BE-C2C8-BA6C7E065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" y="2409649"/>
            <a:ext cx="6911402" cy="316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10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6B456-2505-2C39-B16B-629C93DD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FF81-C0ED-4AD4-08F9-0C91E8801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304798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Collecting Reddit Posts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473BFD-3469-7551-4821-58795B97C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436161"/>
            <a:ext cx="7886700" cy="4351338"/>
          </a:xfrm>
        </p:spPr>
        <p:txBody>
          <a:bodyPr/>
          <a:lstStyle/>
          <a:p>
            <a:r>
              <a:rPr lang="en-US" sz="2400" dirty="0"/>
              <a:t>Step 2: Request a temporary OAuth token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auth = </a:t>
            </a:r>
            <a:r>
              <a:rPr lang="en-US" sz="2000" dirty="0" err="1">
                <a:solidFill>
                  <a:srgbClr val="C00000"/>
                </a:solidFill>
              </a:rPr>
              <a:t>requests.auth.HTTPBasicAuth</a:t>
            </a:r>
            <a:r>
              <a:rPr lang="en-US" sz="2000" dirty="0">
                <a:solidFill>
                  <a:srgbClr val="C00000"/>
                </a:solidFill>
              </a:rPr>
              <a:t>(CLIENT_ID, SECRET_KEY)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438789-00F2-83A4-2449-2CE3ECE9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684C28-D79A-42E5-668C-D1EAA254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40" y="4109566"/>
            <a:ext cx="7772400" cy="217183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D4E9D3-C06D-67F8-4CB9-3B88FF4A3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50" y="2475835"/>
            <a:ext cx="6642100" cy="1143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1851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DB5C-D061-B7F0-A148-D89825AB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10C5-4098-27C9-6887-B8DCBCF8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304798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Collecting Reddit Posts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4B099C-3E66-AF33-580F-C99F50423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436161"/>
            <a:ext cx="7886700" cy="4351338"/>
          </a:xfrm>
        </p:spPr>
        <p:txBody>
          <a:bodyPr/>
          <a:lstStyle/>
          <a:p>
            <a:r>
              <a:rPr lang="en-US" sz="2400" dirty="0"/>
              <a:t>Step 3: Update header with authorized token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Step 4: Read to query data from their server!</a:t>
            </a:r>
          </a:p>
          <a:p>
            <a:pPr lvl="1"/>
            <a:r>
              <a:rPr lang="en-US" sz="2000" dirty="0"/>
              <a:t>API endpoints: </a:t>
            </a:r>
            <a:r>
              <a:rPr lang="en-US" sz="2000" dirty="0">
                <a:hlinkClick r:id="rId3"/>
              </a:rPr>
              <a:t>https://www.reddit.com/dev/api/#section_account</a:t>
            </a:r>
            <a:endParaRPr lang="en-US" sz="2000" dirty="0"/>
          </a:p>
          <a:p>
            <a:pPr lvl="1"/>
            <a:r>
              <a:rPr lang="en-US" sz="2000" dirty="0"/>
              <a:t>Be mindful of rate limit.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5BFDA38-551B-C8D6-4335-3F618E7A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11" name="Picture 10" descr="A close-up of a white box&#10;&#10;AI-generated content may be incorrect.">
            <a:extLst>
              <a:ext uri="{FF2B5EF4-FFF2-40B4-BE49-F238E27FC236}">
                <a16:creationId xmlns:a16="http://schemas.microsoft.com/office/drawing/2014/main" id="{205E83DF-21B7-B0C1-141A-01406A1A9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7" y="1985154"/>
            <a:ext cx="5422900" cy="990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6D3B5EE-210C-7180-2279-E85C717D3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57" y="4382885"/>
            <a:ext cx="7772400" cy="12111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621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Web Scraping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16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Scrap</a:t>
            </a:r>
            <a:r>
              <a:rPr lang="en-US" dirty="0"/>
              <a:t>e/</a:t>
            </a:r>
            <a:r>
              <a:rPr dirty="0"/>
              <a:t>extrac</a:t>
            </a:r>
            <a:r>
              <a:rPr lang="en-US" dirty="0"/>
              <a:t>t</a:t>
            </a:r>
            <a:r>
              <a:rPr dirty="0"/>
              <a:t> data from web pages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>
                <a:solidFill>
                  <a:srgbClr val="C00000"/>
                </a:solidFill>
              </a:rPr>
              <a:t>May violate platform Terms of Service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>
                <a:solidFill>
                  <a:srgbClr val="C00000"/>
                </a:solidFill>
              </a:rPr>
              <a:t>Legal status varies by country and context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Ethical principles:</a:t>
            </a:r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Respect user privacy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Collect only what you need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Do not bypass access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029200"/>
            <a:ext cx="8046720" cy="725214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t>Key point: Public data ≠ ethical to use in all research.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B889C-5453-6A2E-8B7D-D2E79BA7A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99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Data Privacy and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Key principles: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Anonymization of </a:t>
            </a:r>
            <a:r>
              <a:rPr lang="en-US" dirty="0"/>
              <a:t>personally identifiable</a:t>
            </a:r>
            <a:r>
              <a:rPr dirty="0"/>
              <a:t> data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</a:t>
            </a:r>
            <a:r>
              <a:rPr lang="en-US" dirty="0"/>
              <a:t>Obtain i</a:t>
            </a:r>
            <a:r>
              <a:rPr dirty="0"/>
              <a:t>nformed consent when possible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Transparency about data use</a:t>
            </a:r>
            <a:r>
              <a:rPr lang="en-US" dirty="0"/>
              <a:t> in reports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Compliance with institutional </a:t>
            </a:r>
            <a:r>
              <a:rPr dirty="0">
                <a:solidFill>
                  <a:srgbClr val="0078B9"/>
                </a:solidFill>
              </a:rPr>
              <a:t>IRB rules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58A76D-C663-29F4-B7EC-8B593FBE81CD}"/>
              </a:ext>
            </a:extLst>
          </p:cNvPr>
          <p:cNvGrpSpPr/>
          <p:nvPr/>
        </p:nvGrpSpPr>
        <p:grpSpPr>
          <a:xfrm>
            <a:off x="548640" y="4252737"/>
            <a:ext cx="8046720" cy="902587"/>
            <a:chOff x="548640" y="5120640"/>
            <a:chExt cx="8046720" cy="902587"/>
          </a:xfrm>
        </p:grpSpPr>
        <p:sp>
          <p:nvSpPr>
            <p:cNvPr id="4" name="Rectangle 3"/>
            <p:cNvSpPr/>
            <p:nvPr/>
          </p:nvSpPr>
          <p:spPr>
            <a:xfrm>
              <a:off x="548640" y="5120640"/>
              <a:ext cx="8046720" cy="902587"/>
            </a:xfrm>
            <a:prstGeom prst="rect">
              <a:avLst/>
            </a:prstGeom>
            <a:solidFill>
              <a:srgbClr val="FDEC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5662" y="5322440"/>
              <a:ext cx="74980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400" b="1">
                  <a:solidFill>
                    <a:srgbClr val="B03030"/>
                  </a:solidFill>
                  <a:latin typeface="LM Sans"/>
                </a:defRPr>
              </a:pPr>
              <a:r>
                <a:rPr lang="en-US" dirty="0"/>
                <a:t>Q</a:t>
              </a:r>
              <a:r>
                <a:rPr dirty="0"/>
                <a:t> to always ask: Who could be harmed by this research?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D8819-27FA-5762-F0B3-D8762A87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BF812-2CCE-B10B-384A-BAD43AC9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CAB83-087B-2637-9182-193A5DB45B04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Exercise time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47DA45-DF77-5D68-37B4-8696807E538C}"/>
              </a:ext>
            </a:extLst>
          </p:cNvPr>
          <p:cNvGrpSpPr/>
          <p:nvPr/>
        </p:nvGrpSpPr>
        <p:grpSpPr>
          <a:xfrm>
            <a:off x="486647" y="5105146"/>
            <a:ext cx="7772400" cy="1097280"/>
            <a:chOff x="548640" y="5120640"/>
            <a:chExt cx="8046720" cy="10972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2565D61-0E69-F0F5-97C0-15CF283E0C69}"/>
                </a:ext>
              </a:extLst>
            </p:cNvPr>
            <p:cNvSpPr/>
            <p:nvPr/>
          </p:nvSpPr>
          <p:spPr>
            <a:xfrm>
              <a:off x="548640" y="5120640"/>
              <a:ext cx="8046720" cy="1097280"/>
            </a:xfrm>
            <a:prstGeom prst="rect">
              <a:avLst/>
            </a:prstGeom>
            <a:solidFill>
              <a:srgbClr val="FDEC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E1680B-B629-BD38-0B8A-F4ECF6404E4D}"/>
                </a:ext>
              </a:extLst>
            </p:cNvPr>
            <p:cNvSpPr txBox="1"/>
            <p:nvPr/>
          </p:nvSpPr>
          <p:spPr>
            <a:xfrm>
              <a:off x="822960" y="5212080"/>
              <a:ext cx="749807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1">
                  <a:solidFill>
                    <a:srgbClr val="B03030"/>
                  </a:solidFill>
                  <a:latin typeface="LM Sans"/>
                </a:defRPr>
              </a:pPr>
              <a:r>
                <a:rPr lang="en-US" dirty="0"/>
                <a:t>Can </a:t>
              </a:r>
              <a:r>
                <a:rPr lang="en-US" dirty="0" err="1"/>
                <a:t>Altmetric</a:t>
              </a:r>
              <a:r>
                <a:rPr lang="en-US" dirty="0"/>
                <a:t> display Tweet content of each paper?</a:t>
              </a:r>
            </a:p>
            <a:p>
              <a:pPr algn="l">
                <a:defRPr sz="2400" b="1">
                  <a:solidFill>
                    <a:srgbClr val="B03030"/>
                  </a:solidFill>
                  <a:latin typeface="LM Sans"/>
                </a:defRPr>
              </a:pPr>
              <a:r>
                <a:rPr lang="en-US" dirty="0"/>
                <a:t>Can </a:t>
              </a:r>
              <a:r>
                <a:rPr lang="en-US" dirty="0" err="1"/>
                <a:t>Altmetric</a:t>
              </a:r>
              <a:r>
                <a:rPr lang="en-US" dirty="0"/>
                <a:t> share the Tweet content of each paper</a:t>
              </a:r>
              <a:r>
                <a:rPr dirty="0"/>
                <a:t>?</a:t>
              </a:r>
            </a:p>
          </p:txBody>
        </p:sp>
      </p:grpSp>
      <p:pic>
        <p:nvPicPr>
          <p:cNvPr id="8" name="Picture 7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C856BE8-87E0-9A4A-D265-2E2D6E94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41" y="1213569"/>
            <a:ext cx="7772400" cy="372176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39815D-9A43-F8A1-9981-6D6914CF21D4}"/>
              </a:ext>
            </a:extLst>
          </p:cNvPr>
          <p:cNvSpPr txBox="1"/>
          <p:nvPr/>
        </p:nvSpPr>
        <p:spPr>
          <a:xfrm>
            <a:off x="2502976" y="6326410"/>
            <a:ext cx="5556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https://link.altmetric.com/details/60364782/twitter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AF1D96-F471-50E9-FAD1-400C13FE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42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Why Theory Matters in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Theory helps you:</a:t>
            </a:r>
            <a:endParaRPr lang="en-US" dirty="0"/>
          </a:p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Formulate research questions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</a:t>
            </a:r>
            <a:r>
              <a:rPr lang="en-US" dirty="0"/>
              <a:t>Operationalize </a:t>
            </a:r>
            <a:r>
              <a:rPr dirty="0"/>
              <a:t>relevant variables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Interpret relationships</a:t>
            </a:r>
            <a:r>
              <a:rPr lang="en-US" dirty="0"/>
              <a:t> / correlations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Generalize beyond a single dataset</a:t>
            </a:r>
            <a:r>
              <a:rPr lang="en-US" dirty="0"/>
              <a:t> / context</a:t>
            </a:r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Situate your findings with existing literature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91D52E-73AD-BDD2-9C1E-AE1AEF1FB63D}"/>
              </a:ext>
            </a:extLst>
          </p:cNvPr>
          <p:cNvGrpSpPr/>
          <p:nvPr/>
        </p:nvGrpSpPr>
        <p:grpSpPr>
          <a:xfrm>
            <a:off x="113508" y="4685516"/>
            <a:ext cx="7548533" cy="1005840"/>
            <a:chOff x="113508" y="3629218"/>
            <a:chExt cx="7548533" cy="1005840"/>
          </a:xfrm>
        </p:grpSpPr>
        <p:sp>
          <p:nvSpPr>
            <p:cNvPr id="4" name="Rectangle 3"/>
            <p:cNvSpPr/>
            <p:nvPr/>
          </p:nvSpPr>
          <p:spPr>
            <a:xfrm>
              <a:off x="548640" y="3629218"/>
              <a:ext cx="7113401" cy="64008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3508" y="3720658"/>
              <a:ext cx="749807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400" b="1">
                  <a:solidFill>
                    <a:srgbClr val="4C72B0"/>
                  </a:solidFill>
                  <a:latin typeface="LM Sans"/>
                </a:defRPr>
              </a:pPr>
              <a:r>
                <a:rPr dirty="0"/>
                <a:t>Analogy: Theory is the map; data is the terrain.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493B7-97A4-D7E3-7E21-BCC42C3D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Overview of </a:t>
            </a:r>
            <a:r>
              <a:rPr lang="en-US" dirty="0"/>
              <a:t>SM-related</a:t>
            </a:r>
            <a:r>
              <a:rPr dirty="0"/>
              <a:t> Theories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Social Identity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2588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Group membership </a:t>
            </a:r>
            <a:r>
              <a:rPr lang="en-US" dirty="0"/>
              <a:t>&amp;</a:t>
            </a:r>
            <a:r>
              <a:rPr dirty="0"/>
              <a:t> intergroup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Homophily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57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t>Similarity breeds connection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Confirmation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8892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Seeking information that confirms beliefs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Social Reinforcement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2043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Feedback loops strengthen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96773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242493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Collective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42493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t>Coordinated action toward shared goals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28293"/>
            <a:ext cx="8046720" cy="6400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974013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M Sans"/>
              </a:defRPr>
            </a:pPr>
            <a:r>
              <a:t>Structural Holes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974013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t>Brokerage between disconnected groups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FFF7886-30F7-90F5-7ED4-BADB2DDA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C72B0"/>
                </a:solidFill>
                <a:latin typeface="LM Sans"/>
              </a:defRPr>
            </a:pPr>
            <a:r>
              <a:t>Social Identity 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4941" y="1109890"/>
            <a:ext cx="79269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Definition: People derive part of their self-concept from membership in social groups. They favor in-groups and discriminate against out-groups, leading to polarized attitudes and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 Concepts: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Social categorization: </a:t>
            </a:r>
            <a:r>
              <a:rPr lang="en-US" dirty="0"/>
              <a:t>"</a:t>
            </a:r>
            <a:r>
              <a:rPr dirty="0"/>
              <a:t>us</a:t>
            </a:r>
            <a:r>
              <a:rPr lang="en-US" dirty="0"/>
              <a:t>"</a:t>
            </a:r>
            <a:r>
              <a:rPr dirty="0"/>
              <a:t> vs. </a:t>
            </a:r>
            <a:r>
              <a:rPr lang="en-US" dirty="0"/>
              <a:t>"</a:t>
            </a:r>
            <a:r>
              <a:rPr dirty="0"/>
              <a:t>them</a:t>
            </a:r>
            <a:r>
              <a:rPr lang="en-US" dirty="0"/>
              <a:t>"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In-group favoritism: positive bias toward own group</a:t>
            </a:r>
          </a:p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Out-group </a:t>
            </a:r>
            <a:r>
              <a:rPr lang="en-US" dirty="0"/>
              <a:t>hostility</a:t>
            </a:r>
            <a:r>
              <a:rPr dirty="0"/>
              <a:t>: negative bias toward other groups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SMA Application: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Analyzing political polarization and echo chambers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Studying hashtag activism and online</a:t>
            </a:r>
            <a:r>
              <a:rPr lang="en-US" dirty="0"/>
              <a:t> social movements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Explaining hostile interactions between fan communities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8F3AC-6BC7-0881-F8BC-E059C1BF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C72B0"/>
                </a:solidFill>
                <a:latin typeface="LM Sans"/>
              </a:defRPr>
            </a:pPr>
            <a:r>
              <a:t>Homophily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0709" y="1141422"/>
            <a:ext cx="80246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Definition: The tendency for individuals to connect and interact with others who are similar to them in attributes such as demographics, interests, or opinions</a:t>
            </a:r>
            <a:r>
              <a:rPr lang="en-US" dirty="0"/>
              <a:t>. It can l</a:t>
            </a:r>
            <a:r>
              <a:rPr dirty="0"/>
              <a:t>ead</a:t>
            </a:r>
            <a:r>
              <a:rPr lang="en-US" dirty="0"/>
              <a:t> </a:t>
            </a:r>
            <a:r>
              <a:rPr dirty="0"/>
              <a:t>to homogeneous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 Concepts: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Similarity on visible traits (race, gender, age)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Similarity on invisible traits (values, attitudes, beliefs)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Leads to echo chambers and filter bubbles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SMA Application: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Measuring network homogeneity using user </a:t>
            </a:r>
            <a:r>
              <a:rPr lang="en-US" dirty="0"/>
              <a:t>attributes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Explaining why </a:t>
            </a:r>
            <a:r>
              <a:rPr lang="en-US" dirty="0"/>
              <a:t>fake news</a:t>
            </a:r>
            <a:r>
              <a:rPr dirty="0"/>
              <a:t> stay</a:t>
            </a:r>
            <a:r>
              <a:rPr lang="en-US" dirty="0"/>
              <a:t> </a:t>
            </a:r>
            <a:r>
              <a:rPr dirty="0"/>
              <a:t>within like-minded clusters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Identifying communities around shared interests or identities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EBBF7-71A3-4358-DFC4-36BA2F2A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C72B0"/>
                </a:solidFill>
                <a:latin typeface="LM Sans"/>
              </a:defRPr>
            </a:pPr>
            <a:r>
              <a:t>Confirmation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6472" y="1141422"/>
            <a:ext cx="78796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Definition: The cognitive tendency to search for, interpret, favor, and recall information that confirms one's pre-existing beliefs, while giving </a:t>
            </a:r>
            <a:r>
              <a:rPr lang="en-US" dirty="0"/>
              <a:t>much </a:t>
            </a:r>
            <a:r>
              <a:rPr dirty="0"/>
              <a:t>less attention to contradictory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64284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 Concepts: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Selective exposure: </a:t>
            </a:r>
            <a:r>
              <a:rPr lang="en-US" dirty="0"/>
              <a:t>pick</a:t>
            </a:r>
            <a:r>
              <a:rPr dirty="0"/>
              <a:t> </a:t>
            </a:r>
            <a:r>
              <a:rPr lang="en-US" dirty="0"/>
              <a:t>content</a:t>
            </a:r>
            <a:r>
              <a:rPr dirty="0"/>
              <a:t> that aligns with existing views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Biased interpretation: seeing ambiguous info</a:t>
            </a:r>
            <a:r>
              <a:rPr lang="en-US" dirty="0"/>
              <a:t>.</a:t>
            </a:r>
            <a:r>
              <a:rPr dirty="0"/>
              <a:t> as supportive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Memory bias: better recall of confirmatory evidence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SMA Application: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Explaining echo chambers and filter bubbles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Understanding resistance to fact-checking and corrections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</a:t>
            </a:r>
            <a:r>
              <a:rPr lang="en-US" dirty="0"/>
              <a:t>Fake news </a:t>
            </a:r>
            <a:r>
              <a:rPr dirty="0"/>
              <a:t>spread within ideologically homogeneous networks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447D-4A76-24EF-8B84-088C57E5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C72B0"/>
                </a:solidFill>
                <a:latin typeface="LM Sans"/>
              </a:defRPr>
            </a:pPr>
            <a:r>
              <a:t>Social Reinforcement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4942" y="1094124"/>
            <a:ext cx="78323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Definition: The process by which </a:t>
            </a:r>
            <a:r>
              <a:rPr lang="en-US" dirty="0"/>
              <a:t>user </a:t>
            </a:r>
            <a:r>
              <a:rPr dirty="0"/>
              <a:t>behaviors, attitudes, or beliefs are strengthened through positive social feedback (likes, shares) or through repeated exposure within one's network.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 Concepts: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Operant conditioning: rewards increase behavior frequency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Social validation: others' approval legitimizes one's views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Feedback loop: engagement encourage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similar</a:t>
            </a:r>
            <a:r>
              <a:rPr dirty="0"/>
              <a:t> content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SMA Application: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Analyzing why certain posting styles or topics persist</a:t>
            </a:r>
            <a:r>
              <a:rPr lang="en-US" dirty="0"/>
              <a:t> / recur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Modeling </a:t>
            </a:r>
            <a:r>
              <a:rPr lang="en-US" dirty="0"/>
              <a:t>complex contagion </a:t>
            </a:r>
            <a:r>
              <a:rPr dirty="0"/>
              <a:t>as a reinforcement process</a:t>
            </a:r>
            <a:endParaRPr lang="en-US" dirty="0"/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Understanding diffusion pathways in online communities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590B8-A817-39CD-3182-79C0346D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C72B0"/>
                </a:solidFill>
                <a:latin typeface="LM Sans"/>
              </a:defRPr>
            </a:pPr>
            <a:r>
              <a:t>Social Capital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968003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0709" y="1204486"/>
            <a:ext cx="7498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Definition: The resources—information, support, trust—embedded in social networks that individuals can access through their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42752"/>
            <a:ext cx="8046720" cy="385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 Concepts: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Bonding capital: emotional support, close-knit groups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Bridging capital: diverse information, weak ties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Reciprocity and trust as foundations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SMA Application: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Measuring the value of online communities for members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Analyzing how social media builds or erodes social capital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Comparing platforms: </a:t>
            </a:r>
            <a:endParaRPr lang="en-US"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        </a:t>
            </a:r>
            <a:r>
              <a:rPr dirty="0"/>
              <a:t>Facebook may build bonding; LinkedIn builds bridging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D24E2-B108-2F2A-EF71-8583F778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C72B0"/>
                </a:solidFill>
                <a:latin typeface="LM Sans"/>
              </a:defRPr>
            </a:pPr>
            <a:r>
              <a:t>Collective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79"/>
            <a:ext cx="8046720" cy="1383347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6470" y="1157188"/>
            <a:ext cx="78480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Definition: Coordinated action by individuals to achieve a shared goal or express a collective identity. In digital contexts, co</a:t>
            </a:r>
            <a:r>
              <a:rPr lang="en-US" dirty="0"/>
              <a:t>llective</a:t>
            </a:r>
            <a:r>
              <a:rPr dirty="0"/>
              <a:t> action</a:t>
            </a:r>
            <a:r>
              <a:rPr lang="en-US" dirty="0"/>
              <a:t>s</a:t>
            </a:r>
            <a:r>
              <a:rPr dirty="0"/>
              <a:t> emerge</a:t>
            </a:r>
            <a:r>
              <a:rPr lang="en-US" dirty="0"/>
              <a:t> </a:t>
            </a:r>
            <a:r>
              <a:rPr dirty="0"/>
              <a:t>through personalized, loosely coordinated participation (e.g., hashtags, memes) without formal organizational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80467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 Concepts: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Shared </a:t>
            </a:r>
            <a:r>
              <a:rPr lang="en-US" dirty="0"/>
              <a:t>identity</a:t>
            </a:r>
            <a:r>
              <a:rPr dirty="0"/>
              <a:t> or goals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Mobilization through hashtags and viral content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</a:t>
            </a:r>
            <a:r>
              <a:rPr lang="en-US" dirty="0"/>
              <a:t>Mass </a:t>
            </a:r>
            <a:r>
              <a:rPr dirty="0"/>
              <a:t>action: low-barrier, individualized participation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SMA Application: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Studying </a:t>
            </a:r>
            <a:r>
              <a:rPr lang="en-US" dirty="0"/>
              <a:t>OSM</a:t>
            </a:r>
            <a:r>
              <a:rPr dirty="0"/>
              <a:t> like #MeToo, #BlackLivesMatter, climate strikes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Tracking participation dynamics via hashtag</a:t>
            </a:r>
            <a:r>
              <a:rPr lang="en-US" dirty="0"/>
              <a:t> </a:t>
            </a:r>
            <a:r>
              <a:rPr dirty="0"/>
              <a:t>retweet networks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Analyzing how online action translates to offline protest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3FC9F-3A88-686D-764E-9B4E4EA4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Structural Holes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4943" y="1125656"/>
            <a:ext cx="8321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Definition: A structural hole is a gap between two clusters in a network. Individuals wh</a:t>
            </a:r>
            <a:r>
              <a:rPr lang="en-US" dirty="0"/>
              <a:t>ose position</a:t>
            </a:r>
            <a:r>
              <a:rPr dirty="0"/>
              <a:t> bridge these holes—called brokers—</a:t>
            </a:r>
            <a:r>
              <a:rPr lang="en-US" dirty="0"/>
              <a:t>can </a:t>
            </a:r>
            <a:r>
              <a:rPr dirty="0"/>
              <a:t>gain access to diverse information, control its flow, and act as intermediaries.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1582"/>
            <a:ext cx="8469236" cy="301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Key Concepts: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Broker: occupy</a:t>
            </a:r>
            <a:r>
              <a:rPr lang="en-US" dirty="0"/>
              <a:t> </a:t>
            </a:r>
            <a:r>
              <a:rPr dirty="0"/>
              <a:t>a position betw</a:t>
            </a:r>
            <a:r>
              <a:rPr lang="en-US" dirty="0"/>
              <a:t>een </a:t>
            </a:r>
            <a:r>
              <a:rPr dirty="0"/>
              <a:t>otherwise </a:t>
            </a:r>
            <a:r>
              <a:rPr lang="en-US" dirty="0"/>
              <a:t>isolated </a:t>
            </a:r>
            <a:r>
              <a:rPr dirty="0"/>
              <a:t>groups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Info</a:t>
            </a:r>
            <a:r>
              <a:rPr lang="en-US" dirty="0"/>
              <a:t>rmation </a:t>
            </a:r>
            <a:r>
              <a:rPr dirty="0"/>
              <a:t>benefits: access to </a:t>
            </a:r>
            <a:r>
              <a:rPr lang="en-US" dirty="0"/>
              <a:t>diverse </a:t>
            </a:r>
            <a:r>
              <a:rPr dirty="0"/>
              <a:t>resources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Control benefits: ability to filter, distort, or withhold info</a:t>
            </a:r>
            <a:r>
              <a:rPr lang="en-US" dirty="0"/>
              <a:t>rmation</a:t>
            </a:r>
            <a:endParaRPr dirty="0"/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SMA Application: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Identifying influencers who connect different communities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Measuring a user's bridging capital in retweet networks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53201-70D7-89DE-36D6-14D7CE0B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3E2F-F051-3F28-0E8F-828525E3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74" y="257411"/>
            <a:ext cx="8347641" cy="1325563"/>
          </a:xfrm>
        </p:spPr>
        <p:txBody>
          <a:bodyPr/>
          <a:lstStyle/>
          <a:p>
            <a:pPr>
              <a:defRPr sz="4400" b="1">
                <a:solidFill>
                  <a:srgbClr val="4C72B0"/>
                </a:solidFill>
                <a:latin typeface="LM Sans"/>
              </a:defRPr>
            </a:pPr>
            <a:r>
              <a:rPr lang="en-US" b="1" dirty="0">
                <a:solidFill>
                  <a:srgbClr val="4C72B0"/>
                </a:solidFill>
                <a:latin typeface="LM Sans"/>
                <a:ea typeface="+mn-ea"/>
                <a:cs typeface="+mn-cs"/>
              </a:rPr>
              <a:t>Strength of Weak 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8953-92E4-6A14-367D-6FAA791A4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15443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The idea that people often land jobs via weak connections.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C00000"/>
                </a:solidFill>
              </a:rPr>
              <a:t>One of the most (missed) influential ideas in social science.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04DC1-5A7E-DBC6-7284-C6C76E16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60" y="2509008"/>
            <a:ext cx="4023058" cy="256967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0AA0E9-E1FE-B845-8F89-4C9F19D511D5}"/>
              </a:ext>
            </a:extLst>
          </p:cNvPr>
          <p:cNvSpPr txBox="1"/>
          <p:nvPr/>
        </p:nvSpPr>
        <p:spPr>
          <a:xfrm>
            <a:off x="1072381" y="5818443"/>
            <a:ext cx="49711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https://www.jstor.org/stable/2776392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https://www.youtube.com/watch?v=g3bBajcR5fE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53B0D-405A-47AC-3D42-D260F89B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DCFA791-3060-7643-8677-86D470F57523}" type="slidenum">
              <a:rPr lang="en-US" smtClean="0"/>
              <a:t>39</a:t>
            </a:fld>
            <a:endParaRPr lang="en-US" dirty="0"/>
          </a:p>
        </p:txBody>
      </p:sp>
      <p:pic>
        <p:nvPicPr>
          <p:cNvPr id="7" name="Picture 6" descr="A diagram of a structure&#10;&#10;AI-generated content may be incorrect.">
            <a:extLst>
              <a:ext uri="{FF2B5EF4-FFF2-40B4-BE49-F238E27FC236}">
                <a16:creationId xmlns:a16="http://schemas.microsoft.com/office/drawing/2014/main" id="{89C08A3E-1A76-80D9-E5BF-6881E36E6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00" y="2357719"/>
            <a:ext cx="3360440" cy="28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67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610" y="1546311"/>
            <a:ext cx="3851632" cy="49020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140" y="365126"/>
            <a:ext cx="8855242" cy="1325563"/>
          </a:xfrm>
        </p:spPr>
        <p:txBody>
          <a:bodyPr/>
          <a:lstStyle/>
          <a:p>
            <a:r>
              <a:rPr lang="en-US" altLang="zh-CN" dirty="0"/>
              <a:t>E</a:t>
            </a:r>
            <a:r>
              <a:rPr lang="en-US" dirty="0"/>
              <a:t>vidence on Facebook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00" y="1690689"/>
            <a:ext cx="4593214" cy="1675172"/>
          </a:xfrm>
          <a:prstGeom prst="rect">
            <a:avLst/>
          </a:prstGeom>
          <a:ln w="25400"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03" y="3543616"/>
            <a:ext cx="3026011" cy="3054885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538A591-EDF6-CC11-435C-46C20D49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DCFA791-3060-7643-8677-86D470F57523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87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Integrating Theories with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3167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LM Sans"/>
              </a:defRPr>
            </a:pPr>
            <a:r>
              <a:t>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3167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LM Sans"/>
              </a:defRPr>
            </a:pPr>
            <a:r>
              <a:t>Key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13167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LM Sans"/>
              </a:defRPr>
            </a:pPr>
            <a:r>
              <a:t>Measurable Social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Social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7739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Group identity, in-group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77393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Hashtag communities, language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225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Homophily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225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Similarity, network homogeneity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322576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User bios</a:t>
            </a:r>
            <a:r>
              <a:rPr lang="en-US" dirty="0"/>
              <a:t> similarity</a:t>
            </a:r>
            <a:r>
              <a:rPr dirty="0"/>
              <a:t>, follower overlap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Confirmation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87121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Selective exposure, biased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87121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Sharing patterns, engagement with fact-checks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198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Social Reinforcement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4198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Feedback loops, 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41985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Likes, comments, posting frequency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171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Collective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5171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t>Shared goals, mobilization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517136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Hashtag growth, retweet cascades</a:t>
            </a:r>
            <a:r>
              <a:rPr lang="en-US" dirty="0"/>
              <a:t>, OSM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594360" y="3950535"/>
            <a:ext cx="8046720" cy="5486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F0AE1899-8F1F-175F-61DE-0227148B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41</a:t>
            </a:fld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1908CB-AEE2-55A5-BBF1-0F1566F9B6C8}"/>
              </a:ext>
            </a:extLst>
          </p:cNvPr>
          <p:cNvSpPr txBox="1"/>
          <p:nvPr/>
        </p:nvSpPr>
        <p:spPr>
          <a:xfrm>
            <a:off x="594360" y="39684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Structural Holes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4AB421-4E39-E55F-8B87-E112A2C71EF7}"/>
              </a:ext>
            </a:extLst>
          </p:cNvPr>
          <p:cNvSpPr txBox="1"/>
          <p:nvPr/>
        </p:nvSpPr>
        <p:spPr>
          <a:xfrm>
            <a:off x="2423160" y="39684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Brokerage, information control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91D865-7044-471E-0937-279DFBE43A10}"/>
              </a:ext>
            </a:extLst>
          </p:cNvPr>
          <p:cNvSpPr txBox="1"/>
          <p:nvPr/>
        </p:nvSpPr>
        <p:spPr>
          <a:xfrm>
            <a:off x="4983480" y="396849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Betweenness centrality, cross-community connections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Example — Applying</a:t>
            </a:r>
            <a:r>
              <a:rPr lang="en-US" dirty="0"/>
              <a:t> Theories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LM Sans"/>
              </a:defRPr>
            </a:pPr>
            <a:r>
              <a:rPr dirty="0"/>
              <a:t>Scenario: A health hashtag campaign goes viral </a:t>
            </a:r>
            <a:r>
              <a:rPr lang="en-US" dirty="0"/>
              <a:t>on</a:t>
            </a:r>
            <a:r>
              <a:rPr dirty="0"/>
              <a:t> </a:t>
            </a:r>
            <a:r>
              <a:rPr lang="en-US" dirty="0"/>
              <a:t>Twitter </a:t>
            </a:r>
            <a:r>
              <a:rPr dirty="0"/>
              <a:t>communit</a:t>
            </a:r>
            <a:r>
              <a:rPr lang="en-US" dirty="0"/>
              <a:t>ies.</a:t>
            </a:r>
          </a:p>
          <a:p>
            <a:pPr>
              <a:defRPr sz="2000" b="1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(</a:t>
            </a:r>
            <a:r>
              <a:rPr lang="en-US" i="1" dirty="0"/>
              <a:t>#</a:t>
            </a:r>
            <a:r>
              <a:rPr lang="en-US" sz="2000" i="1" dirty="0" err="1"/>
              <a:t>IceBucketChallenge</a:t>
            </a:r>
            <a:r>
              <a:rPr lang="en-US" sz="2000" b="1" i="1" dirty="0"/>
              <a:t>, </a:t>
            </a:r>
            <a:r>
              <a:rPr lang="en-US" sz="2000" i="1" dirty="0"/>
              <a:t>#</a:t>
            </a:r>
            <a:r>
              <a:rPr lang="en-US" sz="2000" b="1" i="1" dirty="0"/>
              <a:t>A4waist, etc.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Theories applied: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sz="2000" dirty="0"/>
              <a:t>• </a:t>
            </a:r>
            <a:r>
              <a:rPr sz="2000" b="1" dirty="0"/>
              <a:t>Homophily</a:t>
            </a:r>
            <a:r>
              <a:rPr sz="2000" dirty="0"/>
              <a:t>: The hashtag spreads </a:t>
            </a:r>
            <a:r>
              <a:rPr lang="en-US" sz="2000" dirty="0"/>
              <a:t>first </a:t>
            </a:r>
            <a:r>
              <a:rPr sz="2000" dirty="0"/>
              <a:t>within ideologically similar clusters.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sz="2000" dirty="0"/>
              <a:t>• </a:t>
            </a:r>
            <a:r>
              <a:rPr sz="2000" b="1" dirty="0"/>
              <a:t>Confirmation Bias</a:t>
            </a:r>
            <a:r>
              <a:rPr sz="2000" dirty="0"/>
              <a:t>: </a:t>
            </a:r>
            <a:r>
              <a:rPr lang="en-US" sz="2000" dirty="0"/>
              <a:t>Early adopters quickly </a:t>
            </a:r>
            <a:r>
              <a:rPr sz="2000" dirty="0"/>
              <a:t>share the information that fits their existing health beliefs</a:t>
            </a:r>
            <a:r>
              <a:rPr lang="en-US" sz="2000" dirty="0"/>
              <a:t> / habits</a:t>
            </a:r>
            <a:r>
              <a:rPr sz="2000" dirty="0"/>
              <a:t>.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sz="2000" dirty="0"/>
              <a:t>• </a:t>
            </a:r>
            <a:r>
              <a:rPr sz="2000" b="1" dirty="0"/>
              <a:t>Social Reinforcement</a:t>
            </a:r>
            <a:r>
              <a:rPr sz="2000" dirty="0"/>
              <a:t>: </a:t>
            </a:r>
            <a:r>
              <a:rPr lang="en-US" sz="2000" dirty="0"/>
              <a:t>Reluctant users who are exposed to multiple such p</a:t>
            </a:r>
            <a:r>
              <a:rPr sz="2000" dirty="0"/>
              <a:t>osts </a:t>
            </a:r>
            <a:r>
              <a:rPr lang="en-US" sz="2000" dirty="0"/>
              <a:t>will </a:t>
            </a:r>
            <a:r>
              <a:rPr sz="2000" dirty="0"/>
              <a:t>further post</a:t>
            </a:r>
            <a:r>
              <a:rPr lang="en-US" sz="2000" dirty="0"/>
              <a:t> </a:t>
            </a:r>
            <a:r>
              <a:rPr sz="2000" dirty="0"/>
              <a:t>similar content.</a:t>
            </a:r>
            <a:r>
              <a:rPr lang="en-US" sz="2000" dirty="0"/>
              <a:t> Starting a chain reaction.</a:t>
            </a:r>
            <a:endParaRPr sz="2000"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sz="2000" dirty="0"/>
              <a:t>• </a:t>
            </a:r>
            <a:r>
              <a:rPr sz="2000" b="1" dirty="0"/>
              <a:t>Structural Holes</a:t>
            </a:r>
            <a:r>
              <a:rPr sz="2000" dirty="0"/>
              <a:t>: A few brokers share the </a:t>
            </a:r>
            <a:r>
              <a:rPr lang="en-US" sz="2000" dirty="0"/>
              <a:t>same </a:t>
            </a:r>
            <a:r>
              <a:rPr sz="2000" dirty="0"/>
              <a:t>hashtag across </a:t>
            </a:r>
            <a:r>
              <a:rPr lang="en-US" sz="2000" dirty="0"/>
              <a:t>different communities</a:t>
            </a:r>
            <a:r>
              <a:rPr sz="2000" dirty="0"/>
              <a:t>, expanding its reach.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sz="2000" dirty="0"/>
              <a:t>• </a:t>
            </a:r>
            <a:r>
              <a:rPr sz="2000" b="1" dirty="0"/>
              <a:t>Collective Action</a:t>
            </a:r>
            <a:r>
              <a:rPr sz="2000" dirty="0"/>
              <a:t>: The hashtag </a:t>
            </a:r>
            <a:r>
              <a:rPr lang="en-US" sz="2000" dirty="0"/>
              <a:t>eventually </a:t>
            </a:r>
            <a:r>
              <a:rPr sz="2000" dirty="0"/>
              <a:t>evolves into a coordinated push for </a:t>
            </a:r>
            <a:r>
              <a:rPr lang="en-US" sz="2000" dirty="0"/>
              <a:t>cultural / lifestyle </a:t>
            </a:r>
            <a:r>
              <a:rPr sz="2000" dirty="0"/>
              <a:t>change</a:t>
            </a:r>
            <a:r>
              <a:rPr lang="en-US" sz="2000" dirty="0"/>
              <a:t>, possibly via wide news coverage to the public.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5423336"/>
            <a:ext cx="8406174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LM Sans"/>
              </a:defRPr>
            </a:pPr>
            <a:r>
              <a:rPr sz="2400" b="1" dirty="0">
                <a:solidFill>
                  <a:srgbClr val="4C72B0"/>
                </a:solidFill>
                <a:latin typeface="LM Sans"/>
              </a:rPr>
              <a:t>Data used:</a:t>
            </a:r>
            <a:endParaRPr lang="en-US" sz="2400" b="1" dirty="0">
              <a:solidFill>
                <a:srgbClr val="4C72B0"/>
              </a:solidFill>
              <a:latin typeface="LM Sans"/>
            </a:endParaRP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  <a:latin typeface="LM Sans"/>
              </a:defRPr>
            </a:pPr>
            <a:r>
              <a:rPr sz="2000" dirty="0"/>
              <a:t>user bios, engagement timestamps</a:t>
            </a:r>
            <a:r>
              <a:rPr lang="en-US" sz="2000" dirty="0"/>
              <a:t>, retweet network, hashtag co-occurrence</a:t>
            </a:r>
            <a:endParaRPr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9F8AF-F630-E4A3-39BE-49611FA2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In-Class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M Sans"/>
              </a:defRPr>
            </a:pPr>
            <a:r>
              <a:t>Small group task: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1.  Pick a social media phenomenon: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Viral TikTok </a:t>
            </a:r>
            <a:r>
              <a:rPr lang="en-US" dirty="0"/>
              <a:t>video (#</a:t>
            </a:r>
            <a:r>
              <a:rPr lang="en-US" dirty="0" err="1"/>
              <a:t>cybercab</a:t>
            </a:r>
            <a:r>
              <a:rPr lang="en-US" dirty="0"/>
              <a:t>)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Brand backlash</a:t>
            </a:r>
            <a:r>
              <a:rPr lang="en-US" dirty="0"/>
              <a:t> on </a:t>
            </a:r>
            <a:r>
              <a:rPr lang="en-US" dirty="0" err="1"/>
              <a:t>RedNote</a:t>
            </a:r>
            <a:endParaRPr dirty="0"/>
          </a:p>
          <a:p>
            <a:pPr algn="l">
              <a:spcAft>
                <a:spcPts val="8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Political hashtag campaign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2.  Choose two</a:t>
            </a:r>
            <a:r>
              <a:rPr lang="en-US" dirty="0"/>
              <a:t> related</a:t>
            </a:r>
            <a:r>
              <a:rPr dirty="0"/>
              <a:t> theories from today's list</a:t>
            </a:r>
            <a:endParaRPr lang="en-US" dirty="0"/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3.  List three data types you would collect</a:t>
            </a:r>
            <a:r>
              <a:rPr lang="en-US" dirty="0"/>
              <a:t> to study it</a:t>
            </a:r>
            <a:endParaRPr dirty="0"/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4.  Identify one bias in that data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M Sans"/>
              </a:defRPr>
            </a:pPr>
            <a:r>
              <a:rPr dirty="0"/>
              <a:t>Be ready to share in </a:t>
            </a:r>
            <a:r>
              <a:rPr lang="en-US" dirty="0"/>
              <a:t>5</a:t>
            </a:r>
            <a:r>
              <a:rPr dirty="0"/>
              <a:t> minutes.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3D985-EE72-8354-39A4-A256B0EF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88720"/>
            <a:ext cx="8421939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 Social media data are diverse, messy, and biased</a:t>
            </a:r>
          </a:p>
          <a:p>
            <a:pPr>
              <a:spcAft>
                <a:spcPts val="2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 </a:t>
            </a:r>
            <a:r>
              <a:rPr dirty="0"/>
              <a:t>Data collection requires technical, legal, and ethical care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u="sng" dirty="0"/>
              <a:t>Se</a:t>
            </a:r>
            <a:r>
              <a:rPr lang="en-US" u="sng" dirty="0"/>
              <a:t>veral </a:t>
            </a:r>
            <a:r>
              <a:rPr u="sng" dirty="0"/>
              <a:t>core theories</a:t>
            </a:r>
            <a:r>
              <a:rPr dirty="0"/>
              <a:t> provide lenses to turn data into insight:</a:t>
            </a:r>
          </a:p>
          <a:p>
            <a:pPr algn="l">
              <a:spcAft>
                <a:spcPts val="3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Social Identity Theory</a:t>
            </a:r>
          </a:p>
          <a:p>
            <a:pPr algn="l">
              <a:spcAft>
                <a:spcPts val="3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Homophily</a:t>
            </a:r>
          </a:p>
          <a:p>
            <a:pPr algn="l">
              <a:spcAft>
                <a:spcPts val="3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Confirmation Bias</a:t>
            </a:r>
          </a:p>
          <a:p>
            <a:pPr algn="l">
              <a:spcAft>
                <a:spcPts val="3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Social Reinforcement</a:t>
            </a:r>
          </a:p>
          <a:p>
            <a:pPr algn="l">
              <a:spcAft>
                <a:spcPts val="3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Collective Action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4C72B0"/>
                </a:solidFill>
                <a:latin typeface="LM Sans"/>
              </a:defRPr>
            </a:pPr>
            <a:r>
              <a:rPr dirty="0"/>
              <a:t>• Structural Holes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/>
              <a:t>Strong analytics = theory + data + critical thinking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1A1A2E"/>
                </a:solidFill>
                <a:latin typeface="LM Sans"/>
              </a:defRPr>
            </a:pPr>
            <a:r>
              <a:rPr dirty="0">
                <a:solidFill>
                  <a:srgbClr val="C00000"/>
                </a:solidFill>
              </a:rPr>
              <a:t>Always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dirty="0">
                <a:solidFill>
                  <a:srgbClr val="C00000"/>
                </a:solidFill>
              </a:rPr>
              <a:t>sk: What is missing? What does a metric really mean?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9A92E-F9FF-C08D-4833-AB434610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Discussion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2155" y="1627001"/>
            <a:ext cx="8753015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• </a:t>
            </a:r>
            <a:r>
              <a:rPr dirty="0"/>
              <a:t>Which theory explains why people join online </a:t>
            </a:r>
            <a:r>
              <a:rPr lang="en-US" dirty="0"/>
              <a:t>social </a:t>
            </a:r>
            <a:r>
              <a:rPr dirty="0"/>
              <a:t>movements?</a:t>
            </a:r>
          </a:p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</a:t>
            </a:r>
            <a:r>
              <a:rPr u="sng" dirty="0"/>
              <a:t>How can </a:t>
            </a:r>
            <a:r>
              <a:rPr lang="en-US" u="sng" dirty="0"/>
              <a:t>social reinforcement</a:t>
            </a:r>
            <a:r>
              <a:rPr u="sng" dirty="0"/>
              <a:t> be measured </a:t>
            </a:r>
            <a:r>
              <a:rPr lang="en-US" u="sng" dirty="0"/>
              <a:t>in diffusion</a:t>
            </a:r>
            <a:r>
              <a:rPr u="sng" dirty="0"/>
              <a:t> data?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What is the difference betw</a:t>
            </a:r>
            <a:r>
              <a:rPr lang="en-US" dirty="0"/>
              <a:t>een </a:t>
            </a:r>
            <a:r>
              <a:rPr dirty="0"/>
              <a:t>structural holes</a:t>
            </a:r>
            <a:r>
              <a:rPr lang="en-US" dirty="0"/>
              <a:t> and weak ties</a:t>
            </a:r>
            <a:r>
              <a:rPr dirty="0"/>
              <a:t>?</a:t>
            </a:r>
          </a:p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How might </a:t>
            </a:r>
            <a:r>
              <a:rPr lang="en-US" dirty="0"/>
              <a:t>confirmation bias help the</a:t>
            </a:r>
            <a:r>
              <a:rPr dirty="0"/>
              <a:t> spread of</a:t>
            </a:r>
            <a:r>
              <a:rPr lang="en-US" dirty="0"/>
              <a:t> fake news</a:t>
            </a:r>
            <a:r>
              <a:rPr dirty="0"/>
              <a:t>?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dirty="0"/>
              <a:t>• Which theories would you use to study brand loyalty on</a:t>
            </a:r>
            <a:r>
              <a:rPr lang="en-US" dirty="0"/>
              <a:t> IG</a:t>
            </a:r>
            <a:r>
              <a:rPr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A1D9F-BE63-BAC6-F443-1ADC1A7B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EAAC-882F-9827-5A75-9B4BEBA0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E17E8-4396-EB0C-5DCB-255C1B4021AC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M Sans"/>
              </a:defRPr>
            </a:pPr>
            <a:r>
              <a:rPr lang="en-US" dirty="0"/>
              <a:t>Course note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9D286-F7A2-8A89-E3BC-BBA8B925F06E}"/>
              </a:ext>
            </a:extLst>
          </p:cNvPr>
          <p:cNvSpPr txBox="1"/>
          <p:nvPr/>
        </p:nvSpPr>
        <p:spPr>
          <a:xfrm>
            <a:off x="548640" y="1280160"/>
            <a:ext cx="8046720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213" indent="-176213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sz="2800" dirty="0"/>
              <a:t>Find your home group on Canvas</a:t>
            </a:r>
          </a:p>
          <a:p>
            <a:pPr marL="633413" lvl="1" indent="-176213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You may be randomly assigned to a team.</a:t>
            </a:r>
          </a:p>
          <a:p>
            <a:pPr marL="633413" lvl="1" indent="-176213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M Sans"/>
              </a:defRPr>
            </a:pPr>
            <a:r>
              <a:rPr lang="en-US" dirty="0">
                <a:solidFill>
                  <a:srgbClr val="C00000"/>
                </a:solidFill>
              </a:rPr>
              <a:t>Talk to your teammates as early as you can.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B9A7A1-5B88-36EC-34CA-FAFDEB233C46}"/>
              </a:ext>
            </a:extLst>
          </p:cNvPr>
          <p:cNvGrpSpPr/>
          <p:nvPr/>
        </p:nvGrpSpPr>
        <p:grpSpPr>
          <a:xfrm>
            <a:off x="548640" y="3177640"/>
            <a:ext cx="8185576" cy="1661100"/>
            <a:chOff x="548640" y="5070941"/>
            <a:chExt cx="8185576" cy="16611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E17A49-1D81-37CD-476B-58A386988860}"/>
                </a:ext>
              </a:extLst>
            </p:cNvPr>
            <p:cNvSpPr/>
            <p:nvPr/>
          </p:nvSpPr>
          <p:spPr>
            <a:xfrm>
              <a:off x="548640" y="5070941"/>
              <a:ext cx="8046720" cy="109728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D83F3CB-8BF8-9ECC-119B-55A561FDE7D5}"/>
                </a:ext>
              </a:extLst>
            </p:cNvPr>
            <p:cNvSpPr txBox="1"/>
            <p:nvPr/>
          </p:nvSpPr>
          <p:spPr>
            <a:xfrm>
              <a:off x="687496" y="5162381"/>
              <a:ext cx="804672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400" b="1">
                  <a:solidFill>
                    <a:srgbClr val="4C72B0"/>
                  </a:solidFill>
                  <a:latin typeface="LM Sans"/>
                </a:defRPr>
              </a:pPr>
              <a:r>
                <a:rPr lang="en-US" dirty="0"/>
                <a:t>In future weeks, please inform your choice of paper to the whole class on Canvas (Discussion Page) one week before.</a:t>
              </a:r>
            </a:p>
            <a:p>
              <a:pPr algn="l">
                <a:defRPr sz="2400" b="1">
                  <a:solidFill>
                    <a:srgbClr val="4C72B0"/>
                  </a:solidFill>
                  <a:latin typeface="LM Sans"/>
                </a:defRPr>
              </a:pPr>
              <a:endParaRPr lang="en-US" dirty="0"/>
            </a:p>
            <a:p>
              <a:pPr algn="l">
                <a:defRPr sz="2400" b="1">
                  <a:solidFill>
                    <a:srgbClr val="4C72B0"/>
                  </a:solidFill>
                  <a:latin typeface="LM Sans"/>
                </a:defRPr>
              </a:pPr>
              <a:r>
                <a:rPr lang="en-US" dirty="0">
                  <a:solidFill>
                    <a:srgbClr val="C00000"/>
                  </a:solidFill>
                </a:rPr>
                <a:t>* First come, first select (of “dream” paper)</a:t>
              </a:r>
              <a:endParaRPr dirty="0">
                <a:solidFill>
                  <a:srgbClr val="C00000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13DDF-2DFB-8CF7-1092-718ADFB7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9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5253</TotalTime>
  <Words>3225</Words>
  <Application>Microsoft Macintosh PowerPoint</Application>
  <PresentationFormat>On-screen Show (4:3)</PresentationFormat>
  <Paragraphs>508</Paragraphs>
  <Slides>46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LM Sans</vt:lpstr>
      <vt:lpstr>LM Sans 12</vt:lpstr>
      <vt:lpstr>Abadi MT Condensed Extra Bold</vt:lpstr>
      <vt:lpstr>Abadi MT Condensed Light</vt:lpstr>
      <vt:lpstr>Arial</vt:lpstr>
      <vt:lpstr>Calibri</vt:lpstr>
      <vt:lpstr>Wingdings</vt:lpstr>
      <vt:lpstr>Office Theme</vt:lpstr>
      <vt:lpstr>1_Office Theme</vt:lpstr>
      <vt:lpstr>DSC3013 Intro. to Social Media Analytics (Lec.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Collect SM Data?</vt:lpstr>
      <vt:lpstr>PowerPoint Presentation</vt:lpstr>
      <vt:lpstr>PowerPoint Presentation</vt:lpstr>
      <vt:lpstr>Collecting Reddit Posts</vt:lpstr>
      <vt:lpstr>Collecting Reddit Posts</vt:lpstr>
      <vt:lpstr>Collecting Reddit Posts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 of Weak Ties</vt:lpstr>
      <vt:lpstr>Evidence on Facebook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Hao PENG</cp:lastModifiedBy>
  <cp:revision>250</cp:revision>
  <dcterms:created xsi:type="dcterms:W3CDTF">2019-01-16T16:49:18Z</dcterms:created>
  <dcterms:modified xsi:type="dcterms:W3CDTF">2026-09-07T13:05:07Z</dcterms:modified>
</cp:coreProperties>
</file>