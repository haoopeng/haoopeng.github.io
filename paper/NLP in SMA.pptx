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61"/>
  </p:notesMasterIdLst>
  <p:sldIdLst>
    <p:sldId id="643" r:id="rId3"/>
    <p:sldId id="512" r:id="rId4"/>
    <p:sldId id="618" r:id="rId5"/>
    <p:sldId id="587" r:id="rId6"/>
    <p:sldId id="454" r:id="rId7"/>
    <p:sldId id="610" r:id="rId8"/>
    <p:sldId id="559" r:id="rId9"/>
    <p:sldId id="574" r:id="rId10"/>
    <p:sldId id="580" r:id="rId11"/>
    <p:sldId id="621" r:id="rId12"/>
    <p:sldId id="593" r:id="rId13"/>
    <p:sldId id="596" r:id="rId14"/>
    <p:sldId id="600" r:id="rId15"/>
    <p:sldId id="584" r:id="rId16"/>
    <p:sldId id="597" r:id="rId17"/>
    <p:sldId id="598" r:id="rId18"/>
    <p:sldId id="622" r:id="rId19"/>
    <p:sldId id="624" r:id="rId20"/>
    <p:sldId id="625" r:id="rId21"/>
    <p:sldId id="626" r:id="rId22"/>
    <p:sldId id="627" r:id="rId23"/>
    <p:sldId id="628" r:id="rId24"/>
    <p:sldId id="599" r:id="rId25"/>
    <p:sldId id="588" r:id="rId26"/>
    <p:sldId id="639" r:id="rId27"/>
    <p:sldId id="645" r:id="rId28"/>
    <p:sldId id="646" r:id="rId29"/>
    <p:sldId id="647" r:id="rId30"/>
    <p:sldId id="613" r:id="rId31"/>
    <p:sldId id="633" r:id="rId32"/>
    <p:sldId id="630" r:id="rId33"/>
    <p:sldId id="631" r:id="rId34"/>
    <p:sldId id="644" r:id="rId35"/>
    <p:sldId id="648" r:id="rId36"/>
    <p:sldId id="649" r:id="rId37"/>
    <p:sldId id="515" r:id="rId38"/>
    <p:sldId id="506" r:id="rId39"/>
    <p:sldId id="516" r:id="rId40"/>
    <p:sldId id="517" r:id="rId41"/>
    <p:sldId id="518" r:id="rId42"/>
    <p:sldId id="507" r:id="rId43"/>
    <p:sldId id="514" r:id="rId44"/>
    <p:sldId id="601" r:id="rId45"/>
    <p:sldId id="640" r:id="rId46"/>
    <p:sldId id="641" r:id="rId47"/>
    <p:sldId id="602" r:id="rId48"/>
    <p:sldId id="457" r:id="rId49"/>
    <p:sldId id="605" r:id="rId50"/>
    <p:sldId id="642" r:id="rId51"/>
    <p:sldId id="607" r:id="rId52"/>
    <p:sldId id="604" r:id="rId53"/>
    <p:sldId id="606" r:id="rId54"/>
    <p:sldId id="634" r:id="rId55"/>
    <p:sldId id="635" r:id="rId56"/>
    <p:sldId id="637" r:id="rId57"/>
    <p:sldId id="603" r:id="rId58"/>
    <p:sldId id="636" r:id="rId59"/>
    <p:sldId id="352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0019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36732-C8B6-1247-BB98-8D90FCEB993F}" v="1" dt="2021-01-12T06:42:57.85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8657"/>
  </p:normalViewPr>
  <p:slideViewPr>
    <p:cSldViewPr snapToGrid="0" snapToObjects="1">
      <p:cViewPr varScale="1">
        <p:scale>
          <a:sx n="94" d="100"/>
          <a:sy n="94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 Z" userId="0598117016cd6850" providerId="LiveId" clId="{1E336732-C8B6-1247-BB98-8D90FCEB993F}"/>
    <pc:docChg chg="custSel modSld">
      <pc:chgData name="Q Z" userId="0598117016cd6850" providerId="LiveId" clId="{1E336732-C8B6-1247-BB98-8D90FCEB993F}" dt="2021-01-12T06:42:57.854" v="267"/>
      <pc:docMkLst>
        <pc:docMk/>
      </pc:docMkLst>
      <pc:sldChg chg="addSp">
        <pc:chgData name="Q Z" userId="0598117016cd6850" providerId="LiveId" clId="{1E336732-C8B6-1247-BB98-8D90FCEB993F}" dt="2021-01-12T06:42:57.854" v="267"/>
        <pc:sldMkLst>
          <pc:docMk/>
          <pc:sldMk cId="532418191" sldId="26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32418191" sldId="261"/>
            <ac:inkMk id="3" creationId="{A30FF634-57C9-7447-A2A9-0989AB6EC14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0450022" sldId="26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0450022" sldId="262"/>
            <ac:inkMk id="3" creationId="{60C952EA-9E65-F140-B5F4-DC99132B4E6A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495955489" sldId="26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495955489" sldId="264"/>
            <ac:inkMk id="6" creationId="{32BCD74E-1CC4-E842-8CA9-181800AB998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318632322" sldId="26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318632322" sldId="265"/>
            <ac:inkMk id="4" creationId="{B8BFEC17-95EF-214A-97B0-07A7611296C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502340965" sldId="27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02340965" sldId="274"/>
            <ac:inkMk id="5" creationId="{86494887-27ED-4E4F-AE19-1D4461D58E1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678248846" sldId="27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678248846" sldId="277"/>
            <ac:inkMk id="5" creationId="{EF01DF33-D127-9845-9AB3-86A8074B59B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48179530" sldId="28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48179530" sldId="281"/>
            <ac:inkMk id="5" creationId="{FCF82DE6-E3B1-C24C-8507-9D117A6BDB3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688405579" sldId="28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688405579" sldId="283"/>
            <ac:inkMk id="4" creationId="{1EE2DC9D-3483-374E-9030-025F16FF530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740026222" sldId="286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740026222" sldId="286"/>
            <ac:inkMk id="5" creationId="{51BFC437-AB53-E04E-B9D7-7F023A3FBEA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144012446" sldId="29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144012446" sldId="295"/>
            <ac:inkMk id="4" creationId="{3C202D86-3016-534E-83B1-6176C2AE067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0579994" sldId="29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0579994" sldId="298"/>
            <ac:inkMk id="3" creationId="{B1D23E70-D545-4040-85EB-59B1CFB82A4A}"/>
          </ac:inkMkLst>
        </pc:inkChg>
      </pc:sldChg>
      <pc:sldChg chg="modSp mod">
        <pc:chgData name="Q Z" userId="0598117016cd6850" providerId="LiveId" clId="{1E336732-C8B6-1247-BB98-8D90FCEB993F}" dt="2021-01-12T00:36:45.806" v="176" actId="20577"/>
        <pc:sldMkLst>
          <pc:docMk/>
          <pc:sldMk cId="1668323801" sldId="300"/>
        </pc:sldMkLst>
        <pc:spChg chg="mod">
          <ac:chgData name="Q Z" userId="0598117016cd6850" providerId="LiveId" clId="{1E336732-C8B6-1247-BB98-8D90FCEB993F}" dt="2021-01-12T00:36:45.806" v="17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105363865" sldId="30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105363865" sldId="302"/>
            <ac:inkMk id="4" creationId="{8587AAA6-D756-A64B-93AF-74519FE6053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62287952" sldId="30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62287952" sldId="304"/>
            <ac:inkMk id="2" creationId="{7C6ADA49-4D6A-3340-9313-17AFD1137008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989142146" sldId="30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989142146" sldId="307"/>
            <ac:inkMk id="4" creationId="{79E07468-77F3-514C-B80C-802205A4888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545004305" sldId="30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545004305" sldId="308"/>
            <ac:inkMk id="4" creationId="{5C043EB2-8D58-D448-A5A6-EF951083F642}"/>
          </ac:inkMkLst>
        </pc:inkChg>
      </pc:sldChg>
      <pc:sldChg chg="addSp modSp mod">
        <pc:chgData name="Q Z" userId="0598117016cd6850" providerId="LiveId" clId="{1E336732-C8B6-1247-BB98-8D90FCEB993F}" dt="2021-01-12T06:42:57.854" v="267"/>
        <pc:sldMkLst>
          <pc:docMk/>
          <pc:sldMk cId="581332896" sldId="309"/>
        </pc:sldMkLst>
        <pc:spChg chg="mod">
          <ac:chgData name="Q Z" userId="0598117016cd6850" providerId="LiveId" clId="{1E336732-C8B6-1247-BB98-8D90FCEB993F}" dt="2021-01-12T00:40:56.082" v="266" actId="113"/>
          <ac:spMkLst>
            <pc:docMk/>
            <pc:sldMk cId="581332896" sldId="309"/>
            <ac:spMk id="3" creationId="{1B15B996-5952-CA44-90B0-02ABAA4EAC6C}"/>
          </ac:spMkLst>
        </pc:spChg>
        <pc:inkChg chg="add">
          <ac:chgData name="Q Z" userId="0598117016cd6850" providerId="LiveId" clId="{1E336732-C8B6-1247-BB98-8D90FCEB993F}" dt="2021-01-12T06:42:57.854" v="267"/>
          <ac:inkMkLst>
            <pc:docMk/>
            <pc:sldMk cId="581332896" sldId="309"/>
            <ac:inkMk id="4" creationId="{B47DC87F-0A15-2342-BA53-E570C6B9257C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758662977" sldId="31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758662977" sldId="313"/>
            <ac:inkMk id="6" creationId="{236CEAF4-9349-8C43-97FA-E755F87043D3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6699933" sldId="31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6699933" sldId="314"/>
            <ac:inkMk id="4" creationId="{824F5F81-9516-B84B-85A3-183C8C8282B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690263055" sldId="31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690263055" sldId="315"/>
            <ac:inkMk id="6" creationId="{1D5ABB7D-7DB8-0242-92E5-1AC09ED2590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938421699" sldId="320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938421699" sldId="320"/>
            <ac:inkMk id="4" creationId="{F6C17624-A201-7443-A1EF-5BEF317DC94F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08173595" sldId="32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08173595" sldId="321"/>
            <ac:inkMk id="5" creationId="{50BE96FE-AAC5-B447-9208-F7FE53F6A0B9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2143924" sldId="32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2143924" sldId="322"/>
            <ac:inkMk id="4" creationId="{F0D28E15-1894-8146-8F56-660176DCC75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207180606" sldId="32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207180606" sldId="323"/>
            <ac:inkMk id="5" creationId="{D1CB38B3-DBF0-1043-9BE1-8314B02773AE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223405279" sldId="32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223405279" sldId="327"/>
            <ac:inkMk id="4" creationId="{BFFBAD07-1ABE-7246-BB7B-7B93C6C05F6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80820078" sldId="329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80820078" sldId="329"/>
            <ac:inkMk id="6" creationId="{B5F4D88E-6934-564D-BE81-1340A8E269E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730086564" sldId="33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730086564" sldId="331"/>
            <ac:inkMk id="4" creationId="{F8ED0622-DF26-A748-84B6-474F576CC577}"/>
          </ac:inkMkLst>
        </pc:inkChg>
      </pc:sldChg>
    </pc:docChg>
  </pc:docChgLst>
  <pc:docChgLst>
    <pc:chgData name="Q Z" userId="0598117016cd6850" providerId="LiveId" clId="{D2FDEEAF-84E1-154D-A946-0BAEA53F7449}"/>
    <pc:docChg chg="undo custSel addSld delSld modSld">
      <pc:chgData name="Q Z" userId="0598117016cd6850" providerId="LiveId" clId="{D2FDEEAF-84E1-154D-A946-0BAEA53F7449}" dt="2019-09-04T18:21:47.967" v="1277" actId="20577"/>
      <pc:docMkLst>
        <pc:docMk/>
      </pc:docMkLst>
      <pc:sldChg chg="modSp">
        <pc:chgData name="Q Z" userId="0598117016cd6850" providerId="LiveId" clId="{D2FDEEAF-84E1-154D-A946-0BAEA53F7449}" dt="2019-09-04T17:50:06.927" v="44" actId="20577"/>
        <pc:sldMkLst>
          <pc:docMk/>
          <pc:sldMk cId="2533019783" sldId="256"/>
        </pc:sldMkLst>
        <pc:spChg chg="mod">
          <ac:chgData name="Q Z" userId="0598117016cd6850" providerId="LiveId" clId="{D2FDEEAF-84E1-154D-A946-0BAEA53F7449}" dt="2019-09-04T17:50:06.927" v="44" actId="20577"/>
          <ac:spMkLst>
            <pc:docMk/>
            <pc:sldMk cId="2533019783" sldId="256"/>
            <ac:spMk id="2" creationId="{4F6B6359-AFC8-5749-ABD8-D22C31534A8C}"/>
          </ac:spMkLst>
        </pc:spChg>
        <pc:spChg chg="mod">
          <ac:chgData name="Q Z" userId="0598117016cd6850" providerId="LiveId" clId="{D2FDEEAF-84E1-154D-A946-0BAEA53F7449}" dt="2019-09-04T14:49:56.657" v="31" actId="20577"/>
          <ac:spMkLst>
            <pc:docMk/>
            <pc:sldMk cId="2533019783" sldId="256"/>
            <ac:spMk id="3" creationId="{03BB8D86-7309-C04C-901B-36514C38109C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95021793" sldId="25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1927036" sldId="258"/>
        </pc:sldMkLst>
      </pc:sldChg>
      <pc:sldChg chg="modSp">
        <pc:chgData name="Q Z" userId="0598117016cd6850" providerId="LiveId" clId="{D2FDEEAF-84E1-154D-A946-0BAEA53F7449}" dt="2019-09-04T17:51:15.354" v="96" actId="20577"/>
        <pc:sldMkLst>
          <pc:docMk/>
          <pc:sldMk cId="2090911193" sldId="260"/>
        </pc:sldMkLst>
        <pc:spChg chg="mod">
          <ac:chgData name="Q Z" userId="0598117016cd6850" providerId="LiveId" clId="{D2FDEEAF-84E1-154D-A946-0BAEA53F7449}" dt="2019-09-04T17:51:15.354" v="96" actId="20577"/>
          <ac:spMkLst>
            <pc:docMk/>
            <pc:sldMk cId="2090911193" sldId="260"/>
            <ac:spMk id="3" creationId="{858FDFE8-5660-3142-B97F-1D1C17F05F34}"/>
          </ac:spMkLst>
        </pc:spChg>
      </pc:sldChg>
      <pc:sldChg chg="modSp add">
        <pc:chgData name="Q Z" userId="0598117016cd6850" providerId="LiveId" clId="{D2FDEEAF-84E1-154D-A946-0BAEA53F7449}" dt="2019-09-04T18:17:04.095" v="715" actId="27636"/>
        <pc:sldMkLst>
          <pc:docMk/>
          <pc:sldMk cId="532418191" sldId="261"/>
        </pc:sldMkLst>
        <pc:spChg chg="mod">
          <ac:chgData name="Q Z" userId="0598117016cd6850" providerId="LiveId" clId="{D2FDEEAF-84E1-154D-A946-0BAEA53F7449}" dt="2019-09-04T18:17:04.095" v="715" actId="27636"/>
          <ac:spMkLst>
            <pc:docMk/>
            <pc:sldMk cId="532418191" sldId="261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1" v="34" actId="2696"/>
        <pc:sldMkLst>
          <pc:docMk/>
          <pc:sldMk cId="783585029" sldId="261"/>
        </pc:sldMkLst>
      </pc:sldChg>
      <pc:sldChg chg="modSp add">
        <pc:chgData name="Q Z" userId="0598117016cd6850" providerId="LiveId" clId="{D2FDEEAF-84E1-154D-A946-0BAEA53F7449}" dt="2019-09-04T18:17:04.108" v="716" actId="27636"/>
        <pc:sldMkLst>
          <pc:docMk/>
          <pc:sldMk cId="200450022" sldId="262"/>
        </pc:sldMkLst>
        <pc:spChg chg="mod">
          <ac:chgData name="Q Z" userId="0598117016cd6850" providerId="LiveId" clId="{D2FDEEAF-84E1-154D-A946-0BAEA53F7449}" dt="2019-09-04T18:17:04.108" v="716" actId="27636"/>
          <ac:spMkLst>
            <pc:docMk/>
            <pc:sldMk cId="200450022" sldId="262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4" v="37" actId="2696"/>
        <pc:sldMkLst>
          <pc:docMk/>
          <pc:sldMk cId="2838881580" sldId="262"/>
        </pc:sldMkLst>
      </pc:sldChg>
      <pc:sldChg chg="del">
        <pc:chgData name="Q Z" userId="0598117016cd6850" providerId="LiveId" clId="{D2FDEEAF-84E1-154D-A946-0BAEA53F7449}" dt="2019-09-04T14:50:58.823" v="36" actId="2696"/>
        <pc:sldMkLst>
          <pc:docMk/>
          <pc:sldMk cId="1942777124" sldId="26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48896579" sldId="263"/>
        </pc:sldMkLst>
      </pc:sldChg>
      <pc:sldChg chg="del">
        <pc:chgData name="Q Z" userId="0598117016cd6850" providerId="LiveId" clId="{D2FDEEAF-84E1-154D-A946-0BAEA53F7449}" dt="2019-09-04T14:50:58.825" v="38" actId="2696"/>
        <pc:sldMkLst>
          <pc:docMk/>
          <pc:sldMk cId="2231365434" sldId="26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495955489" sldId="264"/>
        </pc:sldMkLst>
      </pc:sldChg>
      <pc:sldChg chg="del">
        <pc:chgData name="Q Z" userId="0598117016cd6850" providerId="LiveId" clId="{D2FDEEAF-84E1-154D-A946-0BAEA53F7449}" dt="2019-09-04T14:50:58.834" v="42" actId="2696"/>
        <pc:sldMkLst>
          <pc:docMk/>
          <pc:sldMk cId="2283137282" sldId="26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318632322" sldId="265"/>
        </pc:sldMkLst>
      </pc:sldChg>
      <pc:sldChg chg="del">
        <pc:chgData name="Q Z" userId="0598117016cd6850" providerId="LiveId" clId="{D2FDEEAF-84E1-154D-A946-0BAEA53F7449}" dt="2019-09-04T14:50:58.827" v="40" actId="2696"/>
        <pc:sldMkLst>
          <pc:docMk/>
          <pc:sldMk cId="2210613991" sldId="26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92845242" sldId="266"/>
        </pc:sldMkLst>
      </pc:sldChg>
      <pc:sldChg chg="modSp">
        <pc:chgData name="Q Z" userId="0598117016cd6850" providerId="LiveId" clId="{D2FDEEAF-84E1-154D-A946-0BAEA53F7449}" dt="2019-09-04T17:52:07.105" v="112" actId="207"/>
        <pc:sldMkLst>
          <pc:docMk/>
          <pc:sldMk cId="2096993788" sldId="267"/>
        </pc:sldMkLst>
        <pc:spChg chg="mod">
          <ac:chgData name="Q Z" userId="0598117016cd6850" providerId="LiveId" clId="{D2FDEEAF-84E1-154D-A946-0BAEA53F7449}" dt="2019-09-04T17:52:07.105" v="112" actId="207"/>
          <ac:spMkLst>
            <pc:docMk/>
            <pc:sldMk cId="2096993788" sldId="267"/>
            <ac:spMk id="3" creationId="{92C5435D-7C46-D248-89C2-A468B8E05E4B}"/>
          </ac:spMkLst>
        </pc:spChg>
      </pc:sldChg>
      <pc:sldChg chg="del">
        <pc:chgData name="Q Z" userId="0598117016cd6850" providerId="LiveId" clId="{D2FDEEAF-84E1-154D-A946-0BAEA53F7449}" dt="2019-09-04T14:50:58.822" v="35" actId="2696"/>
        <pc:sldMkLst>
          <pc:docMk/>
          <pc:sldMk cId="1861225924" sldId="26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54883529" sldId="268"/>
        </pc:sldMkLst>
      </pc:sldChg>
      <pc:sldChg chg="add del">
        <pc:chgData name="Q Z" userId="0598117016cd6850" providerId="LiveId" clId="{D2FDEEAF-84E1-154D-A946-0BAEA53F7449}" dt="2019-09-04T17:53:35.526" v="120" actId="2696"/>
        <pc:sldMkLst>
          <pc:docMk/>
          <pc:sldMk cId="3305728334" sldId="270"/>
        </pc:sldMkLst>
      </pc:sldChg>
      <pc:sldChg chg="modSp add del">
        <pc:chgData name="Q Z" userId="0598117016cd6850" providerId="LiveId" clId="{D2FDEEAF-84E1-154D-A946-0BAEA53F7449}" dt="2019-09-04T17:55:57.015" v="138" actId="20577"/>
        <pc:sldMkLst>
          <pc:docMk/>
          <pc:sldMk cId="3331877505" sldId="271"/>
        </pc:sldMkLst>
        <pc:spChg chg="mod">
          <ac:chgData name="Q Z" userId="0598117016cd6850" providerId="LiveId" clId="{D2FDEEAF-84E1-154D-A946-0BAEA53F7449}" dt="2019-09-04T17:55:57.015" v="138" actId="20577"/>
          <ac:spMkLst>
            <pc:docMk/>
            <pc:sldMk cId="3331877505" sldId="271"/>
            <ac:spMk id="2" creationId="{6660E2C4-0D9F-6543-92DC-EEC98C67AB17}"/>
          </ac:spMkLst>
        </pc:spChg>
      </pc:sldChg>
      <pc:sldChg chg="add del">
        <pc:chgData name="Q Z" userId="0598117016cd6850" providerId="LiveId" clId="{D2FDEEAF-84E1-154D-A946-0BAEA53F7449}" dt="2019-09-04T17:53:35.482" v="117" actId="2696"/>
        <pc:sldMkLst>
          <pc:docMk/>
          <pc:sldMk cId="3558231805" sldId="272"/>
        </pc:sldMkLst>
      </pc:sldChg>
      <pc:sldChg chg="modSp add">
        <pc:chgData name="Q Z" userId="0598117016cd6850" providerId="LiveId" clId="{D2FDEEAF-84E1-154D-A946-0BAEA53F7449}" dt="2019-09-04T18:17:04.328" v="720" actId="27636"/>
        <pc:sldMkLst>
          <pc:docMk/>
          <pc:sldMk cId="502340965" sldId="274"/>
        </pc:sldMkLst>
        <pc:spChg chg="mod">
          <ac:chgData name="Q Z" userId="0598117016cd6850" providerId="LiveId" clId="{D2FDEEAF-84E1-154D-A946-0BAEA53F7449}" dt="2019-09-04T18:17:04.328" v="720" actId="27636"/>
          <ac:spMkLst>
            <pc:docMk/>
            <pc:sldMk cId="502340965" sldId="274"/>
            <ac:spMk id="3" creationId="{3E183C73-DAEA-B44A-A5FE-7317F31E7B1F}"/>
          </ac:spMkLst>
        </pc:spChg>
      </pc:sldChg>
      <pc:sldChg chg="add del">
        <pc:chgData name="Q Z" userId="0598117016cd6850" providerId="LiveId" clId="{D2FDEEAF-84E1-154D-A946-0BAEA53F7449}" dt="2019-09-04T17:56:05.978" v="139" actId="2696"/>
        <pc:sldMkLst>
          <pc:docMk/>
          <pc:sldMk cId="1213925051" sldId="274"/>
        </pc:sldMkLst>
      </pc:sldChg>
      <pc:sldChg chg="modSp">
        <pc:chgData name="Q Z" userId="0598117016cd6850" providerId="LiveId" clId="{D2FDEEAF-84E1-154D-A946-0BAEA53F7449}" dt="2019-09-04T17:55:32.064" v="121" actId="20577"/>
        <pc:sldMkLst>
          <pc:docMk/>
          <pc:sldMk cId="954695919" sldId="275"/>
        </pc:sldMkLst>
        <pc:spChg chg="mod">
          <ac:chgData name="Q Z" userId="0598117016cd6850" providerId="LiveId" clId="{D2FDEEAF-84E1-154D-A946-0BAEA53F7449}" dt="2019-09-04T17:55:32.064" v="121" actId="20577"/>
          <ac:spMkLst>
            <pc:docMk/>
            <pc:sldMk cId="954695919" sldId="275"/>
            <ac:spMk id="3" creationId="{8156CB1A-BF1B-814F-B131-5A4E9A2B2F55}"/>
          </ac:spMkLst>
        </pc:spChg>
      </pc:sldChg>
      <pc:sldChg chg="del">
        <pc:chgData name="Q Z" userId="0598117016cd6850" providerId="LiveId" clId="{D2FDEEAF-84E1-154D-A946-0BAEA53F7449}" dt="2019-09-04T17:56:38.052" v="144" actId="2696"/>
        <pc:sldMkLst>
          <pc:docMk/>
          <pc:sldMk cId="1065454564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678248846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081087372" sldId="280"/>
        </pc:sldMkLst>
      </pc:sldChg>
      <pc:sldChg chg="del">
        <pc:chgData name="Q Z" userId="0598117016cd6850" providerId="LiveId" clId="{D2FDEEAF-84E1-154D-A946-0BAEA53F7449}" dt="2019-09-04T17:56:34.037" v="142" actId="2696"/>
        <pc:sldMkLst>
          <pc:docMk/>
          <pc:sldMk cId="1143589674" sldId="28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548179530" sldId="281"/>
        </pc:sldMkLst>
      </pc:sldChg>
      <pc:sldChg chg="del">
        <pc:chgData name="Q Z" userId="0598117016cd6850" providerId="LiveId" clId="{D2FDEEAF-84E1-154D-A946-0BAEA53F7449}" dt="2019-09-04T17:56:34.036" v="141" actId="2696"/>
        <pc:sldMkLst>
          <pc:docMk/>
          <pc:sldMk cId="4098453554" sldId="28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94661934" sldId="282"/>
        </pc:sldMkLst>
      </pc:sldChg>
      <pc:sldChg chg="del">
        <pc:chgData name="Q Z" userId="0598117016cd6850" providerId="LiveId" clId="{D2FDEEAF-84E1-154D-A946-0BAEA53F7449}" dt="2019-09-04T17:56:34.038" v="143" actId="2696"/>
        <pc:sldMkLst>
          <pc:docMk/>
          <pc:sldMk cId="4145358547" sldId="28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688405579" sldId="283"/>
        </pc:sldMkLst>
      </pc:sldChg>
      <pc:sldChg chg="del">
        <pc:chgData name="Q Z" userId="0598117016cd6850" providerId="LiveId" clId="{D2FDEEAF-84E1-154D-A946-0BAEA53F7449}" dt="2019-09-04T14:50:58.826" v="39" actId="2696"/>
        <pc:sldMkLst>
          <pc:docMk/>
          <pc:sldMk cId="3749237926" sldId="283"/>
        </pc:sldMkLst>
      </pc:sldChg>
      <pc:sldChg chg="del">
        <pc:chgData name="Q Z" userId="0598117016cd6850" providerId="LiveId" clId="{D2FDEEAF-84E1-154D-A946-0BAEA53F7449}" dt="2019-09-04T17:56:34.035" v="140" actId="2696"/>
        <pc:sldMkLst>
          <pc:docMk/>
          <pc:sldMk cId="1766107003" sldId="284"/>
        </pc:sldMkLst>
      </pc:sldChg>
      <pc:sldChg chg="modSp add">
        <pc:chgData name="Q Z" userId="0598117016cd6850" providerId="LiveId" clId="{D2FDEEAF-84E1-154D-A946-0BAEA53F7449}" dt="2019-09-04T18:17:04.209" v="717" actId="27636"/>
        <pc:sldMkLst>
          <pc:docMk/>
          <pc:sldMk cId="3382824642" sldId="284"/>
        </pc:sldMkLst>
        <pc:spChg chg="mod">
          <ac:chgData name="Q Z" userId="0598117016cd6850" providerId="LiveId" clId="{D2FDEEAF-84E1-154D-A946-0BAEA53F7449}" dt="2019-09-04T18:17:04.209" v="717" actId="27636"/>
          <ac:spMkLst>
            <pc:docMk/>
            <pc:sldMk cId="3382824642" sldId="284"/>
            <ac:spMk id="3" creationId="{C7F9E529-8EAE-E242-ABE3-8FF4C6CFE94E}"/>
          </ac:spMkLst>
        </pc:spChg>
      </pc:sldChg>
      <pc:sldChg chg="modSp">
        <pc:chgData name="Q Z" userId="0598117016cd6850" providerId="LiveId" clId="{D2FDEEAF-84E1-154D-A946-0BAEA53F7449}" dt="2019-09-04T17:57:06.144" v="161" actId="20577"/>
        <pc:sldMkLst>
          <pc:docMk/>
          <pc:sldMk cId="1964004983" sldId="285"/>
        </pc:sldMkLst>
        <pc:spChg chg="mod">
          <ac:chgData name="Q Z" userId="0598117016cd6850" providerId="LiveId" clId="{D2FDEEAF-84E1-154D-A946-0BAEA53F7449}" dt="2019-09-04T17:57:06.144" v="161" actId="20577"/>
          <ac:spMkLst>
            <pc:docMk/>
            <pc:sldMk cId="1964004983" sldId="285"/>
            <ac:spMk id="3" creationId="{5F1D1A32-6966-D74D-BC08-BB6F9D54EB65}"/>
          </ac:spMkLst>
        </pc:spChg>
      </pc:sldChg>
      <pc:sldChg chg="del">
        <pc:chgData name="Q Z" userId="0598117016cd6850" providerId="LiveId" clId="{D2FDEEAF-84E1-154D-A946-0BAEA53F7449}" dt="2019-09-04T17:57:19.396" v="162" actId="2696"/>
        <pc:sldMkLst>
          <pc:docMk/>
          <pc:sldMk cId="1027414483" sldId="28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740026222" sldId="286"/>
        </pc:sldMkLst>
      </pc:sldChg>
      <pc:sldChg chg="del">
        <pc:chgData name="Q Z" userId="0598117016cd6850" providerId="LiveId" clId="{D2FDEEAF-84E1-154D-A946-0BAEA53F7449}" dt="2019-09-04T17:59:18.421" v="163" actId="2696"/>
        <pc:sldMkLst>
          <pc:docMk/>
          <pc:sldMk cId="3061299955" sldId="299"/>
        </pc:sldMkLst>
      </pc:sldChg>
      <pc:sldChg chg="modSp del">
        <pc:chgData name="Q Z" userId="0598117016cd6850" providerId="LiveId" clId="{D2FDEEAF-84E1-154D-A946-0BAEA53F7449}" dt="2019-09-04T18:15:41.903" v="685" actId="2696"/>
        <pc:sldMkLst>
          <pc:docMk/>
          <pc:sldMk cId="485196877" sldId="300"/>
        </pc:sldMkLst>
        <pc:spChg chg="mod">
          <ac:chgData name="Q Z" userId="0598117016cd6850" providerId="LiveId" clId="{D2FDEEAF-84E1-154D-A946-0BAEA53F7449}" dt="2019-09-04T18:13:29.105" v="592" actId="20577"/>
          <ac:spMkLst>
            <pc:docMk/>
            <pc:sldMk cId="485196877" sldId="300"/>
            <ac:spMk id="3" creationId="{551CAB00-106C-FD48-80DB-4E60597D50E9}"/>
          </ac:spMkLst>
        </pc:spChg>
      </pc:sldChg>
      <pc:sldChg chg="modSp add">
        <pc:chgData name="Q Z" userId="0598117016cd6850" providerId="LiveId" clId="{D2FDEEAF-84E1-154D-A946-0BAEA53F7449}" dt="2019-09-04T18:20:13.592" v="1095" actId="15"/>
        <pc:sldMkLst>
          <pc:docMk/>
          <pc:sldMk cId="1668323801" sldId="300"/>
        </pc:sldMkLst>
        <pc:spChg chg="mod">
          <ac:chgData name="Q Z" userId="0598117016cd6850" providerId="LiveId" clId="{D2FDEEAF-84E1-154D-A946-0BAEA53F7449}" dt="2019-09-04T18:20:13.592" v="1095" actId="15"/>
          <ac:spMkLst>
            <pc:docMk/>
            <pc:sldMk cId="1668323801" sldId="300"/>
            <ac:spMk id="3" creationId="{551CAB00-106C-FD48-80DB-4E60597D50E9}"/>
          </ac:spMkLst>
        </pc:spChg>
      </pc:sldChg>
      <pc:sldChg chg="add">
        <pc:chgData name="Q Z" userId="0598117016cd6850" providerId="LiveId" clId="{D2FDEEAF-84E1-154D-A946-0BAEA53F7449}" dt="2019-09-04T18:15:48.786" v="686"/>
        <pc:sldMkLst>
          <pc:docMk/>
          <pc:sldMk cId="164302631" sldId="301"/>
        </pc:sldMkLst>
      </pc:sldChg>
      <pc:sldChg chg="modSp del">
        <pc:chgData name="Q Z" userId="0598117016cd6850" providerId="LiveId" clId="{D2FDEEAF-84E1-154D-A946-0BAEA53F7449}" dt="2019-09-04T18:15:41.898" v="684" actId="2696"/>
        <pc:sldMkLst>
          <pc:docMk/>
          <pc:sldMk cId="3603428551" sldId="301"/>
        </pc:sldMkLst>
        <pc:spChg chg="mod">
          <ac:chgData name="Q Z" userId="0598117016cd6850" providerId="LiveId" clId="{D2FDEEAF-84E1-154D-A946-0BAEA53F7449}" dt="2019-09-04T18:15:28.173" v="683" actId="20577"/>
          <ac:spMkLst>
            <pc:docMk/>
            <pc:sldMk cId="3603428551" sldId="301"/>
            <ac:spMk id="3" creationId="{045F8D64-8F34-2744-8A83-F43DB949F89C}"/>
          </ac:spMkLst>
        </pc:spChg>
      </pc:sldChg>
      <pc:sldChg chg="modSp add">
        <pc:chgData name="Q Z" userId="0598117016cd6850" providerId="LiveId" clId="{D2FDEEAF-84E1-154D-A946-0BAEA53F7449}" dt="2019-09-04T18:21:47.967" v="1277" actId="20577"/>
        <pc:sldMkLst>
          <pc:docMk/>
          <pc:sldMk cId="3105363865" sldId="302"/>
        </pc:sldMkLst>
        <pc:spChg chg="mod">
          <ac:chgData name="Q Z" userId="0598117016cd6850" providerId="LiveId" clId="{D2FDEEAF-84E1-154D-A946-0BAEA53F7449}" dt="2019-09-04T18:21:47.967" v="1277" actId="20577"/>
          <ac:spMkLst>
            <pc:docMk/>
            <pc:sldMk cId="3105363865" sldId="302"/>
            <ac:spMk id="2" creationId="{284F9CDD-41B2-3041-9CA4-BA9DAE607F54}"/>
          </ac:spMkLst>
        </pc:spChg>
        <pc:spChg chg="mod">
          <ac:chgData name="Q Z" userId="0598117016cd6850" providerId="LiveId" clId="{D2FDEEAF-84E1-154D-A946-0BAEA53F7449}" dt="2019-09-04T18:17:52.749" v="841" actId="20577"/>
          <ac:spMkLst>
            <pc:docMk/>
            <pc:sldMk cId="3105363865" sldId="302"/>
            <ac:spMk id="3" creationId="{524CCAD7-23D9-E84C-8DAC-C00F9425778D}"/>
          </ac:spMkLst>
        </pc:spChg>
      </pc:sldChg>
      <pc:sldChg chg="del">
        <pc:chgData name="Q Z" userId="0598117016cd6850" providerId="LiveId" clId="{D2FDEEAF-84E1-154D-A946-0BAEA53F7449}" dt="2019-09-04T14:50:58.827" v="41" actId="2696"/>
        <pc:sldMkLst>
          <pc:docMk/>
          <pc:sldMk cId="3428064723" sldId="30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57279489" sldId="30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62287952" sldId="30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590203373" sldId="30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71758653" sldId="30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989142146" sldId="30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545004305" sldId="30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81332896" sldId="309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283312347" sldId="31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78548823" sldId="31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187985168" sldId="312"/>
        </pc:sldMkLst>
      </pc:sldChg>
      <pc:sldChg chg="modSp add">
        <pc:chgData name="Q Z" userId="0598117016cd6850" providerId="LiveId" clId="{D2FDEEAF-84E1-154D-A946-0BAEA53F7449}" dt="2019-09-04T18:17:04.231" v="718" actId="27636"/>
        <pc:sldMkLst>
          <pc:docMk/>
          <pc:sldMk cId="758662977" sldId="313"/>
        </pc:sldMkLst>
        <pc:spChg chg="mod">
          <ac:chgData name="Q Z" userId="0598117016cd6850" providerId="LiveId" clId="{D2FDEEAF-84E1-154D-A946-0BAEA53F7449}" dt="2019-09-04T18:17:04.231" v="718" actId="27636"/>
          <ac:spMkLst>
            <pc:docMk/>
            <pc:sldMk cId="758662977" sldId="313"/>
            <ac:spMk id="3" creationId="{ECDE4A1C-2F14-8F49-8E66-0CAD7BB35774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806699933" sldId="314"/>
        </pc:sldMkLst>
      </pc:sldChg>
      <pc:sldChg chg="modSp add">
        <pc:chgData name="Q Z" userId="0598117016cd6850" providerId="LiveId" clId="{D2FDEEAF-84E1-154D-A946-0BAEA53F7449}" dt="2019-09-04T18:17:04.304" v="719" actId="27636"/>
        <pc:sldMkLst>
          <pc:docMk/>
          <pc:sldMk cId="690263055" sldId="315"/>
        </pc:sldMkLst>
        <pc:spChg chg="mod">
          <ac:chgData name="Q Z" userId="0598117016cd6850" providerId="LiveId" clId="{D2FDEEAF-84E1-154D-A946-0BAEA53F7449}" dt="2019-09-04T18:17:04.304" v="719" actId="27636"/>
          <ac:spMkLst>
            <pc:docMk/>
            <pc:sldMk cId="690263055" sldId="315"/>
            <ac:spMk id="3" creationId="{833E0AB9-AE05-854F-B0E8-CCE667980C18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334250750" sldId="31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07632866" sldId="31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608597354" sldId="318"/>
        </pc:sldMkLst>
      </pc:sldChg>
      <pc:sldChg chg="modSp add">
        <pc:chgData name="Q Z" userId="0598117016cd6850" providerId="LiveId" clId="{D2FDEEAF-84E1-154D-A946-0BAEA53F7449}" dt="2019-09-04T18:21:23.153" v="1262" actId="20577"/>
        <pc:sldMkLst>
          <pc:docMk/>
          <pc:sldMk cId="2458459384" sldId="319"/>
        </pc:sldMkLst>
        <pc:spChg chg="mod">
          <ac:chgData name="Q Z" userId="0598117016cd6850" providerId="LiveId" clId="{D2FDEEAF-84E1-154D-A946-0BAEA53F7449}" dt="2019-09-04T18:18:07.927" v="853" actId="20577"/>
          <ac:spMkLst>
            <pc:docMk/>
            <pc:sldMk cId="2458459384" sldId="319"/>
            <ac:spMk id="2" creationId="{0AEC5667-D50F-3E47-A4DA-BC797509AD6B}"/>
          </ac:spMkLst>
        </pc:spChg>
        <pc:spChg chg="mod">
          <ac:chgData name="Q Z" userId="0598117016cd6850" providerId="LiveId" clId="{D2FDEEAF-84E1-154D-A946-0BAEA53F7449}" dt="2019-09-04T18:21:23.153" v="1262" actId="20577"/>
          <ac:spMkLst>
            <pc:docMk/>
            <pc:sldMk cId="2458459384" sldId="319"/>
            <ac:spMk id="3" creationId="{8232105E-677A-EF4D-B7AC-71CF68479263}"/>
          </ac:spMkLst>
        </pc:spChg>
      </pc:sldChg>
    </pc:docChg>
  </pc:docChgLst>
  <pc:docChgLst>
    <pc:chgData name="Q Z" userId="0598117016cd6850" providerId="LiveId" clId="{2BA66019-4591-C846-9028-2CD292E1765D}"/>
    <pc:docChg chg="undo custSel addSld delSld modSld">
      <pc:chgData name="Q Z" userId="0598117016cd6850" providerId="LiveId" clId="{2BA66019-4591-C846-9028-2CD292E1765D}" dt="2020-09-02T18:14:30.582" v="379" actId="2696"/>
      <pc:docMkLst>
        <pc:docMk/>
      </pc:docMkLst>
      <pc:sldChg chg="modSp mod">
        <pc:chgData name="Q Z" userId="0598117016cd6850" providerId="LiveId" clId="{2BA66019-4591-C846-9028-2CD292E1765D}" dt="2020-09-02T17:54:00.188" v="147" actId="404"/>
        <pc:sldMkLst>
          <pc:docMk/>
          <pc:sldMk cId="2090911193" sldId="260"/>
        </pc:sldMkLst>
        <pc:spChg chg="mod">
          <ac:chgData name="Q Z" userId="0598117016cd6850" providerId="LiveId" clId="{2BA66019-4591-C846-9028-2CD292E1765D}" dt="2020-09-02T17:54:00.188" v="147" actId="404"/>
          <ac:spMkLst>
            <pc:docMk/>
            <pc:sldMk cId="2090911193" sldId="260"/>
            <ac:spMk id="3" creationId="{858FDFE8-5660-3142-B97F-1D1C17F05F34}"/>
          </ac:spMkLst>
        </pc:spChg>
      </pc:sldChg>
      <pc:sldChg chg="modSp mod">
        <pc:chgData name="Q Z" userId="0598117016cd6850" providerId="LiveId" clId="{2BA66019-4591-C846-9028-2CD292E1765D}" dt="2020-09-02T18:06:08.458" v="310" actId="1076"/>
        <pc:sldMkLst>
          <pc:docMk/>
          <pc:sldMk cId="3690723403" sldId="279"/>
        </pc:sldMkLst>
        <pc:picChg chg="mod">
          <ac:chgData name="Q Z" userId="0598117016cd6850" providerId="LiveId" clId="{2BA66019-4591-C846-9028-2CD292E1765D}" dt="2020-09-02T18:06:08.458" v="310" actId="1076"/>
          <ac:picMkLst>
            <pc:docMk/>
            <pc:sldMk cId="3690723403" sldId="279"/>
            <ac:picMk id="4" creationId="{2B40250E-5C73-B04A-BBCC-724D95A16E1D}"/>
          </ac:picMkLst>
        </pc:picChg>
      </pc:sldChg>
      <pc:sldChg chg="modSp mod">
        <pc:chgData name="Q Z" userId="0598117016cd6850" providerId="LiveId" clId="{2BA66019-4591-C846-9028-2CD292E1765D}" dt="2020-09-02T17:57:35.733" v="206" actId="20577"/>
        <pc:sldMkLst>
          <pc:docMk/>
          <pc:sldMk cId="1668323801" sldId="300"/>
        </pc:sldMkLst>
        <pc:spChg chg="mod">
          <ac:chgData name="Q Z" userId="0598117016cd6850" providerId="LiveId" clId="{2BA66019-4591-C846-9028-2CD292E1765D}" dt="2020-09-02T17:57:35.733" v="20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modSp mod">
        <pc:chgData name="Q Z" userId="0598117016cd6850" providerId="LiveId" clId="{2BA66019-4591-C846-9028-2CD292E1765D}" dt="2020-09-02T18:04:21" v="307" actId="20577"/>
        <pc:sldMkLst>
          <pc:docMk/>
          <pc:sldMk cId="2458459384" sldId="319"/>
        </pc:sldMkLst>
        <pc:spChg chg="mod">
          <ac:chgData name="Q Z" userId="0598117016cd6850" providerId="LiveId" clId="{2BA66019-4591-C846-9028-2CD292E1765D}" dt="2020-09-02T18:04:21" v="307" actId="20577"/>
          <ac:spMkLst>
            <pc:docMk/>
            <pc:sldMk cId="2458459384" sldId="319"/>
            <ac:spMk id="3" creationId="{8232105E-677A-EF4D-B7AC-71CF68479263}"/>
          </ac:spMkLst>
        </pc:spChg>
      </pc:sldChg>
      <pc:sldChg chg="del">
        <pc:chgData name="Q Z" userId="0598117016cd6850" providerId="LiveId" clId="{2BA66019-4591-C846-9028-2CD292E1765D}" dt="2020-09-02T18:14:30.582" v="379" actId="2696"/>
        <pc:sldMkLst>
          <pc:docMk/>
          <pc:sldMk cId="1315374295" sldId="324"/>
        </pc:sldMkLst>
      </pc:sldChg>
      <pc:sldChg chg="addSp modSp add mod">
        <pc:chgData name="Q Z" userId="0598117016cd6850" providerId="LiveId" clId="{2BA66019-4591-C846-9028-2CD292E1765D}" dt="2020-09-02T18:10:24.651" v="378" actId="1076"/>
        <pc:sldMkLst>
          <pc:docMk/>
          <pc:sldMk cId="1771734156" sldId="326"/>
        </pc:sldMkLst>
        <pc:spChg chg="mod">
          <ac:chgData name="Q Z" userId="0598117016cd6850" providerId="LiveId" clId="{2BA66019-4591-C846-9028-2CD292E1765D}" dt="2020-09-02T18:07:38.347" v="353" actId="20577"/>
          <ac:spMkLst>
            <pc:docMk/>
            <pc:sldMk cId="1771734156" sldId="326"/>
            <ac:spMk id="2" creationId="{B9E0B195-2247-F141-ACF4-E4A1A8DA7C76}"/>
          </ac:spMkLst>
        </pc:spChg>
        <pc:spChg chg="mod">
          <ac:chgData name="Q Z" userId="0598117016cd6850" providerId="LiveId" clId="{2BA66019-4591-C846-9028-2CD292E1765D}" dt="2020-09-02T18:09:33.994" v="372" actId="404"/>
          <ac:spMkLst>
            <pc:docMk/>
            <pc:sldMk cId="1771734156" sldId="326"/>
            <ac:spMk id="3" creationId="{3541D7D8-FD16-F344-A89A-0C487F5F535C}"/>
          </ac:spMkLst>
        </pc:spChg>
        <pc:picChg chg="add mod">
          <ac:chgData name="Q Z" userId="0598117016cd6850" providerId="LiveId" clId="{2BA66019-4591-C846-9028-2CD292E1765D}" dt="2020-09-02T18:09:14.362" v="355" actId="1076"/>
          <ac:picMkLst>
            <pc:docMk/>
            <pc:sldMk cId="1771734156" sldId="326"/>
            <ac:picMk id="4" creationId="{28A2F7EC-1506-584F-9F84-478CF2DAE9A0}"/>
          </ac:picMkLst>
        </pc:picChg>
        <pc:picChg chg="add mod">
          <ac:chgData name="Q Z" userId="0598117016cd6850" providerId="LiveId" clId="{2BA66019-4591-C846-9028-2CD292E1765D}" dt="2020-09-02T18:10:24.651" v="378" actId="1076"/>
          <ac:picMkLst>
            <pc:docMk/>
            <pc:sldMk cId="1771734156" sldId="326"/>
            <ac:picMk id="1026" creationId="{06B1BA0E-569A-9645-9A7C-B513FF505C70}"/>
          </ac:picMkLst>
        </pc:picChg>
      </pc:sldChg>
    </pc:docChg>
  </pc:docChgLst>
  <pc:docChgLst>
    <pc:chgData name="Q Z" userId="0598117016cd6850" providerId="LiveId" clId="{3351F81B-803C-2C49-B9B7-94669ACAE3A8}"/>
    <pc:docChg chg="addSld modSld">
      <pc:chgData name="Q Z" userId="0598117016cd6850" providerId="LiveId" clId="{3351F81B-803C-2C49-B9B7-94669ACAE3A8}" dt="2020-09-03T09:04:41.933" v="55" actId="207"/>
      <pc:docMkLst>
        <pc:docMk/>
      </pc:docMkLst>
      <pc:sldChg chg="modSp">
        <pc:chgData name="Q Z" userId="0598117016cd6850" providerId="LiveId" clId="{3351F81B-803C-2C49-B9B7-94669ACAE3A8}" dt="2020-09-03T09:04:41.933" v="55" actId="207"/>
        <pc:sldMkLst>
          <pc:docMk/>
          <pc:sldMk cId="581332896" sldId="309"/>
        </pc:sldMkLst>
        <pc:spChg chg="mod">
          <ac:chgData name="Q Z" userId="0598117016cd6850" providerId="LiveId" clId="{3351F81B-803C-2C49-B9B7-94669ACAE3A8}" dt="2020-09-03T09:04:41.933" v="55" actId="207"/>
          <ac:spMkLst>
            <pc:docMk/>
            <pc:sldMk cId="581332896" sldId="309"/>
            <ac:spMk id="3" creationId="{1B15B996-5952-CA44-90B0-02ABAA4EAC6C}"/>
          </ac:spMkLst>
        </pc:spChg>
      </pc:sldChg>
      <pc:sldChg chg="addSp delSp modSp add">
        <pc:chgData name="Q Z" userId="0598117016cd6850" providerId="LiveId" clId="{3351F81B-803C-2C49-B9B7-94669ACAE3A8}" dt="2020-09-03T07:22:19.689" v="50" actId="1076"/>
        <pc:sldMkLst>
          <pc:docMk/>
          <pc:sldMk cId="2223405279" sldId="327"/>
        </pc:sldMkLst>
        <pc:spChg chg="mod">
          <ac:chgData name="Q Z" userId="0598117016cd6850" providerId="LiveId" clId="{3351F81B-803C-2C49-B9B7-94669ACAE3A8}" dt="2020-09-03T06:59:39.432" v="3"/>
          <ac:spMkLst>
            <pc:docMk/>
            <pc:sldMk cId="2223405279" sldId="327"/>
            <ac:spMk id="2" creationId="{1387362F-A24A-6342-BAAE-FACB800A3028}"/>
          </ac:spMkLst>
        </pc:spChg>
        <pc:spChg chg="mod">
          <ac:chgData name="Q Z" userId="0598117016cd6850" providerId="LiveId" clId="{3351F81B-803C-2C49-B9B7-94669ACAE3A8}" dt="2020-09-03T07:01:37.255" v="17" actId="14100"/>
          <ac:spMkLst>
            <pc:docMk/>
            <pc:sldMk cId="2223405279" sldId="327"/>
            <ac:spMk id="3" creationId="{09CB959C-A4EF-9742-8A17-1FEE29A4E276}"/>
          </ac:spMkLst>
        </pc:sp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6" creationId="{2CC0705B-C583-EB44-A6F0-3D7914EA4F67}"/>
          </ac:picMkLst>
        </pc:pic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8" creationId="{3C27A4E4-1D03-A64E-AD97-BCA56FBF8CD3}"/>
          </ac:picMkLst>
        </pc:picChg>
        <pc:picChg chg="add del mod">
          <ac:chgData name="Q Z" userId="0598117016cd6850" providerId="LiveId" clId="{3351F81B-803C-2C49-B9B7-94669ACAE3A8}" dt="2020-09-03T07:01:38.281" v="18"/>
          <ac:picMkLst>
            <pc:docMk/>
            <pc:sldMk cId="2223405279" sldId="327"/>
            <ac:picMk id="1030" creationId="{342F3586-D385-E742-A2C2-22F776B620DD}"/>
          </ac:picMkLst>
        </pc:picChg>
        <pc:picChg chg="add mod">
          <ac:chgData name="Q Z" userId="0598117016cd6850" providerId="LiveId" clId="{3351F81B-803C-2C49-B9B7-94669ACAE3A8}" dt="2020-09-03T07:22:19.689" v="50" actId="1076"/>
          <ac:picMkLst>
            <pc:docMk/>
            <pc:sldMk cId="2223405279" sldId="327"/>
            <ac:picMk id="1032" creationId="{51408161-DC70-BF41-B4E9-3A5ED79BA1B9}"/>
          </ac:picMkLst>
        </pc:picChg>
      </pc:sldChg>
      <pc:sldChg chg="addSp modSp add">
        <pc:chgData name="Q Z" userId="0598117016cd6850" providerId="LiveId" clId="{3351F81B-803C-2C49-B9B7-94669ACAE3A8}" dt="2020-09-03T07:04:16.074" v="38" actId="1076"/>
        <pc:sldMkLst>
          <pc:docMk/>
          <pc:sldMk cId="2711338742" sldId="328"/>
        </pc:sldMkLst>
        <pc:spChg chg="mod">
          <ac:chgData name="Q Z" userId="0598117016cd6850" providerId="LiveId" clId="{3351F81B-803C-2C49-B9B7-94669ACAE3A8}" dt="2020-09-03T07:03:29.915" v="31"/>
          <ac:spMkLst>
            <pc:docMk/>
            <pc:sldMk cId="2711338742" sldId="328"/>
            <ac:spMk id="2" creationId="{AC25ADB1-CF40-D540-82AD-CA29789D7DDA}"/>
          </ac:spMkLst>
        </pc:spChg>
        <pc:spChg chg="mod">
          <ac:chgData name="Q Z" userId="0598117016cd6850" providerId="LiveId" clId="{3351F81B-803C-2C49-B9B7-94669ACAE3A8}" dt="2020-09-03T07:02:22.768" v="26"/>
          <ac:spMkLst>
            <pc:docMk/>
            <pc:sldMk cId="2711338742" sldId="328"/>
            <ac:spMk id="3" creationId="{932B9BCA-7B9C-DF45-B6F8-04054E4A03F1}"/>
          </ac:spMkLst>
        </pc:spChg>
        <pc:picChg chg="add mod">
          <ac:chgData name="Q Z" userId="0598117016cd6850" providerId="LiveId" clId="{3351F81B-803C-2C49-B9B7-94669ACAE3A8}" dt="2020-09-03T07:04:16.074" v="38" actId="1076"/>
          <ac:picMkLst>
            <pc:docMk/>
            <pc:sldMk cId="2711338742" sldId="328"/>
            <ac:picMk id="4" creationId="{C25F8C83-F8D4-DD42-A362-8C519A77A271}"/>
          </ac:picMkLst>
        </pc:picChg>
      </pc:sldChg>
      <pc:sldChg chg="addSp delSp modSp add">
        <pc:chgData name="Q Z" userId="0598117016cd6850" providerId="LiveId" clId="{3351F81B-803C-2C49-B9B7-94669ACAE3A8}" dt="2020-09-03T07:05:16.381" v="42" actId="1076"/>
        <pc:sldMkLst>
          <pc:docMk/>
          <pc:sldMk cId="2580820078" sldId="329"/>
        </pc:sldMkLst>
        <pc:picChg chg="add mod">
          <ac:chgData name="Q Z" userId="0598117016cd6850" providerId="LiveId" clId="{3351F81B-803C-2C49-B9B7-94669ACAE3A8}" dt="2020-09-03T07:04:03.759" v="34"/>
          <ac:picMkLst>
            <pc:docMk/>
            <pc:sldMk cId="2580820078" sldId="329"/>
            <ac:picMk id="4" creationId="{23E38AF4-EE30-9748-8A9A-36C60CF5EA36}"/>
          </ac:picMkLst>
        </pc:picChg>
        <pc:picChg chg="add del mod">
          <ac:chgData name="Q Z" userId="0598117016cd6850" providerId="LiveId" clId="{3351F81B-803C-2C49-B9B7-94669ACAE3A8}" dt="2020-09-03T07:05:06.740" v="39" actId="1076"/>
          <ac:picMkLst>
            <pc:docMk/>
            <pc:sldMk cId="2580820078" sldId="329"/>
            <ac:picMk id="5" creationId="{E736130E-66FA-2E44-A00B-1FC5AD39B6DF}"/>
          </ac:picMkLst>
        </pc:picChg>
        <pc:picChg chg="add mod">
          <ac:chgData name="Q Z" userId="0598117016cd6850" providerId="LiveId" clId="{3351F81B-803C-2C49-B9B7-94669ACAE3A8}" dt="2020-09-03T07:05:16.381" v="42" actId="1076"/>
          <ac:picMkLst>
            <pc:docMk/>
            <pc:sldMk cId="2580820078" sldId="329"/>
            <ac:picMk id="2050" creationId="{885110A3-036A-974F-915C-551E62C9FA11}"/>
          </ac:picMkLst>
        </pc:picChg>
      </pc:sldChg>
      <pc:sldChg chg="addSp modSp add">
        <pc:chgData name="Q Z" userId="0598117016cd6850" providerId="LiveId" clId="{3351F81B-803C-2C49-B9B7-94669ACAE3A8}" dt="2020-09-03T07:23:27.125" v="54" actId="1076"/>
        <pc:sldMkLst>
          <pc:docMk/>
          <pc:sldMk cId="2355989735" sldId="330"/>
        </pc:sldMkLst>
        <pc:picChg chg="add mod">
          <ac:chgData name="Q Z" userId="0598117016cd6850" providerId="LiveId" clId="{3351F81B-803C-2C49-B9B7-94669ACAE3A8}" dt="2020-09-03T07:23:27.125" v="54" actId="1076"/>
          <ac:picMkLst>
            <pc:docMk/>
            <pc:sldMk cId="2355989735" sldId="330"/>
            <ac:picMk id="4098" creationId="{7CFFEB50-B1F5-4D46-8D41-1D790CF5C271}"/>
          </ac:picMkLst>
        </pc:picChg>
      </pc:sldChg>
      <pc:sldChg chg="modSp add">
        <pc:chgData name="Q Z" userId="0598117016cd6850" providerId="LiveId" clId="{3351F81B-803C-2C49-B9B7-94669ACAE3A8}" dt="2020-09-03T07:20:48.810" v="47" actId="20577"/>
        <pc:sldMkLst>
          <pc:docMk/>
          <pc:sldMk cId="3730086564" sldId="331"/>
        </pc:sldMkLst>
        <pc:spChg chg="mod">
          <ac:chgData name="Q Z" userId="0598117016cd6850" providerId="LiveId" clId="{3351F81B-803C-2C49-B9B7-94669ACAE3A8}" dt="2020-09-03T07:20:48.810" v="47" actId="20577"/>
          <ac:spMkLst>
            <pc:docMk/>
            <pc:sldMk cId="3730086564" sldId="331"/>
            <ac:spMk id="3" creationId="{52F30828-5CE0-BC4B-9D54-707C0B699C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2524C-7966-684C-BDC9-CFD451BFAD4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6C42A-5AA1-B144-8688-E824ABDD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nbc.com/rachel-maddow-show/maddowblog/trump-tries-fails-circumvent-court-ruling-unnecessary-portland-troop-d-rcna235843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.com/russia/625930-georgia-unrest-coup-attempt/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06C42A-5AA1-B144-8688-E824ABDD91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AEF30-D8C4-6318-109D-169DEE5BC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F05BB95-C167-196B-997C-0726E11C79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53C6CD-9B06-435C-9CE1-A5E15877B5A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85442" name="Rectangle 2">
            <a:extLst>
              <a:ext uri="{FF2B5EF4-FFF2-40B4-BE49-F238E27FC236}">
                <a16:creationId xmlns:a16="http://schemas.microsoft.com/office/drawing/2014/main" id="{631B35E5-E75B-7118-A7B5-0677A183D0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2713" y="931863"/>
            <a:ext cx="4246562" cy="3184525"/>
          </a:xfrm>
          <a:solidFill>
            <a:srgbClr val="FFFFFF"/>
          </a:solidFill>
          <a:ln/>
        </p:spPr>
      </p:sp>
      <p:sp>
        <p:nvSpPr>
          <p:cNvPr id="1085443" name="Rectangle 3">
            <a:extLst>
              <a:ext uri="{FF2B5EF4-FFF2-40B4-BE49-F238E27FC236}">
                <a16:creationId xmlns:a16="http://schemas.microsoft.com/office/drawing/2014/main" id="{B755DA93-458A-2154-2B6F-F706F16339D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069975" y="4425950"/>
            <a:ext cx="4876800" cy="35337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309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blue shading indicates the linguistic features with negative associations with anxiety symptoms whereas the red shading indicates linguistic with positive associations with anxiety symptoms.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30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Topics matrix is the PC scores</a:t>
            </a:r>
          </a:p>
          <a:p>
            <a:r>
              <a:rPr lang="en-US" dirty="0"/>
              <a:t>Terms matrix is the PC loadings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73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Insensitivity to grammatical structure, Limited semantic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means that these vectors can capture very precisely abstract concepts (like gender and royalty) without any input from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77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max 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baseline="-25000" dirty="0"/>
              <a:t> </a:t>
            </a:r>
            <a:r>
              <a:rPr lang="en-US" baseline="0" dirty="0"/>
              <a:t>as 1 in the output prob.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04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effectLst/>
                <a:latin typeface="inherit"/>
              </a:rPr>
              <a:t># Load 1,000,000 most common words</a:t>
            </a:r>
            <a:r>
              <a:rPr lang="en-US" dirty="0"/>
              <a:t> </a:t>
            </a:r>
          </a:p>
          <a:p>
            <a:r>
              <a:rPr lang="en-US" dirty="0">
                <a:effectLst/>
                <a:latin typeface="inherit"/>
              </a:rPr>
              <a:t>word2vec_model</a:t>
            </a:r>
            <a:r>
              <a:rPr lang="en-US" dirty="0"/>
              <a:t> 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=</a:t>
            </a:r>
            <a:r>
              <a:rPr lang="en-US" dirty="0"/>
              <a:t> </a:t>
            </a:r>
            <a:r>
              <a:rPr lang="en-US" dirty="0">
                <a:effectLst/>
                <a:latin typeface="inherit"/>
              </a:rPr>
              <a:t>gensim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>
                <a:effectLst/>
                <a:latin typeface="inherit"/>
              </a:rPr>
              <a:t>models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>
                <a:effectLst/>
                <a:latin typeface="inherit"/>
              </a:rPr>
              <a:t>KeyedVectors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>
                <a:effectLst/>
                <a:latin typeface="inherit"/>
              </a:rPr>
              <a:t>load_word2vec_format(word2vec_path,</a:t>
            </a:r>
            <a:r>
              <a:rPr lang="en-US" dirty="0"/>
              <a:t> </a:t>
            </a:r>
            <a:r>
              <a:rPr lang="en-US" dirty="0">
                <a:effectLst/>
                <a:latin typeface="inherit"/>
              </a:rPr>
              <a:t>binary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=</a:t>
            </a:r>
            <a:r>
              <a:rPr lang="en-US" b="0" dirty="0">
                <a:solidFill>
                  <a:srgbClr val="007B00"/>
                </a:solidFill>
                <a:effectLst/>
                <a:latin typeface="inherit"/>
              </a:rPr>
              <a:t>True</a:t>
            </a:r>
            <a:r>
              <a:rPr lang="en-US" dirty="0">
                <a:effectLst/>
                <a:latin typeface="inherit"/>
              </a:rPr>
              <a:t>,</a:t>
            </a:r>
            <a:r>
              <a:rPr lang="en-US" dirty="0"/>
              <a:t> </a:t>
            </a:r>
            <a:r>
              <a:rPr lang="en-US" dirty="0">
                <a:effectLst/>
                <a:latin typeface="inherit"/>
              </a:rPr>
              <a:t>limit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=</a:t>
            </a:r>
            <a:r>
              <a:rPr lang="en-US" dirty="0">
                <a:solidFill>
                  <a:srgbClr val="666666"/>
                </a:solidFill>
                <a:effectLst/>
                <a:latin typeface="inherit"/>
              </a:rPr>
              <a:t>1_000_000</a:t>
            </a:r>
            <a:r>
              <a:rPr lang="en-US" dirty="0">
                <a:effectLst/>
                <a:latin typeface="inherit"/>
              </a:rPr>
              <a:t>)</a:t>
            </a:r>
            <a:r>
              <a:rPr lang="en-US" dirty="0"/>
              <a:t> </a:t>
            </a:r>
          </a:p>
          <a:p>
            <a:endParaRPr lang="en-US" b="0" i="1" dirty="0">
              <a:effectLst/>
              <a:latin typeface="inherit"/>
            </a:endParaRPr>
          </a:p>
          <a:p>
            <a:r>
              <a:rPr lang="en-US" b="0" i="1" dirty="0">
                <a:effectLst/>
                <a:latin typeface="inherit"/>
              </a:rPr>
              <a:t># Add one for padding token</a:t>
            </a:r>
            <a:r>
              <a:rPr lang="en-US" dirty="0"/>
              <a:t> </a:t>
            </a:r>
          </a:p>
          <a:p>
            <a:r>
              <a:rPr lang="en-US" dirty="0" err="1">
                <a:effectLst/>
                <a:latin typeface="inherit"/>
              </a:rPr>
              <a:t>num_tokens</a:t>
            </a:r>
            <a:r>
              <a:rPr lang="en-US" dirty="0"/>
              <a:t> 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=</a:t>
            </a:r>
            <a:r>
              <a:rPr lang="en-US" dirty="0"/>
              <a:t> </a:t>
            </a:r>
            <a:r>
              <a:rPr lang="en-US" dirty="0" err="1">
                <a:solidFill>
                  <a:srgbClr val="008000"/>
                </a:solidFill>
                <a:effectLst/>
                <a:latin typeface="inherit"/>
              </a:rPr>
              <a:t>len</a:t>
            </a:r>
            <a:r>
              <a:rPr lang="en-US" dirty="0">
                <a:effectLst/>
                <a:latin typeface="inherit"/>
              </a:rPr>
              <a:t>(</a:t>
            </a:r>
            <a:r>
              <a:rPr lang="en-US" dirty="0" err="1">
                <a:effectLst/>
                <a:latin typeface="inherit"/>
              </a:rPr>
              <a:t>tokenizer</a:t>
            </a:r>
            <a:r>
              <a:rPr lang="en-US" b="0" dirty="0" err="1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 err="1">
                <a:effectLst/>
                <a:latin typeface="inherit"/>
              </a:rPr>
              <a:t>word_index</a:t>
            </a:r>
            <a:r>
              <a:rPr lang="en-US" dirty="0">
                <a:effectLst/>
                <a:latin typeface="inherit"/>
              </a:rPr>
              <a:t>)</a:t>
            </a:r>
            <a:r>
              <a:rPr lang="en-US" dirty="0"/>
              <a:t> 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dirty="0"/>
              <a:t> </a:t>
            </a:r>
          </a:p>
          <a:p>
            <a:endParaRPr lang="en-US" b="0" i="1" dirty="0">
              <a:effectLst/>
              <a:latin typeface="inherit"/>
            </a:endParaRPr>
          </a:p>
          <a:p>
            <a:r>
              <a:rPr lang="en-US" b="0" i="1" dirty="0">
                <a:effectLst/>
                <a:latin typeface="inherit"/>
              </a:rPr>
              <a:t># Word vector dimension</a:t>
            </a:r>
            <a:r>
              <a:rPr lang="en-US" dirty="0"/>
              <a:t> </a:t>
            </a:r>
          </a:p>
          <a:p>
            <a:r>
              <a:rPr lang="en-US" dirty="0" err="1">
                <a:effectLst/>
                <a:latin typeface="inherit"/>
              </a:rPr>
              <a:t>embedding_dim</a:t>
            </a:r>
            <a:r>
              <a:rPr lang="en-US" dirty="0"/>
              <a:t> 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666666"/>
                </a:solidFill>
                <a:effectLst/>
                <a:latin typeface="inherit"/>
              </a:rPr>
              <a:t>300</a:t>
            </a:r>
            <a:r>
              <a:rPr lang="en-US" dirty="0"/>
              <a:t> </a:t>
            </a:r>
          </a:p>
          <a:p>
            <a:endParaRPr lang="en-US" b="0" i="1" dirty="0">
              <a:effectLst/>
              <a:latin typeface="inherit"/>
            </a:endParaRPr>
          </a:p>
          <a:p>
            <a:r>
              <a:rPr lang="en-US" b="0" i="1" dirty="0">
                <a:effectLst/>
                <a:latin typeface="inherit"/>
              </a:rPr>
              <a:t># Initialize matrix of zeros</a:t>
            </a:r>
            <a:r>
              <a:rPr lang="en-US" dirty="0"/>
              <a:t> </a:t>
            </a:r>
          </a:p>
          <a:p>
            <a:r>
              <a:rPr lang="en-US" dirty="0" err="1">
                <a:effectLst/>
                <a:latin typeface="inherit"/>
              </a:rPr>
              <a:t>embedding_matrix</a:t>
            </a:r>
            <a:r>
              <a:rPr lang="en-US" dirty="0"/>
              <a:t> 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=</a:t>
            </a:r>
            <a:r>
              <a:rPr lang="en-US" dirty="0"/>
              <a:t> </a:t>
            </a:r>
            <a:r>
              <a:rPr lang="en-US" dirty="0" err="1">
                <a:effectLst/>
                <a:latin typeface="inherit"/>
              </a:rPr>
              <a:t>np</a:t>
            </a:r>
            <a:r>
              <a:rPr lang="en-US" b="0" dirty="0" err="1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 err="1">
                <a:effectLst/>
                <a:latin typeface="inherit"/>
              </a:rPr>
              <a:t>zeros</a:t>
            </a:r>
            <a:r>
              <a:rPr lang="en-US" dirty="0">
                <a:effectLst/>
                <a:latin typeface="inherit"/>
              </a:rPr>
              <a:t>((</a:t>
            </a:r>
            <a:r>
              <a:rPr lang="en-US" dirty="0" err="1">
                <a:effectLst/>
                <a:latin typeface="inherit"/>
              </a:rPr>
              <a:t>num_tokens</a:t>
            </a:r>
            <a:r>
              <a:rPr lang="en-US" dirty="0">
                <a:effectLst/>
                <a:latin typeface="inherit"/>
              </a:rPr>
              <a:t>,</a:t>
            </a:r>
            <a:r>
              <a:rPr lang="en-US" dirty="0"/>
              <a:t> </a:t>
            </a:r>
            <a:r>
              <a:rPr lang="en-US" dirty="0" err="1">
                <a:effectLst/>
                <a:latin typeface="inherit"/>
              </a:rPr>
              <a:t>embedding_dim</a:t>
            </a:r>
            <a:r>
              <a:rPr lang="en-US" dirty="0">
                <a:effectLst/>
                <a:latin typeface="inherit"/>
              </a:rPr>
              <a:t>))</a:t>
            </a:r>
            <a:r>
              <a:rPr lang="en-US" dirty="0"/>
              <a:t> </a:t>
            </a:r>
          </a:p>
          <a:p>
            <a:endParaRPr lang="en-US" b="0" i="1" dirty="0">
              <a:effectLst/>
              <a:latin typeface="inherit"/>
            </a:endParaRPr>
          </a:p>
          <a:p>
            <a:r>
              <a:rPr lang="en-US" b="0" i="1" dirty="0">
                <a:effectLst/>
                <a:latin typeface="inherit"/>
              </a:rPr>
              <a:t># Fill embedding matrix</a:t>
            </a:r>
            <a:r>
              <a:rPr lang="en-US" dirty="0"/>
              <a:t> </a:t>
            </a:r>
          </a:p>
          <a:p>
            <a:r>
              <a:rPr lang="en-US" b="0" dirty="0">
                <a:solidFill>
                  <a:srgbClr val="007B00"/>
                </a:solidFill>
                <a:effectLst/>
                <a:latin typeface="inherit"/>
              </a:rPr>
              <a:t>for</a:t>
            </a:r>
            <a:r>
              <a:rPr lang="en-US" dirty="0"/>
              <a:t> </a:t>
            </a:r>
            <a:r>
              <a:rPr lang="en-US" dirty="0">
                <a:effectLst/>
                <a:latin typeface="inherit"/>
              </a:rPr>
              <a:t>word,</a:t>
            </a:r>
            <a:r>
              <a:rPr lang="en-US" dirty="0"/>
              <a:t> </a:t>
            </a:r>
            <a:r>
              <a:rPr lang="en-US" dirty="0" err="1">
                <a:effectLst/>
                <a:latin typeface="inherit"/>
              </a:rPr>
              <a:t>i</a:t>
            </a:r>
            <a:r>
              <a:rPr lang="en-US" dirty="0"/>
              <a:t> </a:t>
            </a:r>
            <a:r>
              <a:rPr lang="en-US" b="1" dirty="0">
                <a:solidFill>
                  <a:srgbClr val="AA22FF"/>
                </a:solidFill>
                <a:effectLst/>
                <a:latin typeface="inherit"/>
              </a:rPr>
              <a:t>in</a:t>
            </a:r>
            <a:r>
              <a:rPr lang="en-US" dirty="0"/>
              <a:t> </a:t>
            </a:r>
            <a:r>
              <a:rPr lang="en-US" dirty="0" err="1">
                <a:effectLst/>
                <a:latin typeface="inherit"/>
              </a:rPr>
              <a:t>tokenizer</a:t>
            </a:r>
            <a:r>
              <a:rPr lang="en-US" b="0" dirty="0" err="1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 err="1">
                <a:effectLst/>
                <a:latin typeface="inherit"/>
              </a:rPr>
              <a:t>word_index</a:t>
            </a:r>
            <a:r>
              <a:rPr lang="en-US" b="0" dirty="0" err="1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 err="1">
                <a:effectLst/>
                <a:latin typeface="inherit"/>
              </a:rPr>
              <a:t>items</a:t>
            </a:r>
            <a:r>
              <a:rPr lang="en-US" dirty="0">
                <a:effectLst/>
                <a:latin typeface="inherit"/>
              </a:rPr>
              <a:t>():</a:t>
            </a:r>
            <a:r>
              <a:rPr lang="en-US" dirty="0"/>
              <a:t> </a:t>
            </a:r>
          </a:p>
          <a:p>
            <a:r>
              <a:rPr lang="en-US" b="0" dirty="0">
                <a:solidFill>
                  <a:srgbClr val="007B00"/>
                </a:solidFill>
                <a:effectLst/>
                <a:latin typeface="inherit"/>
              </a:rPr>
              <a:t>	if</a:t>
            </a:r>
            <a:r>
              <a:rPr lang="en-US" dirty="0"/>
              <a:t> </a:t>
            </a:r>
            <a:r>
              <a:rPr lang="en-US" dirty="0">
                <a:effectLst/>
                <a:latin typeface="inherit"/>
              </a:rPr>
              <a:t>word2vec_model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>
                <a:effectLst/>
                <a:latin typeface="inherit"/>
              </a:rPr>
              <a:t>has_index_for(word):</a:t>
            </a:r>
            <a:r>
              <a:rPr lang="en-US" dirty="0"/>
              <a:t> </a:t>
            </a:r>
          </a:p>
          <a:p>
            <a:r>
              <a:rPr lang="en-US" dirty="0">
                <a:effectLst/>
                <a:latin typeface="inherit"/>
              </a:rPr>
              <a:t>		</a:t>
            </a:r>
            <a:r>
              <a:rPr lang="en-US" dirty="0" err="1">
                <a:effectLst/>
                <a:latin typeface="inherit"/>
              </a:rPr>
              <a:t>embedding_matrix</a:t>
            </a:r>
            <a:r>
              <a:rPr lang="en-US" dirty="0">
                <a:effectLst/>
                <a:latin typeface="inherit"/>
              </a:rPr>
              <a:t>[</a:t>
            </a:r>
            <a:r>
              <a:rPr lang="en-US" dirty="0" err="1">
                <a:effectLst/>
                <a:latin typeface="inherit"/>
              </a:rPr>
              <a:t>i</a:t>
            </a:r>
            <a:r>
              <a:rPr lang="en-US" dirty="0">
                <a:effectLst/>
                <a:latin typeface="inherit"/>
              </a:rPr>
              <a:t>]</a:t>
            </a:r>
            <a:r>
              <a:rPr lang="en-US" dirty="0"/>
              <a:t> 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=</a:t>
            </a:r>
            <a:r>
              <a:rPr lang="en-US" dirty="0"/>
              <a:t> </a:t>
            </a:r>
            <a:r>
              <a:rPr lang="en-US" dirty="0">
                <a:effectLst/>
                <a:latin typeface="inherit"/>
              </a:rPr>
              <a:t>word2vec_model[word]</a:t>
            </a:r>
            <a:r>
              <a:rPr lang="en-US" b="0" dirty="0"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lang="en-US" dirty="0">
                <a:effectLst/>
                <a:latin typeface="inherit"/>
              </a:rPr>
              <a:t>copy()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73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1"/>
                </a:solidFill>
              </a:rPr>
              <a:t>By applying the big embedding matrix W (</a:t>
            </a:r>
            <a:r>
              <a:rPr lang="en-US" sz="1200" dirty="0" err="1">
                <a:solidFill>
                  <a:schemeClr val="accent1"/>
                </a:solidFill>
              </a:rPr>
              <a:t>vol_size</a:t>
            </a:r>
            <a:r>
              <a:rPr lang="en-US" sz="1200" dirty="0">
                <a:solidFill>
                  <a:schemeClr val="accent1"/>
                </a:solidFill>
              </a:rPr>
              <a:t> x 300) to a one-hot encoding matrix (250 x </a:t>
            </a:r>
            <a:r>
              <a:rPr lang="en-US" sz="1200" dirty="0" err="1">
                <a:solidFill>
                  <a:schemeClr val="accent1"/>
                </a:solidFill>
              </a:rPr>
              <a:t>vol_size</a:t>
            </a:r>
            <a:r>
              <a:rPr lang="en-US" sz="12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0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kharepratyush.medium.com</a:t>
            </a:r>
            <a:r>
              <a:rPr lang="en-US" dirty="0"/>
              <a:t>/deep-learning-for-nlp-word2vec-doc2vec-and-top2vec-demystified-3842b4fad5c9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15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49E9-6664-A97D-A811-4BAFC14D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0943D-3C86-3D42-AF5B-0BA36B229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32184-5134-1D33-31D0-DF3073443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kharepratyush.medium.com</a:t>
            </a:r>
            <a:r>
              <a:rPr lang="en-US" dirty="0"/>
              <a:t>/deep-learning-for-nlp-word2vec-doc2vec-and-top2vec-demystified-3842b4fad5c9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D26E3-8876-410D-8A6E-2F9D32F62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50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5DED-306B-37A1-2DB1-D0AC53F2F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06EFF-41FB-6B5B-E397-0E233C89B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F1E97-43C2-FEEC-B584-BBBD13B9E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F2017-02EC-9D13-6FF2-F69F76FF2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46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Primary emotions are kept in the second concentric circle. Most intense emotions are at the core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tserrat" pitchFamily="2" charset="77"/>
              </a:rPr>
              <a:t>centre</a:t>
            </a:r>
            <a:r>
              <a:rPr lang="en-US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 of the wheel, and the intensity of emotions diminishes as you move outwards.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26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8410-810D-B2A5-393E-FE88B4E7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B6027-446B-4A7D-E92A-D7C95A4833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5085A-78CB-DCE2-BD08-4D339F420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Question mark graphic, Week 2 preview.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E8D2F-023F-3817-2BFA-BD483E4EE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34924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6EF1-7E35-5AB3-FB0B-16DACB3B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BDDC5-81A3-0FCA-A6BC-E28796FEB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DF09A-015E-A1BD-11F4-069808161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Question mark graphic, Week 2 preview.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68902-0D1E-2961-C8E2-50C2DB729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15268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04673-B805-B647-1952-7BBA1B1F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9C1E9-4797-F75F-DA61-35DCF6195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FD103-9362-3FE5-E45E-7C50F36BE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Question mark graphic, Week 2 preview.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B9A6-71F5-6565-3260-DB3891812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7243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6211-7A3F-3C4C-CE08-DB307E7B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EBE8E-06F6-6122-563C-4E8EA9F19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B5B06-52A4-56BC-445D-E2DCBEDF2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This </a:t>
            </a:r>
            <a:r>
              <a:rPr lang="en-US" b="0" i="0" u="none" strike="noStrike" dirty="0">
                <a:solidFill>
                  <a:srgbClr val="0364CC"/>
                </a:solidFill>
                <a:effectLst/>
                <a:latin typeface="-apple-system"/>
                <a:hlinkClick r:id="rId3"/>
              </a:rPr>
              <a:t>article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 comes from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-apple-system"/>
              </a:rPr>
              <a:t>Msnbc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, a mainstream source.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58D12-9F28-064C-CF5C-6E2FFE37B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10813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659AF-22F3-9D94-AF4A-378AF570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3DAE0-0747-1A5C-D3B2-376A7740C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E4880-BE72-8ECD-943E-AB2A8D87C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i="0">
                <a:solidFill>
                  <a:srgbClr val="212529"/>
                </a:solidFill>
                <a:effectLst/>
                <a:latin typeface="-apple-system"/>
              </a:rPr>
              <a:t>This </a:t>
            </a:r>
            <a:r>
              <a:rPr lang="en-US" b="0" i="0" u="none" strike="noStrike">
                <a:solidFill>
                  <a:srgbClr val="0364CC"/>
                </a:solidFill>
                <a:effectLst/>
                <a:latin typeface="-apple-system"/>
                <a:hlinkClick r:id="rId3"/>
              </a:rPr>
              <a:t>article</a:t>
            </a:r>
            <a:r>
              <a:rPr lang="en-US" b="0" i="0">
                <a:solidFill>
                  <a:srgbClr val="212529"/>
                </a:solidFill>
                <a:effectLst/>
                <a:latin typeface="-apple-system"/>
              </a:rPr>
              <a:t> comes from rt.com, a questionable source.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1C483-384A-E6AD-0935-2D0579FD4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5899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3A91-D7FA-10DB-330E-BF61F37E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32B92-90AF-CCF7-CEAF-493FA9D0D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FFE06-5782-68B8-017B-D499E5879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D410B-1E5F-9B25-A5DD-70F6CA23F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0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7D6D9-6AA2-7B39-7F26-5A70DE63E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5CA6F-ED09-7C20-30B6-4766483A4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302C6-DF25-7B79-58DD-3A767C896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7294E-8F14-9D0C-1893-B5561D087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89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145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DAAF-81AD-DEC8-FB7D-861BE811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8F722-E9DB-0FD4-379C-8BF4C63E1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F7EDA-3F17-3DF4-6CE2-BDC2AE20B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627DD-C346-4890-D935-BD6479C5E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71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C1691D73-C9CE-7A4A-9F5E-498879FE5302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8B149710-8542-AD42-8D35-FCFA62A016DF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81A9-042A-E143-ACE6-2330261D8C00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B4E6F4FB-4C3F-2742-AB7D-F008C1CECAA4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89A55-C30A-F842-B623-885ADE19B891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3FDC-DCF0-8246-A961-754E913E0B7B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5E4C6-A380-8148-9B12-6D838A8A3DB0}" type="datetime1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A54C-CD91-114D-B1D6-1CB1CA623454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7DBD-F276-6748-ABDD-83AEDED20D3C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C6288-03B8-E643-BFE8-321222F1764E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FB2E-145F-1C4D-8281-E81D7BCD590D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4A68FBEC-A6EF-FA40-8A86-1612FAC97143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46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BFBC8BA-CF92-B84C-AE1C-661E2DC4125F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58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B23C-C8D4-894D-90A4-7CB6808F52EC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47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A3EAF066-C4E1-614E-B459-5E3FE30C7A6A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55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E2C4-587F-4743-9184-A5FE64E401FC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37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61C-A040-B540-A29D-5F691041E09F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35EC-E0F4-2D4E-81D7-62B9FB91BA77}" type="datetime1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7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725-B6C0-F347-B6BA-7CD40B95D153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72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B68FC-02AC-D747-8049-A88A08799D7F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657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BEF2F-58AE-C545-B12D-68DA2DB49F71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83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B45C-82AA-DD48-9869-C8B62065DA92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CEB267C3-C155-6F47-8DBC-1016EC8DDE78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FF4D67-CE94-F344-A02E-7A8F939F7A83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6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rinker/sentiment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t.eecs.umich.edu/geoliwc/liwc_dictionary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4184-025-00140-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19312458.2018.1430754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aiml.com/what-are-the-advantages-and-disadvantages-of-bag-of-words-model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nelynn.ie/get-busy-with-word-embeddings-introduction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hinkingneuron.com/how-to-classify-text-using-word2vec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amuelcortinhas/nlp7-word-embedding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hanelynn.ie/get-busy-with-word-embeddings-introduction/" TargetMode="Externa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code/samuelcortinhas/nlp7-word-embedding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qRCEmrv1gQ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youtube.com/watch?v=UqRCEmrv1gQ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youtube.com/watch?v=UqRCEmrv1gQ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pedia2vec.github.io/wikipedia2vec/pretrained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mihaltz/word2vec-GoogleNews-vectors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jectpro.io/article/deep-learning-architectures/996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amuelcortinhas/nlp7-word-embedding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leadershipyoda.com/understanding-emotions-using-the-wheel-of-emotions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perspectiveapi.com/s/docs-sample-requests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aishalidutta/Comments-Toxicity-Detection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github.com/pemistahl/lingua-py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twitter.com%2Fsearch%3Fq%3D%23HongKongtrust%26src%3Dhashtag_click&amp;psig=AOvVaw35wsW9j8pc8QmrNqZXyips&amp;ust=1756520842783000&amp;source=images&amp;cd=vfe&amp;opi=89978449&amp;ved=0CBEQjRxqFwoTCKDBxpn8ro8DFQAAAAAdAAAAABA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fakey.osome.iu.edu/login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.org/doi/10.1126/science.aap9559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nopes.com/fact-check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6359-AFC8-5749-ABD8-D22C3153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602" y="1413845"/>
            <a:ext cx="7746794" cy="1729289"/>
          </a:xfrm>
        </p:spPr>
        <p:txBody>
          <a:bodyPr>
            <a:normAutofit fontScale="90000"/>
          </a:bodyPr>
          <a:lstStyle/>
          <a:p>
            <a:r>
              <a:rPr lang="en-US" dirty="0"/>
              <a:t>DSC3013 Intro. to Social</a:t>
            </a:r>
            <a:br>
              <a:rPr lang="en-US" dirty="0"/>
            </a:br>
            <a:r>
              <a:rPr lang="en-US" dirty="0"/>
              <a:t>Media Analytics (</a:t>
            </a:r>
            <a:r>
              <a:rPr lang="en-US" dirty="0" err="1"/>
              <a:t>Lec</a:t>
            </a:r>
            <a:r>
              <a:rPr lang="en-US" dirty="0"/>
              <a:t>. 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230220"/>
            <a:ext cx="6858000" cy="2653748"/>
          </a:xfrm>
        </p:spPr>
        <p:txBody>
          <a:bodyPr>
            <a:normAutofit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B812824-44BF-91DE-43CE-423EF8E9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anose="00000500000000000000" pitchFamily="50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19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E533-7E4E-68CB-00D0-90187CCD9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3F91-E6B7-B11A-8D91-42D5CE90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0108B-F153-83F7-761D-529D258D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90" y="1612974"/>
            <a:ext cx="8507610" cy="5245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3"/>
                </a:solidFill>
              </a:rPr>
              <a:t>Dictionary based approach</a:t>
            </a:r>
          </a:p>
          <a:p>
            <a:pPr lvl="0"/>
            <a:r>
              <a:rPr lang="en-US" sz="2000" dirty="0">
                <a:solidFill>
                  <a:schemeClr val="accent3"/>
                </a:solidFill>
              </a:rPr>
              <a:t>Word Lexicon (sum up positivity score for each word)</a:t>
            </a:r>
          </a:p>
          <a:p>
            <a:pPr lvl="0"/>
            <a:r>
              <a:rPr lang="en-US" sz="2000" dirty="0">
                <a:solidFill>
                  <a:schemeClr val="accent3"/>
                </a:solidFill>
              </a:rPr>
              <a:t>With pre-defined Rules (e.g., handle negation)</a:t>
            </a:r>
          </a:p>
          <a:p>
            <a:pPr lvl="1"/>
            <a:r>
              <a:rPr lang="en-US" sz="1800" dirty="0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https://github.com/cjhutto/vadersentiment</a:t>
            </a:r>
          </a:p>
          <a:p>
            <a:pPr lvl="1"/>
            <a:r>
              <a:rPr lang="en-US" sz="1800" dirty="0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https://github.com/trinker/sentimentr</a:t>
            </a:r>
            <a:endParaRPr lang="en-US" sz="1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</a:rPr>
              <a:t>Machine learning based approach</a:t>
            </a:r>
          </a:p>
          <a:p>
            <a:r>
              <a:rPr lang="en-US" sz="2000" dirty="0"/>
              <a:t>Training data is needed</a:t>
            </a:r>
          </a:p>
          <a:p>
            <a:pPr lvl="1"/>
            <a:r>
              <a:rPr lang="en-US" sz="2000" dirty="0"/>
              <a:t>texts </a:t>
            </a:r>
            <a:r>
              <a:rPr lang="en-US" sz="2000" dirty="0">
                <a:solidFill>
                  <a:srgbClr val="C00000"/>
                </a:solidFill>
              </a:rPr>
              <a:t>(X)</a:t>
            </a:r>
            <a:r>
              <a:rPr lang="en-US" sz="2000" dirty="0"/>
              <a:t> with human-annotated sentiment labels </a:t>
            </a:r>
            <a:r>
              <a:rPr lang="en-US" sz="2000" dirty="0">
                <a:solidFill>
                  <a:srgbClr val="C00000"/>
                </a:solidFill>
              </a:rPr>
              <a:t>(y)</a:t>
            </a:r>
          </a:p>
          <a:p>
            <a:r>
              <a:rPr lang="en-US" sz="2000" dirty="0">
                <a:latin typeface="Google Sans"/>
              </a:rPr>
              <a:t>Model evaluation</a:t>
            </a:r>
          </a:p>
          <a:p>
            <a:pPr lvl="1"/>
            <a:r>
              <a:rPr lang="en-US" sz="2000" dirty="0">
                <a:solidFill>
                  <a:srgbClr val="545D7E"/>
                </a:solidFill>
                <a:latin typeface="Google Sans"/>
              </a:rPr>
              <a:t>AUC-ROC</a:t>
            </a:r>
          </a:p>
          <a:p>
            <a:pPr lvl="1"/>
            <a:r>
              <a:rPr lang="en-US" sz="2000" dirty="0">
                <a:solidFill>
                  <a:srgbClr val="545D7E"/>
                </a:solidFill>
                <a:latin typeface="Google Sans"/>
              </a:rPr>
              <a:t>F1-score</a:t>
            </a:r>
            <a:endParaRPr lang="en-US" sz="1600" dirty="0">
              <a:solidFill>
                <a:prstClr val="black"/>
              </a:solidFill>
            </a:endParaRPr>
          </a:p>
          <a:p>
            <a:pPr lvl="0"/>
            <a:endParaRPr lang="en-US" sz="2000" dirty="0">
              <a:solidFill>
                <a:prstClr val="black"/>
              </a:solidFill>
            </a:endParaRPr>
          </a:p>
          <a:p>
            <a:pPr lvl="0"/>
            <a:endParaRPr lang="en-US" sz="2000" dirty="0">
              <a:solidFill>
                <a:prstClr val="black"/>
              </a:solidFill>
            </a:endParaRPr>
          </a:p>
          <a:p>
            <a:pPr lv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898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76828-581C-CAB4-AA9A-85364601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D21C-7382-B69B-99AA-5AB15BC0A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Beyond sentiment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3BAF5-B87A-D37E-0D44-B88242959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47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Emotion classification</a:t>
            </a:r>
          </a:p>
          <a:p>
            <a:r>
              <a:rPr lang="en-US" sz="2400" dirty="0"/>
              <a:t>Spam/clickbait detection</a:t>
            </a:r>
          </a:p>
          <a:p>
            <a:r>
              <a:rPr lang="en-US" sz="2400" dirty="0"/>
              <a:t>Helpfulness rating on Q&amp;A sites</a:t>
            </a:r>
          </a:p>
          <a:p>
            <a:r>
              <a:rPr lang="en-US" sz="2400" dirty="0"/>
              <a:t>Complain/fake product reviews</a:t>
            </a:r>
          </a:p>
          <a:p>
            <a:r>
              <a:rPr lang="en-US" sz="2400" dirty="0"/>
              <a:t>Civility/toxicity/hateful speech</a:t>
            </a:r>
          </a:p>
          <a:p>
            <a:r>
              <a:rPr lang="en-US" sz="2400" dirty="0"/>
              <a:t>Language identification of posts</a:t>
            </a:r>
          </a:p>
          <a:p>
            <a:r>
              <a:rPr lang="en-US" sz="2400" dirty="0"/>
              <a:t>Identify AIGC posts on Instagram</a:t>
            </a:r>
          </a:p>
          <a:p>
            <a:r>
              <a:rPr lang="en-US" sz="2400" dirty="0"/>
              <a:t>Fake news / bot account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5C374-D0A3-AAB5-56DF-F13FDFD76523}"/>
              </a:ext>
            </a:extLst>
          </p:cNvPr>
          <p:cNvSpPr txBox="1"/>
          <p:nvPr/>
        </p:nvSpPr>
        <p:spPr>
          <a:xfrm>
            <a:off x="814773" y="5368192"/>
            <a:ext cx="7873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Need advanced methods to deal with complex linguistic tasks.</a:t>
            </a:r>
          </a:p>
        </p:txBody>
      </p:sp>
    </p:spTree>
    <p:extLst>
      <p:ext uri="{BB962C8B-B14F-4D97-AF65-F5344CB8AC3E}">
        <p14:creationId xmlns:p14="http://schemas.microsoft.com/office/powerpoint/2010/main" val="375849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7254724-1D68-1768-9877-8DC3E26C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418" name="Rectangle 2">
            <a:extLst>
              <a:ext uri="{FF2B5EF4-FFF2-40B4-BE49-F238E27FC236}">
                <a16:creationId xmlns:a16="http://schemas.microsoft.com/office/drawing/2014/main" id="{34C0ECAF-A497-00A9-E452-19BF842A8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pattFill prst="pct60">
                  <a:fgClr>
                    <a:srgbClr val="000000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/>
          <a:p>
            <a:pPr defTabSz="342900"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GB" altLang="en-US" b="0" dirty="0"/>
              <a:t>Feature engineering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D23A43-CC8B-B132-75CF-CD234BCC6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Word-level (covered in DSC2005):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Bag of words, N-grams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TF-IDF</a:t>
            </a:r>
          </a:p>
          <a:p>
            <a:r>
              <a:rPr lang="en-US" dirty="0"/>
              <a:t>Dictionary-level: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M Sans 12" panose="00000500000000000000" pitchFamily="50" charset="0"/>
                <a:ea typeface="+mn-ea"/>
                <a:cs typeface="+mn-cs"/>
              </a:rPr>
              <a:t>LIWC (closed lexicon)</a:t>
            </a:r>
          </a:p>
          <a:p>
            <a:pPr lvl="1">
              <a:defRPr/>
            </a:pPr>
            <a:r>
              <a:rPr lang="en-US" dirty="0"/>
              <a:t>LDA (open vocabulary)</a:t>
            </a:r>
          </a:p>
          <a:p>
            <a:pPr>
              <a:spcBef>
                <a:spcPts val="500"/>
              </a:spcBef>
              <a:defRPr/>
            </a:pPr>
            <a:r>
              <a:rPr lang="en-US" dirty="0"/>
              <a:t>Embeddings:</a:t>
            </a:r>
          </a:p>
          <a:p>
            <a:pPr lvl="1">
              <a:defRPr/>
            </a:pPr>
            <a:r>
              <a:rPr lang="en-US" dirty="0"/>
              <a:t>Word2vec</a:t>
            </a:r>
          </a:p>
          <a:p>
            <a:pPr lvl="1">
              <a:defRPr/>
            </a:pPr>
            <a:r>
              <a:rPr lang="en-US" dirty="0"/>
              <a:t>Neural nets (CNN/RNN/LSTM)</a:t>
            </a:r>
          </a:p>
          <a:p>
            <a:pPr lvl="1">
              <a:defRPr/>
            </a:pPr>
            <a:r>
              <a:rPr lang="en-US" dirty="0"/>
              <a:t>Transformer (LLMs)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99285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LIWC Dictionary (bag of topics)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1698"/>
            <a:ext cx="8401050" cy="479845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Linguistic Inquiry and Word Count (LIWC)</a:t>
            </a:r>
          </a:p>
          <a:p>
            <a:r>
              <a:rPr lang="en-US" dirty="0">
                <a:solidFill>
                  <a:srgbClr val="0070C0"/>
                </a:solidFill>
              </a:rPr>
              <a:t>Closed-vocabulary</a:t>
            </a:r>
            <a:r>
              <a:rPr lang="en-US" dirty="0"/>
              <a:t>: fixed word dictionary look up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dirty="0"/>
              <a:t>Feature engineering: aggregate word count into category count</a:t>
            </a:r>
            <a:endParaRPr lang="en-US" sz="2800" dirty="0"/>
          </a:p>
        </p:txBody>
      </p:sp>
      <p:pic>
        <p:nvPicPr>
          <p:cNvPr id="9" name="Picture 8" descr="A table of text with black text&#10;&#10;AI-generated content may be incorrect.">
            <a:extLst>
              <a:ext uri="{FF2B5EF4-FFF2-40B4-BE49-F238E27FC236}">
                <a16:creationId xmlns:a16="http://schemas.microsoft.com/office/drawing/2014/main" id="{9F75C8AC-6398-83A8-2920-020ED2B92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25" y="2451712"/>
            <a:ext cx="3192721" cy="3058374"/>
          </a:xfrm>
          <a:prstGeom prst="rect">
            <a:avLst/>
          </a:prstGeom>
        </p:spPr>
      </p:pic>
      <p:pic>
        <p:nvPicPr>
          <p:cNvPr id="11" name="Picture 10" descr="A table with words on it&#10;&#10;AI-generated content may be incorrect.">
            <a:extLst>
              <a:ext uri="{FF2B5EF4-FFF2-40B4-BE49-F238E27FC236}">
                <a16:creationId xmlns:a16="http://schemas.microsoft.com/office/drawing/2014/main" id="{0E099A23-3B35-0139-E4A1-E9CD82833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725" y="2476893"/>
            <a:ext cx="3297987" cy="30455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A5410E-EEB0-1C1D-8192-3E0BD5272F25}"/>
              </a:ext>
            </a:extLst>
          </p:cNvPr>
          <p:cNvSpPr txBox="1"/>
          <p:nvPr/>
        </p:nvSpPr>
        <p:spPr>
          <a:xfrm>
            <a:off x="1418684" y="6246525"/>
            <a:ext cx="7907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https://lit.eecs.umich.edu/geoliwc/liwc_dictionary.html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6003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D8B4-1290-CC78-3AB3-CC59E535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0626-D9A7-5ABC-0148-2ABEA5C5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8446"/>
            <a:ext cx="7886700" cy="1325563"/>
          </a:xfrm>
        </p:spPr>
        <p:txBody>
          <a:bodyPr/>
          <a:lstStyle/>
          <a:p>
            <a:r>
              <a:rPr lang="en-US" b="0" dirty="0"/>
              <a:t>Linguistic marker of Anxiety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5BFC1-392F-5790-F59B-7228D1A9DD13}"/>
              </a:ext>
            </a:extLst>
          </p:cNvPr>
          <p:cNvSpPr txBox="1"/>
          <p:nvPr/>
        </p:nvSpPr>
        <p:spPr>
          <a:xfrm>
            <a:off x="3326156" y="6200486"/>
            <a:ext cx="48214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dirty="0">
                <a:solidFill>
                  <a:srgbClr val="606060"/>
                </a:solidFill>
                <a:effectLst/>
                <a:hlinkClick r:id="rId3"/>
              </a:rPr>
              <a:t>https://www.nature.com/articles/s44184-025-00140-y</a:t>
            </a:r>
            <a:endParaRPr lang="en-US" sz="1600" b="0" i="0" u="none" strike="noStrike" dirty="0">
              <a:solidFill>
                <a:srgbClr val="606060"/>
              </a:solidFill>
              <a:effectLst/>
            </a:endParaRPr>
          </a:p>
          <a:p>
            <a:pPr algn="l"/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73CFC7-3711-FEA9-D696-40571D672439}"/>
              </a:ext>
            </a:extLst>
          </p:cNvPr>
          <p:cNvSpPr txBox="1"/>
          <p:nvPr/>
        </p:nvSpPr>
        <p:spPr>
          <a:xfrm>
            <a:off x="4957302" y="2025246"/>
            <a:ext cx="37090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Categories ranked by feature importance.</a:t>
            </a:r>
          </a:p>
          <a:p>
            <a:endParaRPr lang="en-US" sz="2400" dirty="0"/>
          </a:p>
          <a:p>
            <a:r>
              <a:rPr lang="en-US" sz="2400" dirty="0"/>
              <a:t>Blue (red) denotes negative (positive) correlation </a:t>
            </a:r>
            <a:r>
              <a:rPr lang="en-US" sz="2400" dirty="0" err="1"/>
              <a:t>coeff</a:t>
            </a:r>
            <a:r>
              <a:rPr lang="en-US" sz="2400" dirty="0"/>
              <a:t>.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Advantages of LIWC?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Any disadvantages?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C217B-60C9-2D3E-8980-9262AFC52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31" y="1355408"/>
            <a:ext cx="3452421" cy="464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2686-62AF-B1C4-549A-354E35CB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4793"/>
            <a:ext cx="7886700" cy="1325563"/>
          </a:xfrm>
        </p:spPr>
        <p:txBody>
          <a:bodyPr/>
          <a:lstStyle/>
          <a:p>
            <a:r>
              <a:rPr lang="en-US" b="0" dirty="0"/>
              <a:t>LDA topic modeling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F1FAFA-58BB-C629-ABC0-F3FB4477E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53331"/>
            <a:ext cx="7380614" cy="4351338"/>
          </a:xfrm>
        </p:spPr>
        <p:txBody>
          <a:bodyPr/>
          <a:lstStyle/>
          <a:p>
            <a:r>
              <a:rPr lang="en-US" sz="2000" dirty="0">
                <a:effectLst/>
                <a:latin typeface="LMSans10"/>
              </a:rPr>
              <a:t>Latent Dirichlet Allocation (LDA) is a generative statistical model for </a:t>
            </a:r>
            <a:r>
              <a:rPr lang="en-US" altLang="zh-CN" sz="2000" dirty="0">
                <a:effectLst/>
                <a:latin typeface="LMSans10"/>
              </a:rPr>
              <a:t>automatically</a:t>
            </a:r>
            <a:r>
              <a:rPr lang="zh-CN" altLang="en-US" sz="2000" dirty="0">
                <a:effectLst/>
                <a:latin typeface="LMSans10"/>
              </a:rPr>
              <a:t> </a:t>
            </a:r>
            <a:r>
              <a:rPr lang="en-US" sz="2000" dirty="0">
                <a:effectLst/>
                <a:latin typeface="LMSans10"/>
              </a:rPr>
              <a:t>discovering</a:t>
            </a:r>
            <a:r>
              <a:rPr lang="zh-CN" altLang="en-US" sz="2000" dirty="0">
                <a:effectLst/>
                <a:latin typeface="LMSans10"/>
              </a:rPr>
              <a:t> </a:t>
            </a:r>
            <a:r>
              <a:rPr lang="en-US" sz="2000" dirty="0">
                <a:effectLst/>
                <a:latin typeface="LMSans10"/>
              </a:rPr>
              <a:t>hidden topics across a set of documents</a:t>
            </a:r>
            <a:r>
              <a:rPr lang="zh-CN" altLang="en-US" sz="2000" dirty="0">
                <a:effectLst/>
                <a:latin typeface="LMSans10"/>
              </a:rPr>
              <a:t> </a:t>
            </a:r>
            <a:r>
              <a:rPr lang="en-US" altLang="zh-CN" sz="2000" dirty="0">
                <a:effectLst/>
                <a:latin typeface="LMSans10"/>
              </a:rPr>
              <a:t>(</a:t>
            </a:r>
            <a:r>
              <a:rPr lang="en-US" altLang="zh-CN" sz="2000" dirty="0">
                <a:solidFill>
                  <a:schemeClr val="accent1"/>
                </a:solidFill>
                <a:effectLst/>
                <a:latin typeface="LMSans10"/>
              </a:rPr>
              <a:t>Unsupervised</a:t>
            </a:r>
            <a:r>
              <a:rPr lang="zh-CN" altLang="en-US" sz="2000" dirty="0">
                <a:solidFill>
                  <a:schemeClr val="accent1"/>
                </a:solidFill>
                <a:effectLst/>
                <a:latin typeface="LMSans10"/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  <a:effectLst/>
                <a:latin typeface="LMSans10"/>
              </a:rPr>
              <a:t>learning;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LMSans10"/>
              </a:rPr>
              <a:t> Open-vocabulary approach</a:t>
            </a:r>
            <a:r>
              <a:rPr lang="en-US" altLang="zh-CN" sz="2000" dirty="0">
                <a:effectLst/>
                <a:latin typeface="LMSans10"/>
              </a:rPr>
              <a:t>)</a:t>
            </a:r>
            <a:endParaRPr lang="en-US" sz="2000" dirty="0">
              <a:effectLst/>
              <a:latin typeface="LMSans10"/>
            </a:endParaRPr>
          </a:p>
          <a:p>
            <a:r>
              <a:rPr lang="en-US" altLang="zh-CN" sz="2000" dirty="0">
                <a:effectLst/>
              </a:rPr>
              <a:t>Represent</a:t>
            </a:r>
            <a:r>
              <a:rPr lang="zh-CN" altLang="en-US" sz="2000" dirty="0">
                <a:effectLst/>
              </a:rPr>
              <a:t> </a:t>
            </a:r>
            <a:r>
              <a:rPr lang="en-US" sz="2000" dirty="0">
                <a:effectLst/>
              </a:rPr>
              <a:t>doc</a:t>
            </a:r>
            <a:r>
              <a:rPr lang="en-US" altLang="zh-CN" sz="2000" dirty="0"/>
              <a:t>uments</a:t>
            </a:r>
            <a:r>
              <a:rPr lang="zh-CN" altLang="en-US" sz="2000" dirty="0"/>
              <a:t> </a:t>
            </a:r>
            <a:r>
              <a:rPr lang="en-US" altLang="zh-CN" sz="2000" dirty="0">
                <a:effectLst/>
              </a:rPr>
              <a:t>as</a:t>
            </a:r>
            <a:r>
              <a:rPr lang="zh-CN" altLang="en-US" sz="2000" dirty="0">
                <a:effectLst/>
              </a:rPr>
              <a:t> </a:t>
            </a:r>
            <a:r>
              <a:rPr lang="en-US" sz="2000" dirty="0">
                <a:effectLst/>
              </a:rPr>
              <a:t>prob</a:t>
            </a:r>
            <a:r>
              <a:rPr lang="en-US" altLang="zh-CN" sz="2000" dirty="0">
                <a:effectLst/>
              </a:rPr>
              <a:t>.</a:t>
            </a:r>
            <a:r>
              <a:rPr lang="zh-CN" altLang="en-US" sz="2000" dirty="0">
                <a:effectLst/>
              </a:rPr>
              <a:t> </a:t>
            </a:r>
            <a:r>
              <a:rPr lang="en-US" sz="2000" dirty="0">
                <a:effectLst/>
              </a:rPr>
              <a:t>distribution of topics</a:t>
            </a:r>
          </a:p>
          <a:p>
            <a:r>
              <a:rPr lang="en-US" altLang="zh-CN" sz="2000" dirty="0"/>
              <a:t>Represent</a:t>
            </a:r>
            <a:r>
              <a:rPr lang="zh-CN" altLang="en-US" sz="2000" dirty="0"/>
              <a:t> </a:t>
            </a:r>
            <a:r>
              <a:rPr lang="en-US" altLang="zh-CN" sz="2000" dirty="0"/>
              <a:t>t</a:t>
            </a:r>
            <a:r>
              <a:rPr lang="en-US" sz="2000" dirty="0">
                <a:effectLst/>
              </a:rPr>
              <a:t>he topics are prob</a:t>
            </a:r>
            <a:r>
              <a:rPr lang="en-US" altLang="zh-CN" sz="2000" dirty="0">
                <a:effectLst/>
              </a:rPr>
              <a:t>.</a:t>
            </a:r>
            <a:r>
              <a:rPr lang="zh-CN" altLang="en-US" sz="2000" dirty="0">
                <a:effectLst/>
              </a:rPr>
              <a:t> </a:t>
            </a:r>
            <a:r>
              <a:rPr lang="en-US" sz="2000" dirty="0">
                <a:effectLst/>
              </a:rPr>
              <a:t>distribution</a:t>
            </a:r>
            <a:r>
              <a:rPr lang="en-US" altLang="zh-CN" sz="2000" dirty="0">
                <a:effectLst/>
              </a:rPr>
              <a:t>s</a:t>
            </a:r>
            <a:r>
              <a:rPr lang="en-US" sz="2000" dirty="0">
                <a:effectLst/>
              </a:rPr>
              <a:t> of words</a:t>
            </a:r>
          </a:p>
          <a:p>
            <a:endParaRPr lang="en-US" dirty="0"/>
          </a:p>
        </p:txBody>
      </p:sp>
      <p:pic>
        <p:nvPicPr>
          <p:cNvPr id="9" name="Picture 6" descr="Figure 1.  Application of LDA to a Corpus. Note. LDA = latent Dirichlet allocation.">
            <a:extLst>
              <a:ext uri="{FF2B5EF4-FFF2-40B4-BE49-F238E27FC236}">
                <a16:creationId xmlns:a16="http://schemas.microsoft.com/office/drawing/2014/main" id="{16F71DCF-BFD1-E8C2-4E56-2E98A381D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921" y="3169783"/>
            <a:ext cx="6399124" cy="281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DD5DE2-B6FA-F1B2-0E4B-6C72D713985D}"/>
              </a:ext>
            </a:extLst>
          </p:cNvPr>
          <p:cNvSpPr txBox="1"/>
          <p:nvPr/>
        </p:nvSpPr>
        <p:spPr>
          <a:xfrm>
            <a:off x="2206127" y="6356351"/>
            <a:ext cx="58774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https://doi.org/10.1080/19312458.2018.1430754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6783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2686-62AF-B1C4-549A-354E35CB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4793"/>
            <a:ext cx="7886700" cy="1325563"/>
          </a:xfrm>
        </p:spPr>
        <p:txBody>
          <a:bodyPr/>
          <a:lstStyle/>
          <a:p>
            <a:r>
              <a:rPr lang="en-US" b="0" dirty="0"/>
              <a:t>LDA topic modeling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F1FAFA-58BB-C629-ABC0-F3FB4477E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53331"/>
            <a:ext cx="8303079" cy="4351338"/>
          </a:xfrm>
        </p:spPr>
        <p:txBody>
          <a:bodyPr/>
          <a:lstStyle/>
          <a:p>
            <a:r>
              <a:rPr lang="en-US" sz="2000" dirty="0">
                <a:effectLst/>
                <a:latin typeface="LMSans10"/>
              </a:rPr>
              <a:t>LDA is</a:t>
            </a:r>
            <a:r>
              <a:rPr lang="zh-CN" altLang="en-US" sz="2000" dirty="0">
                <a:effectLst/>
                <a:latin typeface="LMSans10"/>
              </a:rPr>
              <a:t> </a:t>
            </a:r>
            <a:r>
              <a:rPr lang="en-US" altLang="zh-CN" sz="2000" dirty="0">
                <a:effectLst/>
                <a:latin typeface="LMSans10"/>
              </a:rPr>
              <a:t>similar with </a:t>
            </a:r>
            <a:r>
              <a:rPr lang="en-US" sz="2000" dirty="0">
                <a:effectLst/>
                <a:latin typeface="LMSans10"/>
              </a:rPr>
              <a:t>PCA. </a:t>
            </a:r>
            <a:r>
              <a:rPr lang="en-US" sz="2000" dirty="0">
                <a:latin typeface="LMSans10"/>
              </a:rPr>
              <a:t>They both are </a:t>
            </a:r>
            <a:r>
              <a:rPr lang="en-US" sz="2000" dirty="0">
                <a:effectLst/>
                <a:latin typeface="LMSans10"/>
              </a:rPr>
              <a:t>matrix factorization techniques.</a:t>
            </a:r>
          </a:p>
          <a:p>
            <a:r>
              <a:rPr lang="en-US" sz="2000" dirty="0">
                <a:effectLst/>
                <a:latin typeface="LMSans10"/>
              </a:rPr>
              <a:t>LDA is applied to text data. It works by decomposing the Document </a:t>
            </a:r>
            <a:r>
              <a:rPr lang="en-US" sz="2000" dirty="0">
                <a:latin typeface="LMSans10"/>
              </a:rPr>
              <a:t>W</a:t>
            </a:r>
            <a:r>
              <a:rPr lang="en-US" sz="2000" dirty="0">
                <a:effectLst/>
                <a:latin typeface="LMSans10"/>
              </a:rPr>
              <a:t>ord </a:t>
            </a:r>
            <a:r>
              <a:rPr lang="en-US" sz="2000" dirty="0">
                <a:latin typeface="LMSans10"/>
              </a:rPr>
              <a:t>M</a:t>
            </a:r>
            <a:r>
              <a:rPr lang="en-US" sz="2000" dirty="0">
                <a:effectLst/>
                <a:latin typeface="LMSans10"/>
              </a:rPr>
              <a:t>atrix (the larger matrix) into two parts (smaller matrices): the Document Topic Matrix and the Topic Word Matrix.</a:t>
            </a:r>
          </a:p>
        </p:txBody>
      </p:sp>
      <p:pic>
        <p:nvPicPr>
          <p:cNvPr id="4" name="Picture 2" descr="Latent Dirichlet Allocation and NMF">
            <a:extLst>
              <a:ext uri="{FF2B5EF4-FFF2-40B4-BE49-F238E27FC236}">
                <a16:creationId xmlns:a16="http://schemas.microsoft.com/office/drawing/2014/main" id="{5E8866FB-21C6-8DA7-68C3-99A2B03B5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582" y="2710626"/>
            <a:ext cx="5125944" cy="38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49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DA70-F01D-F606-2B90-1F50CAF6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Applications of LDA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3EC7C-EE7F-C3B1-F31D-8D67B30C9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345" y="1825625"/>
            <a:ext cx="7980005" cy="4351338"/>
          </a:xfrm>
        </p:spPr>
        <p:txBody>
          <a:bodyPr/>
          <a:lstStyle/>
          <a:p>
            <a:r>
              <a:rPr lang="en-US" sz="2400" dirty="0"/>
              <a:t>LDA can transform data into low dimensional feature space</a:t>
            </a:r>
          </a:p>
          <a:p>
            <a:r>
              <a:rPr lang="en-US" sz="2400" dirty="0"/>
              <a:t>Perform predictive tasks using the document-topic matrix:</a:t>
            </a:r>
          </a:p>
          <a:p>
            <a:pPr lvl="1"/>
            <a:r>
              <a:rPr lang="en-US" dirty="0"/>
              <a:t>categorize news (sports, politics, tech, etc.)</a:t>
            </a:r>
          </a:p>
          <a:p>
            <a:pPr lvl="1"/>
            <a:r>
              <a:rPr lang="en-US" dirty="0"/>
              <a:t>book / music / movie genre classification</a:t>
            </a:r>
          </a:p>
          <a:p>
            <a:pPr lvl="1"/>
            <a:r>
              <a:rPr lang="en-US" dirty="0"/>
              <a:t>recommendation system; document search</a:t>
            </a:r>
          </a:p>
          <a:p>
            <a:pPr lvl="1"/>
            <a:r>
              <a:rPr lang="en-US" dirty="0"/>
              <a:t>predict user age, gender, ethnicity, sentiment, etc.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3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1F3DE-D24A-6BC8-9DE4-656983A82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C865-0F4A-C5E3-A6CF-E881E45E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Limitations of LDA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8567E-DBD1-AE50-A21F-197DD19D3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345" y="1825625"/>
            <a:ext cx="7980005" cy="4351338"/>
          </a:xfrm>
        </p:spPr>
        <p:txBody>
          <a:bodyPr/>
          <a:lstStyle/>
          <a:p>
            <a:r>
              <a:rPr lang="en-US" sz="2400" dirty="0"/>
              <a:t>Doesn’t work well on short document (such as Tweets).</a:t>
            </a:r>
          </a:p>
          <a:p>
            <a:r>
              <a:rPr lang="en-US" sz="2400" dirty="0"/>
              <a:t>LDA relies on the assumption that words in each topic are related and meaningful, but this may not always be the case.</a:t>
            </a:r>
          </a:p>
          <a:p>
            <a:r>
              <a:rPr lang="en-US" sz="2400" dirty="0"/>
              <a:t>It can produce ambiguous or incoherent topics.</a:t>
            </a:r>
          </a:p>
          <a:p>
            <a:r>
              <a:rPr lang="en-US" sz="2400" dirty="0"/>
              <a:t>Not straightforward to evaluate topics’ quality.</a:t>
            </a:r>
          </a:p>
        </p:txBody>
      </p:sp>
    </p:spTree>
    <p:extLst>
      <p:ext uri="{BB962C8B-B14F-4D97-AF65-F5344CB8AC3E}">
        <p14:creationId xmlns:p14="http://schemas.microsoft.com/office/powerpoint/2010/main" val="4273716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DBF3-9EEC-F130-CFEE-71F430292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6C1E88BA-9A9F-A77C-83E1-587351619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077" y="4096022"/>
            <a:ext cx="5188273" cy="205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523392-1161-379A-32D9-1F35AC0D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Recall weaknesses of </a:t>
            </a:r>
            <a:r>
              <a:rPr lang="en-US" b="0" dirty="0" err="1"/>
              <a:t>BoW</a:t>
            </a:r>
            <a:endParaRPr lang="en-US"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909D4C-37B8-FADA-C63D-27755B42847B}"/>
              </a:ext>
            </a:extLst>
          </p:cNvPr>
          <p:cNvSpPr txBox="1"/>
          <p:nvPr/>
        </p:nvSpPr>
        <p:spPr>
          <a:xfrm>
            <a:off x="767043" y="6356351"/>
            <a:ext cx="7907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https://aiml.com/what-are-the-advantages-and-disadvantages-of-bag-of-words-model/</a:t>
            </a:r>
            <a:endParaRPr lang="en-US" sz="1600" dirty="0"/>
          </a:p>
        </p:txBody>
      </p:sp>
      <p:pic>
        <p:nvPicPr>
          <p:cNvPr id="6146" name="Picture 2" descr="Sentences with different meanings are represented with same BoW vectors">
            <a:extLst>
              <a:ext uri="{FF2B5EF4-FFF2-40B4-BE49-F238E27FC236}">
                <a16:creationId xmlns:a16="http://schemas.microsoft.com/office/drawing/2014/main" id="{8672BB75-6824-158F-A80A-F698029F0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15" y="1543315"/>
            <a:ext cx="4184294" cy="299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1D1BC-BC63-173A-165F-888B386D8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193" y="2085910"/>
            <a:ext cx="4401638" cy="161575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High dimension, Sparsity</a:t>
            </a:r>
          </a:p>
          <a:p>
            <a:r>
              <a:rPr lang="en-US" sz="2400" dirty="0">
                <a:solidFill>
                  <a:srgbClr val="C00000"/>
                </a:solidFill>
              </a:rPr>
              <a:t>Ignores order and context</a:t>
            </a:r>
          </a:p>
          <a:p>
            <a:r>
              <a:rPr lang="en-US" sz="2400" dirty="0">
                <a:solidFill>
                  <a:srgbClr val="C00000"/>
                </a:solidFill>
              </a:rPr>
              <a:t>Lack of semantic nuance</a:t>
            </a:r>
          </a:p>
        </p:txBody>
      </p:sp>
    </p:spTree>
    <p:extLst>
      <p:ext uri="{BB962C8B-B14F-4D97-AF65-F5344CB8AC3E}">
        <p14:creationId xmlns:p14="http://schemas.microsoft.com/office/powerpoint/2010/main" val="409532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6159-6E2F-D259-1AA2-C7BDD828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28EAB-38FB-111D-92B2-3456AD8C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Vector-space model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F7FF8A-51FF-96C0-B351-B45C1D167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83251"/>
            <a:ext cx="8250945" cy="4351338"/>
          </a:xfrm>
        </p:spPr>
        <p:txBody>
          <a:bodyPr/>
          <a:lstStyle/>
          <a:p>
            <a:r>
              <a:rPr lang="en-US" dirty="0"/>
              <a:t>Captures deeper semantic and linguistic nuances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F9867512-1FDB-FEB5-2592-1E301E9F5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93" y="2323773"/>
            <a:ext cx="7047262" cy="331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48FD8C-F693-C8BC-D317-D5A98C884B1B}"/>
              </a:ext>
            </a:extLst>
          </p:cNvPr>
          <p:cNvSpPr txBox="1"/>
          <p:nvPr/>
        </p:nvSpPr>
        <p:spPr>
          <a:xfrm>
            <a:off x="1238708" y="6063963"/>
            <a:ext cx="72766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https://www.shanelynn.ie/get-busy-with-word-embeddings-introduction/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88171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F2AB-3EE8-DA26-DF86-2C1D7747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B204-9968-2BF2-4D88-3FDB149A0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Word2vec idea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B628C8-ECE5-33CF-C16A-A32C7E8C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83251"/>
            <a:ext cx="8250945" cy="4351338"/>
          </a:xfrm>
        </p:spPr>
        <p:txBody>
          <a:bodyPr/>
          <a:lstStyle/>
          <a:p>
            <a:r>
              <a:rPr lang="en-US" dirty="0"/>
              <a:t>Learns </a:t>
            </a:r>
            <a:r>
              <a:rPr lang="en-US" dirty="0">
                <a:solidFill>
                  <a:srgbClr val="C00000"/>
                </a:solidFill>
              </a:rPr>
              <a:t>dense</a:t>
            </a:r>
            <a:r>
              <a:rPr lang="en-US" dirty="0"/>
              <a:t> vector representation of each word</a:t>
            </a:r>
          </a:p>
          <a:p>
            <a:pPr lvl="1"/>
            <a:r>
              <a:rPr lang="en-US" dirty="0"/>
              <a:t>often 50-500D (vs. 10k in BOW); unsupervised</a:t>
            </a:r>
          </a:p>
        </p:txBody>
      </p:sp>
      <p:pic>
        <p:nvPicPr>
          <p:cNvPr id="12290" name="Picture 2" descr="word2vec vectors for sample words">
            <a:extLst>
              <a:ext uri="{FF2B5EF4-FFF2-40B4-BE49-F238E27FC236}">
                <a16:creationId xmlns:a16="http://schemas.microsoft.com/office/drawing/2014/main" id="{6999F60D-07A5-B7BE-16B4-1F6D3272D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82" y="2596187"/>
            <a:ext cx="5980094" cy="333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44430E-4EC2-A94A-BA90-A81DC15E2BDD}"/>
              </a:ext>
            </a:extLst>
          </p:cNvPr>
          <p:cNvSpPr txBox="1"/>
          <p:nvPr/>
        </p:nvSpPr>
        <p:spPr>
          <a:xfrm>
            <a:off x="972193" y="6063963"/>
            <a:ext cx="7907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https://thinkingneuron.com/how-to-classify-text-using-word2vec/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27087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4C4A-5C54-E35B-847C-72D669A4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12F376C9-C61D-7E95-7560-48DD247D1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11" y="3055618"/>
            <a:ext cx="5431658" cy="322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5E6010-8EF0-3F55-0FAD-987AC633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Word2vec idea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7B8A88-4281-CFE3-FF29-E694C7FD5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83251"/>
            <a:ext cx="8250945" cy="4351338"/>
          </a:xfrm>
        </p:spPr>
        <p:txBody>
          <a:bodyPr/>
          <a:lstStyle/>
          <a:p>
            <a:r>
              <a:rPr lang="en-US" dirty="0"/>
              <a:t>Learns dense vector representation of each word</a:t>
            </a:r>
          </a:p>
          <a:p>
            <a:pPr lvl="1"/>
            <a:r>
              <a:rPr lang="en-US" dirty="0"/>
              <a:t>often 50-500D (vs. 10k in BOW); unsupervised</a:t>
            </a:r>
          </a:p>
          <a:p>
            <a:r>
              <a:rPr lang="en-US" dirty="0">
                <a:solidFill>
                  <a:srgbClr val="C00000"/>
                </a:solidFill>
              </a:rPr>
              <a:t>Words appear in similar context have similar vectors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C7123-A41E-7D41-4931-DF3FD3CF7D4C}"/>
              </a:ext>
            </a:extLst>
          </p:cNvPr>
          <p:cNvSpPr txBox="1"/>
          <p:nvPr/>
        </p:nvSpPr>
        <p:spPr>
          <a:xfrm>
            <a:off x="1115800" y="6305894"/>
            <a:ext cx="72766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https://www.kaggle.com/code/samuelcortinhas/nlp7-word-embeddings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10244" name="Picture 4" descr="Word2Vec - PRIMO.ai">
            <a:extLst>
              <a:ext uri="{FF2B5EF4-FFF2-40B4-BE49-F238E27FC236}">
                <a16:creationId xmlns:a16="http://schemas.microsoft.com/office/drawing/2014/main" id="{264D5E71-7A4A-213F-5B18-74A006197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63" y="3429000"/>
            <a:ext cx="3021725" cy="23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28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80F4-CFFC-4775-AD58-2F29BC7A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839D-BA4B-3EFF-62F1-702C1CA3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Word2vec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B9726-B851-6AD3-C8D9-B3D988911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83251"/>
            <a:ext cx="8365226" cy="4351338"/>
          </a:xfrm>
        </p:spPr>
        <p:txBody>
          <a:bodyPr/>
          <a:lstStyle/>
          <a:p>
            <a:r>
              <a:rPr lang="en-US" dirty="0"/>
              <a:t>Learns dense vector representation of each word</a:t>
            </a:r>
          </a:p>
          <a:p>
            <a:pPr lvl="1"/>
            <a:r>
              <a:rPr lang="en-US" dirty="0"/>
              <a:t>often 50-500D (vs. 10k in BOW); unsupervised</a:t>
            </a:r>
          </a:p>
          <a:p>
            <a:r>
              <a:rPr lang="en-US" dirty="0"/>
              <a:t>Words appear in similar context have similar vectors</a:t>
            </a:r>
          </a:p>
          <a:p>
            <a:r>
              <a:rPr lang="en-US" dirty="0">
                <a:solidFill>
                  <a:srgbClr val="C00000"/>
                </a:solidFill>
              </a:rPr>
              <a:t>Latent dimensions capture syntactic/semantic meaning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F39F0-EE11-17FE-3AD3-B8EE917C1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28" y="3812924"/>
            <a:ext cx="1953273" cy="19947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24847-588C-CDF4-26A2-5200A8B46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090" y="3627462"/>
            <a:ext cx="2269781" cy="2180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611874-E0B5-BC15-929B-CDA5AFABB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998" y="3788431"/>
            <a:ext cx="2269781" cy="22080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493DCC-409C-5DA8-0AD3-0C8AA3CDC2F5}"/>
              </a:ext>
            </a:extLst>
          </p:cNvPr>
          <p:cNvSpPr txBox="1"/>
          <p:nvPr/>
        </p:nvSpPr>
        <p:spPr>
          <a:xfrm>
            <a:off x="1238708" y="6063963"/>
            <a:ext cx="72766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5"/>
              </a:rPr>
              <a:t>https://www.shanelynn.ie/get-busy-with-word-embeddings-introduction/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44216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310F-9820-0B2D-8E6C-579C6B44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4AF7-7AF8-70E5-F570-43419F10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Word2vec magic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08FCC-3CA1-2D13-CB34-68AFD13F9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8485"/>
            <a:ext cx="8250945" cy="4351338"/>
          </a:xfrm>
        </p:spPr>
        <p:txBody>
          <a:bodyPr/>
          <a:lstStyle/>
          <a:p>
            <a:r>
              <a:rPr lang="en-US" dirty="0"/>
              <a:t>Word </a:t>
            </a:r>
            <a:r>
              <a:rPr lang="en-US" dirty="0">
                <a:solidFill>
                  <a:srgbClr val="C00000"/>
                </a:solidFill>
              </a:rPr>
              <a:t>analogy</a:t>
            </a:r>
            <a:r>
              <a:rPr lang="en-US" dirty="0"/>
              <a:t> using vector operations</a:t>
            </a:r>
          </a:p>
          <a:p>
            <a:r>
              <a:rPr lang="en-US" dirty="0"/>
              <a:t>E.g., “king” - “man” + “woman” = "queen"</a:t>
            </a:r>
          </a:p>
          <a:p>
            <a:pPr lvl="1"/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10DFDA4-7200-A2ED-3653-6D065C215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468" y="2646708"/>
            <a:ext cx="6610120" cy="348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F1A082-76E1-A45E-7695-40A603C4AD42}"/>
              </a:ext>
            </a:extLst>
          </p:cNvPr>
          <p:cNvSpPr txBox="1"/>
          <p:nvPr/>
        </p:nvSpPr>
        <p:spPr>
          <a:xfrm>
            <a:off x="1602953" y="6165756"/>
            <a:ext cx="72766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https://www.kaggle.com/code/samuelcortinhas/nlp7-word-embeddings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3567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AED7-9BDA-3F16-9100-AB586F26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Word2vec training setup</a:t>
            </a:r>
          </a:p>
        </p:txBody>
      </p:sp>
      <p:pic>
        <p:nvPicPr>
          <p:cNvPr id="1030" name="Picture 6" descr="Word2Vec - A Lazy Data Science Guide">
            <a:extLst>
              <a:ext uri="{FF2B5EF4-FFF2-40B4-BE49-F238E27FC236}">
                <a16:creationId xmlns:a16="http://schemas.microsoft.com/office/drawing/2014/main" id="{1C912E71-B6F4-3A34-F0BE-7D2308973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908814"/>
            <a:ext cx="6400800" cy="336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DD62D5-0BF0-0800-680E-BD5D5676C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83251"/>
            <a:ext cx="8378191" cy="4351338"/>
          </a:xfrm>
        </p:spPr>
        <p:txBody>
          <a:bodyPr>
            <a:normAutofit/>
          </a:bodyPr>
          <a:lstStyle/>
          <a:p>
            <a:r>
              <a:rPr lang="en-US" sz="2400" i="1" dirty="0"/>
              <a:t>V</a:t>
            </a:r>
            <a:r>
              <a:rPr lang="en-US" sz="2400" dirty="0"/>
              <a:t> is the vocabulary size; </a:t>
            </a:r>
            <a:r>
              <a:rPr lang="en-US" sz="2400" i="1" dirty="0"/>
              <a:t>N</a:t>
            </a:r>
            <a:r>
              <a:rPr lang="en-US" sz="2400" dirty="0"/>
              <a:t> is the num of embedding dimensions</a:t>
            </a:r>
          </a:p>
          <a:p>
            <a:r>
              <a:rPr lang="en-US" sz="2400" dirty="0"/>
              <a:t>Input is one-hot encoding of each word (1 x </a:t>
            </a:r>
            <a:r>
              <a:rPr lang="en-US" sz="2400" i="1" dirty="0"/>
              <a:t>V</a:t>
            </a:r>
            <a:r>
              <a:rPr lang="en-US" sz="2400" dirty="0"/>
              <a:t>)</a:t>
            </a:r>
            <a:endParaRPr lang="en-US" sz="2400" i="1" dirty="0"/>
          </a:p>
          <a:p>
            <a:r>
              <a:rPr lang="en-US" sz="2400" i="1" dirty="0"/>
              <a:t>W</a:t>
            </a:r>
            <a:r>
              <a:rPr lang="en-US" sz="2400" dirty="0"/>
              <a:t> is (</a:t>
            </a:r>
            <a:r>
              <a:rPr lang="en-US" sz="2400" i="1" dirty="0"/>
              <a:t>V </a:t>
            </a:r>
            <a:r>
              <a:rPr lang="en-US" sz="2400" dirty="0"/>
              <a:t>x</a:t>
            </a:r>
            <a:r>
              <a:rPr lang="en-US" sz="2400" i="1" dirty="0"/>
              <a:t> N</a:t>
            </a:r>
            <a:r>
              <a:rPr lang="en-US" sz="2400" dirty="0"/>
              <a:t>), </a:t>
            </a:r>
            <a:r>
              <a:rPr lang="en-US" sz="2400" i="1" dirty="0"/>
              <a:t>W’</a:t>
            </a:r>
            <a:r>
              <a:rPr lang="en-US" sz="2400" dirty="0"/>
              <a:t> is (</a:t>
            </a:r>
            <a:r>
              <a:rPr lang="en-US" sz="2400" i="1" dirty="0"/>
              <a:t>N</a:t>
            </a:r>
            <a:r>
              <a:rPr lang="en-US" sz="2400" dirty="0"/>
              <a:t> x </a:t>
            </a:r>
            <a:r>
              <a:rPr lang="en-US" sz="2400" i="1" dirty="0"/>
              <a:t>V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7867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E71EE-8097-0B67-28DE-CEB5ADE5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30A4-7EA8-1A84-DB43-E7CBFE3C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CBOW training architecture</a:t>
            </a:r>
          </a:p>
        </p:txBody>
      </p:sp>
      <p:pic>
        <p:nvPicPr>
          <p:cNvPr id="7" name="Picture 6" descr="A diagram of a machine&#10;&#10;AI-generated content may be incorrect.">
            <a:extLst>
              <a:ext uri="{FF2B5EF4-FFF2-40B4-BE49-F238E27FC236}">
                <a16:creationId xmlns:a16="http://schemas.microsoft.com/office/drawing/2014/main" id="{B7D743D7-F026-8EAA-4425-08A4538B1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41209"/>
            <a:ext cx="8179850" cy="40148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72CB60-5633-0737-6AF3-A63B597DB00E}"/>
              </a:ext>
            </a:extLst>
          </p:cNvPr>
          <p:cNvSpPr txBox="1"/>
          <p:nvPr/>
        </p:nvSpPr>
        <p:spPr>
          <a:xfrm>
            <a:off x="1132028" y="6353523"/>
            <a:ext cx="7276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https://www.youtube.com/watch?v=UqRCEmrv1gQ</a:t>
            </a: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A21D20-966D-477B-AF00-9D9833AD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76571"/>
            <a:ext cx="825094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Continuous Bag of Words approach (vs. skip-gram):</a:t>
            </a:r>
          </a:p>
        </p:txBody>
      </p:sp>
    </p:spTree>
    <p:extLst>
      <p:ext uri="{BB962C8B-B14F-4D97-AF65-F5344CB8AC3E}">
        <p14:creationId xmlns:p14="http://schemas.microsoft.com/office/powerpoint/2010/main" val="891441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D507E-6E16-0B58-5344-FBFAF067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1616-B494-A469-AA65-14130861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Skip-gram training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2EE11C-7DC1-0F42-D245-5937A7368E1C}"/>
              </a:ext>
            </a:extLst>
          </p:cNvPr>
          <p:cNvSpPr txBox="1"/>
          <p:nvPr/>
        </p:nvSpPr>
        <p:spPr>
          <a:xfrm>
            <a:off x="1238708" y="6063963"/>
            <a:ext cx="7276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2"/>
              </a:rPr>
              <a:t>https://www.youtube.com/watch?v=UqRCEmrv1gQ</a:t>
            </a:r>
            <a:endParaRPr lang="en-US" sz="1600" dirty="0"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48606FA6-9355-FC8D-D7E6-2703D847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68" y="1526529"/>
            <a:ext cx="7199735" cy="436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87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810A-BCEF-90EF-81F2-17592D85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D2D-761C-1B49-1FD0-06FE24338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Use </a:t>
            </a:r>
            <a:r>
              <a:rPr lang="en-US" b="0"/>
              <a:t>W matrix as word embedding</a:t>
            </a:r>
            <a:endParaRPr lang="en-US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B88D2-B0B8-A8D6-3C62-9B3C14579451}"/>
              </a:ext>
            </a:extLst>
          </p:cNvPr>
          <p:cNvSpPr txBox="1"/>
          <p:nvPr/>
        </p:nvSpPr>
        <p:spPr>
          <a:xfrm>
            <a:off x="1238708" y="6063963"/>
            <a:ext cx="7276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2"/>
              </a:rPr>
              <a:t>https://www.youtube.com/watch?v=UqRCEmrv1gQ</a:t>
            </a:r>
            <a:endParaRPr lang="en-US" sz="16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309C33-FF7D-2461-CFB6-C2993E276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69705"/>
            <a:ext cx="7772400" cy="420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04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BF0F9-1197-030A-2041-BE523048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CB53-1E0D-702B-9F7A-516A4928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Practical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97245-5300-99AA-2876-7A86D3B3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1364"/>
            <a:ext cx="8250945" cy="4351338"/>
          </a:xfrm>
        </p:spPr>
        <p:txBody>
          <a:bodyPr/>
          <a:lstStyle/>
          <a:p>
            <a:r>
              <a:rPr lang="en-US" dirty="0"/>
              <a:t>Select the model training architecture</a:t>
            </a:r>
          </a:p>
          <a:p>
            <a:pPr lvl="1"/>
            <a:r>
              <a:rPr lang="en-US" dirty="0"/>
              <a:t>Use CBOW for small corpus</a:t>
            </a:r>
          </a:p>
          <a:p>
            <a:pPr lvl="1"/>
            <a:r>
              <a:rPr lang="en-US" dirty="0"/>
              <a:t>Use Skip-gram for large corpus, more dimensions</a:t>
            </a:r>
          </a:p>
          <a:p>
            <a:r>
              <a:rPr lang="en-US" dirty="0"/>
              <a:t>Increase the training size, vector dimensions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3E3B1E-A490-3EF1-36D4-2BF0F212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919" y="3565663"/>
            <a:ext cx="5061243" cy="27634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8120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7D05-6127-515B-9B7A-3CE60D88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9A37-FF73-6962-E358-8C98BDC3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Python implementation</a:t>
            </a:r>
          </a:p>
        </p:txBody>
      </p:sp>
      <p:pic>
        <p:nvPicPr>
          <p:cNvPr id="11" name="Picture 10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11EA9EB7-DF0D-86FA-6BD0-DC43A6FB3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75529"/>
            <a:ext cx="7772400" cy="37840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4812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599F-8C94-4EF3-7E7A-BDE705EDD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ECDD-F60F-71A1-0FF6-543C306E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Pre-trained word2vec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281D1-02AF-89F7-C528-5AEADBB7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62067"/>
            <a:ext cx="7886700" cy="5127205"/>
          </a:xfrm>
        </p:spPr>
        <p:txBody>
          <a:bodyPr>
            <a:normAutofit/>
          </a:bodyPr>
          <a:lstStyle/>
          <a:p>
            <a:r>
              <a:rPr lang="en-US" sz="2400" dirty="0"/>
              <a:t>Training w2v from scratch is computational heavy.</a:t>
            </a:r>
            <a:endParaRPr lang="en-US" sz="2400" dirty="0">
              <a:effectLst/>
            </a:endParaRPr>
          </a:p>
          <a:p>
            <a:r>
              <a:rPr lang="en-US" sz="2400" dirty="0">
                <a:effectLst/>
              </a:rPr>
              <a:t>Use pre-trained models on Facebook, Wikipedia, etc.</a:t>
            </a:r>
          </a:p>
          <a:p>
            <a:pPr lvl="1"/>
            <a:r>
              <a:rPr lang="en-US" sz="2000" dirty="0">
                <a:effectLst/>
                <a:hlinkClick r:id="rId3"/>
              </a:rPr>
              <a:t>https://wikipedia2vec.github.io/wikipedia2vec/pretrained/</a:t>
            </a:r>
            <a:endParaRPr lang="en-US" sz="2000" dirty="0">
              <a:effectLst/>
            </a:endParaRPr>
          </a:p>
          <a:p>
            <a:pPr lvl="1"/>
            <a:r>
              <a:rPr lang="en-US" sz="2000" dirty="0">
                <a:hlinkClick r:id="rId4"/>
              </a:rPr>
              <a:t>https://github.com/mmihaltz/word2vec-GoogleNews-vectors</a:t>
            </a:r>
            <a:endParaRPr lang="en-US" sz="2000" dirty="0"/>
          </a:p>
          <a:p>
            <a:r>
              <a:rPr lang="en-US" sz="2400" dirty="0"/>
              <a:t>Fine-tuning the model using your own domain data.</a:t>
            </a:r>
          </a:p>
          <a:p>
            <a:r>
              <a:rPr lang="en-US" sz="2400" dirty="0"/>
              <a:t>Only do it for a specific task that pretrained embeddings don't perform well on and you have lots of training data.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What if there are many words in our data which we could not find word vectors for in the pre-trained model?</a:t>
            </a:r>
            <a:endParaRPr lang="en-US" sz="2000" dirty="0">
              <a:solidFill>
                <a:srgbClr val="C00000"/>
              </a:solidFill>
            </a:endParaRPr>
          </a:p>
          <a:p>
            <a:pPr lvl="1"/>
            <a:r>
              <a:rPr lang="en-US" sz="2000" dirty="0"/>
              <a:t>Our corpus of app reviews might have a very different vocabulary than a news corpus that was used for the pre-trained w2v model.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Use the most similar word as substitute or simply ignore them.</a:t>
            </a:r>
          </a:p>
          <a:p>
            <a:pPr lvl="1"/>
            <a:endParaRPr lang="en-US" sz="2000" dirty="0"/>
          </a:p>
          <a:p>
            <a:endParaRPr lang="en-US" sz="2400" dirty="0">
              <a:effectLst/>
            </a:endParaRPr>
          </a:p>
          <a:p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1284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E49E8-B8F1-B971-346E-2BA3FCA7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ACC3-BBB2-BC60-5E83-C094B9B4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Word2vec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676EA-3C59-D689-B372-705E718FC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4271"/>
            <a:ext cx="8063658" cy="5127205"/>
          </a:xfrm>
        </p:spPr>
        <p:txBody>
          <a:bodyPr>
            <a:normAutofit/>
          </a:bodyPr>
          <a:lstStyle/>
          <a:p>
            <a:r>
              <a:rPr lang="en-US" sz="2400" dirty="0"/>
              <a:t>Semantic analysis</a:t>
            </a:r>
          </a:p>
          <a:p>
            <a:pPr lvl="1"/>
            <a:r>
              <a:rPr lang="en-US" sz="2000" dirty="0"/>
              <a:t>finding similar words; identify topics/themes</a:t>
            </a:r>
          </a:p>
          <a:p>
            <a:r>
              <a:rPr lang="en-US" sz="2400" dirty="0"/>
              <a:t>Document classification/clustering</a:t>
            </a:r>
          </a:p>
          <a:p>
            <a:pPr lvl="1"/>
            <a:r>
              <a:rPr lang="en-US" sz="2000" dirty="0"/>
              <a:t>represent a document as the sum or average of all words’ vectors</a:t>
            </a:r>
          </a:p>
          <a:p>
            <a:pPr lvl="1"/>
            <a:r>
              <a:rPr lang="en-US" sz="2000" dirty="0"/>
              <a:t>represent a document as a matrix (often used in Neural Net models)</a:t>
            </a:r>
          </a:p>
          <a:p>
            <a:r>
              <a:rPr lang="en-US" sz="2400" dirty="0"/>
              <a:t>Social network analysis</a:t>
            </a:r>
          </a:p>
          <a:p>
            <a:pPr lvl="1"/>
            <a:r>
              <a:rPr lang="en-US" sz="2000" dirty="0"/>
              <a:t>treat nodes/users as words and obtain “user” vectors using w2v</a:t>
            </a:r>
          </a:p>
          <a:p>
            <a:pPr lvl="1"/>
            <a:r>
              <a:rPr lang="en-US" sz="2000" dirty="0"/>
              <a:t>obtain “sentences” of users using random walk on the network</a:t>
            </a:r>
          </a:p>
          <a:p>
            <a:r>
              <a:rPr lang="en-US" sz="2400" dirty="0"/>
              <a:t>Linguistic bias analysis</a:t>
            </a:r>
          </a:p>
          <a:p>
            <a:pPr lvl="1"/>
            <a:r>
              <a:rPr lang="en-US" sz="2000" dirty="0">
                <a:effectLst/>
              </a:rPr>
              <a:t>by analyzing word associations via cosine similarity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>
                <a:effectLst/>
              </a:rPr>
              <a:t>gender stereotypes in job descriptions</a:t>
            </a:r>
          </a:p>
        </p:txBody>
      </p:sp>
    </p:spTree>
    <p:extLst>
      <p:ext uri="{BB962C8B-B14F-4D97-AF65-F5344CB8AC3E}">
        <p14:creationId xmlns:p14="http://schemas.microsoft.com/office/powerpoint/2010/main" val="551527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49BD-F6A5-94D5-6183-98D93A2D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9548-15CA-266C-2ECA-AD4B6AD1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Detect semantic shift using w2v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58022-4B6B-D755-6E98-EA75DCC34DEE}"/>
              </a:ext>
            </a:extLst>
          </p:cNvPr>
          <p:cNvSpPr txBox="1"/>
          <p:nvPr/>
        </p:nvSpPr>
        <p:spPr>
          <a:xfrm>
            <a:off x="738433" y="1467314"/>
            <a:ext cx="78867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800" dirty="0"/>
              <a:t>Words change their meaning throughout history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400" dirty="0"/>
              <a:t>Vital for tracking cultural /societal change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400" dirty="0"/>
              <a:t>Key to developing robust language models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Are there statistical “laws” of semantic evolution?</a:t>
            </a:r>
          </a:p>
        </p:txBody>
      </p:sp>
      <p:pic>
        <p:nvPicPr>
          <p:cNvPr id="6" name="Picture 5" descr="A blue line with black text&#10;&#10;AI-generated content may be incorrect.">
            <a:extLst>
              <a:ext uri="{FF2B5EF4-FFF2-40B4-BE49-F238E27FC236}">
                <a16:creationId xmlns:a16="http://schemas.microsoft.com/office/drawing/2014/main" id="{3ACB0483-13E2-FAFC-7182-110FCC06E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2" y="3429000"/>
            <a:ext cx="7772400" cy="2418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293056-A281-876C-524B-7C6C67144869}"/>
              </a:ext>
            </a:extLst>
          </p:cNvPr>
          <p:cNvSpPr txBox="1"/>
          <p:nvPr/>
        </p:nvSpPr>
        <p:spPr>
          <a:xfrm>
            <a:off x="873473" y="6116759"/>
            <a:ext cx="8048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Hamilton et al., “Diachronic Word Embeddings Reveal Statistical Laws of Semantic Change”. </a:t>
            </a:r>
            <a:r>
              <a:rPr lang="en-US" sz="1400" i="1" dirty="0"/>
              <a:t>ACL </a:t>
            </a:r>
            <a:r>
              <a:rPr lang="en-US" sz="1400" dirty="0"/>
              <a:t>2016.</a:t>
            </a:r>
          </a:p>
        </p:txBody>
      </p:sp>
    </p:spTree>
    <p:extLst>
      <p:ext uri="{BB962C8B-B14F-4D97-AF65-F5344CB8AC3E}">
        <p14:creationId xmlns:p14="http://schemas.microsoft.com/office/powerpoint/2010/main" val="2707531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8F27-0932-062D-681C-80843D56C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2D95-38ED-9359-704B-CEF1FDF6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Detect semantic shift using w2v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614C0-6B9E-9B96-2596-5EA99BE56020}"/>
              </a:ext>
            </a:extLst>
          </p:cNvPr>
          <p:cNvSpPr txBox="1"/>
          <p:nvPr/>
        </p:nvSpPr>
        <p:spPr>
          <a:xfrm>
            <a:off x="738433" y="1467314"/>
            <a:ext cx="78867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b="1" dirty="0"/>
              <a:t>Data</a:t>
            </a:r>
            <a:r>
              <a:rPr lang="en-US" sz="2400" dirty="0"/>
              <a:t>: Google Books spanning 200 years in 4 languages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b="1" dirty="0"/>
              <a:t>Diachronic embeddings</a:t>
            </a:r>
            <a:r>
              <a:rPr lang="en-US" sz="2400" dirty="0"/>
              <a:t>: obtain w2v for each year period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b="1" dirty="0"/>
              <a:t>Measures </a:t>
            </a:r>
            <a:r>
              <a:rPr lang="en-US" sz="2400" dirty="0"/>
              <a:t>of semantic change (after alignment):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8B9"/>
                </a:solidFill>
              </a:rPr>
              <a:t>Changes in pairwise word similarities over time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000" dirty="0"/>
              <a:t>Displacement of each word in vector space over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FB689-5276-CFD8-1C14-E54A8BDCFECC}"/>
              </a:ext>
            </a:extLst>
          </p:cNvPr>
          <p:cNvSpPr txBox="1"/>
          <p:nvPr/>
        </p:nvSpPr>
        <p:spPr>
          <a:xfrm>
            <a:off x="873473" y="6116759"/>
            <a:ext cx="8048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Hamilton et al., “Diachronic Word Embeddings Reveal Statistical Laws of Semantic Change”. </a:t>
            </a:r>
            <a:r>
              <a:rPr lang="en-US" sz="1400" i="1" dirty="0"/>
              <a:t>ACL </a:t>
            </a:r>
            <a:r>
              <a:rPr lang="en-US" sz="1400" dirty="0"/>
              <a:t>2016.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2D779CA-C322-4703-1529-BF4BC1F6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95" y="3415145"/>
            <a:ext cx="8283491" cy="202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05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9C751-B87B-EEDF-79E4-D6A5CD60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8A49-1354-B549-6F19-1A6FF9E8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Detect semantic shift using w2v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D314E8-E43A-B6F2-D4B5-57049AD9E9B7}"/>
              </a:ext>
            </a:extLst>
          </p:cNvPr>
          <p:cNvSpPr txBox="1"/>
          <p:nvPr/>
        </p:nvSpPr>
        <p:spPr>
          <a:xfrm>
            <a:off x="738433" y="1467314"/>
            <a:ext cx="78867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b="1" dirty="0"/>
              <a:t>Data</a:t>
            </a:r>
            <a:r>
              <a:rPr lang="en-US" sz="2400" dirty="0"/>
              <a:t>: Google Books spanning 200 years in 4 languages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b="1" dirty="0"/>
              <a:t>Diachronic embeddings</a:t>
            </a:r>
            <a:r>
              <a:rPr lang="en-US" sz="2400" dirty="0"/>
              <a:t>: obtain w2v for each year period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b="1" dirty="0"/>
              <a:t>Measures </a:t>
            </a:r>
            <a:r>
              <a:rPr lang="en-US" sz="2400" dirty="0"/>
              <a:t>of semantic change (after alignment):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000" dirty="0"/>
              <a:t>Changes in pairwise word similarities over time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8B9"/>
                </a:solidFill>
              </a:rPr>
              <a:t>Displacement of each word in vector space over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32E1BE-5E0D-3C0B-B718-A4F02627B8C2}"/>
              </a:ext>
            </a:extLst>
          </p:cNvPr>
          <p:cNvSpPr txBox="1"/>
          <p:nvPr/>
        </p:nvSpPr>
        <p:spPr>
          <a:xfrm>
            <a:off x="873473" y="6116759"/>
            <a:ext cx="8048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Hamilton et al., “Diachronic Word Embeddings Reveal Statistical Laws of Semantic Change”. </a:t>
            </a:r>
            <a:r>
              <a:rPr lang="en-US" sz="1400" i="1" dirty="0"/>
              <a:t>ACL </a:t>
            </a:r>
            <a:r>
              <a:rPr lang="en-US" sz="1400" dirty="0"/>
              <a:t>2016.</a:t>
            </a: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4CA340B-C598-5CE3-7975-49B061448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33" y="3429000"/>
            <a:ext cx="7756885" cy="155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49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C895-50F0-C0BB-2381-BA482D96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B7D3-402F-5BC2-5DDB-406E661C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Detect semantic shift using w2v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08987-8131-8C5D-33A6-6E27281943E6}"/>
              </a:ext>
            </a:extLst>
          </p:cNvPr>
          <p:cNvSpPr txBox="1"/>
          <p:nvPr/>
        </p:nvSpPr>
        <p:spPr>
          <a:xfrm>
            <a:off x="738432" y="1467314"/>
            <a:ext cx="818388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Statistical laws of semantic shift:</a:t>
            </a:r>
          </a:p>
          <a:p>
            <a:pPr marL="288925" lvl="1" indent="-193675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8B9"/>
                </a:solidFill>
              </a:rPr>
              <a:t>Law of conformity</a:t>
            </a:r>
            <a:r>
              <a:rPr lang="en-US" sz="2400" dirty="0"/>
              <a:t>: Frequent words change at slower rates</a:t>
            </a:r>
          </a:p>
          <a:p>
            <a:pPr marL="288925" lvl="1" indent="-193675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8B9"/>
                </a:solidFill>
              </a:rPr>
              <a:t>Law of innovation</a:t>
            </a:r>
            <a:r>
              <a:rPr lang="en-US" sz="2400" dirty="0"/>
              <a:t>: Polysemous words change at faster rates</a:t>
            </a:r>
          </a:p>
          <a:p>
            <a:pPr marL="288925" lvl="1" indent="-193675">
              <a:buFont typeface="Arial" panose="020B0604020202020204" pitchFamily="34" charset="0"/>
              <a:buChar char="•"/>
            </a:pPr>
            <a:r>
              <a:rPr lang="en-US" sz="2400" dirty="0"/>
              <a:t>Both relationships scale as power laws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C1D0F-D789-A89B-2568-C68C10C2445B}"/>
              </a:ext>
            </a:extLst>
          </p:cNvPr>
          <p:cNvSpPr txBox="1"/>
          <p:nvPr/>
        </p:nvSpPr>
        <p:spPr>
          <a:xfrm>
            <a:off x="873473" y="6116759"/>
            <a:ext cx="8048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Hamilton et al., “Diachronic Word Embeddings Reveal Statistical Laws of Semantic Change”. </a:t>
            </a:r>
            <a:r>
              <a:rPr lang="en-US" sz="1400" i="1" dirty="0"/>
              <a:t>ACL </a:t>
            </a:r>
            <a:r>
              <a:rPr lang="en-US" sz="1400" dirty="0"/>
              <a:t>2016.</a:t>
            </a:r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712D5D8B-2F6F-9777-76F9-51C4C183B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275764"/>
            <a:ext cx="7958839" cy="24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09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498B-6142-E5EF-1AC1-139640BEC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A43D-A083-5F1A-5FFB-F535339F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Sentiment prediction via w2v</a:t>
            </a:r>
          </a:p>
        </p:txBody>
      </p:sp>
      <p:pic>
        <p:nvPicPr>
          <p:cNvPr id="3" name="Picture 2" descr="How to classify text using Word2Vec - Thinking Neuron">
            <a:extLst>
              <a:ext uri="{FF2B5EF4-FFF2-40B4-BE49-F238E27FC236}">
                <a16:creationId xmlns:a16="http://schemas.microsoft.com/office/drawing/2014/main" id="{BBC508FD-0CC9-1211-3D98-2BA303B34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822" y="2100121"/>
            <a:ext cx="3800300" cy="4263125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5357C0-3961-DBB0-A86F-225B33026DB9}"/>
              </a:ext>
            </a:extLst>
          </p:cNvPr>
          <p:cNvSpPr txBox="1"/>
          <p:nvPr/>
        </p:nvSpPr>
        <p:spPr>
          <a:xfrm>
            <a:off x="738433" y="1467314"/>
            <a:ext cx="735468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800" dirty="0"/>
              <a:t>Represent a text as its sum/avg word vector: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400" dirty="0"/>
              <a:t>Apply logit model</a:t>
            </a:r>
          </a:p>
        </p:txBody>
      </p:sp>
    </p:spTree>
    <p:extLst>
      <p:ext uri="{BB962C8B-B14F-4D97-AF65-F5344CB8AC3E}">
        <p14:creationId xmlns:p14="http://schemas.microsoft.com/office/powerpoint/2010/main" val="417669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3CE70-0A8E-AB1C-A8D9-1465FEEC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AC778C-38EC-90A7-5172-E20D892D874A}"/>
              </a:ext>
            </a:extLst>
          </p:cNvPr>
          <p:cNvSpPr txBox="1"/>
          <p:nvPr/>
        </p:nvSpPr>
        <p:spPr>
          <a:xfrm>
            <a:off x="738433" y="1467314"/>
            <a:ext cx="735468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800" dirty="0"/>
              <a:t>Represent a text as its sum/avg word vector: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400" dirty="0"/>
              <a:t>Or use Neural Network model</a:t>
            </a:r>
          </a:p>
        </p:txBody>
      </p:sp>
      <p:pic>
        <p:nvPicPr>
          <p:cNvPr id="4" name="Picture 2" descr="8 Deep Learning Architectures Data Scientists Must Master">
            <a:extLst>
              <a:ext uri="{FF2B5EF4-FFF2-40B4-BE49-F238E27FC236}">
                <a16:creationId xmlns:a16="http://schemas.microsoft.com/office/drawing/2014/main" id="{F5154879-70A1-E0E9-305B-15897E9FD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470" y="2680471"/>
            <a:ext cx="5615366" cy="336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105992-720C-981D-0102-2CB0FB1B9E20}"/>
              </a:ext>
            </a:extLst>
          </p:cNvPr>
          <p:cNvSpPr txBox="1"/>
          <p:nvPr/>
        </p:nvSpPr>
        <p:spPr>
          <a:xfrm>
            <a:off x="1859109" y="6215432"/>
            <a:ext cx="67997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https://www.projectpro.io/article/deep-learning-architectures/996</a:t>
            </a:r>
            <a:endParaRPr lang="en-US"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11D063-345E-F15E-07B3-2B83CA1DC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Sentiment prediction via w2v</a:t>
            </a:r>
          </a:p>
        </p:txBody>
      </p:sp>
    </p:spTree>
    <p:extLst>
      <p:ext uri="{BB962C8B-B14F-4D97-AF65-F5344CB8AC3E}">
        <p14:creationId xmlns:p14="http://schemas.microsoft.com/office/powerpoint/2010/main" val="1763267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E65E0-9C19-5F4F-D0E6-1AA0A0D2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0B0271-7089-E01A-1BE9-B0546981515C}"/>
              </a:ext>
            </a:extLst>
          </p:cNvPr>
          <p:cNvSpPr txBox="1"/>
          <p:nvPr/>
        </p:nvSpPr>
        <p:spPr>
          <a:xfrm>
            <a:off x="738433" y="1468504"/>
            <a:ext cx="735468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Represent a text as a matrix (like an image):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000" dirty="0"/>
              <a:t>Use padding to convert all texts to the same length. Longer sequences are truncated and shorter sequences are padded with 0's at the beginning. E.g. set “</a:t>
            </a:r>
            <a:r>
              <a:rPr lang="en-US" sz="2000" dirty="0" err="1"/>
              <a:t>max_length</a:t>
            </a:r>
            <a:r>
              <a:rPr lang="en-US" sz="2000" dirty="0"/>
              <a:t> = 250”.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31825" lvl="1" indent="-17462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31825" lvl="1" indent="-17462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31825" lvl="1" indent="-17462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31825" lvl="1" indent="-17462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31825" lvl="1" indent="-17462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31825" lvl="1" indent="-17462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31825" lvl="1" indent="-174625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If N = 300, this text will be transformed to a 250 x 300 matrix.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79931-6174-C289-746C-8F650B503635}"/>
              </a:ext>
            </a:extLst>
          </p:cNvPr>
          <p:cNvSpPr txBox="1"/>
          <p:nvPr/>
        </p:nvSpPr>
        <p:spPr>
          <a:xfrm>
            <a:off x="1402597" y="6050166"/>
            <a:ext cx="7112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https://www.kaggle.com/code/samuelcortinhas/nlp7-word-embeddings</a:t>
            </a:r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BEDF0A-5003-3090-40B0-E3D16763A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432" y="3063650"/>
            <a:ext cx="3565956" cy="240773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24C468E-9698-8742-AFB4-319C85B2D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33" y="3051578"/>
            <a:ext cx="4351329" cy="24077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22AF83-33CB-7604-9F00-B9E9E0E3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Sentiment prediction via w2v</a:t>
            </a:r>
          </a:p>
        </p:txBody>
      </p:sp>
    </p:spTree>
    <p:extLst>
      <p:ext uri="{BB962C8B-B14F-4D97-AF65-F5344CB8AC3E}">
        <p14:creationId xmlns:p14="http://schemas.microsoft.com/office/powerpoint/2010/main" val="76596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7ACB-4C90-5E79-5A80-A345EC29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182D02-075F-E3B3-6BCD-94F85694D859}"/>
              </a:ext>
            </a:extLst>
          </p:cNvPr>
          <p:cNvSpPr txBox="1"/>
          <p:nvPr/>
        </p:nvSpPr>
        <p:spPr>
          <a:xfrm>
            <a:off x="738434" y="1467314"/>
            <a:ext cx="75594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dirty="0"/>
              <a:t>Then the task is like using deep learning models (CNN) to do image classification on a 250 x 300 matrix.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000" dirty="0"/>
              <a:t>250 is the text length after padding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2000" dirty="0"/>
              <a:t>300 is the embedding length</a:t>
            </a:r>
          </a:p>
        </p:txBody>
      </p:sp>
      <p:pic>
        <p:nvPicPr>
          <p:cNvPr id="11266" name="Picture 2" descr="Convolutional neural network text classification with risk assessment -  Squadra Machine Learning Company">
            <a:extLst>
              <a:ext uri="{FF2B5EF4-FFF2-40B4-BE49-F238E27FC236}">
                <a16:creationId xmlns:a16="http://schemas.microsoft.com/office/drawing/2014/main" id="{BDE903CF-64A3-4862-D903-6FF665FF4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567" y="3055525"/>
            <a:ext cx="6333783" cy="403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D1E1961-0119-EAB8-414F-6545DEAC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Sentiment prediction via w2v</a:t>
            </a:r>
          </a:p>
        </p:txBody>
      </p:sp>
    </p:spTree>
    <p:extLst>
      <p:ext uri="{BB962C8B-B14F-4D97-AF65-F5344CB8AC3E}">
        <p14:creationId xmlns:p14="http://schemas.microsoft.com/office/powerpoint/2010/main" val="774271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48664-92C0-01FE-9EEF-185D1997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462CD8-E388-3F33-85CB-E3428D1140D6}"/>
              </a:ext>
            </a:extLst>
          </p:cNvPr>
          <p:cNvSpPr txBox="1"/>
          <p:nvPr/>
        </p:nvSpPr>
        <p:spPr>
          <a:xfrm>
            <a:off x="738434" y="1467314"/>
            <a:ext cx="75594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dirty="0"/>
              <a:t>Extension of w2v to directly learn document-level vector</a:t>
            </a:r>
          </a:p>
          <a:p>
            <a:r>
              <a:rPr lang="en-US" sz="2400" b="1" dirty="0"/>
              <a:t>Two architecture</a:t>
            </a:r>
            <a:r>
              <a:rPr lang="en-US" sz="2400" dirty="0"/>
              <a:t>: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8B9"/>
                </a:solidFill>
              </a:rPr>
              <a:t>Distributed Memory (DM): </a:t>
            </a:r>
            <a:r>
              <a:rPr lang="en-US" sz="2000" dirty="0"/>
              <a:t>Predict the next word given current words and the document vector, treated as a memory component that helps the model capture the overall theme or topic of the document.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7551CA-A2DC-6A3A-4A26-7A9E450F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From w2v to doc2vec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D867EC-AF7B-D2E6-B3D0-EBFDB2FFB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145" y="3297109"/>
            <a:ext cx="5569527" cy="2975249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584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2B8FA79-3EE9-EB73-8D34-D5EA3A0FB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067FF8-38E0-E93E-A6C5-BA50E5FD62BA}"/>
              </a:ext>
            </a:extLst>
          </p:cNvPr>
          <p:cNvSpPr txBox="1"/>
          <p:nvPr/>
        </p:nvSpPr>
        <p:spPr>
          <a:xfrm>
            <a:off x="738434" y="1467314"/>
            <a:ext cx="75594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400" dirty="0"/>
              <a:t>Extension of w2v to directly learn document-level vector</a:t>
            </a:r>
          </a:p>
          <a:p>
            <a:r>
              <a:rPr lang="en-US" sz="2400" b="1" dirty="0"/>
              <a:t>Two architecture</a:t>
            </a:r>
            <a:r>
              <a:rPr lang="en-US" sz="2400" dirty="0"/>
              <a:t>: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8B9"/>
                </a:solidFill>
              </a:rPr>
              <a:t>Distributed Bag of Words (DBOW): </a:t>
            </a:r>
            <a:r>
              <a:rPr lang="en-US" sz="2000" dirty="0"/>
              <a:t>Predict a set of randomly sampled target words in the document given the document vector alone.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22478C-A02F-29FD-DC47-535A1EB8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From w2v to doc2vec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96EF6D-E0B6-CEE6-0594-D7E7FD145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109" y="3078738"/>
            <a:ext cx="4835236" cy="3236083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444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F4FD-DEB4-5C45-2742-AD25C7E8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3DB9FA-B49F-CEA5-4092-BAAD85303D6A}"/>
              </a:ext>
            </a:extLst>
          </p:cNvPr>
          <p:cNvSpPr txBox="1"/>
          <p:nvPr/>
        </p:nvSpPr>
        <p:spPr>
          <a:xfrm>
            <a:off x="738434" y="1467314"/>
            <a:ext cx="7559406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core benefit of doc2Vec over word2vec is that </a:t>
            </a:r>
            <a:r>
              <a:rPr lang="en-US" sz="2000" dirty="0">
                <a:solidFill>
                  <a:srgbClr val="0078B9"/>
                </a:solidFill>
              </a:rPr>
              <a:t>it learns vector representations for entire documents or sentences</a:t>
            </a:r>
            <a:r>
              <a:rPr lang="en-US" sz="2000" dirty="0"/>
              <a:t>, which is suitable for </a:t>
            </a:r>
            <a:r>
              <a:rPr lang="en-US" sz="2000" u="sng" dirty="0"/>
              <a:t>tasks that require understanding the meaning of a whole text block</a:t>
            </a:r>
            <a:r>
              <a:rPr lang="en-US" sz="20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When to use which:</a:t>
            </a:r>
          </a:p>
          <a:p>
            <a:endParaRPr lang="en-US" sz="2400" dirty="0"/>
          </a:p>
          <a:p>
            <a:pPr marL="174625" indent="-1746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 w2v when your primary goal is to work with individual words: </a:t>
            </a:r>
            <a:r>
              <a:rPr lang="en-US" sz="2000" i="1" dirty="0">
                <a:solidFill>
                  <a:srgbClr val="0078B9"/>
                </a:solidFill>
              </a:rPr>
              <a:t>finding synonyms, analogies, or creating features for word-level tasks</a:t>
            </a:r>
            <a:r>
              <a:rPr lang="en-US" sz="2000" dirty="0"/>
              <a:t>.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Choose Doc2Vec when your task requires a representation of a larger text unit: </a:t>
            </a:r>
            <a:r>
              <a:rPr lang="en-US" sz="2000" i="1" dirty="0">
                <a:solidFill>
                  <a:srgbClr val="C00000"/>
                </a:solidFill>
              </a:rPr>
              <a:t>document classification, sentiment analysis on reviews, recommendation systems, or finding similar documents in a corpus</a:t>
            </a:r>
            <a:r>
              <a:rPr lang="en-US" sz="20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8BB561-5E8C-5D13-39C0-C7C3AB3C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w2v vs. doc2vec</a:t>
            </a:r>
          </a:p>
        </p:txBody>
      </p:sp>
    </p:spTree>
    <p:extLst>
      <p:ext uri="{BB962C8B-B14F-4D97-AF65-F5344CB8AC3E}">
        <p14:creationId xmlns:p14="http://schemas.microsoft.com/office/powerpoint/2010/main" val="2132034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AE1C7-9FA3-50DE-9DB7-B82FDD597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E26D-4A11-2724-CB50-B7D46451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Plutchik’s Wheel of Emotions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81DBA2-5484-EE11-2457-B40DD3739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732" y="1484941"/>
            <a:ext cx="5236535" cy="523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F92FE4C-46F3-7C0A-B5E4-1611B33ACD4E}"/>
              </a:ext>
            </a:extLst>
          </p:cNvPr>
          <p:cNvSpPr/>
          <p:nvPr/>
        </p:nvSpPr>
        <p:spPr>
          <a:xfrm>
            <a:off x="1573619" y="3710763"/>
            <a:ext cx="2913321" cy="808074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738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5AE13-9018-C649-05D0-E68D803F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48F8-DD4A-6C74-1CB6-BA05B01E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Plutchik’s Wheel of Emotions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26D65-F6B1-22D3-9ADB-A3EAEE5A2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545D7E"/>
                </a:solidFill>
              </a:rPr>
              <a:t>8 primary emotions</a:t>
            </a:r>
            <a:r>
              <a:rPr lang="en-US" sz="2400" dirty="0"/>
              <a:t> arranged in opposing pairs (2</a:t>
            </a:r>
            <a:r>
              <a:rPr lang="en-US" sz="2400" baseline="30000" dirty="0"/>
              <a:t>nd</a:t>
            </a:r>
            <a:r>
              <a:rPr lang="en-US" sz="2400" dirty="0"/>
              <a:t> circle)</a:t>
            </a:r>
          </a:p>
          <a:p>
            <a:pPr lvl="1"/>
            <a:r>
              <a:rPr lang="en-US" sz="2000" b="0" i="1" dirty="0">
                <a:solidFill>
                  <a:srgbClr val="001D35"/>
                </a:solidFill>
                <a:effectLst/>
                <a:latin typeface="Google Sans"/>
              </a:rPr>
              <a:t>joy, trust, fear, surprise, sadness, disgust, anger, and anticipation</a:t>
            </a:r>
          </a:p>
          <a:p>
            <a:r>
              <a:rPr lang="en-US" sz="2400" dirty="0"/>
              <a:t>Each emotion has a spectrum of intensity</a:t>
            </a:r>
          </a:p>
          <a:p>
            <a:pPr lvl="1"/>
            <a:r>
              <a:rPr lang="en-US" sz="2000" b="1" dirty="0">
                <a:solidFill>
                  <a:srgbClr val="941100"/>
                </a:solidFill>
              </a:rPr>
              <a:t>annoyance</a:t>
            </a:r>
            <a:r>
              <a:rPr lang="en-US" sz="2000" dirty="0"/>
              <a:t> is a less intense form of </a:t>
            </a:r>
            <a:r>
              <a:rPr lang="en-US" sz="2000" b="1" dirty="0">
                <a:solidFill>
                  <a:srgbClr val="C00000"/>
                </a:solidFill>
              </a:rPr>
              <a:t>anger </a:t>
            </a:r>
            <a:r>
              <a:rPr lang="en-US" sz="2000" dirty="0"/>
              <a:t>(outer circle)</a:t>
            </a:r>
          </a:p>
          <a:p>
            <a:pPr lvl="1"/>
            <a:r>
              <a:rPr lang="en-US" sz="2000" dirty="0"/>
              <a:t>while </a:t>
            </a:r>
            <a:r>
              <a:rPr lang="en-US" sz="2000" b="1" dirty="0">
                <a:solidFill>
                  <a:srgbClr val="FF2600"/>
                </a:solidFill>
              </a:rPr>
              <a:t>rage</a:t>
            </a:r>
            <a:r>
              <a:rPr lang="en-US" sz="2000" dirty="0"/>
              <a:t> is a more intense form of </a:t>
            </a:r>
            <a:r>
              <a:rPr lang="en-US" sz="2000" b="1" dirty="0">
                <a:solidFill>
                  <a:srgbClr val="C00000"/>
                </a:solidFill>
              </a:rPr>
              <a:t>anger </a:t>
            </a:r>
            <a:r>
              <a:rPr lang="en-US" sz="2000" dirty="0"/>
              <a:t>(inner circle)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400" dirty="0"/>
              <a:t>Combinations of primary emotions produce new emotions</a:t>
            </a:r>
          </a:p>
          <a:p>
            <a:pPr lvl="1"/>
            <a:r>
              <a:rPr lang="en-US" sz="2000" dirty="0"/>
              <a:t>joy + trust -&gt; love; joy + fear -&gt; guilt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6008D-9024-0417-EAF4-A0EE1EDF6EFF}"/>
              </a:ext>
            </a:extLst>
          </p:cNvPr>
          <p:cNvSpPr txBox="1"/>
          <p:nvPr/>
        </p:nvSpPr>
        <p:spPr>
          <a:xfrm>
            <a:off x="827706" y="6200486"/>
            <a:ext cx="81855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2"/>
              </a:rPr>
              <a:t>https://leadershipyoda.com/understanding-emotions-using-the-wheel-of-emotions/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E58FDA-DB8E-CC8A-6597-535FF76D3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63" y="4573682"/>
            <a:ext cx="6108405" cy="147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81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58E5-9621-57F8-A01E-18A66A55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73B9-AC8C-5436-6F51-47108C8A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85" y="303342"/>
            <a:ext cx="7886700" cy="1325563"/>
          </a:xfrm>
        </p:spPr>
        <p:txBody>
          <a:bodyPr/>
          <a:lstStyle/>
          <a:p>
            <a:r>
              <a:rPr lang="en-US" b="0" dirty="0"/>
              <a:t>Plutchik’s Wheel of Emotions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B6B795-2F4A-EC47-5931-3EEE8CD8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219" y="1286698"/>
            <a:ext cx="4428590" cy="542919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654F9B3-A997-BBA9-F6D3-B7774FED1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91" y="1825625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   Can model different categories: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8 primary emotions (4 +/- pairs)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8 intensified primary emotions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8 weakened primary emotions </a:t>
            </a:r>
          </a:p>
          <a:p>
            <a:pPr lvl="1"/>
            <a:r>
              <a:rPr lang="en-US" sz="2000" dirty="0"/>
              <a:t>24 mixed emotions  ---&gt;</a:t>
            </a:r>
          </a:p>
          <a:p>
            <a:pPr marL="0" indent="0">
              <a:buNone/>
            </a:pPr>
            <a:r>
              <a:rPr lang="en-US" sz="2400" dirty="0"/>
              <a:t>   No mixture of opposite ones</a:t>
            </a:r>
          </a:p>
          <a:p>
            <a:pPr lvl="1"/>
            <a:r>
              <a:rPr lang="en-US" sz="2000" dirty="0"/>
              <a:t>joy + sadness = ?</a:t>
            </a:r>
          </a:p>
          <a:p>
            <a:pPr lvl="1"/>
            <a:r>
              <a:rPr lang="en-US" sz="2000" dirty="0"/>
              <a:t>anger + fear = ?</a:t>
            </a:r>
          </a:p>
          <a:p>
            <a:pPr lvl="1"/>
            <a:endParaRPr lang="en-US" sz="2000" dirty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72005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F5FC-B96D-C468-E071-D61A69454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2594-0293-AC8C-D28D-E81D1B38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85" y="303342"/>
            <a:ext cx="7886700" cy="1325563"/>
          </a:xfrm>
        </p:spPr>
        <p:txBody>
          <a:bodyPr/>
          <a:lstStyle/>
          <a:p>
            <a:r>
              <a:rPr lang="en-US" b="0" dirty="0"/>
              <a:t>Predict emotion with Neural Nets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D0C06-38F6-DCF1-FBB0-B90F6590DEFC}"/>
              </a:ext>
            </a:extLst>
          </p:cNvPr>
          <p:cNvSpPr txBox="1"/>
          <p:nvPr/>
        </p:nvSpPr>
        <p:spPr>
          <a:xfrm>
            <a:off x="564873" y="1592552"/>
            <a:ext cx="80142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45D7E"/>
                </a:solidFill>
              </a:rPr>
              <a:t>Identifying emotions using large-scale social media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665 emotion words by expanding the </a:t>
            </a:r>
            <a:r>
              <a:rPr lang="en-US" dirty="0">
                <a:solidFill>
                  <a:schemeClr val="accent1"/>
                </a:solidFill>
              </a:rPr>
              <a:t>24 emotion types </a:t>
            </a:r>
            <a:r>
              <a:rPr lang="en-US" dirty="0"/>
              <a:t>with synonyms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Joy: </a:t>
            </a:r>
            <a:r>
              <a:rPr lang="en-US" sz="1700" i="1" dirty="0"/>
              <a:t>{“happy”, “happiness”, “joy”, “joyful”, “joyfully”, “delighted”, “feel-</a:t>
            </a:r>
            <a:r>
              <a:rPr lang="en-US" sz="1700" i="1" dirty="0" err="1"/>
              <a:t>ingsunny</a:t>
            </a:r>
            <a:r>
              <a:rPr lang="en-US" sz="1700" i="1" dirty="0"/>
              <a:t>”, “blithe”, “beatiﬁc”, “exhilarated”, “blissful”, “</a:t>
            </a:r>
            <a:r>
              <a:rPr lang="en-US" sz="1700" i="1" dirty="0" err="1"/>
              <a:t>walkingonair</a:t>
            </a:r>
            <a:r>
              <a:rPr lang="en-US" sz="1700" i="1" dirty="0"/>
              <a:t>”, “jubilant”}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each word as a hashtag seed to extract tweets using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Collected a dataset of 0.25 billion tweets in [2009, 2017].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5E8523-10CE-A616-AA4B-0B6B3C29E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08618"/>
            <a:ext cx="7513320" cy="21990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4621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2308-C85C-959E-6308-6DC96D4A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tab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02D8AFC6-FD52-62AA-A9EE-2A5321461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08" y="1820456"/>
            <a:ext cx="4330224" cy="32170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8377DB-6628-E317-3AFD-071E3A3AEA24}"/>
              </a:ext>
            </a:extLst>
          </p:cNvPr>
          <p:cNvSpPr txBox="1"/>
          <p:nvPr/>
        </p:nvSpPr>
        <p:spPr>
          <a:xfrm>
            <a:off x="765544" y="5833131"/>
            <a:ext cx="8048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Mageed</a:t>
            </a:r>
            <a:r>
              <a:rPr lang="en-US" sz="1400" dirty="0"/>
              <a:t> &amp; Ungar. </a:t>
            </a:r>
            <a:r>
              <a:rPr lang="en-US" sz="1400" dirty="0" err="1"/>
              <a:t>EmoNet</a:t>
            </a:r>
            <a:r>
              <a:rPr lang="en-US" sz="1400" dirty="0"/>
              <a:t>: Fine-grained emotion detection with gated recurrent neural networks. ACL 2017.</a:t>
            </a:r>
          </a:p>
        </p:txBody>
      </p:sp>
      <p:pic>
        <p:nvPicPr>
          <p:cNvPr id="12" name="Picture 11" descr="A table with numbers and a few letters&#10;&#10;AI-generated content may be incorrect.">
            <a:extLst>
              <a:ext uri="{FF2B5EF4-FFF2-40B4-BE49-F238E27FC236}">
                <a16:creationId xmlns:a16="http://schemas.microsoft.com/office/drawing/2014/main" id="{FF6F84C6-8FE0-88D5-4E58-9B05904D5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277" y="2997876"/>
            <a:ext cx="3569418" cy="20396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B6C8FA-CB89-14DB-9FDA-6764F39FCAE5}"/>
              </a:ext>
            </a:extLst>
          </p:cNvPr>
          <p:cNvSpPr txBox="1"/>
          <p:nvPr/>
        </p:nvSpPr>
        <p:spPr>
          <a:xfrm>
            <a:off x="4872833" y="1892476"/>
            <a:ext cx="39869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45D7E"/>
                </a:solidFill>
              </a:rPr>
              <a:t>Gated recurrent neural net.</a:t>
            </a:r>
            <a:r>
              <a:rPr lang="en-US" dirty="0"/>
              <a:t> VS. </a:t>
            </a:r>
            <a:r>
              <a:rPr lang="en-US" dirty="0">
                <a:solidFill>
                  <a:srgbClr val="545D7E"/>
                </a:solidFill>
              </a:rPr>
              <a:t>PAC: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predicting the 8 inner circle emotions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f-score is over 0.9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268B73-1B38-80C9-8C97-3B9FDE0F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85" y="303342"/>
            <a:ext cx="7886700" cy="1325563"/>
          </a:xfrm>
        </p:spPr>
        <p:txBody>
          <a:bodyPr/>
          <a:lstStyle/>
          <a:p>
            <a:r>
              <a:rPr lang="en-US" b="0" dirty="0"/>
              <a:t>Predict emotion with Neural Nets</a:t>
            </a:r>
          </a:p>
        </p:txBody>
      </p:sp>
    </p:spTree>
    <p:extLst>
      <p:ext uri="{BB962C8B-B14F-4D97-AF65-F5344CB8AC3E}">
        <p14:creationId xmlns:p14="http://schemas.microsoft.com/office/powerpoint/2010/main" val="749736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2755-4C7B-CC9D-0984-A7509619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6C459-69F1-C874-AB98-07DFABAB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Other text classification tasks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D3E073-8091-0DB5-DE20-B9A1D6694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47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Spam/clickbait detection</a:t>
            </a:r>
          </a:p>
          <a:p>
            <a:r>
              <a:rPr lang="en-US" sz="2400" dirty="0">
                <a:solidFill>
                  <a:schemeClr val="accent3"/>
                </a:solidFill>
              </a:rPr>
              <a:t>Helpfulness rating on Q&amp;A sites</a:t>
            </a:r>
          </a:p>
          <a:p>
            <a:r>
              <a:rPr lang="en-US" sz="2400" dirty="0">
                <a:solidFill>
                  <a:schemeClr val="accent3"/>
                </a:solidFill>
              </a:rPr>
              <a:t>Complain/fake/rating of reviews</a:t>
            </a:r>
          </a:p>
          <a:p>
            <a:r>
              <a:rPr lang="en-US" sz="2400" dirty="0"/>
              <a:t>Civility/toxicity/hateful speech</a:t>
            </a:r>
          </a:p>
          <a:p>
            <a:r>
              <a:rPr lang="en-US" sz="2400" dirty="0"/>
              <a:t>Language identification of posts</a:t>
            </a:r>
          </a:p>
          <a:p>
            <a:r>
              <a:rPr lang="en-US" sz="2400" dirty="0"/>
              <a:t>Fake news / bot detection</a:t>
            </a:r>
          </a:p>
          <a:p>
            <a:r>
              <a:rPr lang="en-US" sz="2400" dirty="0"/>
              <a:t>Identify AIGC posts on </a:t>
            </a:r>
            <a:r>
              <a:rPr lang="en-US" sz="2400" dirty="0" err="1"/>
              <a:t>RedNote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9222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B94C-9299-D6AC-4FF9-A2B63E33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+ Hundred Acute Toxicity Symbol Royalty-Free Images, Stock Photos &amp;  Pictures | Shutterstock">
            <a:extLst>
              <a:ext uri="{FF2B5EF4-FFF2-40B4-BE49-F238E27FC236}">
                <a16:creationId xmlns:a16="http://schemas.microsoft.com/office/drawing/2014/main" id="{AEE58AF4-3BED-74AA-BCF8-EF60099EB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007" y="3148013"/>
            <a:ext cx="302895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D568D2-56C1-6C15-CBDA-DE1D1076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Toxicity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9EECD-BDD9-BDFE-D5C6-4DF24F3D7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711321"/>
            <a:ext cx="8421221" cy="4351338"/>
          </a:xfrm>
        </p:spPr>
        <p:txBody>
          <a:bodyPr>
            <a:normAutofit/>
          </a:bodyPr>
          <a:lstStyle/>
          <a:p>
            <a:r>
              <a:rPr lang="en-US" dirty="0"/>
              <a:t>Good for content moderation for online platforms</a:t>
            </a:r>
          </a:p>
          <a:p>
            <a:r>
              <a:rPr lang="en-US" dirty="0"/>
              <a:t>Help to maintain healthy / civic conversations</a:t>
            </a:r>
          </a:p>
          <a:p>
            <a:r>
              <a:rPr lang="en-US" dirty="0"/>
              <a:t>Prevent online abuse and harassment</a:t>
            </a:r>
          </a:p>
        </p:txBody>
      </p:sp>
      <p:pic>
        <p:nvPicPr>
          <p:cNvPr id="2052" name="Picture 4" descr="Can You Guess What Makes These Comments Toxic? | OpenWeb">
            <a:extLst>
              <a:ext uri="{FF2B5EF4-FFF2-40B4-BE49-F238E27FC236}">
                <a16:creationId xmlns:a16="http://schemas.microsoft.com/office/drawing/2014/main" id="{5F00AF92-A952-415C-12DB-620AE33B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3725789"/>
            <a:ext cx="4429125" cy="263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15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7BAD1-B43E-3072-FE92-1795ABA84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580C2DA-9479-BF0A-C712-72083432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6" y="2715514"/>
            <a:ext cx="7186613" cy="404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70CB1F-D557-A5C7-AB84-491FDC3D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Perspective API by Google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2017F-B48C-4081-34EF-00FC61E6E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7011"/>
            <a:ext cx="8421221" cy="4351338"/>
          </a:xfrm>
        </p:spPr>
        <p:txBody>
          <a:bodyPr>
            <a:normAutofit/>
          </a:bodyPr>
          <a:lstStyle/>
          <a:p>
            <a:r>
              <a:rPr lang="en-US" sz="2400" dirty="0"/>
              <a:t>Python library:</a:t>
            </a:r>
          </a:p>
          <a:p>
            <a:pPr lvl="1"/>
            <a:r>
              <a:rPr lang="en-US" sz="1800" dirty="0">
                <a:hlinkClick r:id="rId3"/>
              </a:rPr>
              <a:t>https://developers.perspectiveapi.com/s/docs-sample-requests</a:t>
            </a:r>
            <a:endParaRPr lang="en-US" sz="1800" dirty="0"/>
          </a:p>
          <a:p>
            <a:r>
              <a:rPr lang="en-US" sz="2400" dirty="0"/>
              <a:t>Other </a:t>
            </a:r>
            <a:r>
              <a:rPr lang="en-US" sz="2400" dirty="0" err="1"/>
              <a:t>Github</a:t>
            </a:r>
            <a:r>
              <a:rPr lang="en-US" sz="2400" dirty="0"/>
              <a:t> package:</a:t>
            </a:r>
          </a:p>
          <a:p>
            <a:pPr lvl="1"/>
            <a:r>
              <a:rPr lang="en-US" sz="1800" dirty="0">
                <a:hlinkClick r:id="rId4"/>
              </a:rPr>
              <a:t>https://github.com/baishalidutta/Comments-Toxicity-Detection</a:t>
            </a:r>
            <a:endParaRPr lang="en-US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85227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7B37-C0A8-4542-38AB-6E2E9F06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149A-FC74-74EB-2513-669F60C8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Language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31C33-7FFD-CFDB-E313-6C3CABAD9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7961"/>
            <a:ext cx="8421221" cy="4351338"/>
          </a:xfrm>
        </p:spPr>
        <p:txBody>
          <a:bodyPr>
            <a:normAutofit/>
          </a:bodyPr>
          <a:lstStyle/>
          <a:p>
            <a:r>
              <a:rPr lang="en-US" dirty="0"/>
              <a:t>Needed for dataset filtering, marketing analysis</a:t>
            </a:r>
          </a:p>
          <a:p>
            <a:r>
              <a:rPr lang="en-US" dirty="0"/>
              <a:t>How to build a Naïve Beyes classifier on this data?</a:t>
            </a:r>
          </a:p>
        </p:txBody>
      </p:sp>
      <p:pic>
        <p:nvPicPr>
          <p:cNvPr id="1026" name="Picture 2" descr="lingua">
            <a:extLst>
              <a:ext uri="{FF2B5EF4-FFF2-40B4-BE49-F238E27FC236}">
                <a16:creationId xmlns:a16="http://schemas.microsoft.com/office/drawing/2014/main" id="{23868F8A-8294-B411-76E2-D93CF4510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365" y="5257208"/>
            <a:ext cx="6315635" cy="118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C7A37E-AF12-5E12-8B15-492224CCA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534850"/>
              </p:ext>
            </p:extLst>
          </p:nvPr>
        </p:nvGraphicFramePr>
        <p:xfrm>
          <a:off x="1234440" y="2823524"/>
          <a:ext cx="5503545" cy="20531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4639">
                  <a:extLst>
                    <a:ext uri="{9D8B030D-6E8A-4147-A177-3AD203B41FA5}">
                      <a16:colId xmlns:a16="http://schemas.microsoft.com/office/drawing/2014/main" val="2801989639"/>
                    </a:ext>
                  </a:extLst>
                </a:gridCol>
                <a:gridCol w="3063471">
                  <a:extLst>
                    <a:ext uri="{9D8B030D-6E8A-4147-A177-3AD203B41FA5}">
                      <a16:colId xmlns:a16="http://schemas.microsoft.com/office/drawing/2014/main" val="831392188"/>
                    </a:ext>
                  </a:extLst>
                </a:gridCol>
                <a:gridCol w="1605435">
                  <a:extLst>
                    <a:ext uri="{9D8B030D-6E8A-4147-A177-3AD203B41FA5}">
                      <a16:colId xmlns:a16="http://schemas.microsoft.com/office/drawing/2014/main" val="4113990193"/>
                    </a:ext>
                  </a:extLst>
                </a:gridCol>
              </a:tblGrid>
              <a:tr h="343730">
                <a:tc>
                  <a:txBody>
                    <a:bodyPr/>
                    <a:lstStyle/>
                    <a:p>
                      <a:pPr marL="635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Doc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Text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Class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2238125626"/>
                  </a:ext>
                </a:extLst>
              </a:tr>
              <a:tr h="340024">
                <a:tc>
                  <a:txBody>
                    <a:bodyPr/>
                    <a:lstStyle/>
                    <a:p>
                      <a:pPr marL="635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1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this is my private domicile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English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756762957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635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Don Eladio is dead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English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2124171653"/>
                  </a:ext>
                </a:extLst>
              </a:tr>
              <a:tr h="340024">
                <a:tc>
                  <a:txBody>
                    <a:bodyPr/>
                    <a:lstStyle/>
                    <a:p>
                      <a:pPr marL="635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3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Don Eladio está muerto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Spanish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1347787942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635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4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sus capos están muerto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Spanish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273204292"/>
                  </a:ext>
                </a:extLst>
              </a:tr>
              <a:tr h="340024">
                <a:tc>
                  <a:txBody>
                    <a:bodyPr/>
                    <a:lstStyle/>
                    <a:p>
                      <a:pPr marL="635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5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my capos is muerto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1270" marR="0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?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2949570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124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70E1-7236-AA4E-21FB-0D128987F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8589-1F7B-0139-8151-070FB288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Language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C9036-5858-6F40-6089-4B3A2DA57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711321"/>
            <a:ext cx="8421221" cy="4351338"/>
          </a:xfrm>
        </p:spPr>
        <p:txBody>
          <a:bodyPr>
            <a:normAutofit/>
          </a:bodyPr>
          <a:lstStyle/>
          <a:p>
            <a:r>
              <a:rPr lang="en-US" dirty="0"/>
              <a:t>Python library:</a:t>
            </a:r>
          </a:p>
          <a:p>
            <a:pPr lvl="1"/>
            <a:r>
              <a:rPr lang="en-US" sz="2000" dirty="0">
                <a:hlinkClick r:id="rId2"/>
              </a:rPr>
              <a:t>https://github.com/pemistahl/lingua-py</a:t>
            </a:r>
            <a:endParaRPr lang="en-US" sz="2000" dirty="0"/>
          </a:p>
          <a:p>
            <a:pPr lvl="1"/>
            <a:endParaRPr lang="en-US" dirty="0"/>
          </a:p>
        </p:txBody>
      </p:sp>
      <p:pic>
        <p:nvPicPr>
          <p:cNvPr id="1026" name="Picture 2" descr="lingua">
            <a:extLst>
              <a:ext uri="{FF2B5EF4-FFF2-40B4-BE49-F238E27FC236}">
                <a16:creationId xmlns:a16="http://schemas.microsoft.com/office/drawing/2014/main" id="{317D0936-2844-3EED-1BED-2059FDD27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05" y="4435018"/>
            <a:ext cx="8790790" cy="164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0841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50E7B-EEAE-468E-5DC5-1CCB4AF2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newspaper with text on it&#10;&#10;AI-generated content may be incorrect.">
            <a:extLst>
              <a:ext uri="{FF2B5EF4-FFF2-40B4-BE49-F238E27FC236}">
                <a16:creationId xmlns:a16="http://schemas.microsoft.com/office/drawing/2014/main" id="{4F267BDD-875E-495C-7366-7379E41F1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38" y="371966"/>
            <a:ext cx="6227178" cy="57808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E2EB56-A1AF-9A03-195E-2E576388F309}"/>
              </a:ext>
            </a:extLst>
          </p:cNvPr>
          <p:cNvSpPr txBox="1"/>
          <p:nvPr/>
        </p:nvSpPr>
        <p:spPr>
          <a:xfrm>
            <a:off x="5523692" y="6356351"/>
            <a:ext cx="23184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Lazer et al. 2018, </a:t>
            </a:r>
            <a:r>
              <a:rPr lang="en-US" sz="1600" i="1" dirty="0"/>
              <a:t>Science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871148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D3D1-8186-B4B0-5B7D-55580451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2B4-346A-C981-0309-9A3D396D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3A187-19B4-DE93-7B09-ED80DC874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081398" cy="4493135"/>
          </a:xfrm>
        </p:spPr>
        <p:txBody>
          <a:bodyPr>
            <a:normAutofit/>
          </a:bodyPr>
          <a:lstStyle/>
          <a:p>
            <a:r>
              <a:rPr lang="en-US" dirty="0"/>
              <a:t>Definition: </a:t>
            </a:r>
          </a:p>
          <a:p>
            <a:pPr lvl="1"/>
            <a:r>
              <a:rPr lang="en-US" dirty="0"/>
              <a:t>Purposefully crafted, sensational, emotionally charged, misleading or totally fabricated information that mimics the form of mainstream news (Zimdars &amp; McLeod, 2020). </a:t>
            </a:r>
          </a:p>
          <a:p>
            <a:r>
              <a:rPr lang="en-US" dirty="0"/>
              <a:t>Three varieties: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Disinformation</a:t>
            </a:r>
            <a:r>
              <a:rPr lang="en-US" dirty="0"/>
              <a:t>: Content that is intentionally false and designed to deceive people and cause harm.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Misinformation</a:t>
            </a:r>
            <a:r>
              <a:rPr lang="en-US" dirty="0"/>
              <a:t>: Misleading content but the person sharing doesn’t realize that it is false or misleading.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Malinformation</a:t>
            </a:r>
            <a:r>
              <a:rPr lang="en-US" dirty="0"/>
              <a:t>: Genuine information that is shared out of context with an intent to cause harm.</a:t>
            </a:r>
          </a:p>
        </p:txBody>
      </p:sp>
    </p:spTree>
    <p:extLst>
      <p:ext uri="{BB962C8B-B14F-4D97-AF65-F5344CB8AC3E}">
        <p14:creationId xmlns:p14="http://schemas.microsoft.com/office/powerpoint/2010/main" val="26588134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BB46-3766-92C6-D4A5-7D38A0B8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nfographic explaining the difference between misinformation and disinformation">
            <a:extLst>
              <a:ext uri="{FF2B5EF4-FFF2-40B4-BE49-F238E27FC236}">
                <a16:creationId xmlns:a16="http://schemas.microsoft.com/office/drawing/2014/main" id="{50B78FD7-C5D3-42BC-C2BA-4238EAC48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" y="1457658"/>
            <a:ext cx="8951495" cy="503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91067C2-92EE-E240-A07B-016E3BFA8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Fake news</a:t>
            </a:r>
          </a:p>
        </p:txBody>
      </p:sp>
    </p:spTree>
    <p:extLst>
      <p:ext uri="{BB962C8B-B14F-4D97-AF65-F5344CB8AC3E}">
        <p14:creationId xmlns:p14="http://schemas.microsoft.com/office/powerpoint/2010/main" val="35175638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A7214-98E4-C491-6946-FC805099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17287E-5529-41CE-1ADB-6AC99E4A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Fake news example</a:t>
            </a:r>
          </a:p>
        </p:txBody>
      </p:sp>
      <p:pic>
        <p:nvPicPr>
          <p:cNvPr id="2" name="Picture 2" descr="How to spot AI fake news – and what policymakers can do to help | USC Price">
            <a:extLst>
              <a:ext uri="{FF2B5EF4-FFF2-40B4-BE49-F238E27FC236}">
                <a16:creationId xmlns:a16="http://schemas.microsoft.com/office/drawing/2014/main" id="{F3456362-7772-88DE-880D-511B09939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73" y="1690689"/>
            <a:ext cx="6873240" cy="412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4378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9C1E-3655-C71B-35CA-BD08F1B35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0AC910-E982-FD05-324C-99B82F7CA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Fake news example</a:t>
            </a:r>
          </a:p>
        </p:txBody>
      </p:sp>
      <p:pic>
        <p:nvPicPr>
          <p:cNvPr id="5122" name="Picture 2" descr="HongKongtrust - Search / X">
            <a:hlinkClick r:id="rId3"/>
            <a:extLst>
              <a:ext uri="{FF2B5EF4-FFF2-40B4-BE49-F238E27FC236}">
                <a16:creationId xmlns:a16="http://schemas.microsoft.com/office/drawing/2014/main" id="{2A212AB6-1224-C5E3-54C3-A02618DEE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105" y="1690689"/>
            <a:ext cx="6383789" cy="430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714FBF-B92B-2DA9-BA71-A36DBA09F9EC}"/>
              </a:ext>
            </a:extLst>
          </p:cNvPr>
          <p:cNvSpPr txBox="1"/>
          <p:nvPr/>
        </p:nvSpPr>
        <p:spPr>
          <a:xfrm>
            <a:off x="1380104" y="5662499"/>
            <a:ext cx="6383789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Soldiers saving lives or killing people?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85578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E895B-008D-1E9E-F2FF-485EFC6D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00A9-5E71-9DBB-69F9-5043E0C1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Fakey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72E09-0BBA-0CC8-AEFF-A6BC5072A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081398" cy="4493135"/>
          </a:xfrm>
        </p:spPr>
        <p:txBody>
          <a:bodyPr>
            <a:normAutofit/>
          </a:bodyPr>
          <a:lstStyle/>
          <a:p>
            <a:r>
              <a:rPr lang="en-US" dirty="0"/>
              <a:t>Play the game: </a:t>
            </a:r>
            <a:r>
              <a:rPr lang="en-US" dirty="0">
                <a:hlinkClick r:id="rId2"/>
              </a:rPr>
              <a:t>https://fakey.osome.iu.edu/login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66915F-E19E-24B7-DA99-4BDC55319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253" y="2506647"/>
            <a:ext cx="5582653" cy="384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3691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26E397-ACD8-36BF-E3F1-1E6839ED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426B03-7F1D-7B82-2053-6FED8CE6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Hard for humans to identity</a:t>
            </a:r>
          </a:p>
        </p:txBody>
      </p:sp>
      <p:pic>
        <p:nvPicPr>
          <p:cNvPr id="3" name="Picture 2" descr="A group of people in military uniforms&#10;&#10;AI-generated content may be incorrect.">
            <a:extLst>
              <a:ext uri="{FF2B5EF4-FFF2-40B4-BE49-F238E27FC236}">
                <a16:creationId xmlns:a16="http://schemas.microsoft.com/office/drawing/2014/main" id="{5F53946A-30F7-01BD-CF26-458EAC60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10" y="1690689"/>
            <a:ext cx="5541756" cy="462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063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D6DF61-1E9A-B1AD-D8F7-84932F2C4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0972DA-F173-A8B3-701D-12C75B75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Hard for humans to identity</a:t>
            </a:r>
          </a:p>
        </p:txBody>
      </p:sp>
      <p:pic>
        <p:nvPicPr>
          <p:cNvPr id="5" name="Picture 4" descr="A person in a robe holding up his fist&#10;&#10;AI-generated content may be incorrect.">
            <a:extLst>
              <a:ext uri="{FF2B5EF4-FFF2-40B4-BE49-F238E27FC236}">
                <a16:creationId xmlns:a16="http://schemas.microsoft.com/office/drawing/2014/main" id="{547492D4-22D1-2432-7FE3-F0D085818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872" y="1525069"/>
            <a:ext cx="6035837" cy="469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711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823B-DFE6-2B6E-B059-EC816E13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B85A-F2F5-E55F-A98D-B82F05EB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Lies spread faster than the truth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B59073-4228-09A9-DEFF-5FFAA1C720E3}"/>
              </a:ext>
            </a:extLst>
          </p:cNvPr>
          <p:cNvSpPr txBox="1"/>
          <p:nvPr/>
        </p:nvSpPr>
        <p:spPr>
          <a:xfrm>
            <a:off x="1450427" y="6169708"/>
            <a:ext cx="57701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https://www.science.org/doi/10.1126/science.aap9559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FDFCBBAE-9115-8A0E-B00A-CEBEEECEB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427" y="1499914"/>
            <a:ext cx="58674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058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4695-EFF7-9A62-5057-22B527BF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7D24-4229-0F65-ACBD-E1A87E17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Fake news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40C3-153C-905D-2085-CA73DBF46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515350" cy="4493135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Undermines online trust, democracy, and public health (e.g., the COVID-19 misinformation).</a:t>
            </a:r>
          </a:p>
          <a:p>
            <a:r>
              <a:rPr lang="en-US" dirty="0"/>
              <a:t>Increase polarization and echo chamber effects.</a:t>
            </a:r>
          </a:p>
          <a:p>
            <a:r>
              <a:rPr lang="en-US" dirty="0">
                <a:effectLst/>
              </a:rPr>
              <a:t>Erosion of public trust in news media.</a:t>
            </a:r>
          </a:p>
        </p:txBody>
      </p:sp>
    </p:spTree>
    <p:extLst>
      <p:ext uri="{BB962C8B-B14F-4D97-AF65-F5344CB8AC3E}">
        <p14:creationId xmlns:p14="http://schemas.microsoft.com/office/powerpoint/2010/main" val="30884732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3380E-F470-382B-1DC7-4C19D7F1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115F-F72B-8E2A-62D8-10F0D459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Fake news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0AECD-C5FC-C957-0A29-31B1DE1F6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515350" cy="4493135"/>
          </a:xfrm>
        </p:spPr>
        <p:txBody>
          <a:bodyPr>
            <a:normAutofit/>
          </a:bodyPr>
          <a:lstStyle/>
          <a:p>
            <a:r>
              <a:rPr lang="en-US" dirty="0"/>
              <a:t>A classification task (</a:t>
            </a:r>
            <a:r>
              <a:rPr lang="en-US" dirty="0">
                <a:solidFill>
                  <a:srgbClr val="C00000"/>
                </a:solidFill>
              </a:rPr>
              <a:t>document-level or source-level</a:t>
            </a:r>
            <a:r>
              <a:rPr lang="en-US" dirty="0"/>
              <a:t>)</a:t>
            </a:r>
          </a:p>
          <a:p>
            <a:r>
              <a:rPr lang="en-US" dirty="0"/>
              <a:t>High-quality data: </a:t>
            </a:r>
            <a:r>
              <a:rPr lang="en-US" dirty="0">
                <a:hlinkClick r:id="rId3"/>
              </a:rPr>
              <a:t>https://www.snopes.com/fact-check/</a:t>
            </a:r>
            <a:endParaRPr lang="en-US" dirty="0"/>
          </a:p>
          <a:p>
            <a:r>
              <a:rPr lang="en-US" dirty="0"/>
              <a:t>Prediction using three sets of features:</a:t>
            </a:r>
          </a:p>
          <a:p>
            <a:pPr lvl="1"/>
            <a:r>
              <a:rPr lang="en-US" dirty="0"/>
              <a:t>Source-level</a:t>
            </a:r>
          </a:p>
          <a:p>
            <a:pPr lvl="1"/>
            <a:r>
              <a:rPr lang="en-US" dirty="0"/>
              <a:t>Content-level</a:t>
            </a:r>
          </a:p>
          <a:p>
            <a:pPr lvl="1"/>
            <a:r>
              <a:rPr lang="en-US" dirty="0"/>
              <a:t>Spreading pattern (network-level)</a:t>
            </a:r>
          </a:p>
        </p:txBody>
      </p:sp>
      <p:pic>
        <p:nvPicPr>
          <p:cNvPr id="6" name="Picture 5" descr="A screenshot of a social media account&#10;&#10;AI-generated content may be incorrect.">
            <a:extLst>
              <a:ext uri="{FF2B5EF4-FFF2-40B4-BE49-F238E27FC236}">
                <a16:creationId xmlns:a16="http://schemas.microsoft.com/office/drawing/2014/main" id="{792D7A52-25C6-1B16-17AA-D7FD729BE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49" y="4550636"/>
            <a:ext cx="7772400" cy="163318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29044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2827F-A18D-2AE8-147B-4DE57C0D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B1D9C-592D-81C3-346F-04B632F9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Characteristics of 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25CFF-B524-852F-F3B5-66EC86C86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515350" cy="4493135"/>
          </a:xfrm>
        </p:spPr>
        <p:txBody>
          <a:bodyPr>
            <a:normAutofit/>
          </a:bodyPr>
          <a:lstStyle/>
          <a:p>
            <a:r>
              <a:rPr lang="en-US" sz="2400" dirty="0"/>
              <a:t>Fake news uses distinct linguistic features for virality.</a:t>
            </a:r>
          </a:p>
          <a:p>
            <a:r>
              <a:rPr lang="en-US" sz="2400" u="sng" dirty="0"/>
              <a:t>Examples</a:t>
            </a:r>
            <a:r>
              <a:rPr lang="en-US" sz="2400" dirty="0"/>
              <a:t>: </a:t>
            </a:r>
            <a:r>
              <a:rPr lang="en-US" sz="2400" dirty="0">
                <a:effectLst/>
              </a:rPr>
              <a:t>“</a:t>
            </a:r>
            <a:r>
              <a:rPr lang="en-US" sz="2400" dirty="0">
                <a:solidFill>
                  <a:srgbClr val="C00000"/>
                </a:solidFill>
                <a:effectLst/>
              </a:rPr>
              <a:t>NEVER</a:t>
            </a:r>
            <a:r>
              <a:rPr lang="en-US" sz="2400" dirty="0">
                <a:effectLst/>
              </a:rPr>
              <a:t> </a:t>
            </a:r>
            <a:r>
              <a:rPr lang="en-US" sz="2400" dirty="0">
                <a:solidFill>
                  <a:srgbClr val="C00000"/>
                </a:solidFill>
                <a:effectLst/>
              </a:rPr>
              <a:t>T</a:t>
            </a:r>
            <a:r>
              <a:rPr lang="en-US" sz="2400" dirty="0">
                <a:effectLst/>
              </a:rPr>
              <a:t>rust </a:t>
            </a:r>
            <a:r>
              <a:rPr lang="en-US" sz="2400" dirty="0">
                <a:solidFill>
                  <a:srgbClr val="C00000"/>
                </a:solidFill>
                <a:effectLst/>
              </a:rPr>
              <a:t>T</a:t>
            </a:r>
            <a:r>
              <a:rPr lang="en-US" sz="2400" dirty="0">
                <a:effectLst/>
              </a:rPr>
              <a:t>his </a:t>
            </a:r>
            <a:r>
              <a:rPr lang="en-US" sz="2400" dirty="0">
                <a:solidFill>
                  <a:srgbClr val="C00000"/>
                </a:solidFill>
                <a:effectLst/>
              </a:rPr>
              <a:t>C</a:t>
            </a:r>
            <a:r>
              <a:rPr lang="en-US" sz="2400" dirty="0">
                <a:effectLst/>
              </a:rPr>
              <a:t>andidate!”.</a:t>
            </a:r>
            <a:endParaRPr lang="en-US" sz="2000" dirty="0"/>
          </a:p>
          <a:p>
            <a:r>
              <a:rPr lang="en-US" sz="2400" b="1" dirty="0"/>
              <a:t>Stylistic and Syntactic</a:t>
            </a:r>
            <a:r>
              <a:rPr lang="en-US" sz="2400" dirty="0"/>
              <a:t>: Sensational headlines, high adjective ratios, and all-caps usage (e.g., clickbait patterns in BuzzFeed).</a:t>
            </a:r>
          </a:p>
          <a:p>
            <a:r>
              <a:rPr lang="en-US" sz="2400" b="1" dirty="0"/>
              <a:t>Psycholinguistic</a:t>
            </a:r>
            <a:r>
              <a:rPr lang="en-US" sz="2400" dirty="0"/>
              <a:t>: Negative emotions (anger, fear) and persuasive language, often detected via LIWC tools (e.g., higher negation). </a:t>
            </a:r>
          </a:p>
          <a:p>
            <a:r>
              <a:rPr lang="en-US" sz="2400" b="1" dirty="0"/>
              <a:t>Readability</a:t>
            </a:r>
            <a:r>
              <a:rPr lang="en-US" sz="2400" dirty="0"/>
              <a:t>: Simpler language, lower Flesch-Kincaid scores, and repetitive structures for broad appeal and sensational tone.</a:t>
            </a:r>
          </a:p>
          <a:p>
            <a:r>
              <a:rPr lang="en-US" sz="2400" b="1" dirty="0"/>
              <a:t>Lexical/Semantic</a:t>
            </a:r>
            <a:r>
              <a:rPr lang="en-US" sz="2400" dirty="0"/>
              <a:t>: Low vocabulary richness and emotional words.</a:t>
            </a:r>
          </a:p>
        </p:txBody>
      </p:sp>
    </p:spTree>
    <p:extLst>
      <p:ext uri="{BB962C8B-B14F-4D97-AF65-F5344CB8AC3E}">
        <p14:creationId xmlns:p14="http://schemas.microsoft.com/office/powerpoint/2010/main" val="13592654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B86EBA-A005-0E17-7EC8-8B9FCC14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Course notes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978717-5A6B-4A08-A1BC-E854F83F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60311"/>
            <a:ext cx="8515350" cy="48858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8B9"/>
                </a:solidFill>
              </a:rPr>
              <a:t>Homework 1 will be released by end of this week.</a:t>
            </a:r>
          </a:p>
          <a:p>
            <a:pPr lvl="1"/>
            <a:r>
              <a:rPr lang="en-US" dirty="0"/>
              <a:t>Due in two weeks (submit </a:t>
            </a:r>
            <a:r>
              <a:rPr lang="en-US" u="sng" dirty="0"/>
              <a:t>html</a:t>
            </a:r>
            <a:r>
              <a:rPr lang="en-US" dirty="0"/>
              <a:t> file)</a:t>
            </a:r>
          </a:p>
          <a:p>
            <a:r>
              <a:rPr lang="en-US" dirty="0"/>
              <a:t>Upload paper presentation slides on Canvas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Notify students your paper choice via Discussion 7 days before presentation time (points reduction if delayed).</a:t>
            </a:r>
          </a:p>
          <a:p>
            <a:pPr lvl="1"/>
            <a:r>
              <a:rPr lang="en-US" dirty="0"/>
              <a:t>Turn on notifications for New Discussion on Canvas.</a:t>
            </a:r>
          </a:p>
          <a:p>
            <a:r>
              <a:rPr lang="en-US" dirty="0">
                <a:solidFill>
                  <a:srgbClr val="C00000"/>
                </a:solidFill>
              </a:rPr>
              <a:t>AI-assistance allowed, but human validation is required!</a:t>
            </a:r>
          </a:p>
          <a:p>
            <a:pPr lvl="1"/>
            <a:r>
              <a:rPr lang="en-US" dirty="0">
                <a:solidFill>
                  <a:srgbClr val="0078B9"/>
                </a:solidFill>
              </a:rPr>
              <a:t>I have numerous ways to test your understanding.</a:t>
            </a:r>
          </a:p>
          <a:p>
            <a:pPr lvl="1"/>
            <a:r>
              <a:rPr lang="en-US" dirty="0"/>
              <a:t>E.g., ask clarification questions about paper content.</a:t>
            </a:r>
          </a:p>
          <a:p>
            <a:r>
              <a:rPr lang="en-US" b="1" dirty="0"/>
              <a:t>User Profiling</a:t>
            </a:r>
            <a:r>
              <a:rPr lang="en-US" dirty="0"/>
              <a:t> next week</a:t>
            </a:r>
          </a:p>
          <a:p>
            <a:r>
              <a:rPr lang="en-US" b="1" dirty="0"/>
              <a:t>Behavioral Analysis</a:t>
            </a:r>
            <a:r>
              <a:rPr lang="en-US" dirty="0"/>
              <a:t> the week 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5533</TotalTime>
  <Words>2860</Words>
  <Application>Microsoft Macintosh PowerPoint</Application>
  <PresentationFormat>On-screen Show (4:3)</PresentationFormat>
  <Paragraphs>383</Paragraphs>
  <Slides>58</Slides>
  <Notes>23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-apple-system</vt:lpstr>
      <vt:lpstr>Google Sans</vt:lpstr>
      <vt:lpstr>inherit</vt:lpstr>
      <vt:lpstr>LM Sans 12</vt:lpstr>
      <vt:lpstr>LMSans10</vt:lpstr>
      <vt:lpstr>Abadi MT Condensed Extra Bold</vt:lpstr>
      <vt:lpstr>Abadi MT Condensed Light</vt:lpstr>
      <vt:lpstr>Arial</vt:lpstr>
      <vt:lpstr>Calibri</vt:lpstr>
      <vt:lpstr>Montserrat</vt:lpstr>
      <vt:lpstr>Times New Roman</vt:lpstr>
      <vt:lpstr>Office Theme</vt:lpstr>
      <vt:lpstr>2_Office Theme</vt:lpstr>
      <vt:lpstr>DSC3013 Intro. to Social Media Analytics (Lec. 5)</vt:lpstr>
      <vt:lpstr>Sentiment Analysis</vt:lpstr>
      <vt:lpstr>Beyond sentiment prediction</vt:lpstr>
      <vt:lpstr>Feature engineering</vt:lpstr>
      <vt:lpstr>LIWC Dictionary (bag of topics)</vt:lpstr>
      <vt:lpstr>Linguistic marker of Anxiety</vt:lpstr>
      <vt:lpstr>LDA topic modeling</vt:lpstr>
      <vt:lpstr>LDA topic modeling</vt:lpstr>
      <vt:lpstr>Applications of LDA</vt:lpstr>
      <vt:lpstr>Limitations of LDA</vt:lpstr>
      <vt:lpstr>Recall weaknesses of BoW</vt:lpstr>
      <vt:lpstr>Vector-space model</vt:lpstr>
      <vt:lpstr>Word2vec idea</vt:lpstr>
      <vt:lpstr>Word2vec idea</vt:lpstr>
      <vt:lpstr>Word2vec idea</vt:lpstr>
      <vt:lpstr>Word2vec magic</vt:lpstr>
      <vt:lpstr>Word2vec training setup</vt:lpstr>
      <vt:lpstr>CBOW training architecture</vt:lpstr>
      <vt:lpstr>Skip-gram training architecture</vt:lpstr>
      <vt:lpstr>Use W matrix as word embedding</vt:lpstr>
      <vt:lpstr>Practical considerations</vt:lpstr>
      <vt:lpstr>Python implementation</vt:lpstr>
      <vt:lpstr>Pre-trained word2vec models</vt:lpstr>
      <vt:lpstr>Word2vec applications</vt:lpstr>
      <vt:lpstr>Detect semantic shift using w2v</vt:lpstr>
      <vt:lpstr>Detect semantic shift using w2v</vt:lpstr>
      <vt:lpstr>Detect semantic shift using w2v</vt:lpstr>
      <vt:lpstr>Detect semantic shift using w2v</vt:lpstr>
      <vt:lpstr>Sentiment prediction via w2v</vt:lpstr>
      <vt:lpstr>Sentiment prediction via w2v</vt:lpstr>
      <vt:lpstr>Sentiment prediction via w2v</vt:lpstr>
      <vt:lpstr>Sentiment prediction via w2v</vt:lpstr>
      <vt:lpstr>From w2v to doc2vec</vt:lpstr>
      <vt:lpstr>From w2v to doc2vec</vt:lpstr>
      <vt:lpstr>w2v vs. doc2vec</vt:lpstr>
      <vt:lpstr>Plutchik’s Wheel of Emotions</vt:lpstr>
      <vt:lpstr>Plutchik’s Wheel of Emotions</vt:lpstr>
      <vt:lpstr>Plutchik’s Wheel of Emotions</vt:lpstr>
      <vt:lpstr>Predict emotion with Neural Nets</vt:lpstr>
      <vt:lpstr>Predict emotion with Neural Nets</vt:lpstr>
      <vt:lpstr>Other text classification tasks</vt:lpstr>
      <vt:lpstr>Toxicity detection</vt:lpstr>
      <vt:lpstr>Perspective API by Google</vt:lpstr>
      <vt:lpstr>Language prediction</vt:lpstr>
      <vt:lpstr>Language prediction</vt:lpstr>
      <vt:lpstr>PowerPoint Presentation</vt:lpstr>
      <vt:lpstr>Fake news</vt:lpstr>
      <vt:lpstr>Fake news</vt:lpstr>
      <vt:lpstr>Fake news example</vt:lpstr>
      <vt:lpstr>Fake news example</vt:lpstr>
      <vt:lpstr>Fakey game</vt:lpstr>
      <vt:lpstr>Hard for humans to identity</vt:lpstr>
      <vt:lpstr>Hard for humans to identity</vt:lpstr>
      <vt:lpstr>Lies spread faster than the truth</vt:lpstr>
      <vt:lpstr>Fake news impact</vt:lpstr>
      <vt:lpstr>Fake news detection</vt:lpstr>
      <vt:lpstr>Characteristics of fake news</vt:lpstr>
      <vt:lpstr>Course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Hao PENG</cp:lastModifiedBy>
  <cp:revision>265</cp:revision>
  <dcterms:created xsi:type="dcterms:W3CDTF">2019-01-16T16:49:18Z</dcterms:created>
  <dcterms:modified xsi:type="dcterms:W3CDTF">2026-09-28T03:18:39Z</dcterms:modified>
</cp:coreProperties>
</file>