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437" r:id="rId3"/>
    <p:sldId id="587" r:id="rId4"/>
    <p:sldId id="459" r:id="rId5"/>
    <p:sldId id="458" r:id="rId6"/>
    <p:sldId id="590" r:id="rId7"/>
    <p:sldId id="589" r:id="rId8"/>
    <p:sldId id="612" r:id="rId9"/>
    <p:sldId id="610" r:id="rId10"/>
    <p:sldId id="613" r:id="rId11"/>
    <p:sldId id="586" r:id="rId12"/>
    <p:sldId id="611" r:id="rId13"/>
    <p:sldId id="614" r:id="rId14"/>
    <p:sldId id="584" r:id="rId15"/>
    <p:sldId id="464" r:id="rId16"/>
    <p:sldId id="591" r:id="rId17"/>
    <p:sldId id="583" r:id="rId18"/>
    <p:sldId id="615" r:id="rId19"/>
    <p:sldId id="617" r:id="rId20"/>
    <p:sldId id="597" r:id="rId21"/>
    <p:sldId id="616" r:id="rId22"/>
    <p:sldId id="598" r:id="rId23"/>
    <p:sldId id="582" r:id="rId24"/>
    <p:sldId id="622" r:id="rId25"/>
    <p:sldId id="599" r:id="rId26"/>
    <p:sldId id="600" r:id="rId27"/>
    <p:sldId id="585" r:id="rId28"/>
    <p:sldId id="588" r:id="rId29"/>
    <p:sldId id="601" r:id="rId30"/>
    <p:sldId id="619" r:id="rId31"/>
    <p:sldId id="620" r:id="rId32"/>
    <p:sldId id="621" r:id="rId33"/>
    <p:sldId id="35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545D7E"/>
    <a:srgbClr val="0432FF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23"/>
    <p:restoredTop sz="82537"/>
  </p:normalViewPr>
  <p:slideViewPr>
    <p:cSldViewPr snapToGrid="0" snapToObjects="1">
      <p:cViewPr varScale="1">
        <p:scale>
          <a:sx n="80" d="100"/>
          <a:sy n="80" d="100"/>
        </p:scale>
        <p:origin x="1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text analysis, we deal with individual post</a:t>
            </a:r>
          </a:p>
          <a:p>
            <a:r>
              <a:rPr lang="en-US" dirty="0"/>
              <a:t>In user modeling, we deal with each user’s collection of posts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8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43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5379-3458-6E1A-ABA3-200594D7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242FC-A792-9721-07A8-FA6AB7697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7E486-45FB-158C-007B-7A55783D4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49EFF-89B7-4194-D73B-51B004723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9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D2C3-A992-02CE-0057-8292DCAC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1E6E4-BE1F-D8C7-CB56-0735BDA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92E31-159B-017A-88EB-CBC55350D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881EE-9242-8400-04EE-5E60947FD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2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9958B-FCFF-76FA-2B8C-92ECE832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D2373-1E23-1926-A5B8-2BAB411B4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2D3FA-A1A3-469C-5C29-8FAA9B98C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post length affect engagement score?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(Focus on model </a:t>
            </a:r>
            <a:r>
              <a:rPr lang="en-US" dirty="0" err="1"/>
              <a:t>coeff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867-FCD7-C249-A8BA-90F34D7DD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D9AD-3DF5-644E-BD46-A3CA737AAF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01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nderize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07379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ationalize.io/" TargetMode="External"/><Relationship Id="rId2" Type="http://schemas.openxmlformats.org/officeDocument/2006/relationships/hyperlink" Target="https://ethnicolr.readthedocs.io/ethnicol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bel.lis.illinois.edu/cgi-bin/ethnea/search.py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ocioeconomic_statu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uity.com/test/big-five-personality-tes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12axes.vercel.app/en" TargetMode="External"/><Relationship Id="rId2" Type="http://schemas.openxmlformats.org/officeDocument/2006/relationships/hyperlink" Target="https://www.pewresearch.org/politics/quiz/political-typ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429000"/>
            <a:ext cx="6858000" cy="2136153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4C38DC-B239-C410-3212-35F94ECC4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6)</a:t>
            </a:r>
          </a:p>
        </p:txBody>
      </p:sp>
    </p:spTree>
    <p:extLst>
      <p:ext uri="{BB962C8B-B14F-4D97-AF65-F5344CB8AC3E}">
        <p14:creationId xmlns:p14="http://schemas.microsoft.com/office/powerpoint/2010/main" val="253301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Agenda for this week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D50F03-748D-83BE-304B-25AD9AD37203}"/>
              </a:ext>
            </a:extLst>
          </p:cNvPr>
          <p:cNvSpPr txBox="1">
            <a:spLocks/>
          </p:cNvSpPr>
          <p:nvPr/>
        </p:nvSpPr>
        <p:spPr>
          <a:xfrm>
            <a:off x="628650" y="184785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Audience analytics</a:t>
            </a:r>
          </a:p>
          <a:p>
            <a:r>
              <a:rPr lang="en-US" sz="2800" dirty="0"/>
              <a:t>User demographics</a:t>
            </a:r>
          </a:p>
          <a:p>
            <a:r>
              <a:rPr lang="en-US" dirty="0"/>
              <a:t>Psychological traits</a:t>
            </a:r>
          </a:p>
          <a:p>
            <a:r>
              <a:rPr lang="en-US" dirty="0"/>
              <a:t>Political affiliations</a:t>
            </a:r>
          </a:p>
          <a:p>
            <a:r>
              <a:rPr lang="en-US" dirty="0"/>
              <a:t>Health informatics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5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9705-C92A-6476-D4E6-55ADA9ED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B71A-D2EC-0A6C-0EFD-4BF16B7D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Audience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5DBA5-F85E-8381-4C56-23CD31C0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1698"/>
            <a:ext cx="8401050" cy="4798459"/>
          </a:xfrm>
        </p:spPr>
        <p:txBody>
          <a:bodyPr>
            <a:normAutofit/>
          </a:bodyPr>
          <a:lstStyle/>
          <a:p>
            <a:r>
              <a:rPr lang="en-US" sz="2400" dirty="0"/>
              <a:t>Sentiment and emotion are “text-level” characteristics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Lots of user-level social / psychological attributes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Demographics (age, race, gender, income, </a:t>
            </a:r>
            <a:r>
              <a:rPr lang="en-US" sz="2000" dirty="0" err="1">
                <a:solidFill>
                  <a:srgbClr val="0070C0"/>
                </a:solidFill>
              </a:rPr>
              <a:t>etc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Psychological traits (personality, sexual orientation, </a:t>
            </a:r>
            <a:r>
              <a:rPr lang="en-US" sz="2000" dirty="0" err="1">
                <a:solidFill>
                  <a:srgbClr val="0070C0"/>
                </a:solidFill>
              </a:rPr>
              <a:t>prosociality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Political affiliation, user interests, communities, incivility, etc.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Mental health/state (empathy, depression, stress, </a:t>
            </a:r>
            <a:r>
              <a:rPr lang="en-US" sz="2000" dirty="0" err="1">
                <a:solidFill>
                  <a:srgbClr val="0070C0"/>
                </a:solidFill>
              </a:rPr>
              <a:t>etc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Healthy lifestyle (weight lose, eating disorder, early riser)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…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3DFC9-665D-3F51-0CD7-6F27661D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9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1958-65A8-8F8C-63B7-D32B55EB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7CE1-F55F-5156-A8A8-DB2AFD0F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Audience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CEBDD-1F58-9F4C-B315-F01EB412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EC8919-B3F2-2F2B-0660-CC3124A63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19" y="2032737"/>
            <a:ext cx="8132762" cy="3416300"/>
          </a:xfrm>
        </p:spPr>
        <p:txBody>
          <a:bodyPr>
            <a:normAutofit/>
          </a:bodyPr>
          <a:lstStyle/>
          <a:p>
            <a:r>
              <a:rPr lang="en-US" sz="2400" dirty="0"/>
              <a:t>Audience analytics aims to understand the </a:t>
            </a:r>
            <a:r>
              <a:rPr lang="en-US" sz="2400" dirty="0">
                <a:solidFill>
                  <a:srgbClr val="0078B9"/>
                </a:solidFill>
              </a:rPr>
              <a:t>demographic &amp; psychographic characteristics</a:t>
            </a:r>
            <a:r>
              <a:rPr lang="en-US" sz="2400" dirty="0"/>
              <a:t> of social media users such as audience size, location, gender, age, and interests, etc.</a:t>
            </a:r>
          </a:p>
          <a:p>
            <a:endParaRPr lang="en-US" sz="2400" dirty="0"/>
          </a:p>
          <a:p>
            <a:r>
              <a:rPr lang="en-US" sz="2400" dirty="0"/>
              <a:t>By leveraging audience analytics, businesses &amp; org. can gain invaluable insights into </a:t>
            </a:r>
            <a:r>
              <a:rPr lang="en-US" sz="2400" i="1" u="sng" dirty="0"/>
              <a:t>who their followers are, where they come from, and what they care about</a:t>
            </a:r>
            <a:r>
              <a:rPr lang="en-US" sz="2400" dirty="0"/>
              <a:t>, enabling the creation of more targeted and effective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18274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BC64-57D3-44A4-9360-17C37B23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59" y="507088"/>
            <a:ext cx="8277784" cy="1118439"/>
          </a:xfrm>
        </p:spPr>
        <p:txBody>
          <a:bodyPr>
            <a:noAutofit/>
          </a:bodyPr>
          <a:lstStyle/>
          <a:p>
            <a:r>
              <a:rPr 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Examples of audience analytics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EF55-8BEB-412D-B9F8-3DD89322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9" y="1625527"/>
            <a:ext cx="7475351" cy="2562225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Product</a:t>
            </a:r>
            <a:r>
              <a:rPr lang="en-US" sz="2400" dirty="0"/>
              <a:t> </a:t>
            </a:r>
            <a:r>
              <a:rPr lang="en-US" sz="2400" b="1" dirty="0"/>
              <a:t>Development</a:t>
            </a:r>
            <a:r>
              <a:rPr lang="en-US" sz="2400" dirty="0"/>
              <a:t> </a:t>
            </a:r>
            <a:r>
              <a:rPr lang="en-US" sz="2400" b="1" dirty="0"/>
              <a:t>Insights</a:t>
            </a:r>
            <a:r>
              <a:rPr lang="en-US" sz="2400" dirty="0"/>
              <a:t>—A gaming company discovers through audience analytics that a substantial number of its X followers are female gamers interested in role-playing games (RPGs). This insight leads to the development of a new RPG with strong female lead characters, directly catering to this audience segment.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Geographical</a:t>
            </a:r>
            <a:r>
              <a:rPr lang="en-US" sz="2400" dirty="0"/>
              <a:t> </a:t>
            </a:r>
            <a:r>
              <a:rPr lang="en-US" sz="2400" b="1" dirty="0"/>
              <a:t>Targeting</a:t>
            </a:r>
            <a:r>
              <a:rPr lang="en-US" sz="2400" dirty="0"/>
              <a:t>—A coffee chain uses audience analytics to find out that a large number of its Facebook followers are located in northeastern of United States. This insight guides the chain's decision to run a special promotion in those regions, capitalizing on the high concentration of followers there.</a:t>
            </a:r>
          </a:p>
          <a:p>
            <a:pPr algn="just"/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D45E3-C3AA-44FF-A846-78822856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EDD-A400-41F0-A663-1B3AF5EAD1E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52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213A-12DB-07DA-7299-162A7070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2D54-72BB-F8EB-6804-BD8A059B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Demographic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9B85C-18F5-8379-19A5-3D31B901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330F72-77CC-D655-9C80-0504D694A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49609"/>
            <a:ext cx="8132762" cy="4052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Demographics refer to the statistical characteristics of human populations and particular groups within it.</a:t>
            </a:r>
            <a:r>
              <a:rPr lang="en-US" sz="2400" dirty="0"/>
              <a:t> This includes:</a:t>
            </a:r>
          </a:p>
          <a:p>
            <a:pPr lvl="0"/>
            <a:r>
              <a:rPr lang="en-US" sz="2400" b="1" dirty="0"/>
              <a:t>Age:</a:t>
            </a:r>
            <a:r>
              <a:rPr lang="en-US" sz="2400" dirty="0"/>
              <a:t> Knowing the age distribution of audience can help tailor content to be more relatable and engaging.</a:t>
            </a:r>
          </a:p>
          <a:p>
            <a:pPr lvl="0"/>
            <a:r>
              <a:rPr lang="en-US" sz="2400" b="1" dirty="0"/>
              <a:t>Gender:</a:t>
            </a:r>
            <a:r>
              <a:rPr lang="en-US" sz="2400" dirty="0"/>
              <a:t> Understanding the gender breakdown can inform product offerings and effective marketing messages.</a:t>
            </a:r>
          </a:p>
          <a:p>
            <a:pPr lvl="0"/>
            <a:r>
              <a:rPr lang="en-US" sz="2400" b="1" dirty="0"/>
              <a:t>Race/Ethnicity</a:t>
            </a:r>
            <a:r>
              <a:rPr lang="en-US" sz="2400" dirty="0"/>
              <a:t>: One of the most important social identities in racially diverse countries such as the U.S.</a:t>
            </a:r>
          </a:p>
          <a:p>
            <a:pPr lvl="0"/>
            <a:r>
              <a:rPr lang="en-US" sz="2400" b="1" dirty="0"/>
              <a:t>Location:</a:t>
            </a:r>
            <a:r>
              <a:rPr lang="en-US" sz="2400" dirty="0"/>
              <a:t> Location data helps in understanding geographical representation and can help design marketing campaigns. </a:t>
            </a:r>
          </a:p>
        </p:txBody>
      </p:sp>
    </p:spTree>
    <p:extLst>
      <p:ext uri="{BB962C8B-B14F-4D97-AF65-F5344CB8AC3E}">
        <p14:creationId xmlns:p14="http://schemas.microsoft.com/office/powerpoint/2010/main" val="49014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1698-7232-E7A0-6BA6-E11D010A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853D-CEBB-32BE-DA3A-DC9499A4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E9A42-3A7E-8FE0-3CC0-2D9D1165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265968" cy="453072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Biological/sex-based definition</a:t>
            </a:r>
          </a:p>
          <a:p>
            <a:pPr lvl="1"/>
            <a:r>
              <a:rPr lang="en-US" dirty="0"/>
              <a:t>Refers to biological characteristics (female vs. male)</a:t>
            </a:r>
          </a:p>
          <a:p>
            <a:pPr lvl="1"/>
            <a:r>
              <a:rPr lang="en-US" dirty="0"/>
              <a:t>Often used in medical treatments</a:t>
            </a:r>
          </a:p>
          <a:p>
            <a:r>
              <a:rPr lang="en-US" sz="2400" dirty="0">
                <a:solidFill>
                  <a:srgbClr val="0078B9"/>
                </a:solidFill>
              </a:rPr>
              <a:t>Social/cultural definition</a:t>
            </a:r>
          </a:p>
          <a:p>
            <a:pPr lvl="1"/>
            <a:r>
              <a:rPr lang="en-US" dirty="0"/>
              <a:t>Refers to social roles, behaviors, and expectations societies assign to individuals based on their perceived sex.</a:t>
            </a:r>
          </a:p>
          <a:p>
            <a:pPr lvl="1"/>
            <a:r>
              <a:rPr lang="en-US" dirty="0"/>
              <a:t>They can vary across cultures and history.</a:t>
            </a:r>
          </a:p>
          <a:p>
            <a:r>
              <a:rPr lang="en-US" sz="2400" dirty="0">
                <a:solidFill>
                  <a:srgbClr val="C00000"/>
                </a:solidFill>
                <a:effectLst/>
              </a:rPr>
              <a:t>Gender Identities</a:t>
            </a:r>
          </a:p>
          <a:p>
            <a:pPr lvl="1"/>
            <a:r>
              <a:rPr lang="en-US" dirty="0"/>
              <a:t>Binary (women vs. men)</a:t>
            </a:r>
          </a:p>
          <a:p>
            <a:pPr lvl="1"/>
            <a:r>
              <a:rPr lang="en-US" dirty="0">
                <a:effectLst/>
              </a:rPr>
              <a:t>Non-binary, </a:t>
            </a:r>
            <a:r>
              <a:rPr lang="en-US" dirty="0"/>
              <a:t>mixed, trans</a:t>
            </a:r>
            <a:endParaRPr lang="en-US" sz="2400" dirty="0">
              <a:solidFill>
                <a:srgbClr val="C00000"/>
              </a:solidFill>
              <a:effectLst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C9905-4AE4-8279-4E64-5A7A3D34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2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AE75-375A-90FF-E421-5E56EA5C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8BF7-3313-4468-75EF-86CE81A9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Gender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24B64-07AB-E132-B178-85614214C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265968" cy="453072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Name-based classifier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Prediction (mostly on first name): </a:t>
            </a:r>
            <a:r>
              <a:rPr lang="en-US" dirty="0">
                <a:solidFill>
                  <a:srgbClr val="C00000"/>
                </a:solidFill>
                <a:hlinkClick r:id="rId2"/>
              </a:rPr>
              <a:t>https://genderize.io/</a:t>
            </a:r>
            <a:endParaRPr lang="en-US" dirty="0"/>
          </a:p>
          <a:p>
            <a:pPr lvl="1"/>
            <a:r>
              <a:rPr lang="en-US" dirty="0"/>
              <a:t>Limitations?</a:t>
            </a:r>
          </a:p>
          <a:p>
            <a:pPr lvl="1"/>
            <a:r>
              <a:rPr lang="en-US" dirty="0"/>
              <a:t>Error rates?</a:t>
            </a:r>
          </a:p>
          <a:p>
            <a:pPr lvl="1"/>
            <a:r>
              <a:rPr lang="en-US" dirty="0"/>
              <a:t>Does error vary by race / ethnicity?</a:t>
            </a:r>
          </a:p>
          <a:p>
            <a:pPr lvl="1"/>
            <a:r>
              <a:rPr lang="en-US" dirty="0"/>
              <a:t>Unknown vs. Unisex</a:t>
            </a:r>
          </a:p>
          <a:p>
            <a:r>
              <a:rPr lang="en-US" sz="2400" dirty="0">
                <a:solidFill>
                  <a:srgbClr val="0078B9"/>
                </a:solidFill>
                <a:effectLst/>
              </a:rPr>
              <a:t>Gender prediction based on linguistics</a:t>
            </a:r>
          </a:p>
          <a:p>
            <a:r>
              <a:rPr lang="en-US" sz="2400" dirty="0">
                <a:solidFill>
                  <a:srgbClr val="C00000"/>
                </a:solidFill>
              </a:rPr>
              <a:t>Self-identified gender vs. inferred label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The two (often) can differ</a:t>
            </a:r>
          </a:p>
          <a:p>
            <a:pPr lvl="1"/>
            <a:r>
              <a:rPr lang="en-US" sz="2000" dirty="0"/>
              <a:t>Use inferred gender when the perceived attribute is key</a:t>
            </a:r>
          </a:p>
          <a:p>
            <a:pPr lvl="1"/>
            <a:r>
              <a:rPr lang="en-US" sz="2000" dirty="0"/>
              <a:t>Use self-identified label when the true attribute is key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8D1C5-BDD6-922C-0D94-22F88E4E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0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D8B4-1290-CC78-3AB3-CC59E535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0626-D9A7-5ABC-0148-2ABEA5C5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LIWC for predicting gender</a:t>
            </a:r>
          </a:p>
        </p:txBody>
      </p:sp>
      <p:pic>
        <p:nvPicPr>
          <p:cNvPr id="6" name="Picture 5" descr="A table of english language&#10;&#10;AI-generated content may be incorrect.">
            <a:extLst>
              <a:ext uri="{FF2B5EF4-FFF2-40B4-BE49-F238E27FC236}">
                <a16:creationId xmlns:a16="http://schemas.microsoft.com/office/drawing/2014/main" id="{ECC79C2F-512A-98AB-8190-594E15E7B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608" y="1518581"/>
            <a:ext cx="3502392" cy="4536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C5BFC1-392F-5790-F59B-7228D1A9DD13}"/>
              </a:ext>
            </a:extLst>
          </p:cNvPr>
          <p:cNvSpPr txBox="1"/>
          <p:nvPr/>
        </p:nvSpPr>
        <p:spPr>
          <a:xfrm>
            <a:off x="2518436" y="6200486"/>
            <a:ext cx="48214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dirty="0">
                <a:solidFill>
                  <a:srgbClr val="606060"/>
                </a:solidFill>
                <a:effectLst/>
                <a:hlinkClick r:id="rId3"/>
              </a:rPr>
              <a:t>https://doi.org/10.1371/journal.pone.0073791</a:t>
            </a:r>
            <a:endParaRPr lang="en-US" sz="1600" b="0" i="0" dirty="0">
              <a:solidFill>
                <a:srgbClr val="606060"/>
              </a:solidFill>
              <a:effectLst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918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A4DD-CA93-2E02-EACD-B67DF091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F454-B08A-614F-E041-C09A907F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Which one should be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E956A-C521-5ED3-CF0F-B9946C6B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265968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Inferred (predicted) or true gender label?</a:t>
            </a:r>
          </a:p>
          <a:p>
            <a:r>
              <a:rPr lang="en-US" sz="2400" dirty="0"/>
              <a:t>Study gender representation in leadership positions</a:t>
            </a:r>
          </a:p>
          <a:p>
            <a:r>
              <a:rPr lang="en-US" sz="2400" dirty="0"/>
              <a:t>Examine gender bias in hiring / interview</a:t>
            </a:r>
          </a:p>
          <a:p>
            <a:r>
              <a:rPr lang="en-US" sz="2400" dirty="0"/>
              <a:t>Test gender gap in grade / salary negotiation</a:t>
            </a:r>
          </a:p>
          <a:p>
            <a:r>
              <a:rPr lang="en-US" sz="2400" dirty="0"/>
              <a:t>Quantify gender diversity on team performance</a:t>
            </a:r>
          </a:p>
          <a:p>
            <a:pPr marL="0" indent="0">
              <a:buNone/>
            </a:pPr>
            <a:endParaRPr lang="en-US" sz="2400" dirty="0">
              <a:solidFill>
                <a:srgbClr val="0078B9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What if self-identified gender label is not available in data?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2CE9-DEA2-56BC-DB02-590E7E85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9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26E6-27A2-771D-B841-D8C4B7F8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4228-B4C7-CBF5-262D-DB0351A7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Race, nationality, ethnicity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4655E-5B5E-09BC-159B-4952946B3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90689"/>
            <a:ext cx="8279823" cy="466566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Race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Based on appearance (Asian, Black, Hispanic, White, etc.)</a:t>
            </a:r>
          </a:p>
          <a:p>
            <a:pPr lvl="1"/>
            <a:r>
              <a:rPr lang="en-US" dirty="0"/>
              <a:t>Could be broken down into finer categories (East vs. South Asian)</a:t>
            </a:r>
          </a:p>
          <a:p>
            <a:r>
              <a:rPr lang="en-US" b="1" dirty="0">
                <a:solidFill>
                  <a:schemeClr val="accent1"/>
                </a:solidFill>
              </a:rPr>
              <a:t>Nationality (or Country/Geography)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Objective, but hard to know without self-identities</a:t>
            </a:r>
          </a:p>
          <a:p>
            <a:pPr lvl="1"/>
            <a:r>
              <a:rPr lang="en-US" dirty="0"/>
              <a:t>Asian --&gt; Chinese, Japanese, Korean, etc.</a:t>
            </a:r>
          </a:p>
          <a:p>
            <a:pPr lvl="1"/>
            <a:r>
              <a:rPr lang="en-US" dirty="0"/>
              <a:t>White --&gt; England, French, Germany, Italian, etc.</a:t>
            </a:r>
          </a:p>
          <a:p>
            <a:r>
              <a:rPr lang="en-US" b="1" dirty="0">
                <a:solidFill>
                  <a:schemeClr val="accent1"/>
                </a:solidFill>
              </a:rPr>
              <a:t>Ethnicity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Nationality is about country’s flag; ethnicity is about cultural roots</a:t>
            </a:r>
          </a:p>
          <a:p>
            <a:pPr lvl="1"/>
            <a:r>
              <a:rPr lang="en-US" dirty="0"/>
              <a:t>Can differ from one’s nationality due to migration and immigration</a:t>
            </a:r>
          </a:p>
          <a:p>
            <a:r>
              <a:rPr lang="en-US" b="1" dirty="0">
                <a:solidFill>
                  <a:srgbClr val="C00000"/>
                </a:solidFill>
              </a:rPr>
              <a:t>True vs. predicted /perceived identity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 many cases, they are not identical (e.g., Michael Jackson)</a:t>
            </a:r>
          </a:p>
          <a:p>
            <a:pPr lvl="1">
              <a:lnSpc>
                <a:spcPct val="120000"/>
              </a:lnSpc>
            </a:pPr>
            <a:r>
              <a:rPr lang="en-US" u="sng" dirty="0"/>
              <a:t>Sometimes, perceived attribute is what actually matters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Which one should you use? In what contexts?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C2B85-DE5D-55E7-D25C-3D3D2F4D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6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98CE-CFC1-743F-8981-3688E83B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B3BC-4E5B-95DF-C334-BB2FA1C8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Name-based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4C04-3E8C-EA11-5532-361285E1A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265968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Last name contains more useful information.</a:t>
            </a:r>
          </a:p>
          <a:p>
            <a:r>
              <a:rPr lang="en-US" sz="2400" dirty="0">
                <a:effectLst/>
              </a:rPr>
              <a:t>Race prediction: </a:t>
            </a:r>
          </a:p>
          <a:p>
            <a:pPr lvl="1"/>
            <a:r>
              <a:rPr lang="en-US" sz="2000" dirty="0">
                <a:hlinkClick r:id="rId2"/>
              </a:rPr>
              <a:t>https://ethnicolr.readthedocs.io/ethnicolr.html</a:t>
            </a:r>
            <a:endParaRPr lang="en-US" sz="2000" dirty="0">
              <a:effectLst/>
            </a:endParaRPr>
          </a:p>
          <a:p>
            <a:r>
              <a:rPr lang="en-US" sz="2400" dirty="0"/>
              <a:t>Nationality prediction:</a:t>
            </a:r>
          </a:p>
          <a:p>
            <a:pPr lvl="1"/>
            <a:r>
              <a:rPr lang="en-US" sz="2000" dirty="0">
                <a:hlinkClick r:id="rId3"/>
              </a:rPr>
              <a:t>https://nationalize.io/</a:t>
            </a:r>
            <a:endParaRPr lang="en-US" sz="2000" dirty="0">
              <a:effectLst/>
            </a:endParaRPr>
          </a:p>
          <a:p>
            <a:r>
              <a:rPr lang="en-US" sz="2400" dirty="0"/>
              <a:t>Ethnicity prediction</a:t>
            </a:r>
          </a:p>
          <a:p>
            <a:pPr lvl="1"/>
            <a:r>
              <a:rPr lang="en-US" sz="2000" dirty="0">
                <a:hlinkClick r:id="rId4"/>
              </a:rPr>
              <a:t>http://abel.lis.illinois.edu/cgi-bin/ethnea/search.py</a:t>
            </a:r>
            <a:endParaRPr lang="en-US" sz="2000" dirty="0"/>
          </a:p>
          <a:p>
            <a:pPr lvl="1"/>
            <a:endParaRPr lang="en-US" sz="1800" dirty="0"/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  <a:effectLst/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84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69B9-D165-5AA2-A3D4-58AB76D0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8D58-F249-DD71-586C-611F206B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Exercise time (discuss in 5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559E-EF36-2A87-52C3-AD43C32E6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90689"/>
            <a:ext cx="8737023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Which attributes should you use?</a:t>
            </a:r>
          </a:p>
          <a:p>
            <a:r>
              <a:rPr lang="en-US" sz="2400" dirty="0">
                <a:effectLst/>
              </a:rPr>
              <a:t>Study how author’s affiliation impacts news coverage</a:t>
            </a:r>
          </a:p>
          <a:p>
            <a:pPr lvl="1"/>
            <a:r>
              <a:rPr lang="en-US" sz="2000" dirty="0"/>
              <a:t>Asians who live in U.S., white people who live in HK, etc.</a:t>
            </a:r>
            <a:endParaRPr lang="en-US" sz="2000" dirty="0">
              <a:effectLst/>
            </a:endParaRPr>
          </a:p>
          <a:p>
            <a:r>
              <a:rPr lang="en-US" sz="2400" dirty="0"/>
              <a:t>Examine demographic bias in U.S. media representation</a:t>
            </a:r>
          </a:p>
          <a:p>
            <a:pPr lvl="1"/>
            <a:r>
              <a:rPr lang="en-US" sz="2000" dirty="0"/>
              <a:t>Baseline: population within the same geo. region</a:t>
            </a:r>
          </a:p>
          <a:p>
            <a:pPr lvl="1"/>
            <a:endParaRPr lang="en-US" sz="1800" dirty="0"/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  <a:effectLst/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endParaRPr lang="en-US" sz="2400" dirty="0">
              <a:solidFill>
                <a:srgbClr val="C00000"/>
              </a:solidFill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3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D1FD-8E61-DEF3-E32B-336B0EB6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F1B9-D89F-0849-C80B-536DC638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Socioeconomic status (SES)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14A7-6B56-2767-C6AD-05A1BCDB9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071"/>
            <a:ext cx="851535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Education</a:t>
            </a:r>
          </a:p>
          <a:p>
            <a:r>
              <a:rPr lang="en-US" sz="2400" dirty="0"/>
              <a:t>Occupation</a:t>
            </a:r>
          </a:p>
          <a:p>
            <a:r>
              <a:rPr lang="en-US" sz="2400" dirty="0"/>
              <a:t>Income level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SES</a:t>
            </a:r>
            <a:r>
              <a:rPr lang="en-US" sz="2400" dirty="0"/>
              <a:t>: </a:t>
            </a:r>
            <a:r>
              <a:rPr lang="en-US" sz="2400" u="sng" dirty="0"/>
              <a:t>a concept used by economists </a:t>
            </a:r>
            <a:r>
              <a:rPr lang="en-US" altLang="zh-CN" sz="2400" u="sng" dirty="0"/>
              <a:t>&amp;</a:t>
            </a:r>
            <a:r>
              <a:rPr lang="en-US" sz="2400" u="sng" dirty="0"/>
              <a:t> sociologists</a:t>
            </a:r>
            <a:r>
              <a:rPr lang="en-US" sz="2400" dirty="0"/>
              <a:t>.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measure</a:t>
            </a:r>
            <a:r>
              <a:rPr lang="en-US" sz="2400" dirty="0"/>
              <a:t> combines a person‘s work experience and their or their family’s access to economic resources </a:t>
            </a:r>
            <a:r>
              <a:rPr lang="en-US" altLang="zh-CN" sz="2400" dirty="0"/>
              <a:t>&amp;</a:t>
            </a:r>
            <a:r>
              <a:rPr lang="zh-CN" altLang="en-US" sz="2400" dirty="0"/>
              <a:t> </a:t>
            </a:r>
            <a:r>
              <a:rPr lang="en-US" sz="2400" dirty="0"/>
              <a:t>social position </a:t>
            </a:r>
            <a:r>
              <a:rPr lang="en-US" altLang="zh-CN" sz="2400" dirty="0"/>
              <a:t>relative</a:t>
            </a:r>
            <a:r>
              <a:rPr lang="en-US" sz="2400" dirty="0"/>
              <a:t> to others.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Social class</a:t>
            </a:r>
            <a:r>
              <a:rPr lang="en-US" sz="2400" dirty="0"/>
              <a:t>: refers to a person</a:t>
            </a:r>
            <a:r>
              <a:rPr lang="en-US" altLang="zh-CN" sz="2400" dirty="0"/>
              <a:t>’</a:t>
            </a:r>
            <a:r>
              <a:rPr lang="en-US" sz="2400" dirty="0"/>
              <a:t>s relatively </a:t>
            </a:r>
            <a:r>
              <a:rPr lang="en-US" sz="2400" u="sng" dirty="0"/>
              <a:t>stable cultural background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whereas</a:t>
            </a:r>
            <a:r>
              <a:rPr lang="zh-CN" altLang="en-US" sz="2400" dirty="0"/>
              <a:t> </a:t>
            </a:r>
            <a:r>
              <a:rPr lang="en-US" altLang="zh-CN" sz="2400" i="1" dirty="0"/>
              <a:t>SES</a:t>
            </a:r>
            <a:r>
              <a:rPr lang="zh-CN" altLang="en-US" sz="2400" i="1" dirty="0"/>
              <a:t> </a:t>
            </a:r>
            <a:r>
              <a:rPr lang="en-US" sz="2400" i="1" dirty="0"/>
              <a:t>refer</a:t>
            </a:r>
            <a:r>
              <a:rPr lang="en-US" altLang="zh-CN" sz="2400" i="1" dirty="0"/>
              <a:t>s</a:t>
            </a:r>
            <a:r>
              <a:rPr lang="en-US" sz="2400" i="1" dirty="0"/>
              <a:t> to one</a:t>
            </a:r>
            <a:r>
              <a:rPr lang="en-US" altLang="zh-CN" sz="2400" i="1" dirty="0"/>
              <a:t>’</a:t>
            </a:r>
            <a:r>
              <a:rPr lang="en-US" sz="2400" i="1" dirty="0"/>
              <a:t>s current social </a:t>
            </a:r>
            <a:r>
              <a:rPr lang="en-US" altLang="zh-CN" sz="2400" i="1" dirty="0"/>
              <a:t>&amp;</a:t>
            </a:r>
            <a:r>
              <a:rPr lang="en-US" sz="2400" i="1" dirty="0"/>
              <a:t> economic situation which is </a:t>
            </a:r>
            <a:r>
              <a:rPr lang="en-US" sz="2400" i="1" u="sng" dirty="0"/>
              <a:t>more changeable</a:t>
            </a:r>
            <a:r>
              <a:rPr lang="en-US" sz="2400" i="1" dirty="0"/>
              <a:t> over time</a:t>
            </a:r>
            <a:r>
              <a:rPr lang="en-US" altLang="zh-CN" sz="2400" dirty="0"/>
              <a:t>.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3120-95C5-1468-61DD-7D98B40A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BA9B2-7013-0CB4-7E72-3848204548D3}"/>
              </a:ext>
            </a:extLst>
          </p:cNvPr>
          <p:cNvSpPr txBox="1"/>
          <p:nvPr/>
        </p:nvSpPr>
        <p:spPr>
          <a:xfrm>
            <a:off x="1848023" y="5965214"/>
            <a:ext cx="5910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https://en.wikipedia.org/wiki/Socioeconomic_status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8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2ECB-9B2C-483F-80B9-614DA362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46" y="381779"/>
            <a:ext cx="8881109" cy="1325563"/>
          </a:xfrm>
        </p:spPr>
        <p:txBody>
          <a:bodyPr>
            <a:normAutofit/>
          </a:bodyPr>
          <a:lstStyle/>
          <a:p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Case</a:t>
            </a:r>
            <a:r>
              <a:rPr lang="zh-CN" alt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 </a:t>
            </a:r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study</a:t>
            </a:r>
            <a:r>
              <a:rPr lang="zh-CN" alt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 </a:t>
            </a:r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on</a:t>
            </a:r>
            <a:r>
              <a:rPr lang="zh-CN" alt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 </a:t>
            </a:r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user</a:t>
            </a:r>
            <a:r>
              <a:rPr lang="zh-CN" alt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 </a:t>
            </a:r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d</a:t>
            </a:r>
            <a:r>
              <a:rPr lang="en-US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emographic</a:t>
            </a:r>
            <a:r>
              <a:rPr lang="en-US" altLang="zh-CN" b="0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</a:rPr>
              <a:t>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5F39-B252-4CAB-8B2E-3DA5CED1F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90964"/>
            <a:ext cx="816621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How</a:t>
            </a:r>
            <a:r>
              <a:rPr lang="en-US" sz="2400" dirty="0">
                <a:solidFill>
                  <a:srgbClr val="C00000"/>
                </a:solidFill>
              </a:rPr>
              <a:t> to understand the demographic composition of a brand's social media followers using techniques in SMA</a:t>
            </a:r>
            <a:r>
              <a:rPr lang="en-US" altLang="zh-CN" sz="2400" dirty="0">
                <a:solidFill>
                  <a:srgbClr val="C00000"/>
                </a:solidFill>
              </a:rPr>
              <a:t>?</a:t>
            </a:r>
            <a:endParaRPr lang="en-US" sz="2400" dirty="0">
              <a:solidFill>
                <a:srgbClr val="C00000"/>
              </a:solidFill>
            </a:endParaRPr>
          </a:p>
          <a:p>
            <a:pPr lvl="0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/>
              <a:t>Tool Setup:</a:t>
            </a:r>
            <a:r>
              <a:rPr lang="en-US" sz="2400" dirty="0"/>
              <a:t> </a:t>
            </a:r>
            <a:r>
              <a:rPr lang="en-US" sz="2400" u="sng" dirty="0"/>
              <a:t>Use </a:t>
            </a:r>
            <a:r>
              <a:rPr lang="en-US" altLang="zh-CN" sz="2400" u="sng" dirty="0"/>
              <a:t>APIs</a:t>
            </a:r>
            <a:r>
              <a:rPr lang="en-US" sz="2400" u="sng" dirty="0"/>
              <a:t> to access audience data</a:t>
            </a:r>
            <a:r>
              <a:rPr lang="en-US" sz="2400" dirty="0"/>
              <a:t> from a brand’s Facebook or Instagram account.</a:t>
            </a:r>
          </a:p>
          <a:p>
            <a:pPr lvl="0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/>
              <a:t>Data Collection:</a:t>
            </a:r>
            <a:r>
              <a:rPr lang="en-US" sz="2400" dirty="0"/>
              <a:t> Extract data on </a:t>
            </a:r>
            <a:r>
              <a:rPr lang="en-US" sz="2400" u="sng" dirty="0"/>
              <a:t>age, gender, and location</a:t>
            </a:r>
            <a:r>
              <a:rPr lang="en-US" sz="2400" dirty="0"/>
              <a:t>.</a:t>
            </a:r>
          </a:p>
          <a:p>
            <a:pPr lvl="0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/>
              <a:t>Data Analysis:</a:t>
            </a:r>
            <a:r>
              <a:rPr lang="en-US" sz="2400" dirty="0"/>
              <a:t> Create </a:t>
            </a:r>
            <a:r>
              <a:rPr lang="en-US" sz="2400" u="sng" dirty="0"/>
              <a:t>visualizations</a:t>
            </a:r>
            <a:r>
              <a:rPr lang="en-US" sz="2400" dirty="0"/>
              <a:t> (pie charts for gender distribution, age histograms, and heat maps for location) to display the demographic data.</a:t>
            </a:r>
          </a:p>
          <a:p>
            <a:pPr lvl="0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/>
              <a:t>Reporting:</a:t>
            </a:r>
            <a:r>
              <a:rPr lang="en-US" sz="2400" dirty="0"/>
              <a:t> </a:t>
            </a:r>
            <a:r>
              <a:rPr lang="en-US" sz="2400" u="sng" dirty="0"/>
              <a:t>Write a report</a:t>
            </a:r>
            <a:r>
              <a:rPr 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sz="2400" dirty="0"/>
              <a:t>how the brand‘s content might be tailored to better suit the </a:t>
            </a:r>
            <a:r>
              <a:rPr lang="en-US" altLang="zh-CN" sz="2400" dirty="0"/>
              <a:t>diverse</a:t>
            </a:r>
            <a:r>
              <a:rPr lang="zh-CN" altLang="en-US" sz="2400" dirty="0"/>
              <a:t> </a:t>
            </a:r>
            <a:r>
              <a:rPr lang="en-US" sz="2400" dirty="0"/>
              <a:t>demographic</a:t>
            </a:r>
            <a:r>
              <a:rPr lang="en-US" altLang="zh-CN" sz="2400" dirty="0"/>
              <a:t>s</a:t>
            </a:r>
            <a:r>
              <a:rPr lang="zh-CN" altLang="en-US" sz="2400" dirty="0"/>
              <a:t> </a:t>
            </a:r>
            <a:r>
              <a:rPr lang="en-US" sz="2400" dirty="0"/>
              <a:t>of its</a:t>
            </a:r>
            <a:r>
              <a:rPr lang="zh-CN" altLang="en-US" sz="2400" dirty="0"/>
              <a:t> </a:t>
            </a:r>
            <a:r>
              <a:rPr lang="en-US" altLang="zh-CN" sz="2400" dirty="0"/>
              <a:t>users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EA71D-FFF0-45A6-9C76-A1CAD01A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EDD-A400-41F0-A663-1B3AF5EAD1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1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88A2-F094-9064-6A43-F61D5708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85C2-211D-26E8-0B01-8AB5D7F5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Psychographic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74CDA-4DA3-D002-F6E5-5D2EE920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AE0F9B-13BD-04EF-23E6-DDDE86D74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49609"/>
            <a:ext cx="8132762" cy="4052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Psychographics delve into the </a:t>
            </a:r>
            <a:r>
              <a:rPr lang="en-US" sz="2400" dirty="0">
                <a:solidFill>
                  <a:srgbClr val="0078B9"/>
                </a:solidFill>
              </a:rPr>
              <a:t>psychological attributes of an audience, including personality traits, values, interests, and lifestyles</a:t>
            </a:r>
            <a:r>
              <a:rPr lang="en-US" sz="2400" dirty="0"/>
              <a:t>. This can significantly enhance user understanding:</a:t>
            </a:r>
          </a:p>
          <a:p>
            <a:r>
              <a:rPr lang="en-US" sz="2000" b="1" dirty="0"/>
              <a:t>Interests:</a:t>
            </a:r>
            <a:r>
              <a:rPr lang="en-US" sz="2000" dirty="0"/>
              <a:t> By analyzing what your audience is interested in, you can tailor content to their preferences. A travel agency, for instance, may discover through audience analytics that their followers are keen on sustainable travel, prompting them to share more eco-friendly travel options.</a:t>
            </a:r>
          </a:p>
          <a:p>
            <a:r>
              <a:rPr lang="en-US" sz="2000" b="1" dirty="0"/>
              <a:t>Lifestyle:</a:t>
            </a:r>
            <a:r>
              <a:rPr lang="en-US" sz="2000" dirty="0"/>
              <a:t> Understanding the lifestyle of your audience can help in creating relatable content. If a luxury watch brand finds that its Instagram followers are interested in luxury lifestyle beyond just watches, including fine dining and high-end cars, it might expand its content to cover these areas as well.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93455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1C42-8A02-0E5B-8287-CF9D8CD8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F054-A3B3-E615-3D31-F3855145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Big Five personality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84A2D-2239-7D8A-C3A5-F2AC25140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282875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  <a:effectLst/>
              </a:rPr>
              <a:t>The Big Five model is widely used in psychology for its reliability and ability to predict user behavior across various contexts.</a:t>
            </a:r>
            <a:endParaRPr lang="en-US" sz="2400" dirty="0">
              <a:solidFill>
                <a:srgbClr val="0078B9"/>
              </a:solidFill>
            </a:endParaRPr>
          </a:p>
          <a:p>
            <a:r>
              <a:rPr lang="en-US" sz="2400" b="1" dirty="0"/>
              <a:t>Openness</a:t>
            </a:r>
            <a:r>
              <a:rPr lang="en-US" sz="2400" dirty="0"/>
              <a:t>: Creativity and curiosity; high openness means embracing new ideas, low means preferring routine.</a:t>
            </a:r>
          </a:p>
          <a:p>
            <a:r>
              <a:rPr lang="en-US" sz="2400" b="1" dirty="0"/>
              <a:t>Conscientiousness</a:t>
            </a:r>
            <a:r>
              <a:rPr lang="en-US" sz="2400" dirty="0"/>
              <a:t>: Organization and responsibility; high is diligent and goal-focused, low is impulsive.</a:t>
            </a:r>
          </a:p>
          <a:p>
            <a:r>
              <a:rPr lang="en-US" sz="2400" b="1" dirty="0"/>
              <a:t>Extraversion</a:t>
            </a:r>
            <a:r>
              <a:rPr lang="en-US" sz="2400" dirty="0"/>
              <a:t>: Sociability and energy; extraverts are outgoing, introverts are reserved.</a:t>
            </a:r>
          </a:p>
          <a:p>
            <a:r>
              <a:rPr lang="en-US" sz="2400" b="1" dirty="0"/>
              <a:t>Agreeableness</a:t>
            </a:r>
            <a:r>
              <a:rPr lang="en-US" sz="2400" dirty="0"/>
              <a:t>: Compassion and cooperation; high is kind and trusting, low is competitive.</a:t>
            </a:r>
          </a:p>
          <a:p>
            <a:r>
              <a:rPr lang="en-US" sz="2400" b="1" dirty="0"/>
              <a:t>Neuroticism</a:t>
            </a:r>
            <a:r>
              <a:rPr lang="en-US" sz="2400" dirty="0"/>
              <a:t>: Emotional stability; high is anxious and moody, low is calm and resilient.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02714-1567-DEB3-8423-1BBA04DE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73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5141-937B-5AE6-84DB-B2CE40A4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FF75-F1A6-E1C7-D443-53C25F9C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26" name="Picture 2" descr="Big 5 Personality Traits: The 5-Factor Model of Personality">
            <a:extLst>
              <a:ext uri="{FF2B5EF4-FFF2-40B4-BE49-F238E27FC236}">
                <a16:creationId xmlns:a16="http://schemas.microsoft.com/office/drawing/2014/main" id="{9F87323E-C794-777B-CC51-854D0614E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4" y="0"/>
            <a:ext cx="48498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ig Five Personality Traits: Your Guide to the 5 Factors">
            <a:extLst>
              <a:ext uri="{FF2B5EF4-FFF2-40B4-BE49-F238E27FC236}">
                <a16:creationId xmlns:a16="http://schemas.microsoft.com/office/drawing/2014/main" id="{97E8422E-0A69-C9E1-DBD7-30F2BD0B4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5" y="-4932"/>
            <a:ext cx="3234170" cy="720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511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04A0-BC26-1251-DB01-E71243E8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766BD-2281-8965-BEA7-15035EB1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66F23CB-37E6-E6D0-AADA-03AC88372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282875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effectLst/>
              </a:rPr>
              <a:t>Take the test (60 questions in 5-10 mins):</a:t>
            </a:r>
          </a:p>
          <a:p>
            <a:r>
              <a:rPr lang="en-US" sz="2400" dirty="0">
                <a:hlinkClick r:id="rId2"/>
              </a:rPr>
              <a:t>https://www.truity.com/test/big-five-personality-test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Each type has its unique value!</a:t>
            </a:r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E9F27A-3DCA-46C4-EC0B-9BF44B24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Test your personality</a:t>
            </a:r>
          </a:p>
        </p:txBody>
      </p:sp>
    </p:spTree>
    <p:extLst>
      <p:ext uri="{BB962C8B-B14F-4D97-AF65-F5344CB8AC3E}">
        <p14:creationId xmlns:p14="http://schemas.microsoft.com/office/powerpoint/2010/main" val="4230730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27D8-C4F7-F264-349B-E8A99BA3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AE13-2D73-C8A7-6116-F0E8DA9B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Predicting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29B3-5B67-F160-40F5-47703ADA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174387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  <a:effectLst/>
              </a:rPr>
              <a:t>Supervised learning </a:t>
            </a:r>
            <a:r>
              <a:rPr lang="en-US" sz="2400" dirty="0">
                <a:effectLst/>
              </a:rPr>
              <a:t>(e.g., logistic regression, random forests) can be used to </a:t>
            </a:r>
            <a:r>
              <a:rPr lang="en-US" sz="2400" dirty="0">
                <a:solidFill>
                  <a:srgbClr val="0078B9"/>
                </a:solidFill>
                <a:effectLst/>
              </a:rPr>
              <a:t>predict Big Five traits</a:t>
            </a:r>
            <a:r>
              <a:rPr lang="en-US" sz="2400" dirty="0">
                <a:effectLst/>
              </a:rPr>
              <a:t> from social media activity:</a:t>
            </a:r>
          </a:p>
          <a:p>
            <a:r>
              <a:rPr lang="en-US" sz="2400" b="1" dirty="0"/>
              <a:t>Self-assessment tools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The Big Five is typically measured using </a:t>
            </a:r>
            <a:r>
              <a:rPr lang="en-US" sz="2400" u="sng" dirty="0">
                <a:effectLst/>
              </a:rPr>
              <a:t>standardized questionnaires like the Big Five Inventory</a:t>
            </a:r>
            <a:r>
              <a:rPr lang="en-US" sz="2400" dirty="0">
                <a:effectLst/>
              </a:rPr>
              <a:t>.</a:t>
            </a:r>
          </a:p>
          <a:p>
            <a:endParaRPr lang="en-US" sz="2400" dirty="0"/>
          </a:p>
          <a:p>
            <a:r>
              <a:rPr lang="en-US" sz="2400" b="1" dirty="0"/>
              <a:t>SM Data collection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APIs to collect posts with user permission.</a:t>
            </a:r>
          </a:p>
          <a:p>
            <a:pPr marL="0" indent="0">
              <a:buNone/>
            </a:pPr>
            <a:endParaRPr lang="en-US" sz="2400" dirty="0">
              <a:effectLst/>
            </a:endParaRPr>
          </a:p>
          <a:p>
            <a:r>
              <a:rPr lang="en-US" sz="2400" b="1" dirty="0"/>
              <a:t>Accuracy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Studies (e.g., Kosinski et al., 2013) show that models trained on social media data can predict personality traits with correlations of ~0.4-0.6 to self-reported scores.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2EAFE-F544-A36B-9768-5BB82C29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38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D0DE-8523-D913-0FB8-F21467E3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B03C-2B3C-5E9C-2A72-B2FEF1B6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7445-0275-5F9C-572B-A7C0A49E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174387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effectLst/>
              </a:rPr>
              <a:t>Extract </a:t>
            </a:r>
            <a:r>
              <a:rPr lang="en-US" sz="2400" u="sng" dirty="0">
                <a:effectLst/>
              </a:rPr>
              <a:t>useful features</a:t>
            </a:r>
            <a:r>
              <a:rPr lang="en-US" sz="2400" dirty="0">
                <a:effectLst/>
              </a:rPr>
              <a:t> of users’ linguistic patterns:</a:t>
            </a:r>
          </a:p>
          <a:p>
            <a:r>
              <a:rPr lang="en-US" sz="2400" dirty="0"/>
              <a:t>topic diversity for </a:t>
            </a:r>
            <a:r>
              <a:rPr lang="en-US" sz="2400" dirty="0">
                <a:solidFill>
                  <a:srgbClr val="0078B9"/>
                </a:solidFill>
              </a:rPr>
              <a:t>Openness</a:t>
            </a:r>
            <a:r>
              <a:rPr lang="en-US" sz="2400" dirty="0"/>
              <a:t> (LDA topics?)</a:t>
            </a:r>
            <a:endParaRPr lang="en-US" sz="2400" dirty="0">
              <a:effectLst/>
            </a:endParaRPr>
          </a:p>
          <a:p>
            <a:r>
              <a:rPr lang="en-US" sz="2400" dirty="0">
                <a:effectLst/>
              </a:rPr>
              <a:t>achievement-related words for </a:t>
            </a:r>
            <a:r>
              <a:rPr lang="en-US" sz="2400" dirty="0">
                <a:solidFill>
                  <a:srgbClr val="0078B9"/>
                </a:solidFill>
                <a:effectLst/>
              </a:rPr>
              <a:t>Conscientiousness</a:t>
            </a:r>
          </a:p>
          <a:p>
            <a:r>
              <a:rPr lang="en-US" sz="2400" dirty="0">
                <a:effectLst/>
              </a:rPr>
              <a:t>posting frequency for </a:t>
            </a:r>
            <a:r>
              <a:rPr lang="en-US" sz="2400" dirty="0">
                <a:solidFill>
                  <a:srgbClr val="0078B9"/>
                </a:solidFill>
                <a:effectLst/>
              </a:rPr>
              <a:t>Extraversion</a:t>
            </a:r>
          </a:p>
          <a:p>
            <a:r>
              <a:rPr lang="en-US" sz="2400" dirty="0"/>
              <a:t>positive sentiment for </a:t>
            </a:r>
            <a:r>
              <a:rPr lang="en-US" sz="2400" dirty="0">
                <a:solidFill>
                  <a:srgbClr val="0078B9"/>
                </a:solidFill>
              </a:rPr>
              <a:t>Agreeableness</a:t>
            </a:r>
            <a:endParaRPr lang="en-US" sz="2400" dirty="0">
              <a:solidFill>
                <a:srgbClr val="0078B9"/>
              </a:solidFill>
              <a:effectLst/>
            </a:endParaRPr>
          </a:p>
          <a:p>
            <a:r>
              <a:rPr lang="en-US" sz="2400" dirty="0"/>
              <a:t>emotional stability for </a:t>
            </a:r>
            <a:r>
              <a:rPr lang="en-US" sz="2400" dirty="0">
                <a:solidFill>
                  <a:srgbClr val="0078B9"/>
                </a:solidFill>
              </a:rPr>
              <a:t>Neuroticism</a:t>
            </a:r>
            <a:r>
              <a:rPr lang="en-US" sz="2400" dirty="0"/>
              <a:t> (emotional words) </a:t>
            </a:r>
            <a:endParaRPr lang="en-US" sz="2400" dirty="0">
              <a:effectLst/>
            </a:endParaRPr>
          </a:p>
          <a:p>
            <a:r>
              <a:rPr lang="en-US" sz="2400" dirty="0">
                <a:effectLst/>
              </a:rPr>
              <a:t>profile metadata (e.g., bio, avatars; selfie? animal?)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A109A-B930-78F1-48A3-127D3463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2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180F7-4383-3730-B296-CC917079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6DDC-FABD-4250-5299-8DBEA115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Applications of Big Five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F016-0B77-E713-4B59-71DF5B0EE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344869" cy="4667249"/>
          </a:xfrm>
        </p:spPr>
        <p:txBody>
          <a:bodyPr>
            <a:noAutofit/>
          </a:bodyPr>
          <a:lstStyle/>
          <a:p>
            <a:r>
              <a:rPr lang="en-US" sz="2400" b="1" dirty="0"/>
              <a:t>User segmentation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Cluster users by personality traits to tailor content or ads. For example, high Openness users may respond to creative, innovative campaigns, while high Conscientiousness users prefer structured, goal-oriented content.</a:t>
            </a:r>
          </a:p>
          <a:p>
            <a:r>
              <a:rPr lang="en-US" sz="2400" b="1" dirty="0"/>
              <a:t>Engagement prediction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Forecast user interactions (e.g., likes) by including features of personality traits. Extraverts are more likely to share content, while conscientious users may engage more often with professional or educational posts.</a:t>
            </a:r>
          </a:p>
          <a:p>
            <a:r>
              <a:rPr lang="en-US" sz="2400" b="1" dirty="0">
                <a:effectLst/>
              </a:rPr>
              <a:t>Example</a:t>
            </a:r>
            <a:r>
              <a:rPr lang="en-US" sz="2400" dirty="0">
                <a:effectLst/>
              </a:rPr>
              <a:t>: Build a ML model to predict which users will retweet based on their Extraversion and Openness scores.</a:t>
            </a:r>
          </a:p>
          <a:p>
            <a:endParaRPr lang="en-US" sz="240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DF090-3F83-0B26-F7E7-A3675B62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20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8B1B-76FE-20D5-8A05-56522AAB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0DB7-0EF3-17F3-2C48-83E8A9E9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Political affiliation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A5EEE-32EA-36BA-F3A8-8F6E6DEC7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5706"/>
            <a:ext cx="8143391" cy="4957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  <a:effectLst/>
              </a:rPr>
              <a:t>Political affiliation refers to an individual’s self-alignment with a political party, ideology, or movement.</a:t>
            </a:r>
            <a:endParaRPr lang="en-US" sz="2400" dirty="0">
              <a:solidFill>
                <a:srgbClr val="0078B9"/>
              </a:solidFill>
            </a:endParaRPr>
          </a:p>
          <a:p>
            <a:r>
              <a:rPr lang="en-US" sz="2400" b="1" dirty="0"/>
              <a:t>Liberal</a:t>
            </a:r>
            <a:r>
              <a:rPr lang="en-US" sz="2400" dirty="0"/>
              <a:t>: Advocates for systemic change, social equality, and policy intervention to promote welfare and rights. </a:t>
            </a:r>
            <a:r>
              <a:rPr lang="en-US" sz="2400" dirty="0">
                <a:effectLst/>
              </a:rPr>
              <a:t>On social media, these users often engage with progressive hashtags.</a:t>
            </a:r>
            <a:endParaRPr lang="en-US" sz="2400" b="1" dirty="0"/>
          </a:p>
          <a:p>
            <a:r>
              <a:rPr lang="en-US" sz="2400" b="1" dirty="0"/>
              <a:t>Conservative</a:t>
            </a:r>
            <a:r>
              <a:rPr lang="en-US" sz="2400" dirty="0"/>
              <a:t>: Emphasizes tradition, limited government, and preserving established norms. Often prioritizes social stability, economic freedom, and cultural norms.</a:t>
            </a:r>
          </a:p>
          <a:p>
            <a:r>
              <a:rPr lang="en-US" sz="2400" b="1" dirty="0"/>
              <a:t>Independent</a:t>
            </a:r>
            <a:r>
              <a:rPr lang="en-US" sz="2400" dirty="0"/>
              <a:t>: Resists the rigid </a:t>
            </a:r>
            <a:r>
              <a:rPr lang="en-US" sz="2400" dirty="0">
                <a:effectLst/>
              </a:rPr>
              <a:t>ideological alignment</a:t>
            </a:r>
            <a:r>
              <a:rPr lang="en-US" sz="2400" dirty="0"/>
              <a:t>, favoring issue-specific positions over ideological loyalty.</a:t>
            </a:r>
          </a:p>
          <a:p>
            <a:r>
              <a:rPr lang="en-US" sz="2400" b="1" dirty="0"/>
              <a:t>Populist</a:t>
            </a:r>
            <a:r>
              <a:rPr lang="en-US" sz="2400" dirty="0"/>
              <a:t>: Focus on representing the ordinary people against those elite class, often emphasizing anti-establishment.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E2C1D-B283-7A3F-3BEF-E5F49075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79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9E04-1A26-BCCC-5CD2-5BFA0E8F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A2FA3-C027-F151-86F3-FBDB188B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C3D76BB-19DD-3D2F-17F7-32F5FBA8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282875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effectLst/>
              </a:rPr>
              <a:t>US </a:t>
            </a:r>
            <a:r>
              <a:rPr lang="en-US" sz="2400" dirty="0"/>
              <a:t>context: </a:t>
            </a:r>
          </a:p>
          <a:p>
            <a:r>
              <a:rPr lang="en-US" sz="2000" dirty="0">
                <a:hlinkClick r:id="rId2"/>
              </a:rPr>
              <a:t>https://www.pewresearch.org/politics/quiz/political-typology/</a:t>
            </a:r>
            <a:endParaRPr lang="en-US" sz="2000" dirty="0"/>
          </a:p>
          <a:p>
            <a:pPr marL="0" indent="0">
              <a:buNone/>
            </a:pPr>
            <a:r>
              <a:rPr lang="en-US" sz="2400" dirty="0"/>
              <a:t>Global context:</a:t>
            </a:r>
          </a:p>
          <a:p>
            <a:r>
              <a:rPr lang="en-US" sz="2000" dirty="0">
                <a:hlinkClick r:id="rId3"/>
              </a:rPr>
              <a:t>https://12axes.vercel.app/en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effectLst/>
            </a:endParaRPr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67A861-4D17-27B2-1274-A1893EBE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Test your Political Stance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3D97F2-8B29-1757-7DE0-4CAA6A189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687" y="2906177"/>
            <a:ext cx="2919663" cy="291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A44E0B36-B794-E190-BBF8-105DF2196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17" y="3544566"/>
            <a:ext cx="4534577" cy="200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14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9059-D0D8-AAA8-C780-2B60BA4B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051F-FA85-CD03-FBEC-D1EAADFE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Predicting political affiliation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55C1-1B4F-650F-2D2E-21DDADE9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174387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  <a:effectLst/>
              </a:rPr>
              <a:t>Useful features for predicting </a:t>
            </a:r>
            <a:r>
              <a:rPr lang="en-US" sz="2400" dirty="0">
                <a:solidFill>
                  <a:srgbClr val="0078B9"/>
                </a:solidFill>
              </a:rPr>
              <a:t>p</a:t>
            </a:r>
            <a:r>
              <a:rPr lang="en-US" sz="2400" dirty="0">
                <a:solidFill>
                  <a:srgbClr val="0078B9"/>
                </a:solidFill>
                <a:effectLst/>
              </a:rPr>
              <a:t>olitical </a:t>
            </a:r>
            <a:r>
              <a:rPr lang="en-US" sz="2400" dirty="0">
                <a:solidFill>
                  <a:srgbClr val="0078B9"/>
                </a:solidFill>
              </a:rPr>
              <a:t>a</a:t>
            </a:r>
            <a:r>
              <a:rPr lang="en-US" sz="2400" dirty="0">
                <a:solidFill>
                  <a:srgbClr val="0078B9"/>
                </a:solidFill>
                <a:effectLst/>
              </a:rPr>
              <a:t>ffiliations:</a:t>
            </a:r>
          </a:p>
          <a:p>
            <a:r>
              <a:rPr lang="en-US" sz="2400" b="1" dirty="0"/>
              <a:t>Linguistic cues</a:t>
            </a:r>
            <a:r>
              <a:rPr lang="en-US" sz="2400" dirty="0"/>
              <a:t>:</a:t>
            </a:r>
            <a:r>
              <a:rPr lang="en-US" sz="2400" b="1" dirty="0"/>
              <a:t> </a:t>
            </a:r>
            <a:r>
              <a:rPr lang="en-US" sz="2400" u="sng" dirty="0"/>
              <a:t>Words, phrases, and sentiment</a:t>
            </a:r>
            <a:r>
              <a:rPr lang="en-US" sz="2400" dirty="0"/>
              <a:t> in user posts. Liberals often use inclusive terms (e.g., “equity,” “freedom”); Conservatives favor patriotic language (e.g., “heritage”).</a:t>
            </a:r>
          </a:p>
          <a:p>
            <a:r>
              <a:rPr lang="en-US" sz="2400" b="1" dirty="0">
                <a:effectLst/>
              </a:rPr>
              <a:t>Hashtag and topics</a:t>
            </a:r>
            <a:r>
              <a:rPr lang="en-US" sz="2400" dirty="0">
                <a:effectLst/>
              </a:rPr>
              <a:t>: </a:t>
            </a:r>
            <a:r>
              <a:rPr lang="en-US" sz="2400" u="sng" dirty="0">
                <a:effectLst/>
              </a:rPr>
              <a:t>Frequency of interactions with political content</a:t>
            </a:r>
            <a:r>
              <a:rPr lang="en-US" sz="2400" dirty="0">
                <a:effectLst/>
              </a:rPr>
              <a:t>. Left-leaning users may engage with social justice hashtags. </a:t>
            </a:r>
            <a:r>
              <a:rPr lang="en-US" sz="2400" dirty="0"/>
              <a:t>T</a:t>
            </a:r>
            <a:r>
              <a:rPr lang="en-US" sz="2400" dirty="0">
                <a:effectLst/>
              </a:rPr>
              <a:t>opics can signal affiliation (e.g., #BLM for Liberals).</a:t>
            </a:r>
          </a:p>
          <a:p>
            <a:r>
              <a:rPr lang="en-US" sz="2400" b="1" dirty="0"/>
              <a:t>Network features</a:t>
            </a:r>
            <a:r>
              <a:rPr lang="en-US" sz="2400" dirty="0"/>
              <a:t>: </a:t>
            </a:r>
            <a:r>
              <a:rPr lang="en-US" sz="2400" u="sng" dirty="0"/>
              <a:t>Following or interacting with accounts of known affiliations</a:t>
            </a:r>
            <a:r>
              <a:rPr lang="en-US" sz="2400" dirty="0"/>
              <a:t> (e.g., following progressive politicians for Liberals, authoritative leaders for Conservatives).</a:t>
            </a:r>
          </a:p>
          <a:p>
            <a:r>
              <a:rPr lang="en-US" sz="2400" b="1" dirty="0"/>
              <a:t>Profile Metadate</a:t>
            </a:r>
            <a:r>
              <a:rPr lang="en-US" sz="2400" dirty="0"/>
              <a:t>: </a:t>
            </a:r>
            <a:r>
              <a:rPr lang="en-US" sz="2400" u="sng" dirty="0"/>
              <a:t>Bio description &amp; profile image</a:t>
            </a:r>
            <a:r>
              <a:rPr lang="en-US" sz="2400" dirty="0"/>
              <a:t>. Terms like “patriot” (Conservative) &amp; “activist” (Liberal) are strong signal.</a:t>
            </a:r>
          </a:p>
          <a:p>
            <a:endParaRPr lang="en-US" sz="2400" dirty="0"/>
          </a:p>
          <a:p>
            <a:endParaRPr lang="en-US" sz="2400" dirty="0">
              <a:effectLst/>
            </a:endParaRPr>
          </a:p>
          <a:p>
            <a:endParaRPr lang="en-US" sz="1600" dirty="0">
              <a:effectLst/>
            </a:endParaRPr>
          </a:p>
          <a:p>
            <a:endParaRPr lang="en-US" sz="240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6D7E6-5861-E4A9-FFAF-A8EDCD2F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35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78CE-C411-754C-D8F4-5B669EF5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C7D3-3540-05F0-6D76-1DDA670B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Predicting political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A0994-5C58-E3FD-EB45-9BD2FCCA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8" name="Picture 7" descr="A graph with colorful squares&#10;&#10;AI-generated content may be incorrect.">
            <a:extLst>
              <a:ext uri="{FF2B5EF4-FFF2-40B4-BE49-F238E27FC236}">
                <a16:creationId xmlns:a16="http://schemas.microsoft.com/office/drawing/2014/main" id="{9084B236-BDBD-BFEF-9531-1A971FDF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07453"/>
            <a:ext cx="6997222" cy="474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93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5BC2-7302-7BD5-BE8B-39C14A51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90AC-1900-2F7F-C23B-35394DE1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Health informatics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377AE-E532-0496-AC09-AE1BF1866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8B9"/>
                </a:solidFill>
              </a:rPr>
              <a:t>R</a:t>
            </a:r>
            <a:r>
              <a:rPr lang="en-US" dirty="0">
                <a:solidFill>
                  <a:srgbClr val="0078B9"/>
                </a:solidFill>
                <a:effectLst/>
              </a:rPr>
              <a:t>esearch in this area focuses on using social media data to predict physical &amp; mental health issues:</a:t>
            </a:r>
            <a:endParaRPr lang="en-US" dirty="0">
              <a:solidFill>
                <a:srgbClr val="0078B9"/>
              </a:solidFill>
            </a:endParaRPr>
          </a:p>
          <a:p>
            <a:r>
              <a:rPr lang="en-US" dirty="0"/>
              <a:t>Depression, anxiety, suicide risk, etc.</a:t>
            </a:r>
          </a:p>
          <a:p>
            <a:r>
              <a:rPr lang="en-US" dirty="0"/>
              <a:t>Empathy, sexual abuse, anonymity</a:t>
            </a:r>
          </a:p>
          <a:p>
            <a:r>
              <a:rPr lang="en-US" dirty="0"/>
              <a:t>Social support, help seeking on Reddit, etc.</a:t>
            </a:r>
          </a:p>
          <a:p>
            <a:r>
              <a:rPr lang="en-US" dirty="0"/>
              <a:t>Healthy lifestyle (weight losing, pro-eating disorder)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66700-6850-77E9-A984-15230016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44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F344-0F57-474A-CFEB-6114F800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F3AA-028A-387E-4DD5-780C7348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Empathy, depression, weight loss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68A98-A8FD-FFB5-B65A-1765BDB3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8" name="Picture 7" descr="A close up of a sign&#10;&#10;AI-generated content may be incorrect.">
            <a:extLst>
              <a:ext uri="{FF2B5EF4-FFF2-40B4-BE49-F238E27FC236}">
                <a16:creationId xmlns:a16="http://schemas.microsoft.com/office/drawing/2014/main" id="{7AB4CE65-399C-D9A7-A0F3-11F62AC0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48" y="3505144"/>
            <a:ext cx="7137787" cy="115953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 descr="A close-up of a book&#10;&#10;AI-generated content may be incorrect.">
            <a:extLst>
              <a:ext uri="{FF2B5EF4-FFF2-40B4-BE49-F238E27FC236}">
                <a16:creationId xmlns:a16="http://schemas.microsoft.com/office/drawing/2014/main" id="{AF33DD3C-E4DD-F0E7-3F3E-6F37253CD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13" y="1626935"/>
            <a:ext cx="5518566" cy="15188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599FDCD-6AA2-9916-7399-CA6F73DF3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113" y="5018228"/>
            <a:ext cx="6006684" cy="13381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1143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94F9-772D-14FB-328B-EE2B5675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A7A3-9BDB-1199-2899-10A041EB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74387" cy="1325563"/>
          </a:xfrm>
        </p:spPr>
        <p:txBody>
          <a:bodyPr/>
          <a:lstStyle/>
          <a:p>
            <a:r>
              <a:rPr lang="en-US" b="0" dirty="0"/>
              <a:t>Modeling mental health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02C8-1A62-8639-B423-D9C3297E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0614"/>
            <a:ext cx="8286750" cy="4667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  <a:effectLst/>
              </a:rPr>
              <a:t>Leverage machine learning &amp; NLP tools to predict mental health using social media data (e.g., posts, comments, engagement):</a:t>
            </a:r>
          </a:p>
          <a:p>
            <a:r>
              <a:rPr lang="en-US" sz="2400" b="1" dirty="0"/>
              <a:t>Self-assessment tools</a:t>
            </a:r>
            <a:r>
              <a:rPr lang="en-US" sz="2400" dirty="0"/>
              <a:t>: use </a:t>
            </a:r>
            <a:r>
              <a:rPr lang="en-US" sz="2400" u="sng" dirty="0">
                <a:effectLst/>
              </a:rPr>
              <a:t>crowdsourcing</a:t>
            </a:r>
            <a:r>
              <a:rPr lang="en-US" sz="2400" dirty="0">
                <a:effectLst/>
              </a:rPr>
              <a:t> to recruit a set of social media users </a:t>
            </a:r>
            <a:r>
              <a:rPr lang="en-US" sz="2400" u="sng" dirty="0">
                <a:effectLst/>
              </a:rPr>
              <a:t>who report being diagnosed as depressed</a:t>
            </a:r>
            <a:r>
              <a:rPr lang="en-US" sz="2400" dirty="0">
                <a:effectLst/>
              </a:rPr>
              <a:t>; </a:t>
            </a:r>
            <a:r>
              <a:rPr lang="en-US" sz="2400" u="sng" dirty="0">
                <a:effectLst/>
              </a:rPr>
              <a:t>measure their DV based on standard psychometric instrument</a:t>
            </a:r>
            <a:r>
              <a:rPr lang="en-US" sz="2400" dirty="0">
                <a:effectLst/>
              </a:rPr>
              <a:t>.</a:t>
            </a:r>
            <a:endParaRPr lang="en-US" sz="2400" b="1" dirty="0"/>
          </a:p>
          <a:p>
            <a:r>
              <a:rPr lang="en-US" sz="2400" b="1" dirty="0"/>
              <a:t>Data collection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Use APIs to collect user data with permission.</a:t>
            </a:r>
          </a:p>
          <a:p>
            <a:r>
              <a:rPr lang="en-US" sz="2400" b="1" dirty="0"/>
              <a:t>Feature engineering</a:t>
            </a:r>
            <a:r>
              <a:rPr lang="en-US" sz="2400" dirty="0"/>
              <a:t>: </a:t>
            </a:r>
            <a:r>
              <a:rPr lang="en-US" sz="2400" dirty="0">
                <a:effectLst/>
              </a:rPr>
              <a:t>Extract and measure their </a:t>
            </a:r>
            <a:r>
              <a:rPr lang="en-US" sz="2400" u="sng" dirty="0">
                <a:effectLst/>
              </a:rPr>
              <a:t>behavioral attributes</a:t>
            </a:r>
            <a:r>
              <a:rPr lang="en-US" sz="2400" dirty="0">
                <a:effectLst/>
              </a:rPr>
              <a:t> such as </a:t>
            </a:r>
            <a:r>
              <a:rPr lang="en-US" sz="2400" i="1" dirty="0">
                <a:solidFill>
                  <a:srgbClr val="0078B9"/>
                </a:solidFill>
                <a:effectLst/>
              </a:rPr>
              <a:t>social engagement, emotion, language use, linguistic styles, ego network, mentions of using medications</a:t>
            </a:r>
            <a:r>
              <a:rPr lang="en-US" sz="2400" dirty="0">
                <a:effectLst/>
              </a:rPr>
              <a:t>.</a:t>
            </a:r>
          </a:p>
          <a:p>
            <a:r>
              <a:rPr lang="en-US" sz="2400" b="1" dirty="0"/>
              <a:t>Correlational analysis</a:t>
            </a:r>
            <a:r>
              <a:rPr lang="en-US" sz="2400" dirty="0"/>
              <a:t>: M</a:t>
            </a:r>
            <a:r>
              <a:rPr lang="en-US" sz="2400" dirty="0">
                <a:effectLst/>
              </a:rPr>
              <a:t>ost studies found that social media contains useful signals for predicting onset of mental issues.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effectLst/>
              </a:rPr>
              <a:t>Accuracy is not good enough! </a:t>
            </a:r>
            <a:r>
              <a:rPr lang="en-US" sz="2400" b="1" dirty="0">
                <a:solidFill>
                  <a:srgbClr val="C00000"/>
                </a:solidFill>
              </a:rPr>
              <a:t>C</a:t>
            </a:r>
            <a:r>
              <a:rPr lang="en-US" sz="2400" b="1" dirty="0">
                <a:solidFill>
                  <a:srgbClr val="C00000"/>
                </a:solidFill>
                <a:effectLst/>
              </a:rPr>
              <a:t>an be used as monitoring tools.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ED3F-A2CC-0893-0DA7-0E23510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18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708D-7190-D977-C5B7-A3D09559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F642F-6149-0469-40A8-8248A0D6AE7D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Predicting empathy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AA22A-1224-5034-9D0F-D88BE6701A26}"/>
              </a:ext>
            </a:extLst>
          </p:cNvPr>
          <p:cNvSpPr txBox="1"/>
          <p:nvPr/>
        </p:nvSpPr>
        <p:spPr>
          <a:xfrm>
            <a:off x="548640" y="1260014"/>
            <a:ext cx="804672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0078B9"/>
                </a:solidFill>
                <a:latin typeface="Latin Modern Sans"/>
              </a:rPr>
              <a:t>Outcome variable</a:t>
            </a: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: empathy score (continuous, 1-10)</a:t>
            </a:r>
            <a:endParaRPr lang="en-US" dirty="0"/>
          </a:p>
          <a:p>
            <a:pPr lvl="0">
              <a:spcAft>
                <a:spcPts val="800"/>
              </a:spcAft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1A1A2E"/>
                </a:solidFill>
                <a:latin typeface="Latin Modern Sans"/>
              </a:rPr>
              <a:t>N = 2,405 FB users invited to take a survey questionnaire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2326-0A56-8FDC-41A5-157F7466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 descr="A close-up of a paper&#10;&#10;AI-generated content may be incorrect.">
            <a:extLst>
              <a:ext uri="{FF2B5EF4-FFF2-40B4-BE49-F238E27FC236}">
                <a16:creationId xmlns:a16="http://schemas.microsoft.com/office/drawing/2014/main" id="{C16EC89C-A7F4-FE26-2F4F-D3B7C58F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72" y="2227580"/>
            <a:ext cx="40894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2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CF45-D4C2-D1F5-85CC-783FD41A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81178-8C33-6A8C-FA0D-03DF1EE5CE4F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Satisfactory accuracy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2909-7365-553B-0BAD-48486BD0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1CEFFAB-17D0-7DDB-16A0-B747A8B6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79" y="1060451"/>
            <a:ext cx="52451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01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06E8-9E25-719C-759C-7BDE5BF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72161B-C1AF-351C-4064-CFFD682622FA}"/>
              </a:ext>
            </a:extLst>
          </p:cNvPr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External model validation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B6756-E6CF-48B9-F7DC-A44DCFB3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D730405C-010D-9049-C994-261C6507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8" y="2695074"/>
            <a:ext cx="8450852" cy="2575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9D08A-DB50-8AB4-5363-CCB9DC6283A1}"/>
              </a:ext>
            </a:extLst>
          </p:cNvPr>
          <p:cNvSpPr txBox="1"/>
          <p:nvPr/>
        </p:nvSpPr>
        <p:spPr>
          <a:xfrm>
            <a:off x="548640" y="1260014"/>
            <a:ext cx="80467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0078B9"/>
                </a:solidFill>
                <a:latin typeface="Latin Modern Sans"/>
              </a:rPr>
              <a:t>Assess model performance on out of sample data: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Empathy score by </a:t>
            </a:r>
            <a:r>
              <a:rPr lang="en-US" dirty="0">
                <a:solidFill>
                  <a:srgbClr val="C00000"/>
                </a:solidFill>
              </a:rPr>
              <a:t>Gender</a:t>
            </a:r>
            <a:r>
              <a:rPr lang="en-US" dirty="0"/>
              <a:t> for 152K FB users (56% female)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atin Modern Sans"/>
              </a:defRPr>
            </a:pPr>
            <a:r>
              <a:rPr lang="en-US" dirty="0"/>
              <a:t>Empathy by </a:t>
            </a:r>
            <a:r>
              <a:rPr lang="en-US" dirty="0">
                <a:solidFill>
                  <a:srgbClr val="C00000"/>
                </a:solidFill>
              </a:rPr>
              <a:t>Political Orientation</a:t>
            </a:r>
            <a:r>
              <a:rPr lang="en-US" dirty="0"/>
              <a:t> for 54K Twitter users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400" b="0">
                <a:solidFill>
                  <a:srgbClr val="1A1A2E"/>
                </a:solidFill>
                <a:latin typeface="Latin Modern Sans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96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B86EBA-A005-0E17-7EC8-8B9FCC1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Course notes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78717-5A6B-4A08-A1BC-E854F83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9228"/>
            <a:ext cx="7886700" cy="5009914"/>
          </a:xfrm>
        </p:spPr>
        <p:txBody>
          <a:bodyPr>
            <a:normAutofit/>
          </a:bodyPr>
          <a:lstStyle/>
          <a:p>
            <a:r>
              <a:rPr lang="en-US" dirty="0"/>
              <a:t>Homework 1 due on Oct 16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Start early </a:t>
            </a:r>
          </a:p>
          <a:p>
            <a:pPr lvl="1"/>
            <a:r>
              <a:rPr lang="en-US" dirty="0"/>
              <a:t>Individual work</a:t>
            </a:r>
            <a:endParaRPr lang="en-US" dirty="0">
              <a:effectLst/>
            </a:endParaRPr>
          </a:p>
          <a:p>
            <a:pPr lvl="1"/>
            <a:r>
              <a:rPr lang="en-US" dirty="0">
                <a:solidFill>
                  <a:srgbClr val="0078B9"/>
                </a:solidFill>
              </a:rPr>
              <a:t>Consult (not rely on) AI tools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Skipping human validation will result in 0 score!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This rule applies to all other assignment / project.</a:t>
            </a:r>
            <a:endParaRPr lang="en-US" dirty="0"/>
          </a:p>
          <a:p>
            <a:r>
              <a:rPr lang="en-US" dirty="0"/>
              <a:t>Behavioral Analysis next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5279</TotalTime>
  <Words>2228</Words>
  <Application>Microsoft Macintosh PowerPoint</Application>
  <PresentationFormat>On-screen Show (4:3)</PresentationFormat>
  <Paragraphs>248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Latin Modern Sans</vt:lpstr>
      <vt:lpstr>LM Sans 12</vt:lpstr>
      <vt:lpstr>Abadi MT Condensed Extra Bold</vt:lpstr>
      <vt:lpstr>Abadi MT Condensed Light</vt:lpstr>
      <vt:lpstr>Arial</vt:lpstr>
      <vt:lpstr>Calibri</vt:lpstr>
      <vt:lpstr>Office Theme</vt:lpstr>
      <vt:lpstr>DSC3013 Intro. to Social Media Analytics (Lec. 6)</vt:lpstr>
      <vt:lpstr>Agenda for this week</vt:lpstr>
      <vt:lpstr>Audience analytics</vt:lpstr>
      <vt:lpstr>Audience analytics</vt:lpstr>
      <vt:lpstr>Examples of audience analytics</vt:lpstr>
      <vt:lpstr>Demographic analysis</vt:lpstr>
      <vt:lpstr>Gender</vt:lpstr>
      <vt:lpstr>Gender inference</vt:lpstr>
      <vt:lpstr>LIWC for predicting gender</vt:lpstr>
      <vt:lpstr>Which one should be used?</vt:lpstr>
      <vt:lpstr>Race, nationality, ethnicity</vt:lpstr>
      <vt:lpstr>Name-based classifier</vt:lpstr>
      <vt:lpstr>Exercise time (discuss in 5 min)</vt:lpstr>
      <vt:lpstr>Socioeconomic status (SES)</vt:lpstr>
      <vt:lpstr>Case study on user demographics</vt:lpstr>
      <vt:lpstr>Psychographic analysis</vt:lpstr>
      <vt:lpstr>Big Five personality model</vt:lpstr>
      <vt:lpstr>PowerPoint Presentation</vt:lpstr>
      <vt:lpstr>Test your personality</vt:lpstr>
      <vt:lpstr>Predicting personality</vt:lpstr>
      <vt:lpstr>Feature engineering</vt:lpstr>
      <vt:lpstr>Applications of Big Five</vt:lpstr>
      <vt:lpstr>Political affiliation</vt:lpstr>
      <vt:lpstr>Test your Political Stance</vt:lpstr>
      <vt:lpstr>Predicting political affiliation</vt:lpstr>
      <vt:lpstr>Predicting political affiliation</vt:lpstr>
      <vt:lpstr>Health informatics</vt:lpstr>
      <vt:lpstr>Empathy, depression, weight loss</vt:lpstr>
      <vt:lpstr>Modeling mental health outcomes</vt:lpstr>
      <vt:lpstr>PowerPoint Presentation</vt:lpstr>
      <vt:lpstr>PowerPoint Presentation</vt:lpstr>
      <vt:lpstr>PowerPoint Presentation</vt:lpstr>
      <vt:lpstr>Course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183</cp:revision>
  <dcterms:created xsi:type="dcterms:W3CDTF">2019-01-16T16:49:18Z</dcterms:created>
  <dcterms:modified xsi:type="dcterms:W3CDTF">2026-10-05T08:27:55Z</dcterms:modified>
</cp:coreProperties>
</file>