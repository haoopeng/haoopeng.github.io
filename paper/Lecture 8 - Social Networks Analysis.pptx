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38"/>
  </p:notesMasterIdLst>
  <p:sldIdLst>
    <p:sldId id="582" r:id="rId3"/>
    <p:sldId id="767" r:id="rId4"/>
    <p:sldId id="773" r:id="rId5"/>
    <p:sldId id="341" r:id="rId6"/>
    <p:sldId id="856" r:id="rId7"/>
    <p:sldId id="339" r:id="rId8"/>
    <p:sldId id="820" r:id="rId9"/>
    <p:sldId id="269" r:id="rId10"/>
    <p:sldId id="382" r:id="rId11"/>
    <p:sldId id="325" r:id="rId12"/>
    <p:sldId id="774" r:id="rId13"/>
    <p:sldId id="775" r:id="rId14"/>
    <p:sldId id="776" r:id="rId15"/>
    <p:sldId id="809" r:id="rId16"/>
    <p:sldId id="329" r:id="rId17"/>
    <p:sldId id="330" r:id="rId18"/>
    <p:sldId id="333" r:id="rId19"/>
    <p:sldId id="847" r:id="rId20"/>
    <p:sldId id="783" r:id="rId21"/>
    <p:sldId id="786" r:id="rId22"/>
    <p:sldId id="797" r:id="rId23"/>
    <p:sldId id="853" r:id="rId24"/>
    <p:sldId id="345" r:id="rId25"/>
    <p:sldId id="791" r:id="rId26"/>
    <p:sldId id="796" r:id="rId27"/>
    <p:sldId id="279" r:id="rId28"/>
    <p:sldId id="798" r:id="rId29"/>
    <p:sldId id="802" r:id="rId30"/>
    <p:sldId id="792" r:id="rId31"/>
    <p:sldId id="822" r:id="rId32"/>
    <p:sldId id="810" r:id="rId33"/>
    <p:sldId id="823" r:id="rId34"/>
    <p:sldId id="855" r:id="rId35"/>
    <p:sldId id="854" r:id="rId36"/>
    <p:sldId id="60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00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71DAA-4490-A644-95E2-4EB8D3701D61}" v="13" dt="2021-01-19T03:50:32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9"/>
    <p:restoredTop sz="90174"/>
  </p:normalViewPr>
  <p:slideViewPr>
    <p:cSldViewPr snapToGrid="0" snapToObjects="1">
      <p:cViewPr varScale="1">
        <p:scale>
          <a:sx n="88" d="100"/>
          <a:sy n="88" d="100"/>
        </p:scale>
        <p:origin x="176" y="288"/>
      </p:cViewPr>
      <p:guideLst/>
    </p:cSldViewPr>
  </p:slideViewPr>
  <p:outlineViewPr>
    <p:cViewPr>
      <p:scale>
        <a:sx n="33" d="100"/>
        <a:sy n="33" d="100"/>
      </p:scale>
      <p:origin x="0" y="-50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36B9E-612C-4041-827B-795ACB68482F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2D53A-2AF6-4DBF-B05A-A2E1C1065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4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AkytuxkNGscB25Jh6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AkytuxkNGscB25Jh6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06C42A-5AA1-B144-8688-E824ABDD91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4FF67E-B12B-4EE4-B595-96291F1D1A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72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SNA graph uses "retweet" as the link. Two big component subgraphs show Pro Trump and Pro Biden networks. Pro Trump subgraph is bigger than Biden's. Between them is a pool of MSM (mainstream media) accounts, closer to Biden's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2D53A-2AF6-4DBF-B05A-A2E1C10652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accurately infer roommate relationship (offline) from community labels (online).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2D53A-2AF6-4DBF-B05A-A2E1C10652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59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085CD-55C4-3942-8C25-EA099A53CC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01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may have heard of this famous small world experiment conducted by …</a:t>
            </a:r>
          </a:p>
          <a:p>
            <a:r>
              <a:rPr lang="en-US" dirty="0"/>
              <a:t>They recruited hundreds of participants to send letters to a random person who lives in Boston.</a:t>
            </a:r>
          </a:p>
          <a:p>
            <a:r>
              <a:rPr lang="en-US" dirty="0"/>
              <a:t>Each participant was instructed to forward the letter to one of their close friends.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2D53A-2AF6-4DBF-B05A-A2E1C10652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61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= (2+3+1+2) / 4 = 2</a:t>
            </a:r>
          </a:p>
          <a:p>
            <a:r>
              <a:rPr lang="en-US" dirty="0"/>
              <a:t>Friends’ k = (3+2+2+2+1+3+2+3) / 8 = 2.25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A2D53A-2AF6-4DBF-B05A-A2E1C10652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970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because viral information is initially started by important nodes in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84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173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popularity</a:t>
            </a:r>
          </a:p>
          <a:p>
            <a:r>
              <a:rPr lang="en-US" dirty="0"/>
              <a:t>For scientific impact (citation): hard to rank papers with the same citation count. A citation from Nature may be more important than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644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nodes identified by PR are quite different from that identified by 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679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identify </a:t>
            </a:r>
            <a:r>
              <a:rPr lang="en-US" dirty="0" err="1"/>
              <a:t>influentials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0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Disciplinary and interdisciplinary relationships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084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0470-7C39-0956-5AAA-F7C62AB0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E3B0F-64B7-5220-95EF-4A28E33CC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E1F9B-168A-93C8-9CD6-459F17E64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hlinkClick r:id="rId3"/>
              </a:rPr>
              <a:t>https://forms.gle/AkytuxkNGscB25Jh6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8A5AD-8BF2-3696-1962-17D07A35D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038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D1D4F-2412-4F27-F915-ED1F5F79D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EBCB6-AEA0-371D-F173-8863B4136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2198E-0947-76C1-0085-7935AC3DB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hlinkClick r:id="rId3"/>
              </a:rPr>
              <a:t>https://forms.gle/AkytuxkNGscB25Jh6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668E-EC2F-CCF8-25B3-0B3AB7854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026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BA1D-1362-4982-1894-708B103B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2B852-9FC4-3892-71B4-EEB67F58E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0EA88-74CC-5D18-4FD0-4511A564C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nodes identified by PR are quite different from that identified by DC.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2F4AC-5FB4-C73C-7AC6-6453DAB88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2B4756-B30B-4FB3-9E39-B2A906E281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35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LM Sans 12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F7F3D687-2D94-334E-9FDB-8DDFE4B02F2A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  <a:lvl2pPr>
              <a:defRPr b="0" i="0">
                <a:latin typeface="LM Sans 12" pitchFamily="2" charset="77"/>
              </a:defRPr>
            </a:lvl2pPr>
            <a:lvl3pPr>
              <a:defRPr b="0" i="0">
                <a:latin typeface="LM Sans 12" pitchFamily="2" charset="77"/>
              </a:defRPr>
            </a:lvl3pPr>
            <a:lvl4pPr>
              <a:defRPr b="0" i="0">
                <a:latin typeface="LM Sans 12" pitchFamily="2" charset="77"/>
              </a:defRPr>
            </a:lvl4pPr>
            <a:lvl5pPr>
              <a:defRPr b="0" i="0">
                <a:latin typeface="LM Sans 12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F6D9C2F5-9C8A-DB45-8886-7DEB2564AB4E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ADDF-E6AA-404D-9134-94A70FDD0F67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18EAAEF1-368A-4C4E-9AAE-837A01BD3A0D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CB7E-0963-B04D-9C86-0149EB4C6BE9}" type="datetime1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4C22-94DC-7E48-9344-5FB90827FA1E}" type="datetime1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52C2-94C2-C941-B22A-D1C090A7C8B9}" type="datetime1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5D60-EC61-514B-AB13-F02B3A9B4568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7F257-2D00-C043-8FE6-33B49881B38F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64EF5-DF78-3F4D-8FCE-B6569ECE61E8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0494-E52A-AE4D-A3D2-BEB05B5CF5D9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251B41E4-CF36-C543-9555-24E67099696B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19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7432C3F-12A3-734A-9938-90E62AAEDDF9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7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F842-044D-2445-8BFE-38AC7AF3E8D8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25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2EDE1104-1931-684B-870C-47EC1839F9C5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0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87858-5495-624B-94B4-50FB428CAE08}" type="datetime1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22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2885-6AF3-7743-BB63-0785A354CE10}" type="datetime1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39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CA55-8BE7-8C41-97E4-FDA71C96C30D}" type="datetime1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49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6C04-7E95-8E43-B70E-CF65ADD70FC5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96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1AA7-DF07-3F46-8978-EF5E85A1DA62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611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2559-22E6-0F47-BE4F-10B4395DACDA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37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DE303-E231-CF42-A3D7-0E342FBA6A4F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1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D35C9E2B-E03B-B741-BC71-ACC1FBA0765A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BDB04E9A-071F-694F-B926-AB49EA02C548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0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42001-020-00084-7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mall-world_experime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/cedric_villani_what_s_so_sexy_about_math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or.org/stable/2776392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hyperlink" Target="https://www.youtube.com/watch?v=g3bBajcR5fE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AkytuxkNGscB25Jh6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AkytuxkNGscB25Jh6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429000"/>
            <a:ext cx="6858000" cy="2136153"/>
          </a:xfrm>
        </p:spPr>
        <p:txBody>
          <a:bodyPr>
            <a:normAutofit lnSpcReduction="10000"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84287C-BF10-3660-A1AF-53A33D3EC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602" y="1413845"/>
            <a:ext cx="7746794" cy="1729289"/>
          </a:xfrm>
        </p:spPr>
        <p:txBody>
          <a:bodyPr>
            <a:normAutofit fontScale="90000"/>
          </a:bodyPr>
          <a:lstStyle/>
          <a:p>
            <a:r>
              <a:rPr lang="en-US" dirty="0"/>
              <a:t>DSC3013 Intro. to Social</a:t>
            </a:r>
            <a:br>
              <a:rPr lang="en-US" dirty="0"/>
            </a:br>
            <a:r>
              <a:rPr lang="en-US" dirty="0"/>
              <a:t>Media Analytics (</a:t>
            </a:r>
            <a:r>
              <a:rPr lang="en-US" dirty="0" err="1"/>
              <a:t>Lec</a:t>
            </a:r>
            <a:r>
              <a:rPr lang="en-US" dirty="0"/>
              <a:t>. 8)</a:t>
            </a:r>
          </a:p>
        </p:txBody>
      </p:sp>
    </p:spTree>
    <p:extLst>
      <p:ext uri="{BB962C8B-B14F-4D97-AF65-F5344CB8AC3E}">
        <p14:creationId xmlns:p14="http://schemas.microsoft.com/office/powerpoint/2010/main" val="1060034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5828-808A-8A8D-8465-A5AE798C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45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Topics for 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E1627-25A0-17BA-95F0-DC1B030A6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515350" cy="45386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Network Science</a:t>
            </a:r>
          </a:p>
          <a:p>
            <a:pPr lvl="1"/>
            <a:r>
              <a:rPr lang="en-US" altLang="zh-CN" dirty="0"/>
              <a:t>Background</a:t>
            </a:r>
          </a:p>
          <a:p>
            <a:r>
              <a:rPr lang="en-US" altLang="zh-CN" dirty="0"/>
              <a:t>Characteristics of Social Networks</a:t>
            </a:r>
          </a:p>
          <a:p>
            <a:pPr lvl="1"/>
            <a:r>
              <a:rPr lang="en-US" altLang="zh-CN" dirty="0"/>
              <a:t>Short average distance</a:t>
            </a:r>
          </a:p>
          <a:p>
            <a:pPr lvl="1"/>
            <a:r>
              <a:rPr lang="en-US" altLang="zh-CN" dirty="0"/>
              <a:t>Social influence/hubs</a:t>
            </a:r>
          </a:p>
          <a:p>
            <a:pPr lvl="1"/>
            <a:r>
              <a:rPr lang="en-US" altLang="zh-CN" dirty="0"/>
              <a:t>Strong and weak ties</a:t>
            </a:r>
          </a:p>
          <a:p>
            <a:pPr lvl="1"/>
            <a:r>
              <a:rPr lang="en-US" altLang="zh-CN" dirty="0"/>
              <a:t>Community structure</a:t>
            </a:r>
          </a:p>
        </p:txBody>
      </p:sp>
    </p:spTree>
    <p:extLst>
      <p:ext uri="{BB962C8B-B14F-4D97-AF65-F5344CB8AC3E}">
        <p14:creationId xmlns:p14="http://schemas.microsoft.com/office/powerpoint/2010/main" val="313826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519"/>
            <a:ext cx="7886700" cy="1325563"/>
          </a:xfrm>
        </p:spPr>
        <p:txBody>
          <a:bodyPr/>
          <a:lstStyle/>
          <a:p>
            <a:r>
              <a:rPr lang="en-US" dirty="0"/>
              <a:t>Network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86" y="1253331"/>
            <a:ext cx="7656943" cy="4351338"/>
          </a:xfrm>
        </p:spPr>
        <p:txBody>
          <a:bodyPr>
            <a:normAutofit/>
          </a:bodyPr>
          <a:lstStyle/>
          <a:p>
            <a:r>
              <a:rPr lang="en-US" sz="2000" dirty="0"/>
              <a:t>Network science studies numerous real-world complex networks to </a:t>
            </a:r>
            <a:r>
              <a:rPr lang="en-US" sz="2000" dirty="0">
                <a:solidFill>
                  <a:srgbClr val="C00000"/>
                </a:solidFill>
              </a:rPr>
              <a:t>understand their statistical properties, structure, and dynamics</a:t>
            </a:r>
            <a:r>
              <a:rPr lang="en-US" sz="2000" dirty="0"/>
              <a:t>.</a:t>
            </a:r>
          </a:p>
          <a:p>
            <a:r>
              <a:rPr lang="en-US" sz="2000" dirty="0"/>
              <a:t>Related areas: graph theory, statistics, mathematics, control theory</a:t>
            </a:r>
          </a:p>
          <a:p>
            <a:r>
              <a:rPr lang="en-US" sz="2000" dirty="0"/>
              <a:t>Common examples include </a:t>
            </a:r>
            <a:r>
              <a:rPr lang="en-US" sz="2000" i="1" dirty="0"/>
              <a:t>social networks, information networks, transportation networks, biological networks, transaction networks</a:t>
            </a:r>
            <a:r>
              <a:rPr lang="en-US" sz="2000" dirty="0"/>
              <a:t>.</a:t>
            </a:r>
          </a:p>
          <a:p>
            <a:pPr lvl="1"/>
            <a:r>
              <a:rPr lang="en-US" sz="1600" dirty="0"/>
              <a:t>We will focus on </a:t>
            </a:r>
            <a:r>
              <a:rPr lang="en-US" sz="1600" dirty="0">
                <a:solidFill>
                  <a:srgbClr val="C00000"/>
                </a:solidFill>
              </a:rPr>
              <a:t>social and information networks</a:t>
            </a:r>
            <a:r>
              <a:rPr lang="en-US" sz="1600" dirty="0"/>
              <a:t> in this class.</a:t>
            </a:r>
          </a:p>
        </p:txBody>
      </p:sp>
      <p:pic>
        <p:nvPicPr>
          <p:cNvPr id="4" name="Picture 6" descr="Networks: Newman, Mark: 9780198805090: Amazon.com: Books">
            <a:extLst>
              <a:ext uri="{FF2B5EF4-FFF2-40B4-BE49-F238E27FC236}">
                <a16:creationId xmlns:a16="http://schemas.microsoft.com/office/drawing/2014/main" id="{CC520C48-F410-CCF9-1602-3DA710998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774" y="3628141"/>
            <a:ext cx="1981095" cy="258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Networks, Crowds, and Markets: Reasoning about a Highly Connected World See  more 1st Edition1st Edition">
            <a:extLst>
              <a:ext uri="{FF2B5EF4-FFF2-40B4-BE49-F238E27FC236}">
                <a16:creationId xmlns:a16="http://schemas.microsoft.com/office/drawing/2014/main" id="{4E62E621-F599-3A85-561F-A24728FD3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583" y="3630846"/>
            <a:ext cx="1764635" cy="2579772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06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194123"/>
            <a:ext cx="7886700" cy="1325563"/>
          </a:xfrm>
        </p:spPr>
        <p:txBody>
          <a:bodyPr/>
          <a:lstStyle/>
          <a:p>
            <a:r>
              <a:rPr lang="en-US" dirty="0"/>
              <a:t>Information networks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34B0F-B401-B8BA-8D10-24759334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7313"/>
            <a:ext cx="7772400" cy="4371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CCBC00-8F80-F930-BF43-5A844712E2CC}"/>
              </a:ext>
            </a:extLst>
          </p:cNvPr>
          <p:cNvSpPr txBox="1"/>
          <p:nvPr/>
        </p:nvSpPr>
        <p:spPr>
          <a:xfrm>
            <a:off x="1209998" y="6017546"/>
            <a:ext cx="689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Co-citation network among all Nature papers (color shows fields)</a:t>
            </a:r>
          </a:p>
        </p:txBody>
      </p:sp>
    </p:spTree>
    <p:extLst>
      <p:ext uri="{BB962C8B-B14F-4D97-AF65-F5344CB8AC3E}">
        <p14:creationId xmlns:p14="http://schemas.microsoft.com/office/powerpoint/2010/main" val="1636189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4888-47DE-1BA3-3749-065566F4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37CE-68F1-3CB2-064E-A5F3C45BC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194123"/>
            <a:ext cx="7886700" cy="1325563"/>
          </a:xfrm>
        </p:spPr>
        <p:txBody>
          <a:bodyPr/>
          <a:lstStyle/>
          <a:p>
            <a:r>
              <a:rPr lang="en-US" dirty="0"/>
              <a:t>Information networks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0C201-3C00-7796-524A-C6AC68EFA11E}"/>
              </a:ext>
            </a:extLst>
          </p:cNvPr>
          <p:cNvSpPr txBox="1"/>
          <p:nvPr/>
        </p:nvSpPr>
        <p:spPr>
          <a:xfrm>
            <a:off x="747875" y="5846098"/>
            <a:ext cx="7934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Links represent retweets. </a:t>
            </a:r>
          </a:p>
          <a:p>
            <a:r>
              <a:rPr lang="en-US" dirty="0"/>
              <a:t>Mainstream Media (MSM) accounts connects Pro Trump and Pro Biden subgraphs.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F7828-EB51-93CF-D811-B03D03677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311041"/>
            <a:ext cx="7462838" cy="449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6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acebook dataset, untangled. Strong friendship relations seem to be strongly dependent on dormitory.">
            <a:extLst>
              <a:ext uri="{FF2B5EF4-FFF2-40B4-BE49-F238E27FC236}">
                <a16:creationId xmlns:a16="http://schemas.microsoft.com/office/drawing/2014/main" id="{83E459D5-0287-7FE9-AEA0-760F006C3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553" y="1142025"/>
            <a:ext cx="5380362" cy="441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580" y="54484"/>
            <a:ext cx="7886700" cy="1325563"/>
          </a:xfrm>
        </p:spPr>
        <p:txBody>
          <a:bodyPr/>
          <a:lstStyle/>
          <a:p>
            <a:r>
              <a:rPr lang="en-US" dirty="0"/>
              <a:t>Social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3098" y="5643466"/>
            <a:ext cx="3823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Facebook network of university students (color shows dormitory)</a:t>
            </a:r>
          </a:p>
        </p:txBody>
      </p:sp>
    </p:spTree>
    <p:extLst>
      <p:ext uri="{BB962C8B-B14F-4D97-AF65-F5344CB8AC3E}">
        <p14:creationId xmlns:p14="http://schemas.microsoft.com/office/powerpoint/2010/main" val="79273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580" y="54484"/>
            <a:ext cx="7886700" cy="1325563"/>
          </a:xfrm>
        </p:spPr>
        <p:txBody>
          <a:bodyPr/>
          <a:lstStyle/>
          <a:p>
            <a:r>
              <a:rPr lang="en-US" dirty="0"/>
              <a:t>Social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9BA88-89BD-C623-0B95-97EB1A76BFC9}"/>
              </a:ext>
            </a:extLst>
          </p:cNvPr>
          <p:cNvSpPr txBox="1"/>
          <p:nvPr/>
        </p:nvSpPr>
        <p:spPr>
          <a:xfrm>
            <a:off x="651046" y="4992656"/>
            <a:ext cx="8099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That’s why we need statistical analysis, models, and algorithms to understand the complex structure of large social networks!</a:t>
            </a:r>
          </a:p>
        </p:txBody>
      </p:sp>
      <p:pic>
        <p:nvPicPr>
          <p:cNvPr id="2050" name="Picture 2" descr="Fig. 1">
            <a:extLst>
              <a:ext uri="{FF2B5EF4-FFF2-40B4-BE49-F238E27FC236}">
                <a16:creationId xmlns:a16="http://schemas.microsoft.com/office/drawing/2014/main" id="{8670C1AD-86CE-6A6A-9EB7-6ACEB969A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91" y="1788205"/>
            <a:ext cx="5494979" cy="320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13360" y="1076006"/>
            <a:ext cx="791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largest component of a polarized retweet network on Twitter based on several political hashtags (only shows nodes with k-core above 3 here).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2A611-7308-9ED9-FDC1-323ABA544826}"/>
              </a:ext>
            </a:extLst>
          </p:cNvPr>
          <p:cNvSpPr txBox="1"/>
          <p:nvPr/>
        </p:nvSpPr>
        <p:spPr>
          <a:xfrm>
            <a:off x="2332256" y="6063963"/>
            <a:ext cx="57690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https://link.springer.com/article/10.1007/s42001-020-00084-7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4464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" y="151130"/>
            <a:ext cx="7886700" cy="1325563"/>
          </a:xfrm>
        </p:spPr>
        <p:txBody>
          <a:bodyPr/>
          <a:lstStyle/>
          <a:p>
            <a:r>
              <a:rPr lang="en-US" dirty="0"/>
              <a:t>Network definition &amp; vocabulary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949" y="1445465"/>
            <a:ext cx="8474051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representation of </a:t>
            </a:r>
            <a:r>
              <a:rPr lang="en-US" b="1" dirty="0"/>
              <a:t>connections </a:t>
            </a:r>
            <a:r>
              <a:rPr lang="en-US" dirty="0"/>
              <a:t>among a set of </a:t>
            </a:r>
            <a:r>
              <a:rPr lang="en-US" b="1" dirty="0"/>
              <a:t>items</a:t>
            </a:r>
            <a:r>
              <a:rPr lang="en-US" dirty="0"/>
              <a:t>.</a:t>
            </a:r>
          </a:p>
          <a:p>
            <a:pPr>
              <a:buFontTx/>
              <a:buChar char="-"/>
            </a:pPr>
            <a:r>
              <a:rPr lang="en-US" dirty="0"/>
              <a:t>Items are called </a:t>
            </a:r>
            <a:r>
              <a:rPr lang="en-US" b="1" dirty="0"/>
              <a:t>nodes</a:t>
            </a:r>
            <a:r>
              <a:rPr lang="en-US" dirty="0"/>
              <a:t> (or vertices / users)</a:t>
            </a:r>
          </a:p>
          <a:p>
            <a:pPr>
              <a:buFontTx/>
              <a:buChar char="-"/>
            </a:pPr>
            <a:r>
              <a:rPr lang="en-US" dirty="0"/>
              <a:t>Connections are called </a:t>
            </a:r>
            <a:r>
              <a:rPr lang="en-US" b="1" dirty="0"/>
              <a:t>edges</a:t>
            </a:r>
            <a:r>
              <a:rPr lang="en-US" dirty="0"/>
              <a:t> (or link / ties)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96187" y="3307779"/>
            <a:ext cx="2670366" cy="3185095"/>
            <a:chOff x="5330186" y="1821018"/>
            <a:chExt cx="2862025" cy="3413697"/>
          </a:xfrm>
        </p:grpSpPr>
        <p:sp>
          <p:nvSpPr>
            <p:cNvPr id="4" name="Oval 3"/>
            <p:cNvSpPr/>
            <p:nvPr/>
          </p:nvSpPr>
          <p:spPr>
            <a:xfrm>
              <a:off x="5994841" y="2848258"/>
              <a:ext cx="364173" cy="373542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rgbClr val="000000"/>
                    </a:solidFill>
                  </a:ln>
                  <a:solidFill>
                    <a:srgbClr val="800000"/>
                  </a:solidFill>
                </a:rPr>
                <a:t>C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330186" y="3750726"/>
              <a:ext cx="364173" cy="373542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rgbClr val="000000"/>
                    </a:solidFill>
                  </a:ln>
                  <a:solidFill>
                    <a:srgbClr val="800000"/>
                  </a:solidFill>
                </a:rPr>
                <a:t>D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755517" y="3937497"/>
              <a:ext cx="364173" cy="373542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rgbClr val="000000"/>
                    </a:solidFill>
                  </a:ln>
                  <a:solidFill>
                    <a:srgbClr val="800000"/>
                  </a:solidFill>
                </a:rPr>
                <a:t>E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937604" y="2381331"/>
              <a:ext cx="364173" cy="373542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rgbClr val="000000"/>
                    </a:solidFill>
                  </a:ln>
                  <a:solidFill>
                    <a:srgbClr val="800000"/>
                  </a:solidFill>
                </a:rPr>
                <a:t>B</a:t>
              </a:r>
            </a:p>
          </p:txBody>
        </p:sp>
        <p:cxnSp>
          <p:nvCxnSpPr>
            <p:cNvPr id="9" name="Straight Connector 8"/>
            <p:cNvCxnSpPr>
              <a:stCxn id="4" idx="7"/>
              <a:endCxn id="7" idx="2"/>
            </p:cNvCxnSpPr>
            <p:nvPr/>
          </p:nvCxnSpPr>
          <p:spPr>
            <a:xfrm flipV="1">
              <a:off x="6305682" y="2568102"/>
              <a:ext cx="631922" cy="3348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4" idx="5"/>
              <a:endCxn id="6" idx="1"/>
            </p:cNvCxnSpPr>
            <p:nvPr/>
          </p:nvCxnSpPr>
          <p:spPr>
            <a:xfrm>
              <a:off x="6305682" y="3167096"/>
              <a:ext cx="503167" cy="8251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5" idx="6"/>
              <a:endCxn id="6" idx="2"/>
            </p:cNvCxnSpPr>
            <p:nvPr/>
          </p:nvCxnSpPr>
          <p:spPr>
            <a:xfrm>
              <a:off x="5694359" y="3937497"/>
              <a:ext cx="1061158" cy="1867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7828038" y="1821018"/>
              <a:ext cx="364173" cy="373542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rgbClr val="000000"/>
                    </a:solidFill>
                  </a:ln>
                  <a:solidFill>
                    <a:srgbClr val="800000"/>
                  </a:solidFill>
                </a:rPr>
                <a:t>G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994841" y="2007789"/>
              <a:ext cx="364173" cy="373542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rgbClr val="000000"/>
                    </a:solidFill>
                  </a:ln>
                  <a:solidFill>
                    <a:srgbClr val="800000"/>
                  </a:solidFill>
                </a:rPr>
                <a:t>A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731314" y="3035029"/>
              <a:ext cx="364173" cy="373542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>
                    <a:solidFill>
                      <a:srgbClr val="000000"/>
                    </a:solidFill>
                  </a:ln>
                  <a:solidFill>
                    <a:srgbClr val="800000"/>
                  </a:solidFill>
                </a:rPr>
                <a:t>F</a:t>
              </a:r>
            </a:p>
          </p:txBody>
        </p:sp>
        <p:cxnSp>
          <p:nvCxnSpPr>
            <p:cNvPr id="19" name="Straight Connector 18"/>
            <p:cNvCxnSpPr>
              <a:stCxn id="4" idx="6"/>
              <a:endCxn id="17" idx="2"/>
            </p:cNvCxnSpPr>
            <p:nvPr/>
          </p:nvCxnSpPr>
          <p:spPr>
            <a:xfrm>
              <a:off x="6359014" y="3035029"/>
              <a:ext cx="1372300" cy="1867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6" idx="6"/>
              <a:endCxn id="7" idx="1"/>
            </p:cNvCxnSpPr>
            <p:nvPr/>
          </p:nvCxnSpPr>
          <p:spPr>
            <a:xfrm>
              <a:off x="6359014" y="2194560"/>
              <a:ext cx="631922" cy="2414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5" idx="4"/>
              <a:endCxn id="17" idx="0"/>
            </p:cNvCxnSpPr>
            <p:nvPr/>
          </p:nvCxnSpPr>
          <p:spPr>
            <a:xfrm flipH="1">
              <a:off x="7913401" y="2194560"/>
              <a:ext cx="96724" cy="840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>
              <a:endCxn id="6" idx="4"/>
            </p:cNvCxnSpPr>
            <p:nvPr/>
          </p:nvCxnSpPr>
          <p:spPr>
            <a:xfrm rot="16200000" flipV="1">
              <a:off x="6805163" y="4443480"/>
              <a:ext cx="629056" cy="364173"/>
            </a:xfrm>
            <a:prstGeom prst="curvedConnector3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992747" y="4865383"/>
              <a:ext cx="69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Node</a:t>
              </a:r>
            </a:p>
          </p:txBody>
        </p:sp>
        <p:cxnSp>
          <p:nvCxnSpPr>
            <p:cNvPr id="32" name="Curved Connector 31"/>
            <p:cNvCxnSpPr/>
            <p:nvPr/>
          </p:nvCxnSpPr>
          <p:spPr>
            <a:xfrm rot="16200000" flipV="1">
              <a:off x="6987248" y="3254111"/>
              <a:ext cx="629056" cy="364173"/>
            </a:xfrm>
            <a:prstGeom prst="curvedConnector3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7175183" y="3683204"/>
              <a:ext cx="642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Edge</a:t>
              </a: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E01789-26F2-8176-9B1B-857636B653EA}"/>
              </a:ext>
            </a:extLst>
          </p:cNvPr>
          <p:cNvSpPr txBox="1">
            <a:spLocks/>
          </p:cNvSpPr>
          <p:nvPr/>
        </p:nvSpPr>
        <p:spPr>
          <a:xfrm>
            <a:off x="4286758" y="3665451"/>
            <a:ext cx="4494490" cy="304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Different types of networks:</a:t>
            </a:r>
          </a:p>
          <a:p>
            <a:r>
              <a:rPr lang="en-US" sz="2400" dirty="0">
                <a:solidFill>
                  <a:srgbClr val="C00000"/>
                </a:solidFill>
              </a:rPr>
              <a:t>Undirected, directed</a:t>
            </a:r>
          </a:p>
          <a:p>
            <a:r>
              <a:rPr lang="en-US" sz="2400" dirty="0">
                <a:solidFill>
                  <a:srgbClr val="C00000"/>
                </a:solidFill>
              </a:rPr>
              <a:t>Weighted, unweighted</a:t>
            </a:r>
          </a:p>
          <a:p>
            <a:r>
              <a:rPr lang="en-US" sz="2400" dirty="0">
                <a:solidFill>
                  <a:srgbClr val="C00000"/>
                </a:solidFill>
              </a:rPr>
              <a:t>Connected, disconnected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520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0694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Number of edges incident on a node</a:t>
            </a:r>
          </a:p>
          <a:p>
            <a:r>
              <a:rPr lang="en-US" altLang="en-US" sz="2400" dirty="0"/>
              <a:t>The degree of node i: d(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)</a:t>
            </a:r>
          </a:p>
          <a:p>
            <a:endParaRPr lang="en-US" sz="32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057400" y="2971800"/>
          <a:ext cx="4587291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247619" imgH="2429214" progId="PBrush">
                  <p:embed/>
                </p:oleObj>
              </mc:Choice>
              <mc:Fallback>
                <p:oleObj name="Bitmap Image" r:id="rId2" imgW="3247619" imgH="2429214" progId="PBrush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971800"/>
                        <a:ext cx="4587291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1905000" y="5791200"/>
            <a:ext cx="1345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en-US" sz="2400" dirty="0">
                <a:solidFill>
                  <a:schemeClr val="hlink"/>
                </a:solidFill>
                <a:latin typeface="LM Sans 12" panose="00000500000000000000" pitchFamily="50" charset="0"/>
              </a:rPr>
              <a:t>d(3) = 2</a:t>
            </a:r>
            <a:endParaRPr lang="es-ES" altLang="en-US" sz="2400" dirty="0">
              <a:solidFill>
                <a:schemeClr val="hlink"/>
              </a:solidFill>
              <a:latin typeface="LM Sans 12" panose="00000500000000000000" pitchFamily="50" charset="0"/>
            </a:endParaRPr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940760" y="3505200"/>
            <a:ext cx="1345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en-US" sz="2400" dirty="0">
                <a:solidFill>
                  <a:schemeClr val="hlink"/>
                </a:solidFill>
                <a:latin typeface="LM Sans 12" panose="00000500000000000000" pitchFamily="50" charset="0"/>
              </a:rPr>
              <a:t>d(6) = 1</a:t>
            </a:r>
            <a:endParaRPr lang="es-ES" altLang="en-US" sz="2400" dirty="0">
              <a:solidFill>
                <a:schemeClr val="hlink"/>
              </a:solidFill>
              <a:latin typeface="LM Sans 12" panose="00000500000000000000" pitchFamily="50" charset="0"/>
            </a:endParaRPr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3074360" y="3653135"/>
            <a:ext cx="1345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en-US" sz="2400" dirty="0">
                <a:solidFill>
                  <a:schemeClr val="hlink"/>
                </a:solidFill>
                <a:latin typeface="LM Sans 12" panose="00000500000000000000" pitchFamily="50" charset="0"/>
              </a:rPr>
              <a:t>d(4) = 3</a:t>
            </a:r>
            <a:endParaRPr lang="es-ES" altLang="en-US" sz="2400" dirty="0">
              <a:solidFill>
                <a:schemeClr val="hlink"/>
              </a:solidFill>
              <a:latin typeface="LM Sans 12" panose="00000500000000000000" pitchFamily="50" charset="0"/>
            </a:endParaRPr>
          </a:p>
        </p:txBody>
      </p:sp>
      <p:sp>
        <p:nvSpPr>
          <p:cNvPr id="8" name="Text Box 24"/>
          <p:cNvSpPr txBox="1">
            <a:spLocks noChangeArrowheads="1"/>
          </p:cNvSpPr>
          <p:nvPr/>
        </p:nvSpPr>
        <p:spPr bwMode="auto">
          <a:xfrm>
            <a:off x="4876800" y="3657600"/>
            <a:ext cx="1345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en-US" sz="2400" dirty="0">
                <a:solidFill>
                  <a:schemeClr val="hlink"/>
                </a:solidFill>
                <a:latin typeface="LM Sans 12" panose="00000500000000000000" pitchFamily="50" charset="0"/>
              </a:rPr>
              <a:t>d(5) = 3</a:t>
            </a:r>
            <a:endParaRPr lang="es-ES" altLang="en-US" sz="2400" dirty="0">
              <a:solidFill>
                <a:schemeClr val="hlink"/>
              </a:solidFill>
              <a:latin typeface="LM Sans 12" panose="00000500000000000000" pitchFamily="50" charset="0"/>
            </a:endParaRPr>
          </a:p>
        </p:txBody>
      </p:sp>
      <p:sp>
        <p:nvSpPr>
          <p:cNvPr id="9" name="Text Box 24"/>
          <p:cNvSpPr txBox="1">
            <a:spLocks noChangeArrowheads="1"/>
          </p:cNvSpPr>
          <p:nvPr/>
        </p:nvSpPr>
        <p:spPr bwMode="auto">
          <a:xfrm>
            <a:off x="5512760" y="5715000"/>
            <a:ext cx="1345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en-US" sz="2400" dirty="0">
                <a:solidFill>
                  <a:schemeClr val="hlink"/>
                </a:solidFill>
                <a:latin typeface="LM Sans 12" panose="00000500000000000000" pitchFamily="50" charset="0"/>
              </a:rPr>
              <a:t>d(2) = 3</a:t>
            </a:r>
            <a:endParaRPr lang="es-ES" altLang="en-US" sz="2400" dirty="0">
              <a:solidFill>
                <a:schemeClr val="hlink"/>
              </a:solidFill>
              <a:latin typeface="LM Sans 12" panose="00000500000000000000" pitchFamily="50" charset="0"/>
            </a:endParaRPr>
          </a:p>
        </p:txBody>
      </p:sp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6427160" y="4643735"/>
            <a:ext cx="1345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en-US" altLang="en-US" sz="2400" dirty="0">
                <a:solidFill>
                  <a:schemeClr val="hlink"/>
                </a:solidFill>
                <a:latin typeface="LM Sans 12" panose="00000500000000000000" pitchFamily="50" charset="0"/>
              </a:rPr>
              <a:t>d(1) = 2</a:t>
            </a:r>
            <a:endParaRPr lang="es-ES" altLang="en-US" sz="2400" dirty="0">
              <a:solidFill>
                <a:schemeClr val="hlink"/>
              </a:solidFill>
              <a:latin typeface="LM Sans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636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features of social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06" y="2005013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Short average distance</a:t>
            </a:r>
          </a:p>
          <a:p>
            <a:r>
              <a:rPr lang="en-US" sz="2400" dirty="0"/>
              <a:t>High clustering coefficient</a:t>
            </a:r>
          </a:p>
          <a:p>
            <a:r>
              <a:rPr lang="en-US" sz="2400" dirty="0"/>
              <a:t>Triadic closure</a:t>
            </a:r>
          </a:p>
          <a:p>
            <a:pPr lvl="1"/>
            <a:r>
              <a:rPr lang="en-US" sz="2000" dirty="0"/>
              <a:t>friends of my friends are also my friends</a:t>
            </a:r>
          </a:p>
          <a:p>
            <a:r>
              <a:rPr lang="en-US" sz="2400" dirty="0"/>
              <a:t>Social influence &amp; hubs</a:t>
            </a:r>
          </a:p>
          <a:p>
            <a:r>
              <a:rPr lang="en-US" sz="2400" dirty="0"/>
              <a:t>Strong and weak ties</a:t>
            </a:r>
          </a:p>
          <a:p>
            <a:r>
              <a:rPr lang="en-US" sz="2400" dirty="0"/>
              <a:t>Community structure</a:t>
            </a:r>
          </a:p>
          <a:p>
            <a:r>
              <a:rPr lang="en-US" sz="2400" dirty="0"/>
              <a:t>And many more</a:t>
            </a:r>
            <a:r>
              <a:rPr lang="is-IS" sz="2400" dirty="0"/>
              <a:t>….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713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601826E-4CCE-3A0E-BCA1-6E9C53D1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The small-world experiment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F3801D-D781-53CB-01F8-3E3F3B922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610" y="1582376"/>
            <a:ext cx="7886700" cy="436122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On average, it took only six steps to reach the target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 Box 100">
            <a:extLst>
              <a:ext uri="{FF2B5EF4-FFF2-40B4-BE49-F238E27FC236}">
                <a16:creationId xmlns:a16="http://schemas.microsoft.com/office/drawing/2014/main" id="{D7627E72-8E2D-6161-DDBC-1B1A3F93C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298" y="5571918"/>
            <a:ext cx="5872164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algn="r" rtl="1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algn="r" rtl="1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algn="r" rtl="1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algn="r" rtl="1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algn="r" rtl="1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obe Devanagari" panose="02040503050201020203" pitchFamily="18" charset="0"/>
                <a:ea typeface="ＭＳ Ｐゴシック" pitchFamily="34" charset="-128"/>
                <a:cs typeface="Adobe Devanagari" panose="02040503050201020203" pitchFamily="18" charset="0"/>
              </a:rPr>
              <a:t>Fig: Baruch </a:t>
            </a:r>
            <a:r>
              <a:rPr kumimoji="0" lang="en-US" alt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obe Devanagari" panose="02040503050201020203" pitchFamily="18" charset="0"/>
                <a:ea typeface="ＭＳ Ｐゴシック" pitchFamily="34" charset="-128"/>
                <a:cs typeface="Adobe Devanagari" panose="02040503050201020203" pitchFamily="18" charset="0"/>
              </a:rPr>
              <a:t>Barzel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dobe Devanagari" panose="02040503050201020203" pitchFamily="18" charset="0"/>
              <a:ea typeface="ＭＳ Ｐゴシック" pitchFamily="34" charset="-128"/>
              <a:cs typeface="Adobe Devanagari" panose="02040503050201020203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obe Devanagari" panose="02040503050201020203" pitchFamily="18" charset="0"/>
                <a:ea typeface="ＭＳ Ｐゴシック" pitchFamily="34" charset="-128"/>
                <a:cs typeface="Adobe Devanagari" panose="02040503050201020203" pitchFamily="18" charset="0"/>
              </a:rPr>
              <a:t>J. Travers and S. Milgram,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obe Devanagari" panose="02040503050201020203" pitchFamily="18" charset="0"/>
                <a:ea typeface="ＭＳ Ｐゴシック" pitchFamily="34" charset="-128"/>
                <a:cs typeface="Adobe Devanagari" panose="02040503050201020203" pitchFamily="18" charset="0"/>
              </a:rPr>
              <a:t>Sociometry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obe Devanagari" panose="02040503050201020203" pitchFamily="18" charset="0"/>
                <a:ea typeface="ＭＳ Ｐゴシック" pitchFamily="34" charset="-128"/>
                <a:cs typeface="Adobe Devanagari" panose="02040503050201020203" pitchFamily="18" charset="0"/>
              </a:rPr>
              <a:t>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obe Devanagari" panose="02040503050201020203" pitchFamily="18" charset="0"/>
                <a:ea typeface="ＭＳ Ｐゴシック" pitchFamily="34" charset="-128"/>
                <a:cs typeface="Adobe Devanagari" panose="02040503050201020203" pitchFamily="18" charset="0"/>
              </a:rPr>
              <a:t>32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obe Devanagari" panose="02040503050201020203" pitchFamily="18" charset="0"/>
                <a:ea typeface="ＭＳ Ｐゴシック" pitchFamily="34" charset="-128"/>
                <a:cs typeface="Adobe Devanagari" panose="02040503050201020203" pitchFamily="18" charset="0"/>
              </a:rPr>
              <a:t>,425–443  (1969)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obe Devanagari" panose="02040503050201020203" pitchFamily="18" charset="0"/>
                <a:ea typeface="ＭＳ Ｐゴシック" pitchFamily="34" charset="-128"/>
                <a:cs typeface="Adobe Devanagari" panose="02040503050201020203" pitchFamily="18" charset="0"/>
                <a:hlinkClick r:id="rId3"/>
              </a:rPr>
              <a:t>https://en.wikipedia.org/wiki/Small-world_experiment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dobe Devanagari" panose="02040503050201020203" pitchFamily="18" charset="0"/>
              <a:ea typeface="ＭＳ Ｐゴシック" pitchFamily="34" charset="-128"/>
              <a:cs typeface="Adobe Devanagari" panose="02040503050201020203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dobe Devanagari" panose="02040503050201020203" pitchFamily="18" charset="0"/>
              <a:ea typeface="ＭＳ Ｐゴシック" pitchFamily="34" charset="-128"/>
              <a:cs typeface="Adobe Devanagari" panose="02040503050201020203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0BFC99-3ADF-485D-0027-F284FDBB37A2}"/>
              </a:ext>
            </a:extLst>
          </p:cNvPr>
          <p:cNvGrpSpPr/>
          <p:nvPr/>
        </p:nvGrpSpPr>
        <p:grpSpPr>
          <a:xfrm>
            <a:off x="2090102" y="2260999"/>
            <a:ext cx="4785360" cy="3003979"/>
            <a:chOff x="1600200" y="2266949"/>
            <a:chExt cx="6096000" cy="3829051"/>
          </a:xfrm>
        </p:grpSpPr>
        <p:pic>
          <p:nvPicPr>
            <p:cNvPr id="10" name="Picture 4" descr="http://education.boisestate.edu/compass/Kidscompass/Imagesbown/US_Map_large.gif">
              <a:extLst>
                <a:ext uri="{FF2B5EF4-FFF2-40B4-BE49-F238E27FC236}">
                  <a16:creationId xmlns:a16="http://schemas.microsoft.com/office/drawing/2014/main" id="{2894DC2B-66A8-EA6C-E9D6-D3EFAB9ABA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1600200" y="2266949"/>
              <a:ext cx="6096000" cy="382905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01600" cap="sq">
              <a:solidFill>
                <a:srgbClr val="FDFDFD"/>
              </a:solidFill>
              <a:miter lim="800000"/>
            </a:ln>
            <a:effectLst>
              <a:outerShdw blurRad="57150" dist="37500" dir="7560000" sy="98000" kx="110000" ky="200000" algn="tl" rotWithShape="0">
                <a:srgbClr val="000000">
                  <a:alpha val="20000"/>
                </a:srgbClr>
              </a:outerShdw>
            </a:effectLst>
            <a:scene3d>
              <a:camera prst="perspectiveRelaxed">
                <a:rot lat="20400000" lon="0" rev="0"/>
              </a:camera>
              <a:lightRig rig="twoPt" dir="t">
                <a:rot lat="0" lon="0" rev="7200000"/>
              </a:lightRig>
            </a:scene3d>
            <a:sp3d prstMaterial="matte">
              <a:bevelT w="22860" h="12700"/>
              <a:contourClr>
                <a:srgbClr val="FFFFFF"/>
              </a:contourClr>
            </a:sp3d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FAAF57-F496-0A9C-A75D-A1F8476AAACB}"/>
                </a:ext>
              </a:extLst>
            </p:cNvPr>
            <p:cNvSpPr/>
            <p:nvPr/>
          </p:nvSpPr>
          <p:spPr>
            <a:xfrm>
              <a:off x="4390510" y="4067149"/>
              <a:ext cx="225025" cy="135015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  <a:effectLst>
              <a:glow rad="228600">
                <a:schemeClr val="bg2">
                  <a:lumMod val="50000"/>
                  <a:alpha val="40000"/>
                </a:schemeClr>
              </a:glow>
              <a:outerShdw blurRad="76200" dist="63500" dir="8100000" sy="-23000" kx="800400" algn="b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3FDEAEE-DD84-2A49-CF6F-26C870F0CE65}"/>
                </a:ext>
              </a:extLst>
            </p:cNvPr>
            <p:cNvSpPr/>
            <p:nvPr/>
          </p:nvSpPr>
          <p:spPr>
            <a:xfrm>
              <a:off x="4165485" y="3797119"/>
              <a:ext cx="225025" cy="135015"/>
            </a:xfrm>
            <a:prstGeom prst="ellipse">
              <a:avLst/>
            </a:prstGeom>
            <a:solidFill>
              <a:schemeClr val="bg1">
                <a:lumMod val="10000"/>
              </a:schemeClr>
            </a:solidFill>
            <a:ln>
              <a:noFill/>
            </a:ln>
            <a:effectLst>
              <a:glow rad="228600">
                <a:schemeClr val="bg2">
                  <a:lumMod val="50000"/>
                  <a:alpha val="40000"/>
                </a:schemeClr>
              </a:glow>
              <a:outerShdw blurRad="76200" dist="63500" dir="8100000" sy="-23000" kx="800400" algn="b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EEAA6A-0D44-EE7F-AE5D-B53A32DD4C3D}"/>
                </a:ext>
              </a:extLst>
            </p:cNvPr>
            <p:cNvSpPr/>
            <p:nvPr/>
          </p:nvSpPr>
          <p:spPr>
            <a:xfrm>
              <a:off x="7045805" y="3437079"/>
              <a:ext cx="225025" cy="13501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glow rad="228600">
                <a:schemeClr val="bg2">
                  <a:lumMod val="50000"/>
                  <a:alpha val="40000"/>
                </a:schemeClr>
              </a:glow>
              <a:outerShdw blurRad="76200" dist="63500" dir="8100000" sy="-23000" kx="800400" algn="b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9697D2D-B566-51D4-5745-AAB6698954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0403" y="2987429"/>
              <a:ext cx="3390900" cy="2039938"/>
              <a:chOff x="1871700" y="3654025"/>
              <a:chExt cx="3390413" cy="2040846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E8B82CBE-5F7F-FFB0-DEDC-41D793021481}"/>
                  </a:ext>
                </a:extLst>
              </p:cNvPr>
              <p:cNvSpPr/>
              <p:nvPr/>
            </p:nvSpPr>
            <p:spPr>
              <a:xfrm>
                <a:off x="1871700" y="3654025"/>
                <a:ext cx="2236466" cy="2040846"/>
              </a:xfrm>
              <a:custGeom>
                <a:avLst/>
                <a:gdLst>
                  <a:gd name="connsiteX0" fmla="*/ 523336 w 2224177"/>
                  <a:gd name="connsiteY0" fmla="*/ 877019 h 2077528"/>
                  <a:gd name="connsiteX1" fmla="*/ 583721 w 2224177"/>
                  <a:gd name="connsiteY1" fmla="*/ 462951 h 2077528"/>
                  <a:gd name="connsiteX2" fmla="*/ 695864 w 2224177"/>
                  <a:gd name="connsiteY2" fmla="*/ 212785 h 2077528"/>
                  <a:gd name="connsiteX3" fmla="*/ 1015041 w 2224177"/>
                  <a:gd name="connsiteY3" fmla="*/ 437072 h 2077528"/>
                  <a:gd name="connsiteX4" fmla="*/ 1213449 w 2224177"/>
                  <a:gd name="connsiteY4" fmla="*/ 109268 h 2077528"/>
                  <a:gd name="connsiteX5" fmla="*/ 1463615 w 2224177"/>
                  <a:gd name="connsiteY5" fmla="*/ 143774 h 2077528"/>
                  <a:gd name="connsiteX6" fmla="*/ 1627517 w 2224177"/>
                  <a:gd name="connsiteY6" fmla="*/ 971910 h 2077528"/>
                  <a:gd name="connsiteX7" fmla="*/ 1644770 w 2224177"/>
                  <a:gd name="connsiteY7" fmla="*/ 1006415 h 2077528"/>
                  <a:gd name="connsiteX8" fmla="*/ 1877683 w 2224177"/>
                  <a:gd name="connsiteY8" fmla="*/ 281797 h 2077528"/>
                  <a:gd name="connsiteX9" fmla="*/ 2067464 w 2224177"/>
                  <a:gd name="connsiteY9" fmla="*/ 514710 h 2077528"/>
                  <a:gd name="connsiteX10" fmla="*/ 2136475 w 2224177"/>
                  <a:gd name="connsiteY10" fmla="*/ 1230702 h 2077528"/>
                  <a:gd name="connsiteX11" fmla="*/ 2101970 w 2224177"/>
                  <a:gd name="connsiteY11" fmla="*/ 1230702 h 2077528"/>
                  <a:gd name="connsiteX12" fmla="*/ 1403230 w 2224177"/>
                  <a:gd name="connsiteY12" fmla="*/ 842514 h 2077528"/>
                  <a:gd name="connsiteX13" fmla="*/ 661358 w 2224177"/>
                  <a:gd name="connsiteY13" fmla="*/ 842514 h 2077528"/>
                  <a:gd name="connsiteX14" fmla="*/ 92015 w 2224177"/>
                  <a:gd name="connsiteY14" fmla="*/ 1170317 h 2077528"/>
                  <a:gd name="connsiteX15" fmla="*/ 109268 w 2224177"/>
                  <a:gd name="connsiteY15" fmla="*/ 1204823 h 2077528"/>
                  <a:gd name="connsiteX16" fmla="*/ 350808 w 2224177"/>
                  <a:gd name="connsiteY16" fmla="*/ 1144438 h 2077528"/>
                  <a:gd name="connsiteX17" fmla="*/ 540589 w 2224177"/>
                  <a:gd name="connsiteY17" fmla="*/ 1291087 h 2077528"/>
                  <a:gd name="connsiteX18" fmla="*/ 575094 w 2224177"/>
                  <a:gd name="connsiteY18" fmla="*/ 1722408 h 2077528"/>
                  <a:gd name="connsiteX19" fmla="*/ 609600 w 2224177"/>
                  <a:gd name="connsiteY19" fmla="*/ 2041585 h 2077528"/>
                  <a:gd name="connsiteX20" fmla="*/ 626853 w 2224177"/>
                  <a:gd name="connsiteY20" fmla="*/ 1938068 h 2077528"/>
                  <a:gd name="connsiteX21" fmla="*/ 704491 w 2224177"/>
                  <a:gd name="connsiteY21" fmla="*/ 1610265 h 2077528"/>
                  <a:gd name="connsiteX22" fmla="*/ 859766 w 2224177"/>
                  <a:gd name="connsiteY22" fmla="*/ 1178944 h 2077528"/>
                  <a:gd name="connsiteX23" fmla="*/ 1118558 w 2224177"/>
                  <a:gd name="connsiteY23" fmla="*/ 1023668 h 2077528"/>
                  <a:gd name="connsiteX24" fmla="*/ 1308340 w 2224177"/>
                  <a:gd name="connsiteY24" fmla="*/ 1256582 h 2077528"/>
                  <a:gd name="connsiteX25" fmla="*/ 1403230 w 2224177"/>
                  <a:gd name="connsiteY25" fmla="*/ 1627517 h 2077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224177" h="2077528">
                    <a:moveTo>
                      <a:pt x="523336" y="877019"/>
                    </a:moveTo>
                    <a:cubicBezTo>
                      <a:pt x="539151" y="725338"/>
                      <a:pt x="554966" y="573657"/>
                      <a:pt x="583721" y="462951"/>
                    </a:cubicBezTo>
                    <a:cubicBezTo>
                      <a:pt x="612476" y="352245"/>
                      <a:pt x="623977" y="217098"/>
                      <a:pt x="695864" y="212785"/>
                    </a:cubicBezTo>
                    <a:cubicBezTo>
                      <a:pt x="767751" y="208472"/>
                      <a:pt x="928777" y="454325"/>
                      <a:pt x="1015041" y="437072"/>
                    </a:cubicBezTo>
                    <a:cubicBezTo>
                      <a:pt x="1101305" y="419819"/>
                      <a:pt x="1138687" y="158151"/>
                      <a:pt x="1213449" y="109268"/>
                    </a:cubicBezTo>
                    <a:cubicBezTo>
                      <a:pt x="1288211" y="60385"/>
                      <a:pt x="1394604" y="0"/>
                      <a:pt x="1463615" y="143774"/>
                    </a:cubicBezTo>
                    <a:cubicBezTo>
                      <a:pt x="1532626" y="287548"/>
                      <a:pt x="1597325" y="828137"/>
                      <a:pt x="1627517" y="971910"/>
                    </a:cubicBezTo>
                    <a:cubicBezTo>
                      <a:pt x="1657709" y="1115683"/>
                      <a:pt x="1603076" y="1121434"/>
                      <a:pt x="1644770" y="1006415"/>
                    </a:cubicBezTo>
                    <a:cubicBezTo>
                      <a:pt x="1686464" y="891396"/>
                      <a:pt x="1807234" y="363748"/>
                      <a:pt x="1877683" y="281797"/>
                    </a:cubicBezTo>
                    <a:cubicBezTo>
                      <a:pt x="1948132" y="199846"/>
                      <a:pt x="2024332" y="356559"/>
                      <a:pt x="2067464" y="514710"/>
                    </a:cubicBezTo>
                    <a:cubicBezTo>
                      <a:pt x="2110596" y="672861"/>
                      <a:pt x="2130724" y="1111370"/>
                      <a:pt x="2136475" y="1230702"/>
                    </a:cubicBezTo>
                    <a:cubicBezTo>
                      <a:pt x="2142226" y="1350034"/>
                      <a:pt x="2224177" y="1295400"/>
                      <a:pt x="2101970" y="1230702"/>
                    </a:cubicBezTo>
                    <a:cubicBezTo>
                      <a:pt x="1979763" y="1166004"/>
                      <a:pt x="1643332" y="907212"/>
                      <a:pt x="1403230" y="842514"/>
                    </a:cubicBezTo>
                    <a:cubicBezTo>
                      <a:pt x="1163128" y="777816"/>
                      <a:pt x="879894" y="787880"/>
                      <a:pt x="661358" y="842514"/>
                    </a:cubicBezTo>
                    <a:cubicBezTo>
                      <a:pt x="442822" y="897148"/>
                      <a:pt x="184030" y="1109932"/>
                      <a:pt x="92015" y="1170317"/>
                    </a:cubicBezTo>
                    <a:cubicBezTo>
                      <a:pt x="0" y="1230702"/>
                      <a:pt x="66136" y="1209136"/>
                      <a:pt x="109268" y="1204823"/>
                    </a:cubicBezTo>
                    <a:cubicBezTo>
                      <a:pt x="152400" y="1200510"/>
                      <a:pt x="278921" y="1130061"/>
                      <a:pt x="350808" y="1144438"/>
                    </a:cubicBezTo>
                    <a:cubicBezTo>
                      <a:pt x="422695" y="1158815"/>
                      <a:pt x="503208" y="1194759"/>
                      <a:pt x="540589" y="1291087"/>
                    </a:cubicBezTo>
                    <a:cubicBezTo>
                      <a:pt x="577970" y="1387415"/>
                      <a:pt x="563592" y="1597325"/>
                      <a:pt x="575094" y="1722408"/>
                    </a:cubicBezTo>
                    <a:cubicBezTo>
                      <a:pt x="586596" y="1847491"/>
                      <a:pt x="600974" y="2005642"/>
                      <a:pt x="609600" y="2041585"/>
                    </a:cubicBezTo>
                    <a:cubicBezTo>
                      <a:pt x="618226" y="2077528"/>
                      <a:pt x="611038" y="2009955"/>
                      <a:pt x="626853" y="1938068"/>
                    </a:cubicBezTo>
                    <a:cubicBezTo>
                      <a:pt x="642668" y="1866181"/>
                      <a:pt x="665672" y="1736786"/>
                      <a:pt x="704491" y="1610265"/>
                    </a:cubicBezTo>
                    <a:cubicBezTo>
                      <a:pt x="743310" y="1483744"/>
                      <a:pt x="790755" y="1276710"/>
                      <a:pt x="859766" y="1178944"/>
                    </a:cubicBezTo>
                    <a:cubicBezTo>
                      <a:pt x="928777" y="1081178"/>
                      <a:pt x="1043796" y="1010728"/>
                      <a:pt x="1118558" y="1023668"/>
                    </a:cubicBezTo>
                    <a:cubicBezTo>
                      <a:pt x="1193320" y="1036608"/>
                      <a:pt x="1260895" y="1155941"/>
                      <a:pt x="1308340" y="1256582"/>
                    </a:cubicBezTo>
                    <a:cubicBezTo>
                      <a:pt x="1355785" y="1357223"/>
                      <a:pt x="1379507" y="1492370"/>
                      <a:pt x="1403230" y="1627517"/>
                    </a:cubicBezTo>
                  </a:path>
                </a:pathLst>
              </a:cu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EB38CDB-D7DA-C4EF-AD7B-B1A255597531}"/>
                  </a:ext>
                </a:extLst>
              </p:cNvPr>
              <p:cNvSpPr/>
              <p:nvPr/>
            </p:nvSpPr>
            <p:spPr>
              <a:xfrm>
                <a:off x="3265325" y="3661967"/>
                <a:ext cx="1996788" cy="1743851"/>
              </a:xfrm>
              <a:custGeom>
                <a:avLst/>
                <a:gdLst>
                  <a:gd name="connsiteX0" fmla="*/ 2876 w 1986951"/>
                  <a:gd name="connsiteY0" fmla="*/ 1597324 h 1775603"/>
                  <a:gd name="connsiteX1" fmla="*/ 28755 w 1986951"/>
                  <a:gd name="connsiteY1" fmla="*/ 1295399 h 1775603"/>
                  <a:gd name="connsiteX2" fmla="*/ 175404 w 1986951"/>
                  <a:gd name="connsiteY2" fmla="*/ 631165 h 1775603"/>
                  <a:gd name="connsiteX3" fmla="*/ 365185 w 1986951"/>
                  <a:gd name="connsiteY3" fmla="*/ 1002101 h 1775603"/>
                  <a:gd name="connsiteX4" fmla="*/ 494581 w 1986951"/>
                  <a:gd name="connsiteY4" fmla="*/ 1666335 h 1775603"/>
                  <a:gd name="connsiteX5" fmla="*/ 520461 w 1986951"/>
                  <a:gd name="connsiteY5" fmla="*/ 1657708 h 1775603"/>
                  <a:gd name="connsiteX6" fmla="*/ 848264 w 1986951"/>
                  <a:gd name="connsiteY6" fmla="*/ 1235014 h 1775603"/>
                  <a:gd name="connsiteX7" fmla="*/ 1253706 w 1986951"/>
                  <a:gd name="connsiteY7" fmla="*/ 1278146 h 1775603"/>
                  <a:gd name="connsiteX8" fmla="*/ 1391729 w 1986951"/>
                  <a:gd name="connsiteY8" fmla="*/ 1347158 h 1775603"/>
                  <a:gd name="connsiteX9" fmla="*/ 1417608 w 1986951"/>
                  <a:gd name="connsiteY9" fmla="*/ 1347158 h 1775603"/>
                  <a:gd name="connsiteX10" fmla="*/ 1426234 w 1986951"/>
                  <a:gd name="connsiteY10" fmla="*/ 1062486 h 1775603"/>
                  <a:gd name="connsiteX11" fmla="*/ 1469366 w 1986951"/>
                  <a:gd name="connsiteY11" fmla="*/ 605286 h 1775603"/>
                  <a:gd name="connsiteX12" fmla="*/ 1547004 w 1986951"/>
                  <a:gd name="connsiteY12" fmla="*/ 173965 h 1775603"/>
                  <a:gd name="connsiteX13" fmla="*/ 1754038 w 1986951"/>
                  <a:gd name="connsiteY13" fmla="*/ 18690 h 1775603"/>
                  <a:gd name="connsiteX14" fmla="*/ 1917940 w 1986951"/>
                  <a:gd name="connsiteY14" fmla="*/ 286108 h 1775603"/>
                  <a:gd name="connsiteX15" fmla="*/ 1986951 w 1986951"/>
                  <a:gd name="connsiteY15" fmla="*/ 544901 h 1775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6951" h="1775603">
                    <a:moveTo>
                      <a:pt x="2876" y="1597324"/>
                    </a:moveTo>
                    <a:cubicBezTo>
                      <a:pt x="1438" y="1526875"/>
                      <a:pt x="0" y="1456426"/>
                      <a:pt x="28755" y="1295399"/>
                    </a:cubicBezTo>
                    <a:cubicBezTo>
                      <a:pt x="57510" y="1134373"/>
                      <a:pt x="119332" y="680048"/>
                      <a:pt x="175404" y="631165"/>
                    </a:cubicBezTo>
                    <a:cubicBezTo>
                      <a:pt x="231476" y="582282"/>
                      <a:pt x="311989" y="829573"/>
                      <a:pt x="365185" y="1002101"/>
                    </a:cubicBezTo>
                    <a:cubicBezTo>
                      <a:pt x="418381" y="1174629"/>
                      <a:pt x="468702" y="1557067"/>
                      <a:pt x="494581" y="1666335"/>
                    </a:cubicBezTo>
                    <a:cubicBezTo>
                      <a:pt x="520460" y="1775603"/>
                      <a:pt x="461514" y="1729595"/>
                      <a:pt x="520461" y="1657708"/>
                    </a:cubicBezTo>
                    <a:cubicBezTo>
                      <a:pt x="579408" y="1585821"/>
                      <a:pt x="726057" y="1298274"/>
                      <a:pt x="848264" y="1235014"/>
                    </a:cubicBezTo>
                    <a:cubicBezTo>
                      <a:pt x="970471" y="1171754"/>
                      <a:pt x="1163129" y="1259455"/>
                      <a:pt x="1253706" y="1278146"/>
                    </a:cubicBezTo>
                    <a:cubicBezTo>
                      <a:pt x="1344284" y="1296837"/>
                      <a:pt x="1364412" y="1335656"/>
                      <a:pt x="1391729" y="1347158"/>
                    </a:cubicBezTo>
                    <a:cubicBezTo>
                      <a:pt x="1419046" y="1358660"/>
                      <a:pt x="1411857" y="1394603"/>
                      <a:pt x="1417608" y="1347158"/>
                    </a:cubicBezTo>
                    <a:cubicBezTo>
                      <a:pt x="1423359" y="1299713"/>
                      <a:pt x="1417608" y="1186131"/>
                      <a:pt x="1426234" y="1062486"/>
                    </a:cubicBezTo>
                    <a:cubicBezTo>
                      <a:pt x="1434860" y="938841"/>
                      <a:pt x="1449238" y="753373"/>
                      <a:pt x="1469366" y="605286"/>
                    </a:cubicBezTo>
                    <a:cubicBezTo>
                      <a:pt x="1489494" y="457199"/>
                      <a:pt x="1499559" y="271731"/>
                      <a:pt x="1547004" y="173965"/>
                    </a:cubicBezTo>
                    <a:cubicBezTo>
                      <a:pt x="1594449" y="76199"/>
                      <a:pt x="1692215" y="0"/>
                      <a:pt x="1754038" y="18690"/>
                    </a:cubicBezTo>
                    <a:cubicBezTo>
                      <a:pt x="1815861" y="37381"/>
                      <a:pt x="1879121" y="198406"/>
                      <a:pt x="1917940" y="286108"/>
                    </a:cubicBezTo>
                    <a:cubicBezTo>
                      <a:pt x="1956759" y="373810"/>
                      <a:pt x="1971855" y="459355"/>
                      <a:pt x="1986951" y="544901"/>
                    </a:cubicBezTo>
                  </a:path>
                </a:pathLst>
              </a:cu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5446E1-2878-D315-5FD7-28488C6D1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4865" y="2762004"/>
              <a:ext cx="3060700" cy="2041525"/>
              <a:chOff x="1871700" y="3654025"/>
              <a:chExt cx="3390413" cy="2040846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B8337A0-EDCB-D573-A46A-E8D6F562F6F7}"/>
                  </a:ext>
                </a:extLst>
              </p:cNvPr>
              <p:cNvSpPr/>
              <p:nvPr/>
            </p:nvSpPr>
            <p:spPr>
              <a:xfrm>
                <a:off x="1871700" y="3654025"/>
                <a:ext cx="2235071" cy="2040846"/>
              </a:xfrm>
              <a:custGeom>
                <a:avLst/>
                <a:gdLst>
                  <a:gd name="connsiteX0" fmla="*/ 523336 w 2224177"/>
                  <a:gd name="connsiteY0" fmla="*/ 877019 h 2077528"/>
                  <a:gd name="connsiteX1" fmla="*/ 583721 w 2224177"/>
                  <a:gd name="connsiteY1" fmla="*/ 462951 h 2077528"/>
                  <a:gd name="connsiteX2" fmla="*/ 695864 w 2224177"/>
                  <a:gd name="connsiteY2" fmla="*/ 212785 h 2077528"/>
                  <a:gd name="connsiteX3" fmla="*/ 1015041 w 2224177"/>
                  <a:gd name="connsiteY3" fmla="*/ 437072 h 2077528"/>
                  <a:gd name="connsiteX4" fmla="*/ 1213449 w 2224177"/>
                  <a:gd name="connsiteY4" fmla="*/ 109268 h 2077528"/>
                  <a:gd name="connsiteX5" fmla="*/ 1463615 w 2224177"/>
                  <a:gd name="connsiteY5" fmla="*/ 143774 h 2077528"/>
                  <a:gd name="connsiteX6" fmla="*/ 1627517 w 2224177"/>
                  <a:gd name="connsiteY6" fmla="*/ 971910 h 2077528"/>
                  <a:gd name="connsiteX7" fmla="*/ 1644770 w 2224177"/>
                  <a:gd name="connsiteY7" fmla="*/ 1006415 h 2077528"/>
                  <a:gd name="connsiteX8" fmla="*/ 1877683 w 2224177"/>
                  <a:gd name="connsiteY8" fmla="*/ 281797 h 2077528"/>
                  <a:gd name="connsiteX9" fmla="*/ 2067464 w 2224177"/>
                  <a:gd name="connsiteY9" fmla="*/ 514710 h 2077528"/>
                  <a:gd name="connsiteX10" fmla="*/ 2136475 w 2224177"/>
                  <a:gd name="connsiteY10" fmla="*/ 1230702 h 2077528"/>
                  <a:gd name="connsiteX11" fmla="*/ 2101970 w 2224177"/>
                  <a:gd name="connsiteY11" fmla="*/ 1230702 h 2077528"/>
                  <a:gd name="connsiteX12" fmla="*/ 1403230 w 2224177"/>
                  <a:gd name="connsiteY12" fmla="*/ 842514 h 2077528"/>
                  <a:gd name="connsiteX13" fmla="*/ 661358 w 2224177"/>
                  <a:gd name="connsiteY13" fmla="*/ 842514 h 2077528"/>
                  <a:gd name="connsiteX14" fmla="*/ 92015 w 2224177"/>
                  <a:gd name="connsiteY14" fmla="*/ 1170317 h 2077528"/>
                  <a:gd name="connsiteX15" fmla="*/ 109268 w 2224177"/>
                  <a:gd name="connsiteY15" fmla="*/ 1204823 h 2077528"/>
                  <a:gd name="connsiteX16" fmla="*/ 350808 w 2224177"/>
                  <a:gd name="connsiteY16" fmla="*/ 1144438 h 2077528"/>
                  <a:gd name="connsiteX17" fmla="*/ 540589 w 2224177"/>
                  <a:gd name="connsiteY17" fmla="*/ 1291087 h 2077528"/>
                  <a:gd name="connsiteX18" fmla="*/ 575094 w 2224177"/>
                  <a:gd name="connsiteY18" fmla="*/ 1722408 h 2077528"/>
                  <a:gd name="connsiteX19" fmla="*/ 609600 w 2224177"/>
                  <a:gd name="connsiteY19" fmla="*/ 2041585 h 2077528"/>
                  <a:gd name="connsiteX20" fmla="*/ 626853 w 2224177"/>
                  <a:gd name="connsiteY20" fmla="*/ 1938068 h 2077528"/>
                  <a:gd name="connsiteX21" fmla="*/ 704491 w 2224177"/>
                  <a:gd name="connsiteY21" fmla="*/ 1610265 h 2077528"/>
                  <a:gd name="connsiteX22" fmla="*/ 859766 w 2224177"/>
                  <a:gd name="connsiteY22" fmla="*/ 1178944 h 2077528"/>
                  <a:gd name="connsiteX23" fmla="*/ 1118558 w 2224177"/>
                  <a:gd name="connsiteY23" fmla="*/ 1023668 h 2077528"/>
                  <a:gd name="connsiteX24" fmla="*/ 1308340 w 2224177"/>
                  <a:gd name="connsiteY24" fmla="*/ 1256582 h 2077528"/>
                  <a:gd name="connsiteX25" fmla="*/ 1403230 w 2224177"/>
                  <a:gd name="connsiteY25" fmla="*/ 1627517 h 2077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224177" h="2077528">
                    <a:moveTo>
                      <a:pt x="523336" y="877019"/>
                    </a:moveTo>
                    <a:cubicBezTo>
                      <a:pt x="539151" y="725338"/>
                      <a:pt x="554966" y="573657"/>
                      <a:pt x="583721" y="462951"/>
                    </a:cubicBezTo>
                    <a:cubicBezTo>
                      <a:pt x="612476" y="352245"/>
                      <a:pt x="623977" y="217098"/>
                      <a:pt x="695864" y="212785"/>
                    </a:cubicBezTo>
                    <a:cubicBezTo>
                      <a:pt x="767751" y="208472"/>
                      <a:pt x="928777" y="454325"/>
                      <a:pt x="1015041" y="437072"/>
                    </a:cubicBezTo>
                    <a:cubicBezTo>
                      <a:pt x="1101305" y="419819"/>
                      <a:pt x="1138687" y="158151"/>
                      <a:pt x="1213449" y="109268"/>
                    </a:cubicBezTo>
                    <a:cubicBezTo>
                      <a:pt x="1288211" y="60385"/>
                      <a:pt x="1394604" y="0"/>
                      <a:pt x="1463615" y="143774"/>
                    </a:cubicBezTo>
                    <a:cubicBezTo>
                      <a:pt x="1532626" y="287548"/>
                      <a:pt x="1597325" y="828137"/>
                      <a:pt x="1627517" y="971910"/>
                    </a:cubicBezTo>
                    <a:cubicBezTo>
                      <a:pt x="1657709" y="1115683"/>
                      <a:pt x="1603076" y="1121434"/>
                      <a:pt x="1644770" y="1006415"/>
                    </a:cubicBezTo>
                    <a:cubicBezTo>
                      <a:pt x="1686464" y="891396"/>
                      <a:pt x="1807234" y="363748"/>
                      <a:pt x="1877683" y="281797"/>
                    </a:cubicBezTo>
                    <a:cubicBezTo>
                      <a:pt x="1948132" y="199846"/>
                      <a:pt x="2024332" y="356559"/>
                      <a:pt x="2067464" y="514710"/>
                    </a:cubicBezTo>
                    <a:cubicBezTo>
                      <a:pt x="2110596" y="672861"/>
                      <a:pt x="2130724" y="1111370"/>
                      <a:pt x="2136475" y="1230702"/>
                    </a:cubicBezTo>
                    <a:cubicBezTo>
                      <a:pt x="2142226" y="1350034"/>
                      <a:pt x="2224177" y="1295400"/>
                      <a:pt x="2101970" y="1230702"/>
                    </a:cubicBezTo>
                    <a:cubicBezTo>
                      <a:pt x="1979763" y="1166004"/>
                      <a:pt x="1643332" y="907212"/>
                      <a:pt x="1403230" y="842514"/>
                    </a:cubicBezTo>
                    <a:cubicBezTo>
                      <a:pt x="1163128" y="777816"/>
                      <a:pt x="879894" y="787880"/>
                      <a:pt x="661358" y="842514"/>
                    </a:cubicBezTo>
                    <a:cubicBezTo>
                      <a:pt x="442822" y="897148"/>
                      <a:pt x="184030" y="1109932"/>
                      <a:pt x="92015" y="1170317"/>
                    </a:cubicBezTo>
                    <a:cubicBezTo>
                      <a:pt x="0" y="1230702"/>
                      <a:pt x="66136" y="1209136"/>
                      <a:pt x="109268" y="1204823"/>
                    </a:cubicBezTo>
                    <a:cubicBezTo>
                      <a:pt x="152400" y="1200510"/>
                      <a:pt x="278921" y="1130061"/>
                      <a:pt x="350808" y="1144438"/>
                    </a:cubicBezTo>
                    <a:cubicBezTo>
                      <a:pt x="422695" y="1158815"/>
                      <a:pt x="503208" y="1194759"/>
                      <a:pt x="540589" y="1291087"/>
                    </a:cubicBezTo>
                    <a:cubicBezTo>
                      <a:pt x="577970" y="1387415"/>
                      <a:pt x="563592" y="1597325"/>
                      <a:pt x="575094" y="1722408"/>
                    </a:cubicBezTo>
                    <a:cubicBezTo>
                      <a:pt x="586596" y="1847491"/>
                      <a:pt x="600974" y="2005642"/>
                      <a:pt x="609600" y="2041585"/>
                    </a:cubicBezTo>
                    <a:cubicBezTo>
                      <a:pt x="618226" y="2077528"/>
                      <a:pt x="611038" y="2009955"/>
                      <a:pt x="626853" y="1938068"/>
                    </a:cubicBezTo>
                    <a:cubicBezTo>
                      <a:pt x="642668" y="1866181"/>
                      <a:pt x="665672" y="1736786"/>
                      <a:pt x="704491" y="1610265"/>
                    </a:cubicBezTo>
                    <a:cubicBezTo>
                      <a:pt x="743310" y="1483744"/>
                      <a:pt x="790755" y="1276710"/>
                      <a:pt x="859766" y="1178944"/>
                    </a:cubicBezTo>
                    <a:cubicBezTo>
                      <a:pt x="928777" y="1081178"/>
                      <a:pt x="1043796" y="1010728"/>
                      <a:pt x="1118558" y="1023668"/>
                    </a:cubicBezTo>
                    <a:cubicBezTo>
                      <a:pt x="1193320" y="1036608"/>
                      <a:pt x="1260895" y="1155941"/>
                      <a:pt x="1308340" y="1256582"/>
                    </a:cubicBezTo>
                    <a:cubicBezTo>
                      <a:pt x="1355785" y="1357223"/>
                      <a:pt x="1379507" y="1492370"/>
                      <a:pt x="1403230" y="1627517"/>
                    </a:cubicBezTo>
                  </a:path>
                </a:pathLst>
              </a:cu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D47DD8F-3CF1-ABAB-3443-00B901F78535}"/>
                  </a:ext>
                </a:extLst>
              </p:cNvPr>
              <p:cNvSpPr/>
              <p:nvPr/>
            </p:nvSpPr>
            <p:spPr>
              <a:xfrm>
                <a:off x="3264442" y="3661960"/>
                <a:ext cx="1997671" cy="1744082"/>
              </a:xfrm>
              <a:custGeom>
                <a:avLst/>
                <a:gdLst>
                  <a:gd name="connsiteX0" fmla="*/ 2876 w 1986951"/>
                  <a:gd name="connsiteY0" fmla="*/ 1597324 h 1775603"/>
                  <a:gd name="connsiteX1" fmla="*/ 28755 w 1986951"/>
                  <a:gd name="connsiteY1" fmla="*/ 1295399 h 1775603"/>
                  <a:gd name="connsiteX2" fmla="*/ 175404 w 1986951"/>
                  <a:gd name="connsiteY2" fmla="*/ 631165 h 1775603"/>
                  <a:gd name="connsiteX3" fmla="*/ 365185 w 1986951"/>
                  <a:gd name="connsiteY3" fmla="*/ 1002101 h 1775603"/>
                  <a:gd name="connsiteX4" fmla="*/ 494581 w 1986951"/>
                  <a:gd name="connsiteY4" fmla="*/ 1666335 h 1775603"/>
                  <a:gd name="connsiteX5" fmla="*/ 520461 w 1986951"/>
                  <a:gd name="connsiteY5" fmla="*/ 1657708 h 1775603"/>
                  <a:gd name="connsiteX6" fmla="*/ 848264 w 1986951"/>
                  <a:gd name="connsiteY6" fmla="*/ 1235014 h 1775603"/>
                  <a:gd name="connsiteX7" fmla="*/ 1253706 w 1986951"/>
                  <a:gd name="connsiteY7" fmla="*/ 1278146 h 1775603"/>
                  <a:gd name="connsiteX8" fmla="*/ 1391729 w 1986951"/>
                  <a:gd name="connsiteY8" fmla="*/ 1347158 h 1775603"/>
                  <a:gd name="connsiteX9" fmla="*/ 1417608 w 1986951"/>
                  <a:gd name="connsiteY9" fmla="*/ 1347158 h 1775603"/>
                  <a:gd name="connsiteX10" fmla="*/ 1426234 w 1986951"/>
                  <a:gd name="connsiteY10" fmla="*/ 1062486 h 1775603"/>
                  <a:gd name="connsiteX11" fmla="*/ 1469366 w 1986951"/>
                  <a:gd name="connsiteY11" fmla="*/ 605286 h 1775603"/>
                  <a:gd name="connsiteX12" fmla="*/ 1547004 w 1986951"/>
                  <a:gd name="connsiteY12" fmla="*/ 173965 h 1775603"/>
                  <a:gd name="connsiteX13" fmla="*/ 1754038 w 1986951"/>
                  <a:gd name="connsiteY13" fmla="*/ 18690 h 1775603"/>
                  <a:gd name="connsiteX14" fmla="*/ 1917940 w 1986951"/>
                  <a:gd name="connsiteY14" fmla="*/ 286108 h 1775603"/>
                  <a:gd name="connsiteX15" fmla="*/ 1986951 w 1986951"/>
                  <a:gd name="connsiteY15" fmla="*/ 544901 h 1775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6951" h="1775603">
                    <a:moveTo>
                      <a:pt x="2876" y="1597324"/>
                    </a:moveTo>
                    <a:cubicBezTo>
                      <a:pt x="1438" y="1526875"/>
                      <a:pt x="0" y="1456426"/>
                      <a:pt x="28755" y="1295399"/>
                    </a:cubicBezTo>
                    <a:cubicBezTo>
                      <a:pt x="57510" y="1134373"/>
                      <a:pt x="119332" y="680048"/>
                      <a:pt x="175404" y="631165"/>
                    </a:cubicBezTo>
                    <a:cubicBezTo>
                      <a:pt x="231476" y="582282"/>
                      <a:pt x="311989" y="829573"/>
                      <a:pt x="365185" y="1002101"/>
                    </a:cubicBezTo>
                    <a:cubicBezTo>
                      <a:pt x="418381" y="1174629"/>
                      <a:pt x="468702" y="1557067"/>
                      <a:pt x="494581" y="1666335"/>
                    </a:cubicBezTo>
                    <a:cubicBezTo>
                      <a:pt x="520460" y="1775603"/>
                      <a:pt x="461514" y="1729595"/>
                      <a:pt x="520461" y="1657708"/>
                    </a:cubicBezTo>
                    <a:cubicBezTo>
                      <a:pt x="579408" y="1585821"/>
                      <a:pt x="726057" y="1298274"/>
                      <a:pt x="848264" y="1235014"/>
                    </a:cubicBezTo>
                    <a:cubicBezTo>
                      <a:pt x="970471" y="1171754"/>
                      <a:pt x="1163129" y="1259455"/>
                      <a:pt x="1253706" y="1278146"/>
                    </a:cubicBezTo>
                    <a:cubicBezTo>
                      <a:pt x="1344284" y="1296837"/>
                      <a:pt x="1364412" y="1335656"/>
                      <a:pt x="1391729" y="1347158"/>
                    </a:cubicBezTo>
                    <a:cubicBezTo>
                      <a:pt x="1419046" y="1358660"/>
                      <a:pt x="1411857" y="1394603"/>
                      <a:pt x="1417608" y="1347158"/>
                    </a:cubicBezTo>
                    <a:cubicBezTo>
                      <a:pt x="1423359" y="1299713"/>
                      <a:pt x="1417608" y="1186131"/>
                      <a:pt x="1426234" y="1062486"/>
                    </a:cubicBezTo>
                    <a:cubicBezTo>
                      <a:pt x="1434860" y="938841"/>
                      <a:pt x="1449238" y="753373"/>
                      <a:pt x="1469366" y="605286"/>
                    </a:cubicBezTo>
                    <a:cubicBezTo>
                      <a:pt x="1489494" y="457199"/>
                      <a:pt x="1499559" y="271731"/>
                      <a:pt x="1547004" y="173965"/>
                    </a:cubicBezTo>
                    <a:cubicBezTo>
                      <a:pt x="1594449" y="76199"/>
                      <a:pt x="1692215" y="0"/>
                      <a:pt x="1754038" y="18690"/>
                    </a:cubicBezTo>
                    <a:cubicBezTo>
                      <a:pt x="1815861" y="37381"/>
                      <a:pt x="1879121" y="198406"/>
                      <a:pt x="1917940" y="286108"/>
                    </a:cubicBezTo>
                    <a:cubicBezTo>
                      <a:pt x="1956759" y="373810"/>
                      <a:pt x="1971855" y="459355"/>
                      <a:pt x="1986951" y="544901"/>
                    </a:cubicBezTo>
                  </a:path>
                </a:pathLst>
              </a:cu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2BAE3F-2C13-D0A6-9563-8D7C79497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4853" y="3392242"/>
              <a:ext cx="3060700" cy="1563687"/>
              <a:chOff x="1871700" y="3654025"/>
              <a:chExt cx="3390413" cy="2040846"/>
            </a:xfrm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C59AA0D-4A49-8D98-0009-CC31999F0F5B}"/>
                  </a:ext>
                </a:extLst>
              </p:cNvPr>
              <p:cNvSpPr/>
              <p:nvPr/>
            </p:nvSpPr>
            <p:spPr>
              <a:xfrm>
                <a:off x="1871700" y="3654025"/>
                <a:ext cx="2235069" cy="2040846"/>
              </a:xfrm>
              <a:custGeom>
                <a:avLst/>
                <a:gdLst>
                  <a:gd name="connsiteX0" fmla="*/ 523336 w 2224177"/>
                  <a:gd name="connsiteY0" fmla="*/ 877019 h 2077528"/>
                  <a:gd name="connsiteX1" fmla="*/ 583721 w 2224177"/>
                  <a:gd name="connsiteY1" fmla="*/ 462951 h 2077528"/>
                  <a:gd name="connsiteX2" fmla="*/ 695864 w 2224177"/>
                  <a:gd name="connsiteY2" fmla="*/ 212785 h 2077528"/>
                  <a:gd name="connsiteX3" fmla="*/ 1015041 w 2224177"/>
                  <a:gd name="connsiteY3" fmla="*/ 437072 h 2077528"/>
                  <a:gd name="connsiteX4" fmla="*/ 1213449 w 2224177"/>
                  <a:gd name="connsiteY4" fmla="*/ 109268 h 2077528"/>
                  <a:gd name="connsiteX5" fmla="*/ 1463615 w 2224177"/>
                  <a:gd name="connsiteY5" fmla="*/ 143774 h 2077528"/>
                  <a:gd name="connsiteX6" fmla="*/ 1627517 w 2224177"/>
                  <a:gd name="connsiteY6" fmla="*/ 971910 h 2077528"/>
                  <a:gd name="connsiteX7" fmla="*/ 1644770 w 2224177"/>
                  <a:gd name="connsiteY7" fmla="*/ 1006415 h 2077528"/>
                  <a:gd name="connsiteX8" fmla="*/ 1877683 w 2224177"/>
                  <a:gd name="connsiteY8" fmla="*/ 281797 h 2077528"/>
                  <a:gd name="connsiteX9" fmla="*/ 2067464 w 2224177"/>
                  <a:gd name="connsiteY9" fmla="*/ 514710 h 2077528"/>
                  <a:gd name="connsiteX10" fmla="*/ 2136475 w 2224177"/>
                  <a:gd name="connsiteY10" fmla="*/ 1230702 h 2077528"/>
                  <a:gd name="connsiteX11" fmla="*/ 2101970 w 2224177"/>
                  <a:gd name="connsiteY11" fmla="*/ 1230702 h 2077528"/>
                  <a:gd name="connsiteX12" fmla="*/ 1403230 w 2224177"/>
                  <a:gd name="connsiteY12" fmla="*/ 842514 h 2077528"/>
                  <a:gd name="connsiteX13" fmla="*/ 661358 w 2224177"/>
                  <a:gd name="connsiteY13" fmla="*/ 842514 h 2077528"/>
                  <a:gd name="connsiteX14" fmla="*/ 92015 w 2224177"/>
                  <a:gd name="connsiteY14" fmla="*/ 1170317 h 2077528"/>
                  <a:gd name="connsiteX15" fmla="*/ 109268 w 2224177"/>
                  <a:gd name="connsiteY15" fmla="*/ 1204823 h 2077528"/>
                  <a:gd name="connsiteX16" fmla="*/ 350808 w 2224177"/>
                  <a:gd name="connsiteY16" fmla="*/ 1144438 h 2077528"/>
                  <a:gd name="connsiteX17" fmla="*/ 540589 w 2224177"/>
                  <a:gd name="connsiteY17" fmla="*/ 1291087 h 2077528"/>
                  <a:gd name="connsiteX18" fmla="*/ 575094 w 2224177"/>
                  <a:gd name="connsiteY18" fmla="*/ 1722408 h 2077528"/>
                  <a:gd name="connsiteX19" fmla="*/ 609600 w 2224177"/>
                  <a:gd name="connsiteY19" fmla="*/ 2041585 h 2077528"/>
                  <a:gd name="connsiteX20" fmla="*/ 626853 w 2224177"/>
                  <a:gd name="connsiteY20" fmla="*/ 1938068 h 2077528"/>
                  <a:gd name="connsiteX21" fmla="*/ 704491 w 2224177"/>
                  <a:gd name="connsiteY21" fmla="*/ 1610265 h 2077528"/>
                  <a:gd name="connsiteX22" fmla="*/ 859766 w 2224177"/>
                  <a:gd name="connsiteY22" fmla="*/ 1178944 h 2077528"/>
                  <a:gd name="connsiteX23" fmla="*/ 1118558 w 2224177"/>
                  <a:gd name="connsiteY23" fmla="*/ 1023668 h 2077528"/>
                  <a:gd name="connsiteX24" fmla="*/ 1308340 w 2224177"/>
                  <a:gd name="connsiteY24" fmla="*/ 1256582 h 2077528"/>
                  <a:gd name="connsiteX25" fmla="*/ 1403230 w 2224177"/>
                  <a:gd name="connsiteY25" fmla="*/ 1627517 h 2077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224177" h="2077528">
                    <a:moveTo>
                      <a:pt x="523336" y="877019"/>
                    </a:moveTo>
                    <a:cubicBezTo>
                      <a:pt x="539151" y="725338"/>
                      <a:pt x="554966" y="573657"/>
                      <a:pt x="583721" y="462951"/>
                    </a:cubicBezTo>
                    <a:cubicBezTo>
                      <a:pt x="612476" y="352245"/>
                      <a:pt x="623977" y="217098"/>
                      <a:pt x="695864" y="212785"/>
                    </a:cubicBezTo>
                    <a:cubicBezTo>
                      <a:pt x="767751" y="208472"/>
                      <a:pt x="928777" y="454325"/>
                      <a:pt x="1015041" y="437072"/>
                    </a:cubicBezTo>
                    <a:cubicBezTo>
                      <a:pt x="1101305" y="419819"/>
                      <a:pt x="1138687" y="158151"/>
                      <a:pt x="1213449" y="109268"/>
                    </a:cubicBezTo>
                    <a:cubicBezTo>
                      <a:pt x="1288211" y="60385"/>
                      <a:pt x="1394604" y="0"/>
                      <a:pt x="1463615" y="143774"/>
                    </a:cubicBezTo>
                    <a:cubicBezTo>
                      <a:pt x="1532626" y="287548"/>
                      <a:pt x="1597325" y="828137"/>
                      <a:pt x="1627517" y="971910"/>
                    </a:cubicBezTo>
                    <a:cubicBezTo>
                      <a:pt x="1657709" y="1115683"/>
                      <a:pt x="1603076" y="1121434"/>
                      <a:pt x="1644770" y="1006415"/>
                    </a:cubicBezTo>
                    <a:cubicBezTo>
                      <a:pt x="1686464" y="891396"/>
                      <a:pt x="1807234" y="363748"/>
                      <a:pt x="1877683" y="281797"/>
                    </a:cubicBezTo>
                    <a:cubicBezTo>
                      <a:pt x="1948132" y="199846"/>
                      <a:pt x="2024332" y="356559"/>
                      <a:pt x="2067464" y="514710"/>
                    </a:cubicBezTo>
                    <a:cubicBezTo>
                      <a:pt x="2110596" y="672861"/>
                      <a:pt x="2130724" y="1111370"/>
                      <a:pt x="2136475" y="1230702"/>
                    </a:cubicBezTo>
                    <a:cubicBezTo>
                      <a:pt x="2142226" y="1350034"/>
                      <a:pt x="2224177" y="1295400"/>
                      <a:pt x="2101970" y="1230702"/>
                    </a:cubicBezTo>
                    <a:cubicBezTo>
                      <a:pt x="1979763" y="1166004"/>
                      <a:pt x="1643332" y="907212"/>
                      <a:pt x="1403230" y="842514"/>
                    </a:cubicBezTo>
                    <a:cubicBezTo>
                      <a:pt x="1163128" y="777816"/>
                      <a:pt x="879894" y="787880"/>
                      <a:pt x="661358" y="842514"/>
                    </a:cubicBezTo>
                    <a:cubicBezTo>
                      <a:pt x="442822" y="897148"/>
                      <a:pt x="184030" y="1109932"/>
                      <a:pt x="92015" y="1170317"/>
                    </a:cubicBezTo>
                    <a:cubicBezTo>
                      <a:pt x="0" y="1230702"/>
                      <a:pt x="66136" y="1209136"/>
                      <a:pt x="109268" y="1204823"/>
                    </a:cubicBezTo>
                    <a:cubicBezTo>
                      <a:pt x="152400" y="1200510"/>
                      <a:pt x="278921" y="1130061"/>
                      <a:pt x="350808" y="1144438"/>
                    </a:cubicBezTo>
                    <a:cubicBezTo>
                      <a:pt x="422695" y="1158815"/>
                      <a:pt x="503208" y="1194759"/>
                      <a:pt x="540589" y="1291087"/>
                    </a:cubicBezTo>
                    <a:cubicBezTo>
                      <a:pt x="577970" y="1387415"/>
                      <a:pt x="563592" y="1597325"/>
                      <a:pt x="575094" y="1722408"/>
                    </a:cubicBezTo>
                    <a:cubicBezTo>
                      <a:pt x="586596" y="1847491"/>
                      <a:pt x="600974" y="2005642"/>
                      <a:pt x="609600" y="2041585"/>
                    </a:cubicBezTo>
                    <a:cubicBezTo>
                      <a:pt x="618226" y="2077528"/>
                      <a:pt x="611038" y="2009955"/>
                      <a:pt x="626853" y="1938068"/>
                    </a:cubicBezTo>
                    <a:cubicBezTo>
                      <a:pt x="642668" y="1866181"/>
                      <a:pt x="665672" y="1736786"/>
                      <a:pt x="704491" y="1610265"/>
                    </a:cubicBezTo>
                    <a:cubicBezTo>
                      <a:pt x="743310" y="1483744"/>
                      <a:pt x="790755" y="1276710"/>
                      <a:pt x="859766" y="1178944"/>
                    </a:cubicBezTo>
                    <a:cubicBezTo>
                      <a:pt x="928777" y="1081178"/>
                      <a:pt x="1043796" y="1010728"/>
                      <a:pt x="1118558" y="1023668"/>
                    </a:cubicBezTo>
                    <a:cubicBezTo>
                      <a:pt x="1193320" y="1036608"/>
                      <a:pt x="1260895" y="1155941"/>
                      <a:pt x="1308340" y="1256582"/>
                    </a:cubicBezTo>
                    <a:cubicBezTo>
                      <a:pt x="1355785" y="1357223"/>
                      <a:pt x="1379507" y="1492370"/>
                      <a:pt x="1403230" y="1627517"/>
                    </a:cubicBezTo>
                  </a:path>
                </a:pathLst>
              </a:cu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EDED689-BD99-1044-1761-FDF7FC00C39B}"/>
                  </a:ext>
                </a:extLst>
              </p:cNvPr>
              <p:cNvSpPr/>
              <p:nvPr/>
            </p:nvSpPr>
            <p:spPr>
              <a:xfrm>
                <a:off x="3264442" y="3662313"/>
                <a:ext cx="1997671" cy="1744561"/>
              </a:xfrm>
              <a:custGeom>
                <a:avLst/>
                <a:gdLst>
                  <a:gd name="connsiteX0" fmla="*/ 2876 w 1986951"/>
                  <a:gd name="connsiteY0" fmla="*/ 1597324 h 1775603"/>
                  <a:gd name="connsiteX1" fmla="*/ 28755 w 1986951"/>
                  <a:gd name="connsiteY1" fmla="*/ 1295399 h 1775603"/>
                  <a:gd name="connsiteX2" fmla="*/ 175404 w 1986951"/>
                  <a:gd name="connsiteY2" fmla="*/ 631165 h 1775603"/>
                  <a:gd name="connsiteX3" fmla="*/ 365185 w 1986951"/>
                  <a:gd name="connsiteY3" fmla="*/ 1002101 h 1775603"/>
                  <a:gd name="connsiteX4" fmla="*/ 494581 w 1986951"/>
                  <a:gd name="connsiteY4" fmla="*/ 1666335 h 1775603"/>
                  <a:gd name="connsiteX5" fmla="*/ 520461 w 1986951"/>
                  <a:gd name="connsiteY5" fmla="*/ 1657708 h 1775603"/>
                  <a:gd name="connsiteX6" fmla="*/ 848264 w 1986951"/>
                  <a:gd name="connsiteY6" fmla="*/ 1235014 h 1775603"/>
                  <a:gd name="connsiteX7" fmla="*/ 1253706 w 1986951"/>
                  <a:gd name="connsiteY7" fmla="*/ 1278146 h 1775603"/>
                  <a:gd name="connsiteX8" fmla="*/ 1391729 w 1986951"/>
                  <a:gd name="connsiteY8" fmla="*/ 1347158 h 1775603"/>
                  <a:gd name="connsiteX9" fmla="*/ 1417608 w 1986951"/>
                  <a:gd name="connsiteY9" fmla="*/ 1347158 h 1775603"/>
                  <a:gd name="connsiteX10" fmla="*/ 1426234 w 1986951"/>
                  <a:gd name="connsiteY10" fmla="*/ 1062486 h 1775603"/>
                  <a:gd name="connsiteX11" fmla="*/ 1469366 w 1986951"/>
                  <a:gd name="connsiteY11" fmla="*/ 605286 h 1775603"/>
                  <a:gd name="connsiteX12" fmla="*/ 1547004 w 1986951"/>
                  <a:gd name="connsiteY12" fmla="*/ 173965 h 1775603"/>
                  <a:gd name="connsiteX13" fmla="*/ 1754038 w 1986951"/>
                  <a:gd name="connsiteY13" fmla="*/ 18690 h 1775603"/>
                  <a:gd name="connsiteX14" fmla="*/ 1917940 w 1986951"/>
                  <a:gd name="connsiteY14" fmla="*/ 286108 h 1775603"/>
                  <a:gd name="connsiteX15" fmla="*/ 1986951 w 1986951"/>
                  <a:gd name="connsiteY15" fmla="*/ 544901 h 1775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86951" h="1775603">
                    <a:moveTo>
                      <a:pt x="2876" y="1597324"/>
                    </a:moveTo>
                    <a:cubicBezTo>
                      <a:pt x="1438" y="1526875"/>
                      <a:pt x="0" y="1456426"/>
                      <a:pt x="28755" y="1295399"/>
                    </a:cubicBezTo>
                    <a:cubicBezTo>
                      <a:pt x="57510" y="1134373"/>
                      <a:pt x="119332" y="680048"/>
                      <a:pt x="175404" y="631165"/>
                    </a:cubicBezTo>
                    <a:cubicBezTo>
                      <a:pt x="231476" y="582282"/>
                      <a:pt x="311989" y="829573"/>
                      <a:pt x="365185" y="1002101"/>
                    </a:cubicBezTo>
                    <a:cubicBezTo>
                      <a:pt x="418381" y="1174629"/>
                      <a:pt x="468702" y="1557067"/>
                      <a:pt x="494581" y="1666335"/>
                    </a:cubicBezTo>
                    <a:cubicBezTo>
                      <a:pt x="520460" y="1775603"/>
                      <a:pt x="461514" y="1729595"/>
                      <a:pt x="520461" y="1657708"/>
                    </a:cubicBezTo>
                    <a:cubicBezTo>
                      <a:pt x="579408" y="1585821"/>
                      <a:pt x="726057" y="1298274"/>
                      <a:pt x="848264" y="1235014"/>
                    </a:cubicBezTo>
                    <a:cubicBezTo>
                      <a:pt x="970471" y="1171754"/>
                      <a:pt x="1163129" y="1259455"/>
                      <a:pt x="1253706" y="1278146"/>
                    </a:cubicBezTo>
                    <a:cubicBezTo>
                      <a:pt x="1344284" y="1296837"/>
                      <a:pt x="1364412" y="1335656"/>
                      <a:pt x="1391729" y="1347158"/>
                    </a:cubicBezTo>
                    <a:cubicBezTo>
                      <a:pt x="1419046" y="1358660"/>
                      <a:pt x="1411857" y="1394603"/>
                      <a:pt x="1417608" y="1347158"/>
                    </a:cubicBezTo>
                    <a:cubicBezTo>
                      <a:pt x="1423359" y="1299713"/>
                      <a:pt x="1417608" y="1186131"/>
                      <a:pt x="1426234" y="1062486"/>
                    </a:cubicBezTo>
                    <a:cubicBezTo>
                      <a:pt x="1434860" y="938841"/>
                      <a:pt x="1449238" y="753373"/>
                      <a:pt x="1469366" y="605286"/>
                    </a:cubicBezTo>
                    <a:cubicBezTo>
                      <a:pt x="1489494" y="457199"/>
                      <a:pt x="1499559" y="271731"/>
                      <a:pt x="1547004" y="173965"/>
                    </a:cubicBezTo>
                    <a:cubicBezTo>
                      <a:pt x="1594449" y="76199"/>
                      <a:pt x="1692215" y="0"/>
                      <a:pt x="1754038" y="18690"/>
                    </a:cubicBezTo>
                    <a:cubicBezTo>
                      <a:pt x="1815861" y="37381"/>
                      <a:pt x="1879121" y="198406"/>
                      <a:pt x="1917940" y="286108"/>
                    </a:cubicBezTo>
                    <a:cubicBezTo>
                      <a:pt x="1956759" y="373810"/>
                      <a:pt x="1971855" y="459355"/>
                      <a:pt x="1986951" y="544901"/>
                    </a:cubicBezTo>
                  </a:path>
                </a:pathLst>
              </a:cu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169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601826E-4CCE-3A0E-BCA1-6E9C53D1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Six-degree replicated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2975B-196A-5560-3974-18FFA7C9C578}"/>
              </a:ext>
            </a:extLst>
          </p:cNvPr>
          <p:cNvSpPr txBox="1"/>
          <p:nvPr/>
        </p:nvSpPr>
        <p:spPr>
          <a:xfrm>
            <a:off x="838200" y="1760376"/>
            <a:ext cx="800535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Peter Sheridan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Dodds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Roby Muhamad, and Duncan Watts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replicated Milgram’s experiment with email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 targets in 13 countries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60,000 participants from 166 countries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Devanagari" panose="02040503050201020203" pitchFamily="18" charset="0"/>
                <a:ea typeface="+mn-ea"/>
                <a:cs typeface="Adobe Devanagari" panose="02040503050201020203" pitchFamily="18" charset="0"/>
              </a:rPr>
              <a:t>“Targets included a professor at an Ivy League university, an archival inspector in Estonia, a technology consultant in India, a policeman in Australia, and a veterinarian in the Norwegian army.”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7E68F3-B364-04FE-2691-80A591EC1FF5}"/>
              </a:ext>
            </a:extLst>
          </p:cNvPr>
          <p:cNvSpPr txBox="1"/>
          <p:nvPr/>
        </p:nvSpPr>
        <p:spPr>
          <a:xfrm>
            <a:off x="838200" y="5335635"/>
            <a:ext cx="559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Average: 7 steps</a:t>
            </a:r>
          </a:p>
        </p:txBody>
      </p:sp>
    </p:spTree>
    <p:extLst>
      <p:ext uri="{BB962C8B-B14F-4D97-AF65-F5344CB8AC3E}">
        <p14:creationId xmlns:p14="http://schemas.microsoft.com/office/powerpoint/2010/main" val="214374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AD21-214E-41A4-342C-8FDE9B6F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44" y="280237"/>
            <a:ext cx="7886700" cy="1325563"/>
          </a:xfrm>
        </p:spPr>
        <p:txBody>
          <a:bodyPr/>
          <a:lstStyle/>
          <a:p>
            <a:r>
              <a:rPr lang="en-US" dirty="0"/>
              <a:t>Even shorter distance on FB</a:t>
            </a:r>
          </a:p>
        </p:txBody>
      </p:sp>
      <p:pic>
        <p:nvPicPr>
          <p:cNvPr id="1026" name="Picture 2" descr="More than The Social Graph | Shuttlecloud Blog">
            <a:extLst>
              <a:ext uri="{FF2B5EF4-FFF2-40B4-BE49-F238E27FC236}">
                <a16:creationId xmlns:a16="http://schemas.microsoft.com/office/drawing/2014/main" id="{DCBCF9B7-6AAC-74D3-993E-A546E12A1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83" y="3669948"/>
            <a:ext cx="3556363" cy="177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7363F-1566-BE83-B049-B3BCB1C65924}"/>
              </a:ext>
            </a:extLst>
          </p:cNvPr>
          <p:cNvSpPr txBox="1"/>
          <p:nvPr/>
        </p:nvSpPr>
        <p:spPr>
          <a:xfrm>
            <a:off x="467267" y="5725333"/>
            <a:ext cx="7352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Average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dobe Devanagari" panose="02040503050201020203" pitchFamily="18" charset="0"/>
              </a:rPr>
              <a:t>distance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on 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: 4.74 (world-wide) and 3.57 (U.S.)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3088F9-B561-C31C-3A9E-423B2079A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83" y="1541368"/>
            <a:ext cx="6564549" cy="184458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3069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9A47A74-4CF5-6007-E118-3C5BF7A74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74" y="2674253"/>
            <a:ext cx="4152921" cy="3592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1B74A8-8809-2FB7-2EA9-1093799B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Friendship paradox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98FC0-1802-8D78-0FCB-8667F5C78D43}"/>
              </a:ext>
            </a:extLst>
          </p:cNvPr>
          <p:cNvSpPr txBox="1"/>
          <p:nvPr/>
        </p:nvSpPr>
        <p:spPr>
          <a:xfrm>
            <a:off x="628650" y="1690689"/>
            <a:ext cx="80276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phenomenon that an individual's friends have, on average, more friends than that individual has.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your calculation: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90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hubs and influentials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1878998"/>
            <a:ext cx="6855979" cy="2946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Which nodes are the most important?</a:t>
            </a:r>
          </a:p>
          <a:p>
            <a:pPr marL="342900" marR="0" lvl="0" indent="-342900" algn="l" defTabSz="376809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4128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Suppose you are going to give away free tickets to your show</a:t>
            </a:r>
          </a:p>
          <a:p>
            <a:pPr marL="0" marR="0" lvl="0" indent="0" algn="l" defTabSz="3768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8">
                <a:solidFill>
                  <a:srgbClr val="0096FF"/>
                </a:solidFill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		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Who should you give them too?</a:t>
            </a:r>
          </a:p>
          <a:p>
            <a:pPr marL="342900" marR="0" lvl="0" indent="-342900" algn="l" defTabSz="376809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4128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Suppose you can pay someone to TikTok about your product</a:t>
            </a:r>
          </a:p>
          <a:p>
            <a:pPr marL="0" marR="0" lvl="0" indent="0" algn="l" defTabSz="3768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8">
                <a:solidFill>
                  <a:srgbClr val="0096FF"/>
                </a:solidFill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		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Who should you pay?</a:t>
            </a:r>
          </a:p>
          <a:p>
            <a:pPr marL="342900" marR="0" lvl="0" indent="-342900" algn="l" defTabSz="376809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4128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Suppose you want to be elected to a position</a:t>
            </a:r>
          </a:p>
          <a:p>
            <a:pPr marL="0" marR="0" lvl="0" indent="0" algn="l" defTabSz="3768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8">
                <a:solidFill>
                  <a:srgbClr val="0096FF"/>
                </a:solidFill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		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Whose endorsement will help you the most?</a:t>
            </a:r>
          </a:p>
        </p:txBody>
      </p:sp>
    </p:spTree>
    <p:extLst>
      <p:ext uri="{BB962C8B-B14F-4D97-AF65-F5344CB8AC3E}">
        <p14:creationId xmlns:p14="http://schemas.microsoft.com/office/powerpoint/2010/main" val="3247710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node centrality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1824273"/>
            <a:ext cx="8385244" cy="37087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dobe Devanagari" panose="02040503050201020203" pitchFamily="18" charset="0"/>
            </a:endParaRPr>
          </a:p>
          <a:p>
            <a:pPr marL="241300" marR="0" lvl="0" indent="-241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Degree centrality</a:t>
            </a:r>
          </a:p>
          <a:p>
            <a:pPr marL="241300" marR="0" lvl="0" indent="-241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PageRank centrality</a:t>
            </a:r>
          </a:p>
          <a:p>
            <a:pPr marL="241300" marR="0" lvl="0" indent="-241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Betweenness centrality</a:t>
            </a:r>
          </a:p>
          <a:p>
            <a:pPr marL="241300" marR="0" lvl="0" indent="-241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Closeness centrality</a:t>
            </a:r>
          </a:p>
          <a:p>
            <a:pPr marL="241300" marR="0" lvl="0" indent="-241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Eigenvector centrality</a:t>
            </a:r>
          </a:p>
          <a:p>
            <a:pPr marL="241300" marR="0" lvl="0" indent="-241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dobe Devanagari" panose="02040503050201020203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dobe Devanagari" panose="02040503050201020203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Which is best depends on the problem you are studying.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498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5076" y="1637789"/>
                <a:ext cx="784142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6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degree centrality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of a node is simply its degree divided by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where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the total number of nodes in the network.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76" y="1637789"/>
                <a:ext cx="7841426" cy="830997"/>
              </a:xfrm>
              <a:prstGeom prst="rect">
                <a:avLst/>
              </a:prstGeom>
              <a:blipFill>
                <a:blip r:embed="rId3"/>
                <a:stretch>
                  <a:fillRect l="-1131" t="-6061" r="-1616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04" y="3278409"/>
            <a:ext cx="3286960" cy="17287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65789" y="3481047"/>
            <a:ext cx="3705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When would this be a good measure of influence?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When/why might it not be a good measure of influence?</a:t>
            </a:r>
          </a:p>
        </p:txBody>
      </p:sp>
    </p:spTree>
    <p:extLst>
      <p:ext uri="{BB962C8B-B14F-4D97-AF65-F5344CB8AC3E}">
        <p14:creationId xmlns:p14="http://schemas.microsoft.com/office/powerpoint/2010/main" val="285944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PageRank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1287" y="1690689"/>
                <a:ext cx="8192910" cy="3524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PageRank is the algorithm behind the Google search engine.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C1E21"/>
                    </a:solidFill>
                    <a:effectLst/>
                    <a:uLnTx/>
                    <a:uFillTx/>
                    <a:latin typeface="system-ui"/>
                    <a:ea typeface="+mn-ea"/>
                    <a:cs typeface="+mn-cs"/>
                  </a:rPr>
                  <a:t>It measures the importance of a webpage by analyzing both the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system-ui"/>
                    <a:ea typeface="+mn-ea"/>
                    <a:cs typeface="+mn-cs"/>
                  </a:rPr>
                  <a:t>quantity and quality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C1E21"/>
                    </a:solidFill>
                    <a:effectLst/>
                    <a:uLnTx/>
                    <a:uFillTx/>
                    <a:latin typeface="system-ui"/>
                    <a:ea typeface="+mn-ea"/>
                    <a:cs typeface="+mn-cs"/>
                  </a:rPr>
                  <a:t> of the links that point to this page.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Basic idea:</a:t>
                </a:r>
              </a:p>
              <a:p>
                <a:pPr marL="685800" marR="0" lvl="1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Stage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Assign each node an initial Page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rPr>
                  <a:t>R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ank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rPr>
                  <a:t>value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1/</m:t>
                    </m:r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685800" marR="0" lvl="1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Stage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Each node divides its PageRank equally among all its outgoing links and gives these shares to its neighbors</a:t>
                </a:r>
              </a:p>
              <a:p>
                <a:pPr marL="685800" marR="0" lvl="1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Take the limit as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→∞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87" y="1690689"/>
                <a:ext cx="8192910" cy="3524042"/>
              </a:xfrm>
              <a:prstGeom prst="rect">
                <a:avLst/>
              </a:prstGeom>
              <a:blipFill>
                <a:blip r:embed="rId2"/>
                <a:stretch>
                  <a:fillRect l="-1238" t="-1075" r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PageRank-example-2">
            <a:extLst>
              <a:ext uri="{FF2B5EF4-FFF2-40B4-BE49-F238E27FC236}">
                <a16:creationId xmlns:a16="http://schemas.microsoft.com/office/drawing/2014/main" id="{2E238BCE-936C-8D8A-9DAB-AF65F58C3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882" y="4633398"/>
            <a:ext cx="3630154" cy="187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911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72" y="1975450"/>
            <a:ext cx="7385609" cy="2684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0087" y="4927520"/>
            <a:ext cx="6944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Courier New" panose="02070309020205020404" pitchFamily="49" charset="0"/>
                <a:hlinkClick r:id="rId3"/>
              </a:rPr>
              <a:t>https://www.ted.com/talks/cedric_villani_what_s_so_sexy_about_math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00299" y="5876065"/>
            <a:ext cx="3548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Watch video starting at minute 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6:50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5B44A9-6007-D022-E00C-3C3914765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CN" dirty="0"/>
              <a:t>PageRank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878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Betweenness centrality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924" y="1741715"/>
            <a:ext cx="784142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betweenness centrality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a node is calculated as the number of shortest paths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of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pairs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of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nodes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pass through that node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.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It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can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measure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the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importance of nodes connecting different communities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2077" y="3153158"/>
            <a:ext cx="52729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Notes:</a:t>
            </a: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Computation is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very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costly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;</a:t>
            </a: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Nodes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with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betweenness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centrality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scores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are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often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called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broker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”;</a:t>
            </a: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Broker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plays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crucial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role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exchanging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information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between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communities;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413" y="2960777"/>
            <a:ext cx="3076769" cy="3578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9F77A5-FB6C-634C-B6A4-5DA3843F0F88}"/>
              </a:ext>
            </a:extLst>
          </p:cNvPr>
          <p:cNvSpPr txBox="1"/>
          <p:nvPr/>
        </p:nvSpPr>
        <p:spPr>
          <a:xfrm>
            <a:off x="4572000" y="6362238"/>
            <a:ext cx="21051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5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dobe Devanagari"/>
                <a:ea typeface="+mn-ea"/>
                <a:cs typeface="+mn-cs"/>
              </a:rPr>
              <a:t>Fig: Zaki Mohamed Hussain</a:t>
            </a:r>
            <a:endParaRPr kumimoji="0" lang="en-US" sz="135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dobe Devanaga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0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A5AFDA2-F114-8AF9-D2ED-E1027C90A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09" y="1777709"/>
            <a:ext cx="3683000" cy="368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271063-CA38-8DFB-E30E-B96A9E30268C}"/>
              </a:ext>
            </a:extLst>
          </p:cNvPr>
          <p:cNvSpPr txBox="1"/>
          <p:nvPr/>
        </p:nvSpPr>
        <p:spPr>
          <a:xfrm>
            <a:off x="744809" y="5569544"/>
            <a:ext cx="5763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Fig: A network of nodes colored based on the betweenness centrality of each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from least (red) to greatest (blue).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37B5A-A4B3-D3B6-9F47-BEFC21269C78}"/>
              </a:ext>
            </a:extLst>
          </p:cNvPr>
          <p:cNvSpPr txBox="1"/>
          <p:nvPr/>
        </p:nvSpPr>
        <p:spPr>
          <a:xfrm>
            <a:off x="4572000" y="187579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Sometimes called “structural hole”, “bridge”.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used to reflect power, social capital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Real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networks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are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vulnerable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to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attacks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brokers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hubs.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B2E15D-6192-6432-C197-54741828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Betweenness centrality</a:t>
            </a:r>
          </a:p>
        </p:txBody>
      </p:sp>
    </p:spTree>
    <p:extLst>
      <p:ext uri="{BB962C8B-B14F-4D97-AF65-F5344CB8AC3E}">
        <p14:creationId xmlns:p14="http://schemas.microsoft.com/office/powerpoint/2010/main" val="418880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05FFA-5A2C-C6A9-04F0-A5BF7DAE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4149-1368-753B-E35F-5C93E8B5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Closeness centrality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3287A2-BD51-B94F-7640-DFE729581638}"/>
              </a:ext>
            </a:extLst>
          </p:cNvPr>
          <p:cNvSpPr txBox="1"/>
          <p:nvPr/>
        </p:nvSpPr>
        <p:spPr>
          <a:xfrm>
            <a:off x="673924" y="1741715"/>
            <a:ext cx="803977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96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closeness centrality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a node is calculated as the inverse of its avg shortest distance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between the node and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other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nodes in the network.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The more central a node is, the closer it is to all other nodes.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779F38E2-6A9F-C918-B621-3BEBB5C4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90" y="3085814"/>
            <a:ext cx="2746188" cy="955196"/>
          </a:xfrm>
          <a:prstGeom prst="rect">
            <a:avLst/>
          </a:prstGeom>
        </p:spPr>
      </p:pic>
      <p:pic>
        <p:nvPicPr>
          <p:cNvPr id="1026" name="Picture 2" descr="Distance and shortest path in a simple graph.">
            <a:extLst>
              <a:ext uri="{FF2B5EF4-FFF2-40B4-BE49-F238E27FC236}">
                <a16:creationId xmlns:a16="http://schemas.microsoft.com/office/drawing/2014/main" id="{3DFFFD03-812F-10BE-CEBF-10A60CF67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703" y="2980474"/>
            <a:ext cx="3137647" cy="187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4DD244-6FFE-9FEA-7BE6-107380EB15B1}"/>
              </a:ext>
            </a:extLst>
          </p:cNvPr>
          <p:cNvSpPr txBox="1"/>
          <p:nvPr/>
        </p:nvSpPr>
        <p:spPr>
          <a:xfrm>
            <a:off x="457463" y="4855981"/>
            <a:ext cx="70291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green edges illustrate one of the two shortest paths between the red square node and the red circle node. </a:t>
            </a: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Closeness of the square node: 5/(1+1+1+2+2) = 5/7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14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netSceinceDegre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15" y="1483725"/>
            <a:ext cx="2856434" cy="4042215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/>
          <p:cNvSpPr txBox="1"/>
          <p:nvPr/>
        </p:nvSpPr>
        <p:spPr>
          <a:xfrm>
            <a:off x="1326388" y="1693596"/>
            <a:ext cx="20630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Degree centrality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95AE5D5-831A-400F-C9FB-845426B1B5A4}"/>
              </a:ext>
            </a:extLst>
          </p:cNvPr>
          <p:cNvGrpSpPr/>
          <p:nvPr/>
        </p:nvGrpSpPr>
        <p:grpSpPr>
          <a:xfrm>
            <a:off x="4913047" y="1661828"/>
            <a:ext cx="2778242" cy="3295636"/>
            <a:chOff x="4977442" y="1868792"/>
            <a:chExt cx="2778242" cy="3295636"/>
          </a:xfrm>
        </p:grpSpPr>
        <p:pic>
          <p:nvPicPr>
            <p:cNvPr id="6" name="netSciencePR.pdf"/>
            <p:cNvPicPr>
              <a:picLocks noChangeAspect="1"/>
            </p:cNvPicPr>
            <p:nvPr/>
          </p:nvPicPr>
          <p:blipFill>
            <a:blip r:embed="rId4"/>
            <a:srcRect l="2246" t="14486" r="2496" b="15731"/>
            <a:stretch>
              <a:fillRect/>
            </a:stretch>
          </p:blipFill>
          <p:spPr>
            <a:xfrm>
              <a:off x="4977442" y="2284290"/>
              <a:ext cx="2778242" cy="28801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595" extrusionOk="0">
                  <a:moveTo>
                    <a:pt x="9839" y="0"/>
                  </a:moveTo>
                  <a:cubicBezTo>
                    <a:pt x="7321" y="0"/>
                    <a:pt x="4802" y="1005"/>
                    <a:pt x="2881" y="3016"/>
                  </a:cubicBezTo>
                  <a:cubicBezTo>
                    <a:pt x="-961" y="7037"/>
                    <a:pt x="-961" y="13557"/>
                    <a:pt x="2881" y="17579"/>
                  </a:cubicBezTo>
                  <a:cubicBezTo>
                    <a:pt x="6723" y="21600"/>
                    <a:pt x="12955" y="21600"/>
                    <a:pt x="16797" y="17579"/>
                  </a:cubicBezTo>
                  <a:cubicBezTo>
                    <a:pt x="20639" y="13557"/>
                    <a:pt x="20639" y="7037"/>
                    <a:pt x="16797" y="3016"/>
                  </a:cubicBezTo>
                  <a:cubicBezTo>
                    <a:pt x="14876" y="1005"/>
                    <a:pt x="12357" y="0"/>
                    <a:pt x="9839" y="0"/>
                  </a:cubicBezTo>
                  <a:close/>
                </a:path>
              </a:pathLst>
            </a:custGeom>
            <a:ln w="12700">
              <a:miter lim="400000"/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5715536" y="1868792"/>
              <a:ext cx="124264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PageRank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175550-FF57-0AE4-A776-E15C61C1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CN" dirty="0"/>
              <a:t>Comparing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measures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26AF5-E02A-5A48-6537-AEBB58EE8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754" y="5318975"/>
            <a:ext cx="7886700" cy="1007530"/>
          </a:xfrm>
        </p:spPr>
        <p:txBody>
          <a:bodyPr>
            <a:normAutofit/>
          </a:bodyPr>
          <a:lstStyle/>
          <a:p>
            <a:r>
              <a:rPr lang="en-US" sz="2400" dirty="0"/>
              <a:t>In what social scenarios should we use degree centrality?</a:t>
            </a:r>
          </a:p>
          <a:p>
            <a:r>
              <a:rPr lang="en-US" sz="2400" dirty="0"/>
              <a:t>What about the PageRank centrality? </a:t>
            </a:r>
            <a:r>
              <a:rPr lang="en-US" sz="2400" dirty="0">
                <a:solidFill>
                  <a:srgbClr val="C00000"/>
                </a:solidFill>
              </a:rPr>
              <a:t>Give real examples.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302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3E2F-F051-3F28-0E8F-828525E3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181521" cy="1325563"/>
          </a:xfrm>
        </p:spPr>
        <p:txBody>
          <a:bodyPr/>
          <a:lstStyle/>
          <a:p>
            <a:r>
              <a:rPr lang="en-US" dirty="0"/>
              <a:t>Strong ties and weak 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F7907-3F95-E3CF-438D-4B3A194A4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10807"/>
            <a:ext cx="818152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8B9"/>
                </a:solidFill>
              </a:rPr>
              <a:t>Measured by edge weights such as the contact frequency, the number of mutual friends, </a:t>
            </a:r>
            <a:r>
              <a:rPr lang="en-US" altLang="zh-CN" sz="2400" dirty="0">
                <a:solidFill>
                  <a:srgbClr val="C00000"/>
                </a:solidFill>
              </a:rPr>
              <a:t>instead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of structural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positions</a:t>
            </a:r>
            <a:r>
              <a:rPr lang="en-US" altLang="zh-CN" sz="2400" dirty="0">
                <a:solidFill>
                  <a:srgbClr val="0078B9"/>
                </a:solidFill>
              </a:rPr>
              <a:t>.</a:t>
            </a:r>
            <a:endParaRPr lang="en-US" sz="2400" dirty="0">
              <a:solidFill>
                <a:srgbClr val="0078B9"/>
              </a:solidFill>
            </a:endParaRPr>
          </a:p>
          <a:p>
            <a:r>
              <a:rPr lang="en-US" altLang="zh-CN" sz="2400" dirty="0"/>
              <a:t>Strong</a:t>
            </a:r>
            <a:r>
              <a:rPr lang="zh-CN" altLang="en-US" sz="2400" dirty="0"/>
              <a:t> </a:t>
            </a:r>
            <a:r>
              <a:rPr lang="en-US" altLang="zh-CN" sz="2400" dirty="0"/>
              <a:t>ties</a:t>
            </a:r>
            <a:r>
              <a:rPr lang="zh-CN" altLang="en-US" sz="2400" dirty="0"/>
              <a:t> </a:t>
            </a:r>
            <a:r>
              <a:rPr lang="en-US" altLang="zh-CN" sz="2400" dirty="0"/>
              <a:t>are</a:t>
            </a:r>
            <a:r>
              <a:rPr lang="zh-CN" altLang="en-US" sz="2400" dirty="0"/>
              <a:t> </a:t>
            </a:r>
            <a:r>
              <a:rPr lang="en-US" altLang="zh-CN" sz="2400" dirty="0"/>
              <a:t>often</a:t>
            </a:r>
            <a:r>
              <a:rPr lang="zh-CN" altLang="en-US" sz="2400" dirty="0"/>
              <a:t> </a:t>
            </a:r>
            <a:r>
              <a:rPr lang="en-US" altLang="zh-CN" sz="2400" dirty="0"/>
              <a:t>within</a:t>
            </a:r>
            <a:r>
              <a:rPr lang="zh-CN" altLang="en-US" sz="2400" dirty="0"/>
              <a:t> </a:t>
            </a:r>
            <a:r>
              <a:rPr lang="en-US" altLang="zh-CN" sz="2400" dirty="0"/>
              <a:t>communities;</a:t>
            </a:r>
            <a:r>
              <a:rPr lang="zh-CN" altLang="en-US" sz="2400" dirty="0"/>
              <a:t> </a:t>
            </a:r>
            <a:r>
              <a:rPr lang="en-US" altLang="zh-CN" sz="2400" dirty="0"/>
              <a:t>weak</a:t>
            </a:r>
            <a:r>
              <a:rPr lang="zh-CN" altLang="en-US" sz="2400" dirty="0"/>
              <a:t> </a:t>
            </a:r>
            <a:r>
              <a:rPr lang="en-US" altLang="zh-CN" sz="2400" dirty="0"/>
              <a:t>ties</a:t>
            </a:r>
            <a:r>
              <a:rPr lang="zh-CN" altLang="en-US" sz="2400" dirty="0"/>
              <a:t> </a:t>
            </a:r>
            <a:r>
              <a:rPr lang="en-US" altLang="zh-CN" sz="2400" dirty="0"/>
              <a:t>often</a:t>
            </a:r>
            <a:r>
              <a:rPr lang="zh-CN" altLang="en-US" sz="2400" dirty="0"/>
              <a:t> </a:t>
            </a:r>
            <a:r>
              <a:rPr lang="en-US" altLang="zh-CN" sz="2400" dirty="0"/>
              <a:t>connect</a:t>
            </a:r>
            <a:r>
              <a:rPr lang="zh-CN" altLang="en-US" sz="2400" dirty="0"/>
              <a:t> </a:t>
            </a:r>
            <a:r>
              <a:rPr lang="en-US" altLang="zh-CN" sz="2400" dirty="0"/>
              <a:t>different communities.</a:t>
            </a:r>
          </a:p>
        </p:txBody>
      </p:sp>
      <p:pic>
        <p:nvPicPr>
          <p:cNvPr id="1026" name="Picture 2" descr="Networks, Weak Ties, and Thresholds | Phenomenal World">
            <a:extLst>
              <a:ext uri="{FF2B5EF4-FFF2-40B4-BE49-F238E27FC236}">
                <a16:creationId xmlns:a16="http://schemas.microsoft.com/office/drawing/2014/main" id="{F7C0927A-3296-DC33-C3FD-D61444799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187" y="3534780"/>
            <a:ext cx="3312826" cy="247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FF8E95-4D06-50EA-BCAC-2D0426B1117D}"/>
              </a:ext>
            </a:extLst>
          </p:cNvPr>
          <p:cNvSpPr txBox="1"/>
          <p:nvPr/>
        </p:nvSpPr>
        <p:spPr>
          <a:xfrm>
            <a:off x="764887" y="32248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(Frequency definition)</a:t>
            </a:r>
          </a:p>
        </p:txBody>
      </p:sp>
    </p:spTree>
    <p:extLst>
      <p:ext uri="{BB962C8B-B14F-4D97-AF65-F5344CB8AC3E}">
        <p14:creationId xmlns:p14="http://schemas.microsoft.com/office/powerpoint/2010/main" val="1433665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betweenness centrality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1843453"/>
            <a:ext cx="81405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Betweenness centrality of an edge is the number of all-pairs shortest paths that pass through the edge.</a:t>
            </a:r>
          </a:p>
          <a:p>
            <a:pPr>
              <a:defRPr/>
            </a:pPr>
            <a:endParaRPr lang="en-US" sz="2400" u="sng" dirty="0"/>
          </a:p>
          <a:p>
            <a:pPr>
              <a:defRPr/>
            </a:pPr>
            <a:r>
              <a:rPr lang="en-US" sz="2400" u="sng" dirty="0"/>
              <a:t>Weak ties (based on contact freq.) often have high betweenness centrality, thus are structurally more important than strong ties.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dobe Devanagari" panose="02040503050201020203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dobe Devanagari" panose="02040503050201020203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Adobe Devanagari" panose="02040503050201020203" pitchFamily="18" charset="0"/>
              </a:rPr>
              <a:t>(Structural definition)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dobe Devanagari" panose="02040503050201020203" pitchFamily="18" charset="0"/>
            </a:endParaRPr>
          </a:p>
        </p:txBody>
      </p:sp>
      <p:pic>
        <p:nvPicPr>
          <p:cNvPr id="2050" name="Picture 2" descr="figure 51">
            <a:extLst>
              <a:ext uri="{FF2B5EF4-FFF2-40B4-BE49-F238E27FC236}">
                <a16:creationId xmlns:a16="http://schemas.microsoft.com/office/drawing/2014/main" id="{EE1F55C6-CB02-8E25-063A-2AAACD62C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160" y="3906191"/>
            <a:ext cx="4225610" cy="181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112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3354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Who will you reach out for finding a job?</a:t>
            </a:r>
          </a:p>
          <a:p>
            <a:pPr lvl="1"/>
            <a:r>
              <a:rPr lang="en-US" dirty="0"/>
              <a:t>Close friends</a:t>
            </a:r>
          </a:p>
          <a:p>
            <a:pPr lvl="1"/>
            <a:r>
              <a:rPr lang="en-US" dirty="0"/>
              <a:t>Acquaintance</a:t>
            </a:r>
          </a:p>
          <a:p>
            <a:pPr lvl="1"/>
            <a:r>
              <a:rPr lang="en-US" dirty="0"/>
              <a:t>Someone you don’t know much about but somehow can connect you to a different social circle.</a:t>
            </a:r>
          </a:p>
          <a:p>
            <a:pPr lvl="1"/>
            <a:endParaRPr lang="en-US" dirty="0"/>
          </a:p>
        </p:txBody>
      </p:sp>
      <p:pic>
        <p:nvPicPr>
          <p:cNvPr id="3074" name="Picture 2" descr="Millennials and constant job hunting, what are the impacts?">
            <a:extLst>
              <a:ext uri="{FF2B5EF4-FFF2-40B4-BE49-F238E27FC236}">
                <a16:creationId xmlns:a16="http://schemas.microsoft.com/office/drawing/2014/main" id="{0F192762-826E-056D-9B34-EEF830909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497" y="4001294"/>
            <a:ext cx="3092539" cy="223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457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3E2F-F051-3F28-0E8F-828525E3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47641" cy="1325563"/>
          </a:xfrm>
        </p:spPr>
        <p:txBody>
          <a:bodyPr/>
          <a:lstStyle/>
          <a:p>
            <a:r>
              <a:rPr lang="en-US" dirty="0"/>
              <a:t>Strength of weak tie (classic theory)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8953-92E4-6A14-367D-6FAA791A4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15443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The idea that people often land jobs via weak connections.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C00000"/>
                </a:solidFill>
              </a:rPr>
              <a:t>One of the most (missed) influential ideas in social sciences.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04DC1-5A7E-DBC6-7284-C6C76E16C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59" y="2509008"/>
            <a:ext cx="4971143" cy="317524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0AA0E9-E1FE-B845-8F89-4C9F19D511D5}"/>
              </a:ext>
            </a:extLst>
          </p:cNvPr>
          <p:cNvSpPr txBox="1"/>
          <p:nvPr/>
        </p:nvSpPr>
        <p:spPr>
          <a:xfrm>
            <a:off x="2869650" y="6077236"/>
            <a:ext cx="49711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https://www.jstor.org/stable/2776392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https://www.youtube.com/watch?v=g3bBajcR5fE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Mark Granovetter | Sociology">
            <a:extLst>
              <a:ext uri="{FF2B5EF4-FFF2-40B4-BE49-F238E27FC236}">
                <a16:creationId xmlns:a16="http://schemas.microsoft.com/office/drawing/2014/main" id="{9BE4478E-8C4B-413C-FF43-000E69699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743" y="2741006"/>
            <a:ext cx="1919202" cy="2711254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26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610" y="1546311"/>
            <a:ext cx="3851632" cy="49020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778" y="365126"/>
            <a:ext cx="8855242" cy="1325563"/>
          </a:xfrm>
        </p:spPr>
        <p:txBody>
          <a:bodyPr/>
          <a:lstStyle/>
          <a:p>
            <a:r>
              <a:rPr lang="en-US" altLang="zh-CN" dirty="0"/>
              <a:t>E</a:t>
            </a:r>
            <a:r>
              <a:rPr lang="en-US" dirty="0"/>
              <a:t>vidence </a:t>
            </a:r>
            <a:r>
              <a:rPr lang="en-US" altLang="zh-CN" dirty="0"/>
              <a:t>(o</a:t>
            </a:r>
            <a:r>
              <a:rPr lang="en-US" dirty="0"/>
              <a:t>bservational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dirty="0"/>
              <a:t>on Facebook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00" y="1690689"/>
            <a:ext cx="4593214" cy="1675172"/>
          </a:xfrm>
          <a:prstGeom prst="rect">
            <a:avLst/>
          </a:prstGeom>
          <a:ln w="25400"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03" y="3543616"/>
            <a:ext cx="3026011" cy="305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87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3E2F-F051-3F28-0E8F-828525E3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250655" cy="1325563"/>
          </a:xfrm>
        </p:spPr>
        <p:txBody>
          <a:bodyPr/>
          <a:lstStyle/>
          <a:p>
            <a:r>
              <a:rPr lang="en-US" dirty="0"/>
              <a:t>Replicated by LinkedIn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8953-92E4-6A14-367D-6FAA791A4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678228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“delayed” causal test of this paradoxical theory;</a:t>
            </a:r>
          </a:p>
          <a:p>
            <a:r>
              <a:rPr lang="en-US" sz="2400" dirty="0"/>
              <a:t>Largest randomized experiments conducted on LinkedIn’s “People You May Know” algorithm;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The weakest ties had the greatest impact on job mobility, whereas the strongest ties had the least effect.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678CC7-8DF7-6322-989B-7379484E8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33285"/>
            <a:ext cx="7772400" cy="2143678"/>
          </a:xfrm>
          <a:prstGeom prst="rect">
            <a:avLst/>
          </a:prstGeom>
          <a:ln w="25400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06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93497" y="373585"/>
            <a:ext cx="7886700" cy="994172"/>
          </a:xfrm>
        </p:spPr>
        <p:txBody>
          <a:bodyPr>
            <a:normAutofit/>
          </a:bodyPr>
          <a:lstStyle/>
          <a:p>
            <a:r>
              <a:rPr lang="en-US" dirty="0"/>
              <a:t>Link prediction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50671C-F628-6269-2F18-95B4810B2084}"/>
              </a:ext>
            </a:extLst>
          </p:cNvPr>
          <p:cNvGrpSpPr/>
          <p:nvPr/>
        </p:nvGrpSpPr>
        <p:grpSpPr>
          <a:xfrm>
            <a:off x="591074" y="1335519"/>
            <a:ext cx="8059430" cy="4401205"/>
            <a:chOff x="591074" y="1335519"/>
            <a:chExt cx="8059430" cy="440120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C6D1F8-4CB2-7F62-7EEF-9E55CADBC7C7}"/>
                </a:ext>
              </a:extLst>
            </p:cNvPr>
            <p:cNvSpPr txBox="1"/>
            <p:nvPr/>
          </p:nvSpPr>
          <p:spPr>
            <a:xfrm>
              <a:off x="591074" y="1335519"/>
              <a:ext cx="8059430" cy="440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Given a network snapshot, the task is to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predict new links among all nodes that are likely to occur in the future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Often use topological features to measure node proximity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: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Network distance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Common neighbors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Jaccard’s coeﬃcient: score(x, y) = |</a:t>
              </a:r>
              <a:r>
                <a:rPr kumimoji="0" lang="el-G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Γ(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x) ∩ </a:t>
              </a:r>
              <a:r>
                <a:rPr kumimoji="0" lang="el-G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Γ(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y)|/|</a:t>
              </a:r>
              <a:r>
                <a:rPr kumimoji="0" lang="el-G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Γ(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x) ∪ </a:t>
              </a:r>
              <a:r>
                <a:rPr kumimoji="0" lang="el-G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Γ(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y)|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Adamic and Adar score: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And more ...</a:t>
              </a:r>
            </a:p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Can also include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node-level features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: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Gender, age, political orientation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Activity level, language use, profile image, …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39A48B-C486-E1A1-4CBD-065A6A45A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8630" y="3777905"/>
              <a:ext cx="3404220" cy="35529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9E1F694-7A9B-5B2C-1387-4D59F86A1455}"/>
              </a:ext>
            </a:extLst>
          </p:cNvPr>
          <p:cNvSpPr txBox="1"/>
          <p:nvPr/>
        </p:nvSpPr>
        <p:spPr>
          <a:xfrm>
            <a:off x="749106" y="6063875"/>
            <a:ext cx="7375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dobe Devanagari"/>
                <a:ea typeface="+mn-ea"/>
                <a:cs typeface="+mn-cs"/>
              </a:rPr>
              <a:t>Nowell and Kleinberg. “The Link-Prediction Problem for Social Networks.”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dobe Devanagari"/>
                <a:ea typeface="+mn-ea"/>
                <a:cs typeface="+mn-cs"/>
              </a:rPr>
              <a:t>CIKM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dobe Devanagari"/>
                <a:ea typeface="+mn-ea"/>
                <a:cs typeface="+mn-cs"/>
              </a:rPr>
              <a:t> 2003.</a:t>
            </a:r>
          </a:p>
        </p:txBody>
      </p:sp>
    </p:spTree>
    <p:extLst>
      <p:ext uri="{BB962C8B-B14F-4D97-AF65-F5344CB8AC3E}">
        <p14:creationId xmlns:p14="http://schemas.microsoft.com/office/powerpoint/2010/main" val="433243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2128"/>
            <a:ext cx="7886700" cy="1325563"/>
          </a:xfrm>
        </p:spPr>
        <p:txBody>
          <a:bodyPr/>
          <a:lstStyle/>
          <a:p>
            <a:r>
              <a:rPr lang="en-US" dirty="0" err="1"/>
              <a:t>NetworkX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64F7AF-45A4-642A-BCFD-67A72BBDF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58512"/>
            <a:ext cx="8189674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Python package to create, manipulate, and study the structure, dynamics, and functions of complex networks.</a:t>
            </a:r>
          </a:p>
          <a:p>
            <a:r>
              <a:rPr lang="en-US" sz="2400" dirty="0" err="1"/>
              <a:t>NetworkX</a:t>
            </a:r>
            <a:r>
              <a:rPr lang="en-US" sz="2400" dirty="0"/>
              <a:t> has the capacity to operate on very large graphs with more than 10 million nodes and 100 million edges.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6146" name="Picture 2" descr="book cover for Network Science with Python and NetworkX">
            <a:extLst>
              <a:ext uri="{FF2B5EF4-FFF2-40B4-BE49-F238E27FC236}">
                <a16:creationId xmlns:a16="http://schemas.microsoft.com/office/drawing/2014/main" id="{CCF8A923-8B47-ECA8-0205-50DBC3984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786" y="3285107"/>
            <a:ext cx="2632529" cy="3253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573DB188-3C82-84F0-1653-EE1929561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994" y="3275862"/>
            <a:ext cx="2461080" cy="324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151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9A42-B395-2124-7394-253269BF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25CA-B8DE-2D6F-6071-C5EDEA19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127043" cy="1325563"/>
          </a:xfrm>
        </p:spPr>
        <p:txBody>
          <a:bodyPr/>
          <a:lstStyle/>
          <a:p>
            <a:r>
              <a:rPr lang="en-US" altLang="zh-CN" dirty="0"/>
              <a:t>A survey on collaboration network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0DD31-B6C3-B755-37BE-D37B9386C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25" y="1513616"/>
            <a:ext cx="7886700" cy="5087940"/>
          </a:xfrm>
        </p:spPr>
        <p:txBody>
          <a:bodyPr>
            <a:normAutofit/>
          </a:bodyPr>
          <a:lstStyle/>
          <a:p>
            <a:r>
              <a:rPr lang="en-US" sz="2400" dirty="0"/>
              <a:t>Take this survey (Scan the QR code):</a:t>
            </a:r>
            <a:endParaRPr lang="en-US" sz="2400" dirty="0">
              <a:hlinkClick r:id="rId3"/>
            </a:endParaRP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This serves as an attendance check!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If missing: </a:t>
            </a:r>
            <a:r>
              <a:rPr lang="en-US" sz="2000" dirty="0">
                <a:solidFill>
                  <a:srgbClr val="C00000"/>
                </a:solidFill>
              </a:rPr>
              <a:t>5 pts penalty on Project Presentation (Weight: 20%)</a:t>
            </a:r>
            <a:endParaRPr lang="en-US" sz="2000" dirty="0">
              <a:solidFill>
                <a:srgbClr val="C00000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400" dirty="0"/>
              <a:t>Download data from Canvas after everyone is done.</a:t>
            </a:r>
          </a:p>
        </p:txBody>
      </p:sp>
    </p:spTree>
    <p:extLst>
      <p:ext uri="{BB962C8B-B14F-4D97-AF65-F5344CB8AC3E}">
        <p14:creationId xmlns:p14="http://schemas.microsoft.com/office/powerpoint/2010/main" val="80017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873788-8F00-4B42-33CC-E0EF3067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2B6C-44A6-7F83-8D39-8D8A98BB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127043" cy="1325563"/>
          </a:xfrm>
        </p:spPr>
        <p:txBody>
          <a:bodyPr/>
          <a:lstStyle/>
          <a:p>
            <a:r>
              <a:rPr lang="en-US" altLang="zh-CN" dirty="0"/>
              <a:t>A survey on collaboration network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FE41-2FB8-D83A-03E9-98AEB31A7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25" y="1513616"/>
            <a:ext cx="7886700" cy="5087940"/>
          </a:xfrm>
        </p:spPr>
        <p:txBody>
          <a:bodyPr>
            <a:normAutofit/>
          </a:bodyPr>
          <a:lstStyle/>
          <a:p>
            <a:r>
              <a:rPr lang="en-US" sz="2400" dirty="0"/>
              <a:t>Take this survey (Scan the QR code):</a:t>
            </a:r>
            <a:endParaRPr lang="en-US" sz="2400" dirty="0">
              <a:hlinkClick r:id="rId3"/>
            </a:endParaRP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This is our first attendance check!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If missing: 5 pts penalty on Project Presentation (Weight: 20%)</a:t>
            </a:r>
            <a:endParaRPr lang="en-US" sz="2000" dirty="0">
              <a:solidFill>
                <a:srgbClr val="C00000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400" dirty="0"/>
              <a:t>Download data from Canvas after everyone is done.</a:t>
            </a:r>
          </a:p>
        </p:txBody>
      </p:sp>
      <p:pic>
        <p:nvPicPr>
          <p:cNvPr id="11" name="Picture 10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31C1578-9529-8BFE-2F58-81BA99C5B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233" y="3095818"/>
            <a:ext cx="2534537" cy="256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5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EB568-EE35-714F-E9FE-8DA366D7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8520-3912-0926-FC1D-199B64950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CN" dirty="0"/>
              <a:t>Group exercise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94C2C-BFA4-23D2-C22A-D0F0D0F1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25" y="1513616"/>
            <a:ext cx="7886700" cy="5087940"/>
          </a:xfrm>
        </p:spPr>
        <p:txBody>
          <a:bodyPr>
            <a:normAutofit/>
          </a:bodyPr>
          <a:lstStyle/>
          <a:p>
            <a:r>
              <a:rPr lang="en-US" sz="2400" dirty="0"/>
              <a:t>Group activities:</a:t>
            </a:r>
          </a:p>
          <a:p>
            <a:pPr lvl="1"/>
            <a:r>
              <a:rPr lang="en-US" sz="2000" dirty="0"/>
              <a:t>Build and visualize the network in Python </a:t>
            </a:r>
            <a:r>
              <a:rPr lang="en-US" sz="2000" dirty="0" err="1"/>
              <a:t>NetworkX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Color nodes by attributes (e.g., gender), size by degree centrality.</a:t>
            </a:r>
          </a:p>
          <a:p>
            <a:pPr lvl="1"/>
            <a:r>
              <a:rPr lang="en-US" sz="2000" dirty="0"/>
              <a:t>Compute different node centrality measures.</a:t>
            </a:r>
            <a:endParaRPr lang="en-US" sz="2400" dirty="0"/>
          </a:p>
          <a:p>
            <a:r>
              <a:rPr lang="en-US" sz="2400" dirty="0"/>
              <a:t>Group presentation on interesting findings: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Who are the central "hubs"? Bridges?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How many communities are there?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Is there homophily effect in the network?</a:t>
            </a:r>
          </a:p>
          <a:p>
            <a:pPr lvl="0"/>
            <a:r>
              <a:rPr lang="en-US" sz="2400" dirty="0">
                <a:solidFill>
                  <a:srgbClr val="C00000"/>
                </a:solidFill>
              </a:rPr>
              <a:t>Group Project Coordination &amp; Discussion</a:t>
            </a:r>
            <a:endParaRPr lang="en-US" sz="2000" dirty="0">
              <a:solidFill>
                <a:srgbClr val="C00000"/>
              </a:solidFill>
            </a:endParaRPr>
          </a:p>
          <a:p>
            <a:pPr lvl="1"/>
            <a:endParaRPr lang="en-US" sz="2000" dirty="0">
              <a:solidFill>
                <a:srgbClr val="0078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76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B86EBA-A005-0E17-7EC8-8B9FCC14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Course notes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978717-5A6B-4A08-A1BC-E854F83F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Everyone gets a penalty free late submission</a:t>
            </a:r>
          </a:p>
          <a:p>
            <a:pPr lvl="1"/>
            <a:r>
              <a:rPr lang="en-US" dirty="0"/>
              <a:t>Up to 3 days</a:t>
            </a:r>
          </a:p>
          <a:p>
            <a:pPr lvl="1"/>
            <a:r>
              <a:rPr lang="en-US" dirty="0"/>
              <a:t>No need to ask for it</a:t>
            </a:r>
          </a:p>
          <a:p>
            <a:r>
              <a:rPr lang="en-US" dirty="0"/>
              <a:t>Apps of Social Networks Analysis (SNA)</a:t>
            </a:r>
          </a:p>
          <a:p>
            <a:pPr lvl="1"/>
            <a:r>
              <a:rPr lang="en-US" dirty="0"/>
              <a:t>HW2 will be released</a:t>
            </a:r>
          </a:p>
          <a:p>
            <a:pPr lvl="1"/>
            <a:r>
              <a:rPr lang="en-US" dirty="0"/>
              <a:t>Tutorial 5: link prediction</a:t>
            </a:r>
          </a:p>
          <a:p>
            <a:r>
              <a:rPr lang="en-US" dirty="0"/>
              <a:t>SMA Ethics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wee</a:t>
            </a:r>
            <a:r>
              <a:rPr lang="en-US" dirty="0"/>
              <a:t>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11166</TotalTime>
  <Words>1849</Words>
  <Application>Microsoft Macintosh PowerPoint</Application>
  <PresentationFormat>On-screen Show (4:3)</PresentationFormat>
  <Paragraphs>243</Paragraphs>
  <Slides>35</Slides>
  <Notes>17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Adobe Devanagari</vt:lpstr>
      <vt:lpstr>LM Sans 12</vt:lpstr>
      <vt:lpstr>system-ui</vt:lpstr>
      <vt:lpstr>Abadi MT Condensed Extra Bold</vt:lpstr>
      <vt:lpstr>Abadi MT Condensed Light</vt:lpstr>
      <vt:lpstr>Arial</vt:lpstr>
      <vt:lpstr>Calibri</vt:lpstr>
      <vt:lpstr>Cambria Math</vt:lpstr>
      <vt:lpstr>Wingdings</vt:lpstr>
      <vt:lpstr>Office Theme</vt:lpstr>
      <vt:lpstr>1_Office Theme</vt:lpstr>
      <vt:lpstr>Bitmap Image</vt:lpstr>
      <vt:lpstr>DSC3013 Intro. to Social Media Analytics (Lec. 8)</vt:lpstr>
      <vt:lpstr>Topics for this week</vt:lpstr>
      <vt:lpstr>Network Science</vt:lpstr>
      <vt:lpstr>Information networks</vt:lpstr>
      <vt:lpstr>Information networks</vt:lpstr>
      <vt:lpstr>Social networks</vt:lpstr>
      <vt:lpstr>Social networks</vt:lpstr>
      <vt:lpstr>Network definition &amp; vocabulary </vt:lpstr>
      <vt:lpstr>Degree of nodes</vt:lpstr>
      <vt:lpstr>Basic features of social networks</vt:lpstr>
      <vt:lpstr>The small-world experiment</vt:lpstr>
      <vt:lpstr>Six-degree replicated</vt:lpstr>
      <vt:lpstr>Even shorter distance on FB</vt:lpstr>
      <vt:lpstr>Friendship paradox</vt:lpstr>
      <vt:lpstr>Finding hubs and influentials</vt:lpstr>
      <vt:lpstr>Measures of node centrality</vt:lpstr>
      <vt:lpstr>Degree centrality</vt:lpstr>
      <vt:lpstr>PageRank algorithm</vt:lpstr>
      <vt:lpstr>PageRank algorithm</vt:lpstr>
      <vt:lpstr>Betweenness centrality</vt:lpstr>
      <vt:lpstr>Betweenness centrality</vt:lpstr>
      <vt:lpstr>Closeness centrality</vt:lpstr>
      <vt:lpstr>Comparing different measures</vt:lpstr>
      <vt:lpstr>Strong ties and weak ties</vt:lpstr>
      <vt:lpstr>Edge betweenness centrality</vt:lpstr>
      <vt:lpstr>Quick survey</vt:lpstr>
      <vt:lpstr>Strength of weak tie (classic theory)</vt:lpstr>
      <vt:lpstr>Evidence (observational) on Facebook</vt:lpstr>
      <vt:lpstr>Replicated by LinkedIn experiment</vt:lpstr>
      <vt:lpstr>Link prediction</vt:lpstr>
      <vt:lpstr>NetworkX</vt:lpstr>
      <vt:lpstr>A survey on collaboration network</vt:lpstr>
      <vt:lpstr>A survey on collaboration network</vt:lpstr>
      <vt:lpstr>Group exercise</vt:lpstr>
      <vt:lpstr>Course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Hao PENG</cp:lastModifiedBy>
  <cp:revision>279</cp:revision>
  <dcterms:created xsi:type="dcterms:W3CDTF">2019-01-16T16:49:18Z</dcterms:created>
  <dcterms:modified xsi:type="dcterms:W3CDTF">2026-10-19T13:44:42Z</dcterms:modified>
</cp:coreProperties>
</file>