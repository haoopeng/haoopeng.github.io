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</p:sldMasterIdLst>
  <p:notesMasterIdLst>
    <p:notesMasterId r:id="rId57"/>
  </p:notesMasterIdLst>
  <p:sldIdLst>
    <p:sldId id="602" r:id="rId7"/>
    <p:sldId id="257" r:id="rId8"/>
    <p:sldId id="258" r:id="rId9"/>
    <p:sldId id="259" r:id="rId10"/>
    <p:sldId id="260" r:id="rId11"/>
    <p:sldId id="261" r:id="rId12"/>
    <p:sldId id="263" r:id="rId13"/>
    <p:sldId id="606" r:id="rId14"/>
    <p:sldId id="607" r:id="rId15"/>
    <p:sldId id="266" r:id="rId16"/>
    <p:sldId id="440" r:id="rId17"/>
    <p:sldId id="613" r:id="rId18"/>
    <p:sldId id="614" r:id="rId19"/>
    <p:sldId id="615" r:id="rId20"/>
    <p:sldId id="268" r:id="rId21"/>
    <p:sldId id="269" r:id="rId22"/>
    <p:sldId id="270" r:id="rId23"/>
    <p:sldId id="610" r:id="rId24"/>
    <p:sldId id="609" r:id="rId25"/>
    <p:sldId id="611" r:id="rId26"/>
    <p:sldId id="612" r:id="rId27"/>
    <p:sldId id="271" r:id="rId28"/>
    <p:sldId id="272" r:id="rId29"/>
    <p:sldId id="372" r:id="rId30"/>
    <p:sldId id="273" r:id="rId31"/>
    <p:sldId id="274" r:id="rId32"/>
    <p:sldId id="604" r:id="rId33"/>
    <p:sldId id="276" r:id="rId34"/>
    <p:sldId id="373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605" r:id="rId43"/>
    <p:sldId id="284" r:id="rId44"/>
    <p:sldId id="574" r:id="rId45"/>
    <p:sldId id="285" r:id="rId46"/>
    <p:sldId id="287" r:id="rId47"/>
    <p:sldId id="256" r:id="rId48"/>
    <p:sldId id="290" r:id="rId49"/>
    <p:sldId id="292" r:id="rId50"/>
    <p:sldId id="293" r:id="rId51"/>
    <p:sldId id="295" r:id="rId52"/>
    <p:sldId id="297" r:id="rId53"/>
    <p:sldId id="524" r:id="rId54"/>
    <p:sldId id="264" r:id="rId55"/>
    <p:sldId id="26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45"/>
    <p:restoredTop sz="85131"/>
  </p:normalViewPr>
  <p:slideViewPr>
    <p:cSldViewPr snapToGrid="0" snapToObjects="1">
      <p:cViewPr varScale="1">
        <p:scale>
          <a:sx n="84" d="100"/>
          <a:sy n="84" d="100"/>
        </p:scale>
        <p:origin x="11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tableStyles" Target="tableStyle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3F764-F9CB-FF43-A4D6-19AA46CC38A1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9D9AD-3DF5-644E-BD46-A3CA737AA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50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06C42A-5AA1-B144-8688-E824ABDD91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19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57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Will the user upgrade to Premium?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98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80418-D7F9-A1B6-AD71-02A834AE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AACDD-7FBD-F9AE-734E-2044C707B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2E986-3FA5-61F4-0DE1-CC1238F2D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 odds does not increase in a constant speed, but the log odds does.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B4868-A888-49DE-43AD-B0058AC5F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49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1704-28DD-126E-834C-1044BFDD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9D617-6EEE-F6E9-F592-7B7FDB00B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F4025-662D-75E8-CBFD-068B9B96B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effectLst/>
              <a:latin typeface="LMSans1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65118-E262-7E49-8B4A-9D022930C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00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image there is an extra datapoint added for Real group with Clickbait = Yes. </a:t>
            </a:r>
          </a:p>
          <a:p>
            <a:r>
              <a:rPr lang="en-US" dirty="0"/>
              <a:t>Then, to be fair, we need to also add an extra datapoint for Real group with Clickbait =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17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post length affect engagement score?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(Focus on model </a:t>
            </a:r>
            <a:r>
              <a:rPr lang="en-US" dirty="0" err="1"/>
              <a:t>coeff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27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6D7FA-8CE6-1E7D-C809-2397CB8A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A1E5A-0422-77E6-D143-F887E1D2A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5D730-991E-7B33-5BA1-E3C25CF31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post length affect engagement score?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(Focus on model </a:t>
            </a:r>
            <a:r>
              <a:rPr lang="en-US" dirty="0" err="1"/>
              <a:t>coeff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E3625-5E19-CBBE-708D-E46941AD1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61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A5379-3458-6E1A-ABA3-200594D7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242FC-A792-9721-07A8-FA6AB7697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7E486-45FB-158C-007B-7A55783D4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post length affect engagement score?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(Focus on model </a:t>
            </a:r>
            <a:r>
              <a:rPr lang="en-US" dirty="0" err="1"/>
              <a:t>coeff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49EFF-89B7-4194-D73B-51B004723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99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F30C-EA5D-6D7B-D1B5-9C23F5C0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CC5B8-A6F7-3C41-CFBB-FE68EA99C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6C3AC-5001-0174-031F-8E0A06944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D1DD1-1FEB-BAE4-7F1F-F8F6DA2F3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06C42A-5AA1-B144-8688-E824ABDD91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234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BF0E-CD18-9950-FE77-8552F6C5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DFD38-2454-74F8-8346-E2A48B8EF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A1847-E98B-D809-B6FD-7AB7F4CFF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74003-C1A2-8448-7022-0E04C30C9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06C42A-5AA1-B144-8688-E824ABDD91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04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95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 curve balances two types of errors.</a:t>
            </a:r>
          </a:p>
          <a:p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 model performance over all thresholds. </a:t>
            </a:r>
            <a:endParaRPr lang="en-US" sz="1200" b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40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0ECF8-E727-E6FE-36D0-884C49C3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ED89D-2492-FBC4-9224-CFA420F04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F187D-EB69-69D5-F78F-FBC66468B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6F953-4E11-9949-6718-6A4DE02DA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06C42A-5AA1-B144-8688-E824ABDD91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28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/>
                </a:solidFill>
                <a:effectLst/>
              </a:rPr>
              <a:t>R</a:t>
            </a:r>
            <a:r>
              <a:rPr lang="en-US" i="1" baseline="30000" dirty="0">
                <a:solidFill>
                  <a:schemeClr val="accent1"/>
                </a:solidFill>
                <a:effectLst/>
              </a:rPr>
              <a:t>2  </a:t>
            </a:r>
            <a:r>
              <a:rPr lang="en-US" dirty="0">
                <a:solidFill>
                  <a:schemeClr val="accent1"/>
                </a:solidFill>
                <a:effectLst/>
              </a:rPr>
              <a:t>is </a:t>
            </a:r>
            <a:r>
              <a:rPr lang="en-US" b="0" i="0" dirty="0">
                <a:solidFill>
                  <a:schemeClr val="accent1"/>
                </a:solidFill>
                <a:effectLst/>
                <a:highlight>
                  <a:srgbClr val="FFFFFF"/>
                </a:highlight>
              </a:rPr>
              <a:t>a goodness-of-fit measure; but is not often used to compare different models.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 different fields, </a:t>
            </a:r>
            <a:r>
              <a:rPr lang="en-US" i="1" dirty="0">
                <a:effectLst/>
              </a:rPr>
              <a:t>good R</a:t>
            </a:r>
            <a:r>
              <a:rPr lang="en-US" baseline="30000" dirty="0">
                <a:effectLst/>
              </a:rPr>
              <a:t>2</a:t>
            </a:r>
            <a:r>
              <a:rPr lang="en-US" dirty="0">
                <a:effectLst/>
              </a:rPr>
              <a:t> values are vastly different. E.g., e</a:t>
            </a:r>
            <a:r>
              <a:rPr lang="en-US" dirty="0"/>
              <a:t>ven with a great model, studies that try to predict human behaviors generally have </a:t>
            </a:r>
            <a:r>
              <a:rPr lang="en-US" i="1" dirty="0">
                <a:effectLst/>
              </a:rPr>
              <a:t>R</a:t>
            </a:r>
            <a:r>
              <a:rPr lang="en-US" i="1" baseline="30000" dirty="0">
                <a:effectLst/>
              </a:rPr>
              <a:t>2 </a:t>
            </a:r>
            <a:r>
              <a:rPr lang="en-US" dirty="0"/>
              <a:t>less than 0.5.</a:t>
            </a:r>
          </a:p>
          <a:p>
            <a:r>
              <a:rPr lang="en-US" dirty="0">
                <a:solidFill>
                  <a:srgbClr val="FF0000"/>
                </a:solidFill>
              </a:rPr>
              <a:t>       - Why? People are just harder to predict than things like physical processes.</a:t>
            </a:r>
            <a:endParaRPr lang="en-US" dirty="0">
              <a:solidFill>
                <a:srgbClr val="FF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45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Odds ratio = exp(0.85) &gt;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6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 odds does not increase in a constant speed, but the log odds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66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effectLst/>
              <a:latin typeface="LMSans1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45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1D25C-36E1-824D-8CFA-3F0CC7629BBC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55B7-E215-8E48-B566-E3847AF5A2D1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36CD-A617-D04F-9A56-56F543DC1F6F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0ACA4-8DCA-604F-B381-84CB3040029E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0355-DDA4-4445-BBB0-96BB0792DA2B}" type="datetime1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26E-C0C6-D549-80ED-E217BB63849A}" type="datetime1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A1BA1-F725-494E-909C-533657DE641A}" type="datetime1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0D5AB-0838-FE4C-AF62-37F1B9CC9F0F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9B14-D4A4-AE49-81A7-9329FDE32802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E150-F301-AA4C-9314-37AE248C041A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E4AB-422D-484F-9500-E733E0127C77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LM Sans 12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269C5E72-494E-FE4E-9711-BEA830EC3CE7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39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  <a:lvl2pPr>
              <a:defRPr b="0" i="0">
                <a:latin typeface="LM Sans 12" pitchFamily="2" charset="77"/>
              </a:defRPr>
            </a:lvl2pPr>
            <a:lvl3pPr>
              <a:defRPr b="0" i="0">
                <a:latin typeface="LM Sans 12" pitchFamily="2" charset="77"/>
              </a:defRPr>
            </a:lvl3pPr>
            <a:lvl4pPr>
              <a:defRPr b="0" i="0">
                <a:latin typeface="LM Sans 12" pitchFamily="2" charset="77"/>
              </a:defRPr>
            </a:lvl4pPr>
            <a:lvl5pPr>
              <a:defRPr b="0" i="0">
                <a:latin typeface="LM Sans 12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38835AC3-071B-BF4D-BFFB-EFD1EA55AC38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32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2FDC-4C06-B047-B20B-502A7290C892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15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BB508975-8603-F040-95E0-FF4EBC8BA4FA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43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C65C-BAA5-E347-9937-3A449E5B6DE5}" type="datetime1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40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7F62-9B83-DD4B-A32C-8D4F8F5908D9}" type="datetime1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5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15B7-D6AD-8B42-998F-C564BDA93E34}" type="datetime1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16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4EAE-8644-A346-8A50-CD1B4BB6E41B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13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4000E-D2F6-B24A-AD49-8544F45837CF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7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BC353-D6A0-F44C-A965-BEA9EE8AD59A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1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BABE-422C-7F44-A7C5-5B956A03071A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3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4A68FBEC-A6EF-FA40-8A86-1612FAC97143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073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BFBC8BA-CF92-B84C-AE1C-661E2DC4125F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3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B23C-C8D4-894D-90A4-7CB6808F52EC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90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A3EAF066-C4E1-614E-B459-5E3FE30C7A6A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407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E2C4-587F-4743-9184-A5FE64E401FC}" type="datetime1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246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61C-A040-B540-A29D-5F691041E09F}" type="datetime1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07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35EC-E0F4-2D4E-81D7-62B9FB91BA77}" type="datetime1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030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725-B6C0-F347-B6BA-7CD40B95D153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934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B68FC-02AC-D747-8049-A88A08799D7F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89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BEF2F-58AE-C545-B12D-68DA2DB49F71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2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B45C-82AA-DD48-9869-C8B62065DA92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299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6DE2220-6F46-1744-9E81-9B7D406F7021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794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924D54F8-0239-2C44-8EDD-EAE64A4101E3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67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390B-9FDD-5C4C-B84F-F2FB271FAD82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589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9760EC84-5C16-DD4E-9484-1B58F4B01500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136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41BC-7E0A-9846-B9BA-07D6F7E420D4}" type="datetime1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663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3E02-CF0F-4D47-92C1-86C05DE6C4A2}" type="datetime1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639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198D-518F-2447-B990-C42708335062}" type="datetime1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90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4D32-8A39-FA45-93E8-262A1642BAF5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112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493F6-A220-9042-84C4-529701F9227C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966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22AC7-749F-3F41-BAF6-1D0C82E3EB5F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716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E8B8-5097-594B-AB0F-0FBFEA7086EF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228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52ABA-D693-5C4D-A2DD-7B0E97ADA0A5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016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42F39-40AD-CF40-B785-C7A05A12751B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207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0DBD-6626-D948-8440-33725A84EFD3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278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8A72-4F8C-E14F-9559-70C378CDF2C4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27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E440A-871B-1248-90FA-DE2408B53D02}" type="datetime1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640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6DD7-A985-C149-AFE4-521F8289B68C}" type="datetime1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480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323ED-72C0-0B49-8C93-F6A33820FB85}" type="datetime1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310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41DE3-6AE3-0048-8507-5CCFF7D3F01E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409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431D-ADE7-8C48-AAC7-3D1984B18245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79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C1E7-C7A5-3D40-8EF8-FF084037A734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932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A68C-1949-C140-BC6F-023E85C53274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821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412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6421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761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541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371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47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793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909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0477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5826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A4F0D-F597-C946-97F2-C3C88514198E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982BA2AD-92C7-9842-9DEC-B57B02665CC0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6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FF4D67-CE94-F344-A02E-7A8F939F7A83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5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B5BB271E-DABA-214C-9A09-FB52C321667E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2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EFC40-8548-5B4E-877F-10EB37B057E8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fit-r.github.io/naive_bayes" TargetMode="External"/><Relationship Id="rId2" Type="http://schemas.openxmlformats.org/officeDocument/2006/relationships/hyperlink" Target="https://towardsdatascience.com/introduction-to-na%C3%AFve-bayes-classifier-fa59e3e24aaf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gif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tin.com/data-science/adjusted-r-squared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icwsm.org/2027/" TargetMode="Externa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6359-AFC8-5749-ABD8-D22C3153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602" y="1413845"/>
            <a:ext cx="7746794" cy="1729289"/>
          </a:xfrm>
        </p:spPr>
        <p:txBody>
          <a:bodyPr>
            <a:normAutofit fontScale="90000"/>
          </a:bodyPr>
          <a:lstStyle/>
          <a:p>
            <a:r>
              <a:rPr lang="en-US" dirty="0"/>
              <a:t>DSC3013 Intro. to Social</a:t>
            </a:r>
            <a:br>
              <a:rPr lang="en-US" dirty="0"/>
            </a:br>
            <a:r>
              <a:rPr lang="en-US" dirty="0"/>
              <a:t>Media Analytics (</a:t>
            </a:r>
            <a:r>
              <a:rPr lang="en-US" dirty="0" err="1"/>
              <a:t>Lec</a:t>
            </a:r>
            <a:r>
              <a:rPr lang="en-US" dirty="0"/>
              <a:t>.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230220"/>
            <a:ext cx="6858000" cy="2653748"/>
          </a:xfrm>
        </p:spPr>
        <p:txBody>
          <a:bodyPr>
            <a:normAutofit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B812824-44BF-91DE-43CE-423EF8E9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19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By the end of this lecture, you will be able to:</a:t>
            </a:r>
            <a:endParaRPr lang="en-US" dirty="0"/>
          </a:p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endParaRPr dirty="0"/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Distinguish between classification and regression tasks</a:t>
            </a:r>
          </a:p>
          <a:p>
            <a:pPr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Explain logistic </a:t>
            </a:r>
            <a:r>
              <a:rPr lang="en-US" dirty="0"/>
              <a:t>and OLS </a:t>
            </a:r>
            <a:r>
              <a:rPr dirty="0"/>
              <a:t>regression in plain language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Identify when to use count models like Negative Binomial Reg</a:t>
            </a:r>
            <a:r>
              <a:rPr lang="en-US" dirty="0"/>
              <a:t>.</a:t>
            </a:r>
            <a:endParaRPr dirty="0"/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</a:t>
            </a:r>
            <a:r>
              <a:rPr lang="en-US" dirty="0"/>
              <a:t>Contrast and interpret</a:t>
            </a:r>
            <a:r>
              <a:rPr dirty="0"/>
              <a:t> common evaluation metrics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Apply predictive models to social media research questions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Critically evaluate model performance and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823AA-D9CA-B16B-AC11-01820C11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1.  What is predictive </a:t>
            </a:r>
            <a:r>
              <a:rPr lang="en-US" dirty="0"/>
              <a:t>analysis (vs. interpretive analysis)</a:t>
            </a:r>
            <a:endParaRPr dirty="0"/>
          </a:p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2.  Classification models (logistic</a:t>
            </a:r>
            <a:r>
              <a:rPr lang="en-US" dirty="0"/>
              <a:t> reg., </a:t>
            </a:r>
            <a:r>
              <a:rPr lang="en-HK" dirty="0"/>
              <a:t>Naïve Bayes</a:t>
            </a:r>
            <a:r>
              <a:rPr dirty="0"/>
              <a:t>)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3.  Regression models (OLS, </a:t>
            </a:r>
            <a:r>
              <a:rPr lang="en-US" dirty="0"/>
              <a:t>Ridge, </a:t>
            </a:r>
            <a:r>
              <a:rPr dirty="0"/>
              <a:t>Negative Binomial)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4.  </a:t>
            </a:r>
            <a:r>
              <a:rPr lang="en-US" dirty="0"/>
              <a:t>Model e</a:t>
            </a:r>
            <a:r>
              <a:rPr dirty="0"/>
              <a:t>valuation metrics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5.  Applications in social media analytics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6.  In-class exercises</a:t>
            </a:r>
            <a:endParaRPr lang="en-US" dirty="0"/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7.  Python tutorial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400" dirty="0">
                <a:solidFill>
                  <a:srgbClr val="0078B9"/>
                </a:solidFill>
              </a:rPr>
              <a:t>Scikit-learn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400" dirty="0">
                <a:solidFill>
                  <a:srgbClr val="0078B9"/>
                </a:solidFill>
              </a:rPr>
              <a:t>Predicting news coverage of papers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FD72B-3C1A-0A04-9A62-37105B42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What Is Predictive Modeling?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19"/>
            <a:ext cx="8046720" cy="1525905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sz="2400" dirty="0"/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4952" y="1600200"/>
            <a:ext cx="74980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The use of statistical or machine learning techniques to predict an outcome (</a:t>
            </a:r>
            <a:r>
              <a:rPr lang="en-US" dirty="0"/>
              <a:t>often called </a:t>
            </a:r>
            <a:r>
              <a:rPr dirty="0"/>
              <a:t>dependent variable) from one or more input variables (</a:t>
            </a:r>
            <a:r>
              <a:rPr lang="en-US" dirty="0"/>
              <a:t>often referred to as </a:t>
            </a:r>
            <a:r>
              <a:rPr dirty="0"/>
              <a:t>features</a:t>
            </a:r>
            <a:r>
              <a:rPr lang="en-US" dirty="0"/>
              <a:t> or </a:t>
            </a:r>
            <a:r>
              <a:rPr dirty="0"/>
              <a:t>predictors).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80467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Two broad families: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- Classification: Predict a category (e.g., spam vs. not spam)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- Regression: Predict a numeric value (e.g., number of shares)</a:t>
            </a:r>
          </a:p>
          <a:p>
            <a:pPr>
              <a:spcAft>
                <a:spcPts val="6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>
                <a:solidFill>
                  <a:srgbClr val="C00000"/>
                </a:solidFill>
              </a:rPr>
              <a:t>Goal: </a:t>
            </a:r>
            <a:r>
              <a:rPr lang="en-US" dirty="0">
                <a:solidFill>
                  <a:srgbClr val="C00000"/>
                </a:solidFill>
              </a:rPr>
              <a:t>Focus on p</a:t>
            </a:r>
            <a:r>
              <a:rPr dirty="0">
                <a:solidFill>
                  <a:srgbClr val="C00000"/>
                </a:solidFill>
              </a:rPr>
              <a:t>rediction </a:t>
            </a:r>
            <a:r>
              <a:rPr lang="en-US" dirty="0">
                <a:solidFill>
                  <a:srgbClr val="C00000"/>
                </a:solidFill>
              </a:rPr>
              <a:t>performance </a:t>
            </a:r>
            <a:r>
              <a:rPr dirty="0">
                <a:solidFill>
                  <a:srgbClr val="C00000"/>
                </a:solidFill>
              </a:rPr>
              <a:t>and generalization to new </a:t>
            </a:r>
            <a:r>
              <a:rPr lang="en-US" dirty="0">
                <a:solidFill>
                  <a:srgbClr val="C00000"/>
                </a:solidFill>
              </a:rPr>
              <a:t>(unseen) </a:t>
            </a:r>
            <a:r>
              <a:rPr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. Less so on explanation and interpretation.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3B4C3-58D0-FBDB-CA9C-6DDB600F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Prediction vs. Explanation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atin Modern Sans"/>
              </a:defRPr>
            </a:pPr>
            <a: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444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atin Modern Sans"/>
              </a:defRPr>
            </a:pPr>
            <a:r>
              <a:t>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44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atin Modern Sans"/>
              </a:defRPr>
            </a:pPr>
            <a:r>
              <a:t>Typical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Why does X happen?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299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What drives engagement?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61488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W</a:t>
            </a:r>
            <a:r>
              <a:rPr dirty="0"/>
              <a:t>ill </a:t>
            </a:r>
            <a:r>
              <a:rPr lang="en-US" dirty="0"/>
              <a:t>it </a:t>
            </a:r>
            <a:r>
              <a:rPr dirty="0"/>
              <a:t>happen?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761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Will this post go viral?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74705"/>
            <a:ext cx="859536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b="1" dirty="0"/>
              <a:t>- Both matter in social media analytics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Predictive models prioritize out-of-sample accuracy</a:t>
            </a:r>
            <a:r>
              <a:rPr lang="en-US" dirty="0"/>
              <a:t> (</a:t>
            </a:r>
            <a:r>
              <a:rPr lang="en-US" b="1" dirty="0"/>
              <a:t>DSC3013</a:t>
            </a:r>
            <a:r>
              <a:rPr lang="en-US" dirty="0"/>
              <a:t>)</a:t>
            </a:r>
            <a:endParaRPr dirty="0"/>
          </a:p>
          <a:p>
            <a:pPr algn="l">
              <a:spcAft>
                <a:spcPts val="12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Explanatory models prioritize</a:t>
            </a:r>
            <a:r>
              <a:rPr lang="en-US" dirty="0"/>
              <a:t> correlation, </a:t>
            </a:r>
            <a:r>
              <a:rPr dirty="0"/>
              <a:t>causality</a:t>
            </a:r>
            <a:r>
              <a:rPr lang="en-US" dirty="0"/>
              <a:t> (</a:t>
            </a:r>
            <a:r>
              <a:rPr lang="en-US" b="1" dirty="0"/>
              <a:t>DSC2005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b="1" dirty="0"/>
              <a:t>- Different terminologies</a:t>
            </a:r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>
                <a:solidFill>
                  <a:srgbClr val="0078B9"/>
                </a:solidFill>
              </a:rPr>
              <a:t>Explanation:</a:t>
            </a:r>
            <a:r>
              <a:rPr lang="en-US" dirty="0"/>
              <a:t> coefficients, p-value; fit to all data (</a:t>
            </a:r>
            <a:r>
              <a:rPr lang="en-US" sz="2400" b="1" i="1" dirty="0" err="1"/>
              <a:t>Statsmodels</a:t>
            </a:r>
            <a:r>
              <a:rPr lang="en-US" sz="2400" dirty="0"/>
              <a:t>)</a:t>
            </a:r>
            <a:endParaRPr lang="en-US" dirty="0"/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>
                <a:solidFill>
                  <a:srgbClr val="C00000"/>
                </a:solidFill>
              </a:rPr>
              <a:t>Prediction:</a:t>
            </a:r>
            <a:r>
              <a:rPr lang="en-US" dirty="0"/>
              <a:t> performance; train/test, k-fold CV (</a:t>
            </a:r>
            <a:r>
              <a:rPr lang="en-US" b="1" i="1" dirty="0"/>
              <a:t>Scikit-learn</a:t>
            </a:r>
            <a:r>
              <a:rPr lang="en-US" dirty="0"/>
              <a:t>)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119F68B-62DD-E33C-FE77-BDCB9907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Classification vs.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atin Modern Sans"/>
              </a:defRPr>
            </a:pPr>
            <a: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atin Modern Sans"/>
              </a:defRPr>
            </a:pPr>
            <a:r>
              <a:t>Outcome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atin Modern Sans"/>
              </a:defRPr>
            </a:pPr>
            <a:r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0299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Categorical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02996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What’s user’s personality</a:t>
            </a:r>
            <a:r>
              <a:rPr dirty="0"/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614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Continuous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2761488"/>
            <a:ext cx="3391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What’s the toxicity level of posts</a:t>
            </a:r>
            <a:r>
              <a:rPr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Count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930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Non-negative integers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49300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Number of retweets</a:t>
            </a:r>
            <a:r>
              <a:rPr lang="en-US" dirty="0"/>
              <a:t> / likes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0080" y="422452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Binary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2245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Two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2245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t>Misinformation vs. factual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88EBD40-215C-C6AF-0BEE-7C63C6E4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Logistic Regression - Intuition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t>A statistical model that predicts the probability of a binary outcome (0 or 1) using a logistic (S-shaped) function.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80467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Why not linear regression for binary outcomes?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Linear models can predict probabilities outside 0-1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Logistic regression keeps predictions in [0, 1]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Output: Probability between 0 and 1, converted to class using a </a:t>
            </a:r>
            <a:r>
              <a:rPr lang="en-US" dirty="0"/>
              <a:t>pre-defined </a:t>
            </a:r>
            <a:r>
              <a:rPr dirty="0"/>
              <a:t>threshold (usually 0.5</a:t>
            </a:r>
            <a:r>
              <a:rPr lang="en-US" dirty="0"/>
              <a:t>; not always</a:t>
            </a:r>
            <a:r>
              <a:rPr dirty="0"/>
              <a:t>).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00C90-D5CD-4CD7-8460-C1AB21B6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2D3A-198E-D38F-3F14-613452AF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84417B-0B69-2BA6-AC6E-94E43A791799}"/>
              </a:ext>
            </a:extLst>
          </p:cNvPr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Logistic Regression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F5A12-15A1-7CD4-67B1-A5BA0CDDC506}"/>
              </a:ext>
            </a:extLst>
          </p:cNvPr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2FBE0-B30C-DAD3-9C2E-C55180738E19}"/>
              </a:ext>
            </a:extLst>
          </p:cNvPr>
          <p:cNvSpPr txBox="1"/>
          <p:nvPr/>
        </p:nvSpPr>
        <p:spPr>
          <a:xfrm>
            <a:off x="822960" y="1371600"/>
            <a:ext cx="749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Logit </a:t>
            </a:r>
            <a:r>
              <a:rPr lang="en-US" dirty="0"/>
              <a:t>equation</a:t>
            </a:r>
            <a:r>
              <a:rPr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52D50-5EB6-EDF9-9F5A-902687C08451}"/>
              </a:ext>
            </a:extLst>
          </p:cNvPr>
          <p:cNvSpPr txBox="1"/>
          <p:nvPr/>
        </p:nvSpPr>
        <p:spPr>
          <a:xfrm>
            <a:off x="822960" y="1737360"/>
            <a:ext cx="74980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log(p / (1 - p)) = b</a:t>
            </a:r>
            <a:r>
              <a:rPr baseline="-25000" dirty="0"/>
              <a:t>0</a:t>
            </a:r>
            <a:r>
              <a:rPr dirty="0"/>
              <a:t> + b</a:t>
            </a:r>
            <a:r>
              <a:rPr baseline="-25000" dirty="0"/>
              <a:t>1</a:t>
            </a:r>
            <a:r>
              <a:rPr dirty="0"/>
              <a:t>X</a:t>
            </a:r>
            <a:r>
              <a:rPr baseline="-25000" dirty="0"/>
              <a:t>1</a:t>
            </a:r>
            <a:r>
              <a:rPr dirty="0"/>
              <a:t> + b</a:t>
            </a:r>
            <a:r>
              <a:rPr baseline="-25000" dirty="0"/>
              <a:t>2</a:t>
            </a:r>
            <a:r>
              <a:rPr dirty="0"/>
              <a:t>X</a:t>
            </a:r>
            <a:r>
              <a:rPr baseline="-25000" dirty="0"/>
              <a:t>2</a:t>
            </a:r>
            <a:r>
              <a:rPr dirty="0"/>
              <a:t> + ... + </a:t>
            </a:r>
            <a:r>
              <a:rPr dirty="0" err="1"/>
              <a:t>b</a:t>
            </a:r>
            <a:r>
              <a:rPr baseline="-25000" dirty="0" err="1"/>
              <a:t>k</a:t>
            </a:r>
            <a:r>
              <a:rPr dirty="0" err="1"/>
              <a:t>X</a:t>
            </a:r>
            <a:r>
              <a:rPr baseline="-25000" dirty="0" err="1"/>
              <a:t>k</a:t>
            </a:r>
            <a:endParaRPr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FEE2F-88A3-6329-916E-63278B9CD3AE}"/>
              </a:ext>
            </a:extLst>
          </p:cNvPr>
          <p:cNvSpPr txBox="1"/>
          <p:nvPr/>
        </p:nvSpPr>
        <p:spPr>
          <a:xfrm>
            <a:off x="548640" y="2643184"/>
            <a:ext cx="80467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p = probability of the outcome</a:t>
            </a:r>
            <a:endParaRPr lang="en-US" dirty="0"/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X = predictor variables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b = coefficients (log-odds change for a one-unit increase in X)</a:t>
            </a:r>
          </a:p>
          <a:p>
            <a:pPr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endParaRPr lang="en-US" dirty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>
                <a:solidFill>
                  <a:srgbClr val="C00000"/>
                </a:solidFill>
              </a:rPr>
              <a:t>More on interpretation of logit coefficients in DSC2005!</a:t>
            </a:r>
          </a:p>
          <a:p>
            <a:pPr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/>
              <a:t>(</a:t>
            </a:r>
            <a:r>
              <a:rPr dirty="0"/>
              <a:t>odds </a:t>
            </a:r>
            <a:r>
              <a:rPr lang="en-US" dirty="0"/>
              <a:t>ratio, relative increase in odds of success)</a:t>
            </a:r>
          </a:p>
          <a:p>
            <a:pPr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>
                <a:solidFill>
                  <a:srgbClr val="0078B9"/>
                </a:solidFill>
              </a:rPr>
              <a:t>This course focuses on prediction performance.</a:t>
            </a:r>
            <a:endParaRPr dirty="0">
              <a:solidFill>
                <a:srgbClr val="0078B9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5A355-DE96-D1B3-B3BA-001ED02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33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15FAE-1798-2A44-7711-ADBC27A3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8177C2-49AF-4206-BDE1-B2F004089488}"/>
              </a:ext>
            </a:extLst>
          </p:cNvPr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Logistic Regression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6B28D-A108-CD55-6CE2-55875E7ADA4F}"/>
              </a:ext>
            </a:extLst>
          </p:cNvPr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Research question: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D7471-1FA6-E860-FAF4-DABEB746F5C3}"/>
              </a:ext>
            </a:extLst>
          </p:cNvPr>
          <p:cNvSpPr txBox="1"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t>Will a tweet be retweeted more than 100 times?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05D20-6906-03D0-BE14-27C5E6FFA677}"/>
              </a:ext>
            </a:extLst>
          </p:cNvPr>
          <p:cNvSpPr txBox="1"/>
          <p:nvPr/>
        </p:nvSpPr>
        <p:spPr>
          <a:xfrm>
            <a:off x="562928" y="2283136"/>
            <a:ext cx="8581072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Predictors: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Hashtag count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Sentiment score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Follower count of </a:t>
            </a:r>
            <a:r>
              <a:rPr lang="en-US" dirty="0"/>
              <a:t>user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Contains image (yes/no)</a:t>
            </a:r>
            <a:endParaRPr lang="en-US"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endParaRPr lang="en-US" dirty="0"/>
          </a:p>
          <a:p>
            <a:pPr algn="l">
              <a:spcAft>
                <a:spcPts val="8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Outcome: 1 = high retweet, 0 = low retweet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661ED-015B-C1EC-3AAC-6568476F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11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Other Classification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Naive Bayes: Fast, works well for text classification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Decision Trees: Interpretable, handle nonlinearity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Random Forest: Ensemble of trees, high accuracy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Support Vector Machines: Good for high-dimensional data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Neural Networks: Powerful but data-hungry</a:t>
            </a:r>
          </a:p>
          <a:p>
            <a:pPr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We focus on </a:t>
            </a:r>
            <a:r>
              <a:rPr lang="en-US" dirty="0"/>
              <a:t>L</a:t>
            </a:r>
            <a:r>
              <a:rPr dirty="0"/>
              <a:t>ogistic </a:t>
            </a:r>
            <a:r>
              <a:rPr lang="en-US" dirty="0"/>
              <a:t>R</a:t>
            </a:r>
            <a:r>
              <a:rPr dirty="0"/>
              <a:t>egression </a:t>
            </a:r>
            <a:r>
              <a:rPr lang="en-US" dirty="0"/>
              <a:t>and Naïve Bayes </a:t>
            </a:r>
            <a:r>
              <a:rPr dirty="0"/>
              <a:t>because </a:t>
            </a:r>
            <a:r>
              <a:rPr lang="en-US" dirty="0"/>
              <a:t>they are</a:t>
            </a:r>
            <a:r>
              <a:rPr dirty="0"/>
              <a:t> </a:t>
            </a:r>
            <a:r>
              <a:rPr lang="en-US" dirty="0"/>
              <a:t>interpretable</a:t>
            </a:r>
            <a:r>
              <a:rPr dirty="0"/>
              <a:t> and widely used in social science.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D19DF-A31D-5C26-1F38-44E7ED462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2223-29E0-0D2D-E707-DFDAC84F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256640"/>
            <a:ext cx="7886700" cy="1325563"/>
          </a:xfrm>
        </p:spPr>
        <p:txBody>
          <a:bodyPr/>
          <a:lstStyle/>
          <a:p>
            <a:r>
              <a:rPr lang="en-US" dirty="0"/>
              <a:t>Naïve Bayes classifier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08CD4-7199-E02B-186C-93AB8C3CF3E0}"/>
              </a:ext>
            </a:extLst>
          </p:cNvPr>
          <p:cNvSpPr txBox="1"/>
          <p:nvPr/>
        </p:nvSpPr>
        <p:spPr>
          <a:xfrm>
            <a:off x="829615" y="5987900"/>
            <a:ext cx="7009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https://towardsdatascience.com/introduction-to-na%C3%AFve-bayes-classifier-fa59e3e24aaf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https://afit-r.github.io/naive_bayes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335B9-353B-80D8-4EDD-98F5B215604C}"/>
              </a:ext>
            </a:extLst>
          </p:cNvPr>
          <p:cNvSpPr txBox="1"/>
          <p:nvPr/>
        </p:nvSpPr>
        <p:spPr>
          <a:xfrm>
            <a:off x="597654" y="1474481"/>
            <a:ext cx="81556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等线" panose="02010600030101010101" pitchFamily="2" charset="-122"/>
                <a:cs typeface="+mn-cs"/>
              </a:rPr>
              <a:t>The Naïve Bayes classifier is a simple probabilistic classifier which is based on Bayes theorem but with 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等线" panose="02010600030101010101" pitchFamily="2" charset="-122"/>
                <a:cs typeface="+mn-cs"/>
              </a:rPr>
              <a:t>strong assumptions regarding independence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等线" panose="02010600030101010101" pitchFamily="2" charset="-122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等线" panose="02010600030101010101" pitchFamily="2" charset="-122"/>
                <a:cs typeface="+mn-cs"/>
              </a:rPr>
              <a:t>It is popular in email filtering, spam detection, document categorization.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等线" panose="02010600030101010101" pitchFamily="2" charset="-122"/>
                <a:cs typeface="+mn-cs"/>
              </a:rPr>
              <a:t>Fast, efficient (time and space), scalable, easy to understand.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7357DFE-10BA-863E-1E47-B6700891E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837" y="2781990"/>
            <a:ext cx="4771537" cy="261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DB89E1-C39F-A665-EDEF-C601C1C9D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189" y="5058825"/>
            <a:ext cx="244518" cy="138206"/>
          </a:xfrm>
          <a:prstGeom prst="rect">
            <a:avLst/>
          </a:prstGeom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8685A255-8615-1750-EECF-2B08B65B6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666" y="5468637"/>
            <a:ext cx="3932892" cy="34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923724-B2A6-C164-5A81-04E574FFBB61}"/>
              </a:ext>
            </a:extLst>
          </p:cNvPr>
          <p:cNvSpPr txBox="1"/>
          <p:nvPr/>
        </p:nvSpPr>
        <p:spPr>
          <a:xfrm>
            <a:off x="1353979" y="5414892"/>
            <a:ext cx="1619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Prediction: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3CE79-C11F-78A4-ED56-32B5BF01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62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1A1A2E"/>
                </a:solidFill>
                <a:latin typeface="Latin Modern Sans"/>
              </a:defRPr>
            </a:pP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Naive Bayes -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Example</a:t>
            </a:r>
            <a:endParaRPr kumimoji="0" sz="36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132320" cy="3200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875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Clickbait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987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987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987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Label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7132320" cy="3200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307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307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307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307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7132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16276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1627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627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276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20240"/>
            <a:ext cx="7132320" cy="3200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19476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19476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19476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947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947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Fake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40280"/>
            <a:ext cx="7132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267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267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267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2677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Fake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560320"/>
            <a:ext cx="7132320" cy="3200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25877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2587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25877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2587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5877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Fake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7132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29077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29077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29077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2907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29077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200400"/>
            <a:ext cx="7132320" cy="3200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" y="32278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32278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32278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3227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3227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520440"/>
            <a:ext cx="7132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02920" y="35478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3547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3547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3547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35478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840480"/>
            <a:ext cx="7132320" cy="3200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02920" y="38679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3867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6120" y="3867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3867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38679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60520"/>
            <a:ext cx="7132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02920" y="4187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25880" y="4187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46120" y="4187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4187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41879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Real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6286589-1C17-DD16-8CE0-4E6A06014058}"/>
              </a:ext>
            </a:extLst>
          </p:cNvPr>
          <p:cNvGrpSpPr/>
          <p:nvPr/>
        </p:nvGrpSpPr>
        <p:grpSpPr>
          <a:xfrm>
            <a:off x="457200" y="4719320"/>
            <a:ext cx="8509000" cy="1554480"/>
            <a:chOff x="457200" y="4846320"/>
            <a:chExt cx="8509000" cy="1554480"/>
          </a:xfrm>
        </p:grpSpPr>
        <p:sp>
          <p:nvSpPr>
            <p:cNvPr id="69" name="Rectangle 68"/>
            <p:cNvSpPr/>
            <p:nvPr/>
          </p:nvSpPr>
          <p:spPr>
            <a:xfrm>
              <a:off x="457200" y="4846320"/>
              <a:ext cx="3291840" cy="1554480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94360" y="4892040"/>
              <a:ext cx="30175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4C72B0"/>
                  </a:solidFill>
                  <a:latin typeface="Latin Modern Sans"/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C72B0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Priors: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94360" y="5257800"/>
              <a:ext cx="3017520" cy="1005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P(Fake) = 5/10 = 0.50</a:t>
              </a:r>
              <a:b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</a:b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P(Real) = 5/10 = 0.50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931920" y="4846320"/>
              <a:ext cx="4754880" cy="1554480"/>
            </a:xfrm>
            <a:prstGeom prst="rect">
              <a:avLst/>
            </a:prstGeom>
            <a:solidFill>
              <a:srgbClr val="FFF8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992880" y="489204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1">
                  <a:solidFill>
                    <a:srgbClr val="4C72B0"/>
                  </a:solidFill>
                  <a:latin typeface="Latin Modern Sans"/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C72B0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Conditional probabilities (smoothed):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018280" y="5212080"/>
              <a:ext cx="494792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P(Clickbait=Yes | Fake) = 0.714 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  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P(Clickbait=Yes | Real) = 0.143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>
                  <a:solidFill>
                    <a:srgbClr val="1A1A2E"/>
                  </a:solidFill>
                  <a:latin typeface="Latin Modern Sans"/>
                </a:defRPr>
              </a:pPr>
              <a:b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</a:b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P(Caps=Yes | Fake) = 0.571       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   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P(Caps=Yes | Real) = 0.286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>
                  <a:solidFill>
                    <a:srgbClr val="1A1A2E"/>
                  </a:solidFill>
                  <a:latin typeface="Latin Modern Sans"/>
                </a:defRPr>
              </a:pPr>
              <a:b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</a:b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P(URL=No | Fake) = 0.429         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   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P(URL=No | Real) = 0.429</a:t>
              </a:r>
            </a:p>
          </p:txBody>
        </p:sp>
      </p:grpSp>
      <p:sp>
        <p:nvSpPr>
          <p:cNvPr id="76" name="Slide Number Placeholder 3">
            <a:extLst>
              <a:ext uri="{FF2B5EF4-FFF2-40B4-BE49-F238E27FC236}">
                <a16:creationId xmlns:a16="http://schemas.microsoft.com/office/drawing/2014/main" id="{04C289B6-B5B4-D1E6-08E0-88B28E003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1A1A2E"/>
                </a:solidFill>
                <a:latin typeface="Latin Modern Sans"/>
              </a:defRPr>
            </a:pP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Naive Bayes - Classifying a New Post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548639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A1A2E"/>
                </a:solidFill>
                <a:latin typeface="Latin Modern Sans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New post:  Clickbait = Yes    |    Caps = Yes    |    URL =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19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Smoothed conditional probabilities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(likelihoods)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039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039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P(v | Fake)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039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P(v | Real)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Clickbait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59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0.714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359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0.143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2679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679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79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0.571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79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0.286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29992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999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999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0.429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999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0.429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29000"/>
            <a:ext cx="8229600" cy="1033272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Posterior scores (prior x likelihoods):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1A1A2E"/>
                </a:solidFill>
                <a:latin typeface="Latin Modern San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Score(Fake) = 0.5 x 0.714 x 0.571 x 0.429 = 0.0875</a:t>
            </a:r>
            <a:b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</a:b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Score(Real) = 0.5 x 0.143 x 0.286 x 0.429 = 0.0088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04080"/>
            <a:ext cx="8229600" cy="123444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47498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Normalize to probabilities: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155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1A1A2E"/>
                </a:solidFill>
                <a:latin typeface="Latin Modern San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P(Fake | X) = 0.0875 / 0.0963 = 0.909</a:t>
            </a:r>
            <a:b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</a:b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P(Real | X) = 0.0088 / 0.0963 = 0.091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803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B0303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B0303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Prediction: Fake</a:t>
            </a:r>
          </a:p>
        </p:txBody>
      </p:sp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4F91951C-0227-F0C0-2D36-47FAEE81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>
                <a:solidFill>
                  <a:srgbClr val="1A1A2E"/>
                </a:solidFill>
                <a:latin typeface="Latin Modern Sans"/>
              </a:defRPr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Laplace Smoothing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B03030"/>
                </a:solidFill>
                <a:latin typeface="Latin Modern Sans"/>
              </a:defRPr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B0303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Why we need it: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In the raw training data, P(Clickbait=Yes | Real) = 0/5 = 0. A single zero makes the entire product zero, so the model can never classify such a post as Real. Smoothing avoids this.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8229600" cy="12801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863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Laplace s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mooth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ing 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formula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(“add 1 trick”)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7863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1A1A2E"/>
                </a:solidFill>
                <a:latin typeface="Latin Modern Sans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P(value | class) = (count +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1</a:t>
            </a: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) / (class count + k)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Where: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3920"/>
            <a:ext cx="7863840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300" b="0">
                <a:solidFill>
                  <a:srgbClr val="1A1A2E"/>
                </a:solidFill>
                <a:latin typeface="Latin Modern Sans"/>
              </a:defRPr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300" b="0">
                <a:solidFill>
                  <a:srgbClr val="1A1A2E"/>
                </a:solidFill>
                <a:latin typeface="Latin Modern Sans"/>
              </a:defRPr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3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count = number of times value appears 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in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the class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3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class count = total number of samples in the class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3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k = number of distinct values the feature can take (2 for binary)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4C72B0"/>
                </a:solidFill>
                <a:latin typeface="Latin Modern Sans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Worked example (Clickbait = Yes | Real):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78638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Raw count: 0 of 5 Real posts have clickbait</a:t>
            </a:r>
            <a:b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Smoothed: (0 + 1) / (5 + 2) = 1 / 7 = 0.143</a:t>
            </a:r>
            <a:b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1A1A2E"/>
                </a:solidFill>
                <a:latin typeface="Latin Modern Sans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Similarly, f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or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(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URL = No | Fake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)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  (2 + 1) / (5 + 2) = 3 / 7 = 0.429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814CB949-AE82-73F6-BECA-731D2CEF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OLS Regression - Intuition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Ordinary Least Squares (OLS) regression predicts a continuous outcome by finding the line that minimizes the sum of squared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t>Equation: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8046720" cy="727055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7498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Y = b</a:t>
            </a:r>
            <a:r>
              <a:rPr baseline="-25000" dirty="0"/>
              <a:t>0</a:t>
            </a:r>
            <a:r>
              <a:rPr dirty="0"/>
              <a:t> + b</a:t>
            </a:r>
            <a:r>
              <a:rPr sz="2400" b="1" baseline="-25000" dirty="0">
                <a:solidFill>
                  <a:srgbClr val="1A1A2E"/>
                </a:solidFill>
                <a:latin typeface="Latin Modern Sans"/>
              </a:rPr>
              <a:t>1</a:t>
            </a:r>
            <a:r>
              <a:rPr dirty="0"/>
              <a:t>X</a:t>
            </a:r>
            <a:r>
              <a:rPr sz="2400" b="1" baseline="-25000" dirty="0">
                <a:solidFill>
                  <a:srgbClr val="1A1A2E"/>
                </a:solidFill>
                <a:latin typeface="Latin Modern Sans"/>
              </a:rPr>
              <a:t>1</a:t>
            </a:r>
            <a:r>
              <a:rPr dirty="0"/>
              <a:t> + b</a:t>
            </a:r>
            <a:r>
              <a:rPr sz="2400" b="1" baseline="-25000" dirty="0">
                <a:solidFill>
                  <a:srgbClr val="1A1A2E"/>
                </a:solidFill>
                <a:latin typeface="Latin Modern Sans"/>
              </a:rPr>
              <a:t>2</a:t>
            </a:r>
            <a:r>
              <a:rPr dirty="0"/>
              <a:t>X</a:t>
            </a:r>
            <a:r>
              <a:rPr sz="2400" b="1" baseline="-25000" dirty="0">
                <a:solidFill>
                  <a:srgbClr val="1A1A2E"/>
                </a:solidFill>
                <a:latin typeface="Latin Modern Sans"/>
              </a:rPr>
              <a:t>2</a:t>
            </a:r>
            <a:r>
              <a:rPr dirty="0"/>
              <a:t> + ... + </a:t>
            </a:r>
            <a:r>
              <a:rPr dirty="0" err="1"/>
              <a:t>b</a:t>
            </a:r>
            <a:r>
              <a:rPr sz="2400" b="1" baseline="-25000" dirty="0" err="1">
                <a:solidFill>
                  <a:srgbClr val="1A1A2E"/>
                </a:solidFill>
                <a:latin typeface="Latin Modern Sans"/>
              </a:rPr>
              <a:t>k</a:t>
            </a:r>
            <a:r>
              <a:rPr dirty="0" err="1"/>
              <a:t>X</a:t>
            </a:r>
            <a:r>
              <a:rPr sz="2400" b="1" baseline="-25000" dirty="0" err="1">
                <a:solidFill>
                  <a:srgbClr val="1A1A2E"/>
                </a:solidFill>
                <a:latin typeface="Latin Modern Sans"/>
              </a:rPr>
              <a:t>k</a:t>
            </a:r>
            <a:r>
              <a:rPr dirty="0"/>
              <a:t> +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804672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Y = continuous outcome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b = coefficients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e = error term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6E0D41-D6EF-4A7A-C124-DA0D2F0B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OLS Regression -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Linearity between predictors and outcome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</a:t>
            </a:r>
            <a:r>
              <a:rPr lang="en-US" dirty="0"/>
              <a:t>Normal distribution</a:t>
            </a:r>
            <a:r>
              <a:rPr dirty="0"/>
              <a:t> of</a:t>
            </a:r>
            <a:r>
              <a:rPr lang="en-US" dirty="0"/>
              <a:t> DV</a:t>
            </a:r>
            <a:endParaRPr dirty="0"/>
          </a:p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No severe multicollinearity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08964"/>
            <a:ext cx="8046720" cy="1097280"/>
          </a:xfrm>
          <a:prstGeom prst="rect">
            <a:avLst/>
          </a:prstGeom>
          <a:solidFill>
            <a:srgbClr val="F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00404"/>
            <a:ext cx="7498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03030"/>
                </a:solidFill>
                <a:latin typeface="Latin Modern Sans"/>
              </a:defRPr>
            </a:pPr>
            <a:r>
              <a:rPr lang="en-US" dirty="0"/>
              <a:t>Strengths: easy to understand, highly interpretable.</a:t>
            </a:r>
          </a:p>
          <a:p>
            <a:pPr algn="l">
              <a:defRPr sz="2400" b="1">
                <a:solidFill>
                  <a:srgbClr val="B03030"/>
                </a:solidFill>
                <a:latin typeface="Latin Modern Sans"/>
              </a:defRPr>
            </a:pPr>
            <a:r>
              <a:rPr dirty="0"/>
              <a:t>Violations: biased coefficients, unreliable inference.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C01EB-E83A-E50E-5CA6-07906397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OLS Regression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Research question: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How </a:t>
            </a:r>
            <a:r>
              <a:rPr lang="en-US" dirty="0"/>
              <a:t>to predict the </a:t>
            </a:r>
            <a:r>
              <a:rPr dirty="0"/>
              <a:t>engagement score</a:t>
            </a:r>
            <a:r>
              <a:rPr lang="en-US" dirty="0"/>
              <a:t> of each post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Predictors: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Word count</a:t>
            </a:r>
          </a:p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- User account age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Number of hashtags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</a:t>
            </a:r>
            <a:r>
              <a:rPr lang="en-US" dirty="0"/>
              <a:t>Num.</a:t>
            </a:r>
            <a:r>
              <a:rPr dirty="0"/>
              <a:t> of day posted</a:t>
            </a:r>
          </a:p>
          <a:p>
            <a:pPr algn="l">
              <a:spcAft>
                <a:spcPts val="8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Outcome: Engagement score (continuous, 0-100)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E74AC-0098-4661-45E0-5EF1114F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779E9-EFE7-DE47-85C2-25DD3717B0DB}"/>
              </a:ext>
            </a:extLst>
          </p:cNvPr>
          <p:cNvSpPr txBox="1"/>
          <p:nvPr/>
        </p:nvSpPr>
        <p:spPr>
          <a:xfrm>
            <a:off x="548640" y="5346045"/>
            <a:ext cx="8333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>
                <a:solidFill>
                  <a:srgbClr val="C00000"/>
                </a:solidFill>
              </a:rPr>
              <a:t>What if predictors are too many (e.g., thousands of n-grams)?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>
                <a:solidFill>
                  <a:srgbClr val="1A1A2E"/>
                </a:solidFill>
                <a:latin typeface="Latin Modern Sans"/>
              </a:defRPr>
            </a:pPr>
            <a:r>
              <a:rPr kumimoji="0" sz="40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Ridge Regression Equation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49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OLS objective (for comparison):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1A1A2E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minimize    sum(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</a:t>
            </a:r>
            <a:r>
              <a:rPr kumimoji="0" sz="2000" b="1" i="0" u="none" strike="noStrike" kern="1200" cap="none" spc="0" normalizeH="0" baseline="-2500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-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y_hat</a:t>
            </a:r>
            <a:r>
              <a:rPr kumimoji="0" sz="2000" b="1" i="0" u="none" strike="noStrike" kern="1200" cap="none" spc="0" normalizeH="0" baseline="-2500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)</a:t>
            </a:r>
            <a:r>
              <a:rPr kumimoji="0" sz="2000" b="1" i="0" u="none" strike="noStrike" kern="1200" cap="none" spc="0" normalizeH="0" baseline="3000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8046720" cy="92577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49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Ridge objective: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49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1A1A2E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minimize    sum(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</a:t>
            </a:r>
            <a:r>
              <a:rPr kumimoji="0" lang="en-US" sz="2000" b="1" i="0" u="none" strike="noStrike" kern="1200" cap="none" spc="0" normalizeH="0" baseline="-2500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-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y_hat</a:t>
            </a:r>
            <a:r>
              <a:rPr kumimoji="0" lang="en-US" sz="2000" b="1" i="0" u="none" strike="noStrike" kern="1200" cap="none" spc="0" normalizeH="0" baseline="-2500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)</a:t>
            </a:r>
            <a:r>
              <a:rPr kumimoji="0" sz="2000" b="1" i="0" u="none" strike="noStrike" kern="1200" cap="none" spc="0" normalizeH="0" baseline="3000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2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 +  lambda * sum(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</a:t>
            </a:r>
            <a:r>
              <a:rPr kumimoji="0" sz="2000" b="1" i="0" u="none" strike="noStrike" kern="1200" cap="none" spc="0" normalizeH="0" baseline="-2500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j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)</a:t>
            </a:r>
            <a:r>
              <a:rPr kumimoji="0" sz="2000" b="1" i="0" u="none" strike="noStrike" kern="1200" cap="none" spc="0" normalizeH="0" baseline="3000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8046720" cy="180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Key notes: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5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lambda controls penalty strength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5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Predictors must be standardized before fitting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5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lambda = 0 reduces to OLS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500" b="0">
                <a:solidFill>
                  <a:srgbClr val="1A1A2E"/>
                </a:solidFill>
                <a:latin typeface="Latin Modern Sans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lambda -&gt; infinity shrinks all coefficients toward zero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1DE96C-ADBD-CE61-4EDB-82402F23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>
                <a:solidFill>
                  <a:srgbClr val="1A1A2E"/>
                </a:solidFill>
                <a:latin typeface="Latin Modern Sans"/>
              </a:defRPr>
            </a:pPr>
            <a:r>
              <a:rPr kumimoji="0" sz="40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Ridge Regression vs. 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595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4C72B0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Why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ridge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.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helps when predictors are many </a:t>
            </a:r>
            <a:r>
              <a:rPr lang="en-US" sz="2400" dirty="0">
                <a:solidFill>
                  <a:srgbClr val="C00000"/>
                </a:solidFill>
                <a:latin typeface="Latin Modern Sans"/>
              </a:rPr>
              <a:t>&amp;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correlated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?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Key Benefits of Ridge: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Handles multicollinearity: shrinks correlated coefficients for stability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Reduces overfitting: constrains coefficient size, improves generalization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lang="en-US" sz="2000" dirty="0">
                <a:solidFill>
                  <a:srgbClr val="1A1A2E"/>
                </a:solidFill>
                <a:latin typeface="Latin Modern Sans"/>
              </a:rPr>
              <a:t>- Improves out-of-sample accuracy: trades bias for lower variance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Single tuning parameter (lambda) chosen by cross-validation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lang="en-US" sz="2000" dirty="0">
                <a:solidFill>
                  <a:srgbClr val="1A1A2E"/>
                </a:solidFill>
                <a:latin typeface="Latin Modern Sans"/>
              </a:rPr>
              <a:t>- Works when p &gt; n: can estimate when predictors outnumber observations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94C10A-8127-55DD-386A-40F1E90D45FB}"/>
              </a:ext>
            </a:extLst>
          </p:cNvPr>
          <p:cNvGrpSpPr/>
          <p:nvPr/>
        </p:nvGrpSpPr>
        <p:grpSpPr>
          <a:xfrm>
            <a:off x="548640" y="4210884"/>
            <a:ext cx="8138160" cy="1828800"/>
            <a:chOff x="548640" y="3931919"/>
            <a:chExt cx="8138160" cy="1828800"/>
          </a:xfrm>
        </p:grpSpPr>
        <p:sp>
          <p:nvSpPr>
            <p:cNvPr id="5" name="Rectangle 4"/>
            <p:cNvSpPr/>
            <p:nvPr/>
          </p:nvSpPr>
          <p:spPr>
            <a:xfrm>
              <a:off x="548640" y="3931919"/>
              <a:ext cx="8046720" cy="457200"/>
            </a:xfrm>
            <a:prstGeom prst="rect">
              <a:avLst/>
            </a:prstGeom>
            <a:solidFill>
              <a:srgbClr val="4C72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0080" y="3977639"/>
              <a:ext cx="23774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FFFFFF"/>
                  </a:solidFill>
                  <a:latin typeface="Latin Modern Sans"/>
                </a:defRPr>
              </a:pPr>
              <a:r>
                <a:rPr kumimoji="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Dimension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17520" y="3977639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FFFFFF"/>
                  </a:solidFill>
                  <a:latin typeface="Latin Modern Sans"/>
                </a:defRPr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OLS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60720" y="3977639"/>
              <a:ext cx="29260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FFFFFF"/>
                  </a:solidFill>
                  <a:latin typeface="Latin Modern Sans"/>
                </a:defRPr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Ridge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48640" y="4389119"/>
              <a:ext cx="8046720" cy="457200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080" y="4434839"/>
              <a:ext cx="23774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Multicollinearity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7520" y="4434839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Unstable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0720" y="4434839"/>
              <a:ext cx="29260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Stable, shrunken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0080" y="4892039"/>
              <a:ext cx="23774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Overfitting risk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017520" y="4892039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High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60720" y="4892039"/>
              <a:ext cx="29260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Reduced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48640" y="5303519"/>
              <a:ext cx="8046720" cy="457200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0080" y="5349239"/>
              <a:ext cx="23774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p &gt; n case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17520" y="5349239"/>
              <a:ext cx="2743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Cannot estimate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60720" y="5349239"/>
              <a:ext cx="29260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1A1A2E"/>
                  </a:solidFill>
                  <a:latin typeface="Latin Modern Sans"/>
                </a:defRPr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Can estimate</a:t>
              </a:r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2D0BDB4-F695-75F5-CF70-E115F93E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97A4D-8361-AE98-52BC-FFD94310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FDADAE-5D42-B261-E399-011CF70CFB16}"/>
              </a:ext>
            </a:extLst>
          </p:cNvPr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Ridge</a:t>
            </a:r>
            <a:r>
              <a:rPr dirty="0"/>
              <a:t> Regression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9283C-CA76-FF8F-5AFE-BE7818D6233F}"/>
              </a:ext>
            </a:extLst>
          </p:cNvPr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t>Research question: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2C8F2-F1B7-9E0E-3096-329B59F2298A}"/>
              </a:ext>
            </a:extLst>
          </p:cNvPr>
          <p:cNvSpPr txBox="1"/>
          <p:nvPr/>
        </p:nvSpPr>
        <p:spPr>
          <a:xfrm>
            <a:off x="548640" y="164592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How </a:t>
            </a:r>
            <a:r>
              <a:rPr lang="en-US" dirty="0"/>
              <a:t>well can linguistic features predict users’ empathy level</a:t>
            </a:r>
            <a:r>
              <a:rPr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51738-6CC5-0FDF-5C99-80E0FBB66D94}"/>
              </a:ext>
            </a:extLst>
          </p:cNvPr>
          <p:cNvSpPr txBox="1"/>
          <p:nvPr/>
        </p:nvSpPr>
        <p:spPr>
          <a:xfrm>
            <a:off x="579636" y="2360394"/>
            <a:ext cx="8046720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Predictors</a:t>
            </a:r>
            <a:r>
              <a:rPr lang="en-US" dirty="0"/>
              <a:t> based on all posts of each FB user</a:t>
            </a:r>
            <a:r>
              <a:rPr dirty="0"/>
              <a:t>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</a:t>
            </a:r>
            <a:r>
              <a:rPr lang="en-US" dirty="0"/>
              <a:t>Unigrams (V = 10K)</a:t>
            </a:r>
            <a:endParaRPr dirty="0"/>
          </a:p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- Bigrams (V = 50K)</a:t>
            </a:r>
          </a:p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- Trigrams (V = 30K)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</a:t>
            </a:r>
            <a:r>
              <a:rPr lang="en-US" dirty="0"/>
              <a:t>LDA topics (N = 1500)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</a:t>
            </a:r>
            <a:r>
              <a:rPr lang="en-US" dirty="0"/>
              <a:t>Word embeddings (300 dimensions)</a:t>
            </a:r>
          </a:p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400" b="1" dirty="0">
                <a:solidFill>
                  <a:srgbClr val="1A1A2E"/>
                </a:solidFill>
                <a:latin typeface="Latin Modern Sans"/>
              </a:rPr>
              <a:t>Outcome: empathy score (continuous, 1-10)</a:t>
            </a:r>
          </a:p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endParaRPr lang="en-US" dirty="0"/>
          </a:p>
          <a:p>
            <a:pPr lvl="0">
              <a:spcAft>
                <a:spcPts val="8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lang="en-US" sz="2400" b="1" dirty="0">
                <a:solidFill>
                  <a:srgbClr val="1A1A2E"/>
                </a:solidFill>
                <a:latin typeface="Latin Modern Sans"/>
              </a:rPr>
              <a:t>N = 2,405 FB users who took a survey questionnaire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96538-A559-2303-ADC7-4E119D8C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49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708D-7190-D977-C5B7-A3D09559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DF642F-6149-0469-40A8-8248A0D6AE7D}"/>
              </a:ext>
            </a:extLst>
          </p:cNvPr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Predicting Empathy with Ridge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AA22A-1224-5034-9D0F-D88BE6701A26}"/>
              </a:ext>
            </a:extLst>
          </p:cNvPr>
          <p:cNvSpPr txBox="1"/>
          <p:nvPr/>
        </p:nvSpPr>
        <p:spPr>
          <a:xfrm>
            <a:off x="548640" y="1260014"/>
            <a:ext cx="804672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400" b="1" dirty="0">
                <a:solidFill>
                  <a:srgbClr val="0078B9"/>
                </a:solidFill>
                <a:latin typeface="Latin Modern Sans"/>
              </a:rPr>
              <a:t>Outcome</a:t>
            </a:r>
            <a:r>
              <a:rPr lang="en-US" sz="2400" b="1" dirty="0">
                <a:solidFill>
                  <a:srgbClr val="1A1A2E"/>
                </a:solidFill>
                <a:latin typeface="Latin Modern Sans"/>
              </a:rPr>
              <a:t>: empathy score (continuous, 1-10)</a:t>
            </a:r>
            <a:endParaRPr lang="en-US" dirty="0"/>
          </a:p>
          <a:p>
            <a:pPr lvl="0">
              <a:spcAft>
                <a:spcPts val="8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lang="en-US" sz="2400" b="1" dirty="0">
                <a:solidFill>
                  <a:srgbClr val="1A1A2E"/>
                </a:solidFill>
                <a:latin typeface="Latin Modern Sans"/>
              </a:rPr>
              <a:t>N = 2,405 FB users who took a survey questionnaire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2326-0A56-8FDC-41A5-157F7466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 descr="A close-up of a paper&#10;&#10;AI-generated content may be incorrect.">
            <a:extLst>
              <a:ext uri="{FF2B5EF4-FFF2-40B4-BE49-F238E27FC236}">
                <a16:creationId xmlns:a16="http://schemas.microsoft.com/office/drawing/2014/main" id="{C16EC89C-A7F4-FE26-2F4F-D3B7C58F8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72" y="2227580"/>
            <a:ext cx="4089400" cy="43561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E4657FC-DF19-C14F-4732-F9575A3402D3}"/>
              </a:ext>
            </a:extLst>
          </p:cNvPr>
          <p:cNvGrpSpPr/>
          <p:nvPr/>
        </p:nvGrpSpPr>
        <p:grpSpPr>
          <a:xfrm>
            <a:off x="5389105" y="2864009"/>
            <a:ext cx="3251200" cy="1324997"/>
            <a:chOff x="5389105" y="2864009"/>
            <a:chExt cx="3251200" cy="1324997"/>
          </a:xfrm>
        </p:grpSpPr>
        <p:pic>
          <p:nvPicPr>
            <p:cNvPr id="10" name="Picture 9" descr="A table with numbers and symbols&#10;&#10;AI-generated content may be incorrect.">
              <a:extLst>
                <a:ext uri="{FF2B5EF4-FFF2-40B4-BE49-F238E27FC236}">
                  <a16:creationId xmlns:a16="http://schemas.microsoft.com/office/drawing/2014/main" id="{2ED8726A-5CF9-7718-BF62-DA484B84D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9105" y="3211106"/>
              <a:ext cx="3251200" cy="9779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B8EE52-1A76-042D-7DF2-A6341D0C4DAA}"/>
                </a:ext>
              </a:extLst>
            </p:cNvPr>
            <p:cNvSpPr txBox="1"/>
            <p:nvPr/>
          </p:nvSpPr>
          <p:spPr>
            <a:xfrm>
              <a:off x="5455404" y="2864009"/>
              <a:ext cx="1236108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Feature set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21199E-6A2F-7E03-FA90-9C9AA0ACD03B}"/>
                </a:ext>
              </a:extLst>
            </p:cNvPr>
            <p:cNvSpPr txBox="1"/>
            <p:nvPr/>
          </p:nvSpPr>
          <p:spPr>
            <a:xfrm>
              <a:off x="7757934" y="2864009"/>
              <a:ext cx="388248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  <a:r>
                <a:rPr lang="en-US" baseline="300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092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Count </a:t>
            </a:r>
            <a:r>
              <a:rPr lang="en-US" dirty="0"/>
              <a:t>DV</a:t>
            </a:r>
            <a:r>
              <a:rPr dirty="0"/>
              <a:t> Needs Special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Social media outcomes are often count</a:t>
            </a:r>
            <a:r>
              <a:rPr lang="en-US" dirty="0"/>
              <a:t> data</a:t>
            </a:r>
            <a:r>
              <a:rPr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- Number of likes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- Number of retweets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- Number of comments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- Number of followers gained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03030"/>
                </a:solidFill>
                <a:latin typeface="Latin Modern Sans"/>
              </a:defRPr>
            </a:pPr>
            <a:r>
              <a:rPr dirty="0"/>
              <a:t>Issues with OLS for count</a:t>
            </a:r>
            <a:r>
              <a:rPr lang="en-US" dirty="0"/>
              <a:t> DV</a:t>
            </a:r>
            <a:r>
              <a:rPr dirty="0"/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804672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sz="2200" dirty="0"/>
              <a:t>- Predicts negative values (impossible for count</a:t>
            </a:r>
            <a:r>
              <a:rPr lang="en-US" sz="2200" dirty="0"/>
              <a:t> DV</a:t>
            </a:r>
            <a:r>
              <a:rPr sz="2200" dirty="0"/>
              <a:t>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lang="en-US" sz="2200" dirty="0"/>
              <a:t>- </a:t>
            </a:r>
            <a:r>
              <a:rPr sz="2200" dirty="0"/>
              <a:t>Assumes constant variance (counts often have variance &gt; mean)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FE81D-DBD6-B683-18C8-A47ECD03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Poisson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498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A generalized linear model for </a:t>
            </a:r>
            <a:r>
              <a:rPr lang="en-US" dirty="0"/>
              <a:t>predicting </a:t>
            </a:r>
            <a:r>
              <a:rPr dirty="0"/>
              <a:t>count outcome</a:t>
            </a:r>
            <a:r>
              <a:rPr lang="en-US" dirty="0"/>
              <a:t> variable</a:t>
            </a:r>
            <a:r>
              <a:rPr dirty="0"/>
              <a:t>s. </a:t>
            </a:r>
            <a:r>
              <a:rPr lang="en-US" dirty="0"/>
              <a:t>However, it a</a:t>
            </a:r>
            <a:r>
              <a:rPr dirty="0"/>
              <a:t>ssumes </a:t>
            </a:r>
            <a:r>
              <a:rPr lang="en-US" dirty="0"/>
              <a:t>that </a:t>
            </a:r>
            <a:r>
              <a:rPr dirty="0"/>
              <a:t>mean = variance.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t>Equation: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8046720" cy="768716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7498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log(</a:t>
            </a:r>
            <a:r>
              <a:rPr lang="en-US" dirty="0"/>
              <a:t>Y</a:t>
            </a:r>
            <a:r>
              <a:rPr dirty="0"/>
              <a:t>) = </a:t>
            </a:r>
            <a:r>
              <a:rPr lang="en-US" dirty="0"/>
              <a:t>b</a:t>
            </a:r>
            <a:r>
              <a:rPr lang="en-US" baseline="-25000" dirty="0"/>
              <a:t>0</a:t>
            </a:r>
            <a:r>
              <a:rPr lang="en-US" dirty="0"/>
              <a:t> + b</a:t>
            </a:r>
            <a:r>
              <a:rPr lang="en-US" sz="3200" b="1" baseline="-25000" dirty="0">
                <a:solidFill>
                  <a:srgbClr val="1A1A2E"/>
                </a:solidFill>
                <a:latin typeface="Latin Modern Sans"/>
              </a:rPr>
              <a:t>1</a:t>
            </a:r>
            <a:r>
              <a:rPr lang="en-US" dirty="0"/>
              <a:t>X</a:t>
            </a:r>
            <a:r>
              <a:rPr lang="en-US" sz="3200" b="1" baseline="-25000" dirty="0">
                <a:solidFill>
                  <a:srgbClr val="1A1A2E"/>
                </a:solidFill>
                <a:latin typeface="Latin Modern Sans"/>
              </a:rPr>
              <a:t>1</a:t>
            </a:r>
            <a:r>
              <a:rPr lang="en-US" dirty="0"/>
              <a:t> + b</a:t>
            </a:r>
            <a:r>
              <a:rPr lang="en-US" sz="3200" b="1" baseline="-25000" dirty="0">
                <a:solidFill>
                  <a:srgbClr val="1A1A2E"/>
                </a:solidFill>
                <a:latin typeface="Latin Modern Sans"/>
              </a:rPr>
              <a:t>2</a:t>
            </a:r>
            <a:r>
              <a:rPr lang="en-US" dirty="0"/>
              <a:t>X</a:t>
            </a:r>
            <a:r>
              <a:rPr lang="en-US" sz="3200" b="1" baseline="-25000" dirty="0">
                <a:solidFill>
                  <a:srgbClr val="1A1A2E"/>
                </a:solidFill>
                <a:latin typeface="Latin Modern Sans"/>
              </a:rPr>
              <a:t>2</a:t>
            </a:r>
            <a:r>
              <a:rPr lang="en-US" dirty="0"/>
              <a:t> + ... + </a:t>
            </a:r>
            <a:r>
              <a:rPr lang="en-US" dirty="0" err="1"/>
              <a:t>b</a:t>
            </a:r>
            <a:r>
              <a:rPr lang="en-US" sz="3200" b="1" baseline="-25000" dirty="0" err="1">
                <a:solidFill>
                  <a:srgbClr val="1A1A2E"/>
                </a:solidFill>
                <a:latin typeface="Latin Modern Sans"/>
              </a:rPr>
              <a:t>k</a:t>
            </a:r>
            <a:r>
              <a:rPr lang="en-US" dirty="0" err="1"/>
              <a:t>X</a:t>
            </a:r>
            <a:r>
              <a:rPr lang="en-US" sz="3200" b="1" baseline="-25000" dirty="0" err="1">
                <a:solidFill>
                  <a:srgbClr val="1A1A2E"/>
                </a:solidFill>
                <a:latin typeface="Latin Modern Sans"/>
              </a:rPr>
              <a:t>k</a:t>
            </a:r>
            <a:r>
              <a:rPr lang="en-US" dirty="0"/>
              <a:t> + e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804672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Y</a:t>
            </a:r>
            <a:r>
              <a:rPr dirty="0"/>
              <a:t> = expected count</a:t>
            </a:r>
            <a:r>
              <a:rPr lang="en-US" dirty="0"/>
              <a:t> (non-negative)</a:t>
            </a:r>
            <a:endParaRPr dirty="0"/>
          </a:p>
          <a:p>
            <a:pPr algn="l">
              <a:spcAft>
                <a:spcPts val="400"/>
              </a:spcAft>
              <a:defRPr sz="2400" b="1">
                <a:solidFill>
                  <a:srgbClr val="B03030"/>
                </a:solidFill>
                <a:latin typeface="Latin Modern Sans"/>
              </a:defRPr>
            </a:pPr>
            <a:r>
              <a:rPr dirty="0"/>
              <a:t>Limitation: Real social media data is often </a:t>
            </a:r>
            <a:r>
              <a:rPr dirty="0" err="1"/>
              <a:t>overdispersed</a:t>
            </a:r>
            <a:r>
              <a:rPr dirty="0"/>
              <a:t> </a:t>
            </a:r>
            <a:r>
              <a:rPr lang="en-US" dirty="0"/>
              <a:t>with a long tail distribution </a:t>
            </a:r>
            <a:r>
              <a:rPr dirty="0"/>
              <a:t>(variance &gt; mean).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DB010B9-BCD1-A62C-05DD-EEE4F0F7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B69E-1080-AF2B-CE2A-C333E49B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A37C-929B-F6B8-2DF1-7EC70F93E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58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Policy killings in BLM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766C5-F467-9B4E-F1F7-EB2990605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5" y="1589183"/>
            <a:ext cx="4653643" cy="15109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lang="en-US" sz="2400" dirty="0"/>
              <a:t>Predict num. of killings per US state using the Poisson regression model.</a:t>
            </a:r>
          </a:p>
          <a:p>
            <a:pPr marL="0" indent="0">
              <a:buNone/>
              <a:defRPr sz="1800"/>
            </a:pPr>
            <a:endParaRPr lang="en-US" sz="2400" dirty="0"/>
          </a:p>
          <a:p>
            <a:pPr marL="0" indent="0">
              <a:buNone/>
              <a:defRPr sz="1800"/>
            </a:pPr>
            <a:r>
              <a:rPr lang="en-US" sz="2400" dirty="0"/>
              <a:t>Performance: </a:t>
            </a:r>
            <a:r>
              <a:rPr lang="en-US" sz="2400" dirty="0">
                <a:solidFill>
                  <a:srgbClr val="0078B9"/>
                </a:solidFill>
              </a:rPr>
              <a:t>psudo-R</a:t>
            </a:r>
            <a:r>
              <a:rPr lang="en-US" sz="2400" baseline="30000" dirty="0">
                <a:solidFill>
                  <a:srgbClr val="0078B9"/>
                </a:solidFill>
              </a:rPr>
              <a:t>2</a:t>
            </a:r>
            <a:r>
              <a:rPr lang="en-US" sz="2400" dirty="0">
                <a:solidFill>
                  <a:srgbClr val="0078B9"/>
                </a:solidFill>
              </a:rPr>
              <a:t> = 0.618</a:t>
            </a:r>
            <a:endParaRPr lang="en-US" sz="2000" dirty="0">
              <a:solidFill>
                <a:srgbClr val="0078B9"/>
              </a:solidFill>
            </a:endParaRPr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  <p:pic>
        <p:nvPicPr>
          <p:cNvPr id="5" name="Picture 4" descr="A table of numbers and a few words&#10;&#10;AI-generated content may be incorrect.">
            <a:extLst>
              <a:ext uri="{FF2B5EF4-FFF2-40B4-BE49-F238E27FC236}">
                <a16:creationId xmlns:a16="http://schemas.microsoft.com/office/drawing/2014/main" id="{14601755-265A-82C1-057A-598E9E560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471" y="237648"/>
            <a:ext cx="3866360" cy="649287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47C3FA-4007-E965-2447-01F8D06FDAC8}"/>
              </a:ext>
            </a:extLst>
          </p:cNvPr>
          <p:cNvSpPr/>
          <p:nvPr/>
        </p:nvSpPr>
        <p:spPr>
          <a:xfrm>
            <a:off x="5149939" y="5662745"/>
            <a:ext cx="3877377" cy="195647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3180FB-F3ED-1656-02C6-C9F2DA6FD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3442331"/>
            <a:ext cx="3866359" cy="259771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83405-2ED8-1A21-C8A5-B98BACCC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18343"/>
            <a:ext cx="2057400" cy="365125"/>
          </a:xfrm>
        </p:spPr>
        <p:txBody>
          <a:bodyPr/>
          <a:lstStyle/>
          <a:p>
            <a:fld id="{6DCFA791-3060-7643-8677-86D470F5752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1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Negative Binomial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498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An extension of Poisson regression that </a:t>
            </a:r>
            <a:r>
              <a:rPr lang="en-US" dirty="0"/>
              <a:t>accounts </a:t>
            </a:r>
            <a:r>
              <a:rPr dirty="0"/>
              <a:t>for overdispersion </a:t>
            </a:r>
            <a:r>
              <a:rPr lang="en-US" dirty="0"/>
              <a:t>of the outcome variable </a:t>
            </a:r>
            <a:r>
              <a:rPr dirty="0"/>
              <a:t>by including an extra dispersion parameter.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8046720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When to use: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Count outcome</a:t>
            </a:r>
            <a:r>
              <a:rPr lang="en-US" dirty="0"/>
              <a:t> (DV)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- [Use zero-inflated NBR for DV with excessive zeros]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Variance substantially greater than the mean</a:t>
            </a:r>
            <a:endParaRPr lang="en-US"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endParaRPr dirty="0"/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Why it matters: Poisson underestimates standard errors when overdispersion is present, leading to </a:t>
            </a:r>
            <a:r>
              <a:rPr lang="en-US" dirty="0"/>
              <a:t>overly optimistic p-value, false statistical significance, and weaker performance.</a:t>
            </a:r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AF7B8-DE11-F0B9-667A-E92FCC13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Negative Binomial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t>Research question: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What predicts the number of </a:t>
            </a:r>
            <a:r>
              <a:rPr lang="en-US" dirty="0"/>
              <a:t>likes</a:t>
            </a:r>
            <a:r>
              <a:rPr dirty="0"/>
              <a:t> a</a:t>
            </a:r>
            <a:r>
              <a:rPr lang="en-US" dirty="0"/>
              <a:t>n</a:t>
            </a:r>
            <a:r>
              <a:rPr dirty="0"/>
              <a:t> </a:t>
            </a:r>
            <a:r>
              <a:rPr lang="en-US" dirty="0"/>
              <a:t>IG </a:t>
            </a:r>
            <a:r>
              <a:rPr dirty="0"/>
              <a:t>post receives?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39" y="2468880"/>
            <a:ext cx="8170817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Predictors: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Hashtag count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Follower count</a:t>
            </a:r>
            <a:endParaRPr lang="en-US"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- Account gender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Contains </a:t>
            </a:r>
            <a:r>
              <a:rPr lang="en-US" dirty="0"/>
              <a:t>pet</a:t>
            </a:r>
            <a:r>
              <a:rPr dirty="0"/>
              <a:t> (yes/no)</a:t>
            </a:r>
          </a:p>
          <a:p>
            <a:pPr algn="l">
              <a:spcAft>
                <a:spcPts val="8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endParaRPr lang="en-US" dirty="0"/>
          </a:p>
          <a:p>
            <a:pPr algn="l">
              <a:spcAft>
                <a:spcPts val="8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Outcome: </a:t>
            </a:r>
            <a:r>
              <a:rPr lang="en-US" dirty="0"/>
              <a:t>Like</a:t>
            </a:r>
            <a:r>
              <a:rPr dirty="0"/>
              <a:t> count (non-negative integer, </a:t>
            </a:r>
            <a:r>
              <a:rPr dirty="0" err="1"/>
              <a:t>overdispersed</a:t>
            </a:r>
            <a:r>
              <a:rPr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D3FB4-BCD9-C821-3A6D-9E02E88F2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AE95C-C3CF-186E-F7D7-342EA047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660A-95B0-15AD-149F-F4256D3E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4" y="365126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Protest volume in BLM</a:t>
            </a:r>
          </a:p>
        </p:txBody>
      </p:sp>
      <p:pic>
        <p:nvPicPr>
          <p:cNvPr id="6" name="Picture 5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238F2082-CF1E-0724-CA67-43BCDD5ED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425" y="52753"/>
            <a:ext cx="3715658" cy="67524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EC0856-719B-193C-0F24-219706B10367}"/>
              </a:ext>
            </a:extLst>
          </p:cNvPr>
          <p:cNvSpPr/>
          <p:nvPr/>
        </p:nvSpPr>
        <p:spPr>
          <a:xfrm>
            <a:off x="5258425" y="5765369"/>
            <a:ext cx="3715658" cy="243675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7B903-E4C2-AA73-45FE-9C11B5397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3442331"/>
            <a:ext cx="3866359" cy="259771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27267-330D-A536-37C4-71442158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95833"/>
            <a:ext cx="2057400" cy="365125"/>
          </a:xfrm>
        </p:spPr>
        <p:txBody>
          <a:bodyPr/>
          <a:lstStyle/>
          <a:p>
            <a:fld id="{6DCFA791-3060-7643-8677-86D470F5752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9CAC83-F20E-3010-6E52-51B520680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5" y="1589183"/>
            <a:ext cx="4653643" cy="18531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lang="en-US" sz="2400" dirty="0"/>
              <a:t>Predict total num. of participants in all protests per day in each state using the NB regression model.</a:t>
            </a:r>
          </a:p>
          <a:p>
            <a:pPr marL="0" indent="0">
              <a:buNone/>
              <a:defRPr sz="1800"/>
            </a:pPr>
            <a:endParaRPr lang="en-US" sz="2400" dirty="0"/>
          </a:p>
          <a:p>
            <a:pPr marL="0" indent="0">
              <a:buNone/>
              <a:defRPr sz="1800"/>
            </a:pPr>
            <a:r>
              <a:rPr lang="en-US" sz="2400" dirty="0"/>
              <a:t>Performance: </a:t>
            </a:r>
            <a:r>
              <a:rPr lang="en-US" sz="2400" dirty="0">
                <a:solidFill>
                  <a:srgbClr val="0078B9"/>
                </a:solidFill>
              </a:rPr>
              <a:t>psudo-R</a:t>
            </a:r>
            <a:r>
              <a:rPr lang="en-US" sz="2400" baseline="30000" dirty="0">
                <a:solidFill>
                  <a:srgbClr val="0078B9"/>
                </a:solidFill>
              </a:rPr>
              <a:t>2</a:t>
            </a:r>
            <a:r>
              <a:rPr lang="en-US" sz="2400" dirty="0">
                <a:solidFill>
                  <a:srgbClr val="0078B9"/>
                </a:solidFill>
              </a:rPr>
              <a:t> = 0.422</a:t>
            </a:r>
            <a:endParaRPr lang="en-US" sz="2000" dirty="0">
              <a:solidFill>
                <a:srgbClr val="0078B9"/>
              </a:solidFill>
            </a:endParaRPr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07797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Why Evaluation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A model that fits the training data well may fail on new data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B03030"/>
                </a:solidFill>
                <a:latin typeface="Latin Modern Sans"/>
              </a:defRPr>
            </a:pPr>
            <a:r>
              <a:rPr dirty="0"/>
              <a:t>- Overfitting: Memorizing noise instead of learning patterns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B03030"/>
                </a:solidFill>
                <a:latin typeface="Latin Modern Sans"/>
              </a:defRPr>
            </a:pPr>
            <a:r>
              <a:rPr dirty="0"/>
              <a:t>- Underfitting: Model too simple to capture </a:t>
            </a:r>
            <a:r>
              <a:rPr lang="en-US" dirty="0"/>
              <a:t>statistical regularity</a:t>
            </a:r>
            <a:endParaRPr dirty="0"/>
          </a:p>
          <a:p>
            <a:pPr algn="l">
              <a:spcAft>
                <a:spcPts val="12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Evaluation tells you how well your model generalizes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Key idea: </a:t>
            </a:r>
            <a:r>
              <a:rPr lang="en-US" dirty="0"/>
              <a:t>E</a:t>
            </a:r>
            <a:r>
              <a:rPr dirty="0"/>
              <a:t>valuat</a:t>
            </a:r>
            <a:r>
              <a:rPr lang="en-US" dirty="0"/>
              <a:t>ion</a:t>
            </a:r>
            <a:r>
              <a:rPr dirty="0"/>
              <a:t> on data the model has not seen.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B92EC-927F-3F7E-7B47-3328FC25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3CDD-74D4-EF21-610C-781212F5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CD3A-AFB0-A7C6-1A40-CFA4FFF3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285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Netflix challenge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CFE76-7A53-FFB5-7AF6-688AAE6A5762}"/>
              </a:ext>
            </a:extLst>
          </p:cNvPr>
          <p:cNvSpPr txBox="1"/>
          <p:nvPr/>
        </p:nvSpPr>
        <p:spPr>
          <a:xfrm>
            <a:off x="713920" y="1500445"/>
            <a:ext cx="8239579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Netflix offers $1M USD cash prize </a:t>
            </a:r>
            <a:r>
              <a:rPr lang="en-US" sz="2400" dirty="0">
                <a:solidFill>
                  <a:prstClr val="black"/>
                </a:solidFill>
                <a:latin typeface="LMSans10"/>
              </a:rPr>
              <a:t>for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a better recommendation algorithm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MathSymbols10"/>
                <a:ea typeface="+mn-ea"/>
                <a:cs typeface="+mn-cs"/>
              </a:rPr>
              <a:t>in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October 2006.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Training 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: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100M ratings of 17,770 movies by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480K users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	6 years of data: 2000-2005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Test 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: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Last few movie ratings of each user (2.8M)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Evaluation via root mean squared error (RMSE)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Netflix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Cinematch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 RMSE: 0.9514 (baseline)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Competition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: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$1M grand prize for 10% improvement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MathSymbols8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Sans10"/>
                <a:ea typeface="+mn-ea"/>
                <a:cs typeface="+mn-cs"/>
              </a:rPr>
              <a:t>If 10% not met, $50K annual “Progress Prize” for best improvement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MathSymbols8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C12CB-733B-5B28-5381-56A21A06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62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Train / 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Split data into training set (e.g., 70-80%) and test set (20-30%)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Train the model on training data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Evaluate on test data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Optional: cross-validation for more robust estimates (k-fold)</a:t>
            </a:r>
            <a:endParaRPr lang="en-US" dirty="0"/>
          </a:p>
          <a:p>
            <a:pPr algn="l">
              <a:spcAft>
                <a:spcPts val="12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  [Note: CV can also be used for fine-tuning parameters]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251958"/>
            <a:ext cx="8046720" cy="856526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44137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Rule of thumb: Never evaluate on the same </a:t>
            </a:r>
            <a:r>
              <a:rPr lang="en-US" dirty="0"/>
              <a:t>training </a:t>
            </a:r>
            <a:r>
              <a:rPr dirty="0"/>
              <a:t>data.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EEE5-8790-3373-8D79-1C6D5D07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Confusion Matrix (Classification)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36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Latin Modern Sans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Latin Modern Sans"/>
              </a:defRPr>
            </a:pPr>
            <a:r>
              <a:t>Predicted 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Latin Modern Sans"/>
              </a:defRPr>
            </a:pPr>
            <a:r>
              <a:t>Predicted Negative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Latin Modern Sans"/>
              </a:defRPr>
            </a:pPr>
            <a:r>
              <a:t>Actual 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t>True Positive (TP)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t>False Negative (FN)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Latin Modern Sans"/>
              </a:defRPr>
            </a:pPr>
            <a:r>
              <a:t>Actual 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t>False Positive (FP)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t>True Negative (TN)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26318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Everything in classification evaluation </a:t>
            </a:r>
            <a:r>
              <a:rPr lang="en-US" dirty="0"/>
              <a:t>metrics </a:t>
            </a:r>
            <a:r>
              <a:rPr dirty="0"/>
              <a:t>builds on these four counts.</a:t>
            </a:r>
            <a:r>
              <a:rPr lang="en-US" dirty="0"/>
              <a:t> Confusion matrix can really confuse people ;)</a:t>
            </a:r>
            <a:endParaRPr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1002B22-CA2E-68E3-3BAE-C6146C04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85903"/>
            <a:ext cx="7498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Accuracy = (TP + TN) / (TP + TN + FP + FN)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Proportion of correct predictions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B03030"/>
                </a:solidFill>
                <a:latin typeface="Latin Modern Sans"/>
              </a:defRPr>
            </a:pPr>
            <a:r>
              <a:rPr dirty="0"/>
              <a:t>- Problem: Misleading when classes are </a:t>
            </a:r>
            <a:r>
              <a:rPr lang="en-US" dirty="0"/>
              <a:t>(super) </a:t>
            </a:r>
            <a:r>
              <a:rPr dirty="0"/>
              <a:t>imbalanced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72690"/>
            <a:ext cx="8046720" cy="1048294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66413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Example: If 95% of posts are not spam, a model predicting 'not spam' always gets 95% accuracy but is useless.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8D3845-8D0E-436A-0EF5-22EA6F63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274320"/>
            <a:ext cx="8366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sz="3600" dirty="0"/>
              <a:t>Precision</a:t>
            </a:r>
            <a:r>
              <a:rPr lang="en-US" sz="3600" dirty="0"/>
              <a:t>-</a:t>
            </a:r>
            <a:r>
              <a:rPr sz="3600" dirty="0"/>
              <a:t>Recall</a:t>
            </a:r>
            <a:r>
              <a:rPr lang="en-US" sz="3600" dirty="0"/>
              <a:t> (focus on minority class)</a:t>
            </a:r>
            <a:endParaRPr sz="3600" dirty="0"/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840480" cy="9144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1963" y="1518556"/>
            <a:ext cx="3408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Precision = TP / (TP + FP)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280160"/>
            <a:ext cx="3840480" cy="9144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0" y="1502231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Recall = TP / (TP + FN)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836676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Precision: Of the posts predicted positive, how many actually were?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Recall: Of the actual positive posts, how many did we catch?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Trade-off: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High precision = few false alarms</a:t>
            </a:r>
          </a:p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High recall = few missed cases</a:t>
            </a:r>
            <a:endParaRPr lang="en-US"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endParaRPr lang="en-US"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In principle, you can always achieve a high precision using a high threshold (high confidence), but recall will be very low.</a:t>
            </a:r>
            <a:endParaRPr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F1A254-7416-15B5-44A5-5176D260E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F1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8094"/>
            <a:ext cx="7498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F1 = 2 x (Precision x Recall) / (Precision + Recall)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Harmonic mean of precision and recall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Useful when classes are imbalanced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Balances both </a:t>
            </a:r>
            <a:r>
              <a:rPr lang="en-US" dirty="0"/>
              <a:t>metrics</a:t>
            </a:r>
            <a:r>
              <a:rPr dirty="0"/>
              <a:t> in a single number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When to use: </a:t>
            </a:r>
            <a:endParaRPr lang="en-US" dirty="0"/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Spam, misinformation detection, hate speech classification.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15D0E-B3E4-6736-7FA8-6828324B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Summary metric: AUC-</a:t>
            </a:r>
            <a:r>
              <a:rPr dirty="0"/>
              <a:t>RO</a:t>
            </a:r>
            <a:r>
              <a:rPr lang="en-US" dirty="0"/>
              <a:t>C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64969" y="2402860"/>
            <a:ext cx="859536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ROC curve: Plots </a:t>
            </a:r>
            <a:r>
              <a:rPr lang="en-US" dirty="0"/>
              <a:t>TPR and FPR</a:t>
            </a:r>
            <a:r>
              <a:rPr dirty="0"/>
              <a:t> </a:t>
            </a:r>
            <a:r>
              <a:rPr u="sng" dirty="0"/>
              <a:t>at different thresholds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AUC (Area Under Curve): Single number summarizing performance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>
                <a:solidFill>
                  <a:srgbClr val="C00000"/>
                </a:solidFill>
              </a:rPr>
              <a:t>Advantage:</a:t>
            </a:r>
            <a:r>
              <a:rPr dirty="0"/>
              <a:t> Threshold-independent evaluation</a:t>
            </a:r>
            <a:endParaRPr lang="en-US" dirty="0"/>
          </a:p>
          <a:p>
            <a:pPr>
              <a:spcAft>
                <a:spcPts val="200"/>
              </a:spcAft>
              <a:defRPr sz="2000" b="0">
                <a:solidFill>
                  <a:srgbClr val="4C72B0"/>
                </a:solidFill>
                <a:latin typeface="Latin Modern Sans"/>
              </a:defRPr>
            </a:pPr>
            <a:r>
              <a:rPr lang="en-US" dirty="0"/>
              <a:t>- 0.5 = no skill model</a:t>
            </a:r>
          </a:p>
          <a:p>
            <a:pPr>
              <a:spcAft>
                <a:spcPts val="200"/>
              </a:spcAft>
              <a:defRPr sz="2000" b="0">
                <a:solidFill>
                  <a:srgbClr val="4C72B0"/>
                </a:solidFill>
                <a:latin typeface="Latin Modern Sans"/>
              </a:defRPr>
            </a:pPr>
            <a:r>
              <a:rPr lang="en-US" dirty="0"/>
              <a:t>- 0.7-0.8 = acceptable</a:t>
            </a:r>
          </a:p>
          <a:p>
            <a:pPr>
              <a:spcAft>
                <a:spcPts val="200"/>
              </a:spcAft>
              <a:defRPr sz="2000" b="0">
                <a:solidFill>
                  <a:srgbClr val="4C72B0"/>
                </a:solidFill>
                <a:latin typeface="Latin Modern Sans"/>
              </a:defRPr>
            </a:pPr>
            <a:r>
              <a:rPr lang="en-US" dirty="0"/>
              <a:t>- 0.8-0.9 = good</a:t>
            </a:r>
          </a:p>
          <a:p>
            <a:pPr>
              <a:spcAft>
                <a:spcPts val="1000"/>
              </a:spcAft>
              <a:defRPr sz="2000" b="0">
                <a:solidFill>
                  <a:srgbClr val="4C72B0"/>
                </a:solidFill>
                <a:latin typeface="Latin Modern Sans"/>
              </a:defRPr>
            </a:pPr>
            <a:r>
              <a:rPr lang="en-US" dirty="0"/>
              <a:t>- &gt; 0.9 = excellent</a:t>
            </a:r>
          </a:p>
        </p:txBody>
      </p:sp>
      <p:pic>
        <p:nvPicPr>
          <p:cNvPr id="19" name="Picture 2" descr="ROC Curve and AUC: Evaluating Model Performance | by İlyurek Kılıç | Medium">
            <a:extLst>
              <a:ext uri="{FF2B5EF4-FFF2-40B4-BE49-F238E27FC236}">
                <a16:creationId xmlns:a16="http://schemas.microsoft.com/office/drawing/2014/main" id="{F6DC41CB-D6CB-F07D-30E4-27609452A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82" y="3811743"/>
            <a:ext cx="2935875" cy="293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E6F020D-DDCE-EA82-BABF-A7E4349E3773}"/>
              </a:ext>
            </a:extLst>
          </p:cNvPr>
          <p:cNvGrpSpPr/>
          <p:nvPr/>
        </p:nvGrpSpPr>
        <p:grpSpPr>
          <a:xfrm>
            <a:off x="548640" y="1265832"/>
            <a:ext cx="3840480" cy="914400"/>
            <a:chOff x="365760" y="4132660"/>
            <a:chExt cx="3840480" cy="9144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D6651E-746E-A2A1-EED2-2AC316F4541C}"/>
                </a:ext>
              </a:extLst>
            </p:cNvPr>
            <p:cNvSpPr/>
            <p:nvPr/>
          </p:nvSpPr>
          <p:spPr>
            <a:xfrm>
              <a:off x="365760" y="4132660"/>
              <a:ext cx="3840480" cy="914400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48FA2A-109C-6DDB-5A39-45D4A06DBEBB}"/>
                </a:ext>
              </a:extLst>
            </p:cNvPr>
            <p:cNvSpPr txBox="1"/>
            <p:nvPr/>
          </p:nvSpPr>
          <p:spPr>
            <a:xfrm>
              <a:off x="396754" y="4371056"/>
              <a:ext cx="37000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1A1A2E"/>
                  </a:solidFill>
                  <a:latin typeface="Latin Modern Sans"/>
                </a:defRPr>
              </a:pPr>
              <a:r>
                <a:rPr lang="en-US" sz="2000" dirty="0"/>
                <a:t>True positive rate </a:t>
              </a:r>
              <a:r>
                <a:rPr sz="2000" dirty="0"/>
                <a:t>= TP / (TP + F</a:t>
              </a:r>
              <a:r>
                <a:rPr lang="en-US" sz="2000" dirty="0"/>
                <a:t>N</a:t>
              </a:r>
              <a:r>
                <a:rPr sz="2000" dirty="0"/>
                <a:t>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1E50D0-C584-6988-EF72-BF0CFDB4916D}"/>
              </a:ext>
            </a:extLst>
          </p:cNvPr>
          <p:cNvGrpSpPr/>
          <p:nvPr/>
        </p:nvGrpSpPr>
        <p:grpSpPr>
          <a:xfrm>
            <a:off x="4753939" y="1265832"/>
            <a:ext cx="3841423" cy="914400"/>
            <a:chOff x="364817" y="5294786"/>
            <a:chExt cx="3841423" cy="9144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13415E-9327-F524-9270-957CC6ACB172}"/>
                </a:ext>
              </a:extLst>
            </p:cNvPr>
            <p:cNvSpPr/>
            <p:nvPr/>
          </p:nvSpPr>
          <p:spPr>
            <a:xfrm>
              <a:off x="365760" y="5294786"/>
              <a:ext cx="3840480" cy="914400"/>
            </a:xfrm>
            <a:prstGeom prst="rect">
              <a:avLst/>
            </a:prstGeom>
            <a:solidFill>
              <a:srgbClr val="E8EC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B871E47-0578-44D1-AC78-1C07CAC38CF3}"/>
                </a:ext>
              </a:extLst>
            </p:cNvPr>
            <p:cNvSpPr txBox="1"/>
            <p:nvPr/>
          </p:nvSpPr>
          <p:spPr>
            <a:xfrm>
              <a:off x="364817" y="5516857"/>
              <a:ext cx="38404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1A1A2E"/>
                  </a:solidFill>
                  <a:latin typeface="Latin Modern Sans"/>
                </a:defRPr>
              </a:pPr>
              <a:r>
                <a:rPr lang="en-US" sz="2000" dirty="0"/>
                <a:t>False positive rate</a:t>
              </a:r>
              <a:r>
                <a:rPr sz="2000" dirty="0"/>
                <a:t> = </a:t>
              </a:r>
              <a:r>
                <a:rPr lang="en-US" sz="2000" dirty="0"/>
                <a:t>F</a:t>
              </a:r>
              <a:r>
                <a:rPr sz="2000" dirty="0"/>
                <a:t>P / (</a:t>
              </a:r>
              <a:r>
                <a:rPr lang="en-US" sz="2000" dirty="0"/>
                <a:t>F</a:t>
              </a:r>
              <a:r>
                <a:rPr sz="2000" dirty="0"/>
                <a:t>P + </a:t>
              </a:r>
              <a:r>
                <a:rPr lang="en-US" sz="2000" dirty="0"/>
                <a:t>T</a:t>
              </a:r>
              <a:r>
                <a:rPr sz="2000" dirty="0"/>
                <a:t>N)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EEA7D-CA48-16B4-F93F-F87F87FA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10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Regression Metrics - RMSE </a:t>
            </a:r>
            <a:r>
              <a:rPr lang="en-US" dirty="0"/>
              <a:t>&amp;</a:t>
            </a:r>
            <a:r>
              <a:rPr dirty="0"/>
              <a:t> MAE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840480" cy="12801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RMSE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291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Root Mean Squared Error - penalizes large errors more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280160"/>
            <a:ext cx="3840480" cy="12801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Mean Absolute Error - easier to interpret</a:t>
            </a:r>
            <a:r>
              <a:rPr lang="en-US" sz="2000" dirty="0"/>
              <a:t> and understand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2848590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>
                <a:solidFill>
                  <a:srgbClr val="C00000"/>
                </a:solidFill>
              </a:rPr>
              <a:t>Both</a:t>
            </a:r>
            <a:r>
              <a:rPr dirty="0"/>
              <a:t>: Lower is better. </a:t>
            </a:r>
            <a:endParaRPr lang="en-US" dirty="0"/>
          </a:p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lang="en-US" dirty="0">
                <a:solidFill>
                  <a:srgbClr val="C00000"/>
                </a:solidFill>
              </a:rPr>
              <a:t>Advantage</a:t>
            </a:r>
            <a:r>
              <a:rPr lang="en-US" dirty="0"/>
              <a:t>: </a:t>
            </a:r>
            <a:r>
              <a:rPr dirty="0"/>
              <a:t>Units match the </a:t>
            </a:r>
            <a:r>
              <a:rPr lang="en-US" dirty="0"/>
              <a:t>scale of </a:t>
            </a:r>
            <a:r>
              <a:rPr dirty="0"/>
              <a:t>outcome variable.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8730D4-644E-BF75-B21B-15FA1173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34157-2662-8600-3332-B4393E7E5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652F-E7EE-E53B-ADBF-2ACFFBD58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63" y="255809"/>
            <a:ext cx="8416198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RMSE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B2C35-5A84-0A11-80D9-ABBFA2AC8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955" y="1447208"/>
            <a:ext cx="7920502" cy="1325563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sz="2600" dirty="0"/>
              <a:t>Predict daily protest volume using NB regression:</a:t>
            </a:r>
          </a:p>
          <a:p>
            <a:pPr marL="355600" lvl="1" indent="-231775">
              <a:defRPr sz="1800"/>
            </a:pPr>
            <a:r>
              <a:rPr lang="en-US" sz="2200" dirty="0"/>
              <a:t>Can use different variations of a metric</a:t>
            </a:r>
          </a:p>
          <a:p>
            <a:pPr marL="355600" lvl="1" indent="-231775">
              <a:defRPr sz="1800"/>
            </a:pPr>
            <a:r>
              <a:rPr lang="en-US" sz="2200" dirty="0"/>
              <a:t>Other metrics: </a:t>
            </a:r>
            <a:r>
              <a:rPr lang="en-US" sz="2200" i="1" dirty="0"/>
              <a:t>Median Absolute Deviation</a:t>
            </a:r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dirty="0"/>
          </a:p>
          <a:p>
            <a:pPr lvl="1">
              <a:defRPr sz="1800"/>
            </a:pPr>
            <a:endParaRPr lang="en-US" b="1" dirty="0"/>
          </a:p>
          <a:p>
            <a:pPr lvl="1">
              <a:defRPr sz="1800"/>
            </a:pPr>
            <a:endParaRPr lang="en-US" b="1" dirty="0"/>
          </a:p>
          <a:p>
            <a:pPr algn="l">
              <a:defRPr sz="1800"/>
            </a:pPr>
            <a:endParaRPr b="1" dirty="0"/>
          </a:p>
        </p:txBody>
      </p:sp>
      <p:pic>
        <p:nvPicPr>
          <p:cNvPr id="9" name="Picture 8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D7300E21-BEB0-5FA2-9051-53F715FF6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09" y="3023736"/>
            <a:ext cx="4405365" cy="305635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1E39341-79F2-CA1C-D092-59BC5FE6C099}"/>
              </a:ext>
            </a:extLst>
          </p:cNvPr>
          <p:cNvSpPr/>
          <p:nvPr/>
        </p:nvSpPr>
        <p:spPr>
          <a:xfrm>
            <a:off x="2466242" y="2904043"/>
            <a:ext cx="668846" cy="207583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0BE25E7-0FA1-E0E2-66B2-C86C204A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0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Regression Metrics - R-Squared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sz="2400" dirty="0"/>
              <a:t>R-squared: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498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Proportion of variance in </a:t>
            </a:r>
            <a:r>
              <a:rPr lang="en-US" sz="2400" dirty="0"/>
              <a:t>DV </a:t>
            </a:r>
            <a:r>
              <a:rPr sz="2400" dirty="0"/>
              <a:t>explained by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804672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Range: 0 to 1 (higher is better)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B03030"/>
                </a:solidFill>
                <a:latin typeface="Latin Modern Sans"/>
              </a:defRPr>
            </a:pPr>
            <a:r>
              <a:rPr dirty="0"/>
              <a:t>- Can be misleading with many predictors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E2E471-5072-3184-5A41-F92223E68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570" y="3761911"/>
            <a:ext cx="4672938" cy="243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FC4203-142C-FA52-3813-D8B14E6BBBF2}"/>
              </a:ext>
            </a:extLst>
          </p:cNvPr>
          <p:cNvSpPr txBox="1"/>
          <p:nvPr/>
        </p:nvSpPr>
        <p:spPr>
          <a:xfrm>
            <a:off x="548640" y="6429791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medium.com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/@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jennifer.zzz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/more-features-than-data-points-in-linear-regression-5bcabba6883e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CB6C6-95CC-D0DF-F07A-E9461BCD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FE4C-470A-9C59-C170-D26D3CFB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F9FAD-FFE8-731D-0878-3B76C202D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68" y="1597286"/>
            <a:ext cx="827982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</a:t>
            </a:r>
            <a:r>
              <a:rPr lang="en-US" sz="2400" baseline="30000" dirty="0"/>
              <a:t>2</a:t>
            </a:r>
            <a:r>
              <a:rPr lang="en-US" sz="2400" dirty="0"/>
              <a:t> always increases when more vars are added to the model.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9EE205-833A-79F2-2B36-8A6F2E4D8DA7}"/>
              </a:ext>
            </a:extLst>
          </p:cNvPr>
          <p:cNvSpPr txBox="1"/>
          <p:nvPr/>
        </p:nvSpPr>
        <p:spPr>
          <a:xfrm>
            <a:off x="744931" y="2454375"/>
            <a:ext cx="7654138" cy="9233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Therefore,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1800" b="0" i="1" u="none" strike="noStrike" kern="1200" cap="none" spc="0" normalizeH="0" baseline="3000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cannot be used for comparing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highlight>
                  <a:srgbClr val="FFFFFF"/>
                </a:highlight>
                <a:uLnTx/>
                <a:uFillTx/>
                <a:latin typeface="-apple-system"/>
                <a:ea typeface="+mn-ea"/>
                <a:cs typeface="+mn-cs"/>
              </a:rPr>
              <a:t>whether one model is better than another.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highlight>
                  <a:srgbClr val="FFFFFF"/>
                </a:highlight>
                <a:uLnTx/>
                <a:uFillTx/>
                <a:latin typeface="-apple-system"/>
                <a:ea typeface="+mn-ea"/>
                <a:cs typeface="+mn-cs"/>
              </a:rPr>
              <a:t>Adjusted R-squared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highlight>
                  <a:srgbClr val="FFFFFF"/>
                </a:highlight>
                <a:uLnTx/>
                <a:uFillTx/>
                <a:latin typeface="-apple-system"/>
                <a:ea typeface="+mn-ea"/>
                <a:cs typeface="+mn-cs"/>
              </a:rPr>
              <a:t> imposes a higher penalty on a new variable and thus is a more reliable indicator of model performance.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highlight>
                <a:srgbClr val="FFFFFF"/>
              </a:highlight>
              <a:uLnTx/>
              <a:uFillTx/>
              <a:latin typeface="-apple-system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C54DE28-7030-2F4D-6E2D-AD55E318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1723"/>
            <a:ext cx="8279823" cy="1325563"/>
          </a:xfrm>
        </p:spPr>
        <p:txBody>
          <a:bodyPr>
            <a:normAutofit/>
          </a:bodyPr>
          <a:lstStyle/>
          <a:p>
            <a:r>
              <a:rPr lang="en-US" dirty="0"/>
              <a:t>R</a:t>
            </a:r>
            <a:r>
              <a:rPr lang="en-US" baseline="30000" dirty="0"/>
              <a:t>2 </a:t>
            </a:r>
            <a:r>
              <a:rPr lang="en-US" dirty="0"/>
              <a:t>vs. Adjusted R</a:t>
            </a:r>
            <a:r>
              <a:rPr lang="en-US" baseline="30000" dirty="0"/>
              <a:t>2</a:t>
            </a:r>
            <a:endParaRPr lang="en-US" dirty="0"/>
          </a:p>
        </p:txBody>
      </p:sp>
      <p:pic>
        <p:nvPicPr>
          <p:cNvPr id="1026" name="Picture 2" descr="Adjusted R-squared equation.">
            <a:extLst>
              <a:ext uri="{FF2B5EF4-FFF2-40B4-BE49-F238E27FC236}">
                <a16:creationId xmlns:a16="http://schemas.microsoft.com/office/drawing/2014/main" id="{4C610E46-C0D4-61E5-EA55-CA95F876F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8734"/>
            <a:ext cx="7014117" cy="223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3D5CE0-9131-752B-A992-B4F207315876}"/>
              </a:ext>
            </a:extLst>
          </p:cNvPr>
          <p:cNvSpPr txBox="1"/>
          <p:nvPr/>
        </p:nvSpPr>
        <p:spPr>
          <a:xfrm>
            <a:off x="1751215" y="6047882"/>
            <a:ext cx="6188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https://builtin.com/data-science/adjusted-r-squared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FACD2-E106-D325-A3CD-E142D071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278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Metrics for Count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400" dirty="0">
                <a:solidFill>
                  <a:srgbClr val="ED7D31"/>
                </a:solidFill>
                <a:latin typeface="-apple-system"/>
              </a:rPr>
              <a:t>Other commonly used criteria to judge model performance:</a:t>
            </a:r>
            <a:endParaRPr lang="en-US" dirty="0"/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</a:t>
            </a:r>
            <a:r>
              <a:rPr b="1" dirty="0"/>
              <a:t>Deviance</a:t>
            </a:r>
            <a:r>
              <a:rPr dirty="0"/>
              <a:t>: Measures model fit; lower is better</a:t>
            </a:r>
          </a:p>
          <a:p>
            <a:pPr algn="l"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</a:t>
            </a:r>
            <a:r>
              <a:rPr b="1" dirty="0"/>
              <a:t>AIC / BIC</a:t>
            </a:r>
            <a:r>
              <a:rPr dirty="0"/>
              <a:t>: Information criteria; balance fit and complexity</a:t>
            </a:r>
            <a:endParaRPr lang="en-US" dirty="0"/>
          </a:p>
          <a:p>
            <a:pPr>
              <a:spcAft>
                <a:spcPts val="10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- </a:t>
            </a:r>
            <a:r>
              <a:rPr lang="en-US" b="1" dirty="0"/>
              <a:t>Pseudo-R</a:t>
            </a:r>
            <a:r>
              <a:rPr lang="en-US" b="1" baseline="30000" dirty="0"/>
              <a:t>2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sometimes called “</a:t>
            </a:r>
            <a:r>
              <a:rPr lang="en-US" sz="2400" dirty="0"/>
              <a:t>Likelihood ratio index”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576A6-378D-F64E-CCEB-7573E6CF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sz="3600" dirty="0"/>
              <a:t>Case</a:t>
            </a:r>
            <a:r>
              <a:rPr sz="3600" dirty="0"/>
              <a:t> 1 - Predicting Virality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t>Question: Will this post go viral (e.g., &gt; 10,000 shares)?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Model: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Predictors: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Sentiment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Hashtags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Media type (image, video, text)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Author follower count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Time of posting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Outcome: </a:t>
            </a:r>
            <a:r>
              <a:rPr lang="en-US" dirty="0"/>
              <a:t>v</a:t>
            </a:r>
            <a:r>
              <a:rPr dirty="0"/>
              <a:t>iral (1) vs. not viral (0)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Metric: </a:t>
            </a:r>
            <a:r>
              <a:rPr lang="en-US" dirty="0"/>
              <a:t>Accuracy </a:t>
            </a:r>
            <a:r>
              <a:rPr dirty="0"/>
              <a:t>and AUC (i</a:t>
            </a:r>
            <a:r>
              <a:rPr lang="en-US" dirty="0"/>
              <a:t>f </a:t>
            </a:r>
            <a:r>
              <a:rPr dirty="0"/>
              <a:t>balance</a:t>
            </a:r>
            <a:r>
              <a:rPr lang="en-US" dirty="0"/>
              <a:t>d</a:t>
            </a:r>
            <a:r>
              <a:rPr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9DB3B-F7FE-03DB-D1D1-F594E507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>
                <a:solidFill>
                  <a:srgbClr val="1A1A2E"/>
                </a:solidFill>
                <a:latin typeface="Latin Modern Sans"/>
              </a:defRPr>
            </a:pPr>
            <a:r>
              <a:rPr lang="en-US" sz="3600" dirty="0">
                <a:solidFill>
                  <a:srgbClr val="1A1A2E"/>
                </a:solidFill>
                <a:latin typeface="Latin Modern Sans"/>
              </a:rPr>
              <a:t>Case 2 </a:t>
            </a: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Time-to-Peak Engagement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9972" y="1170432"/>
            <a:ext cx="7498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Prediction task: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how many hours a hashtag takes to reach peak posting volume, using first-hour features only.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A1A2E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Model: OLS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or Ridge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| Outcome: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num. of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hours (continuous)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138" y="2681208"/>
            <a:ext cx="8046720" cy="304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Predictors: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Initial post volume (first hour)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Number of unique accounts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Average follower count (logged)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Contains emotional language (0/1)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Contains URL (0/1)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Verified originator (0/1)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Topic category (news, humor, activism)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Hour of day first posted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771567"/>
            <a:ext cx="8046720" cy="56692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829221"/>
            <a:ext cx="7498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Metrics: RMSE, MAE</a:t>
            </a:r>
            <a:r>
              <a:rPr lang="en-US" b="1" dirty="0">
                <a:solidFill>
                  <a:srgbClr val="4C72B0"/>
                </a:solidFill>
                <a:latin typeface="Latin Modern Sans"/>
              </a:rPr>
              <a:t>, (Adjusted) R-squared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67A2E-F5C5-3597-E5D9-53B22A82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sz="3600" dirty="0"/>
              <a:t>Case</a:t>
            </a:r>
            <a:r>
              <a:rPr sz="3600" dirty="0"/>
              <a:t> </a:t>
            </a:r>
            <a:r>
              <a:rPr lang="en-US" sz="3600" dirty="0"/>
              <a:t>3</a:t>
            </a:r>
            <a:r>
              <a:rPr sz="3600" dirty="0"/>
              <a:t> - Detecting Misinformation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Question: Is this post likely to contain misinformation?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Model: </a:t>
            </a:r>
            <a:r>
              <a:rPr lang="en-US" dirty="0"/>
              <a:t>Naïve Bayes </a:t>
            </a:r>
            <a:r>
              <a:rPr dirty="0"/>
              <a:t>or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Predictors: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Source credibility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Sentiment</a:t>
            </a:r>
            <a:r>
              <a:rPr lang="en-US" dirty="0"/>
              <a:t> polarity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Presence of URLs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Language style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Retweet network features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Outcome: </a:t>
            </a:r>
            <a:r>
              <a:rPr lang="en-US" dirty="0"/>
              <a:t>m</a:t>
            </a:r>
            <a:r>
              <a:rPr dirty="0"/>
              <a:t>isinformation (1) vs. factual (0)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Metric: Precision, recall, F1 (false negatives are costly)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0C36D-E8AF-65CC-EF3B-28677A8B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Latin Modern Sans"/>
              </a:defRPr>
            </a:pPr>
            <a:r>
              <a:rPr sz="3600" dirty="0"/>
              <a:t>Exercise 1 - Choosing the Right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595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lang="en-US" sz="2800" dirty="0">
                <a:solidFill>
                  <a:srgbClr val="C00000"/>
                </a:solidFill>
              </a:rPr>
              <a:t>D</a:t>
            </a:r>
            <a:r>
              <a:rPr sz="2800" dirty="0">
                <a:solidFill>
                  <a:srgbClr val="C00000"/>
                </a:solidFill>
              </a:rPr>
              <a:t>ecide: </a:t>
            </a:r>
            <a:r>
              <a:rPr sz="2800" dirty="0"/>
              <a:t>classification, OLS, </a:t>
            </a:r>
            <a:r>
              <a:rPr lang="en-US" sz="2800" dirty="0"/>
              <a:t>Ridge, </a:t>
            </a:r>
            <a:r>
              <a:rPr sz="2800" dirty="0"/>
              <a:t>or Negative Binomial?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80467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1. Predicting whether a tweet contains hate speech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2. Predicting the number of comments on a </a:t>
            </a:r>
            <a:r>
              <a:rPr lang="en-US" sz="2400" dirty="0"/>
              <a:t>FB</a:t>
            </a:r>
            <a:r>
              <a:rPr sz="2400" dirty="0"/>
              <a:t> post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3. Predicting a brand's sentiment score (continuous, -1 to 1)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4. Predicting whether a user will click an ad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5. Predicting the number of followers gained per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62203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sz="2000" dirty="0"/>
              <a:t>Discuss in pairs for 5 minutes, then share.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76F5-94F8-825D-D456-512EDE1F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Latin Modern Sans"/>
              </a:defRPr>
            </a:pPr>
            <a:r>
              <a:rPr sz="3600" dirty="0"/>
              <a:t>Exercise 2 - Interpreting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02753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976" y="1342152"/>
            <a:ext cx="7896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sz="2200" dirty="0"/>
              <a:t>Scenario: A logi</a:t>
            </a:r>
            <a:r>
              <a:rPr lang="en-US" sz="2200" dirty="0"/>
              <a:t>t model </a:t>
            </a:r>
            <a:r>
              <a:rPr sz="2200" dirty="0"/>
              <a:t>predicts whether a tweet will be retweeted </a:t>
            </a:r>
            <a:r>
              <a:rPr lang="en-US" sz="2200" dirty="0"/>
              <a:t>&gt;</a:t>
            </a:r>
            <a:r>
              <a:rPr sz="2200" dirty="0"/>
              <a:t> 100 times. Coefficient for 'contains image' = 0.85 (p &lt; 0.0</a:t>
            </a:r>
            <a:r>
              <a:rPr lang="en-US" sz="2200" dirty="0"/>
              <a:t>0</a:t>
            </a:r>
            <a:r>
              <a:rPr sz="2200" dirty="0"/>
              <a:t>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804672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Questions:</a:t>
            </a:r>
            <a:endParaRPr lang="en-US" dirty="0"/>
          </a:p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sz="2200" dirty="0"/>
              <a:t>- How would you interpret </a:t>
            </a:r>
            <a:r>
              <a:rPr lang="en-US" sz="2200" dirty="0"/>
              <a:t>the coefficient</a:t>
            </a:r>
            <a:r>
              <a:rPr sz="2200" dirty="0"/>
              <a:t> in plain language?</a:t>
            </a:r>
            <a:endParaRPr lang="en-US" sz="2200" dirty="0"/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200" dirty="0"/>
              <a:t>- What is the odds ratio? Will it be greater than 1?</a:t>
            </a:r>
            <a:endParaRPr sz="2200"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sz="2200" dirty="0"/>
              <a:t>- If you changed the</a:t>
            </a:r>
            <a:r>
              <a:rPr lang="en-US" sz="2200" dirty="0"/>
              <a:t> prediction</a:t>
            </a:r>
            <a:r>
              <a:rPr sz="2200" dirty="0"/>
              <a:t> threshold from 0.5 to 0.3, what would </a:t>
            </a:r>
            <a:r>
              <a:rPr lang="en-US" sz="2200" dirty="0"/>
              <a:t>    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200" dirty="0"/>
              <a:t>  </a:t>
            </a:r>
            <a:r>
              <a:rPr sz="2200" dirty="0"/>
              <a:t>happen to </a:t>
            </a:r>
            <a:r>
              <a:rPr lang="en-US" sz="2200" dirty="0"/>
              <a:t>accuracy, </a:t>
            </a:r>
            <a:r>
              <a:rPr sz="2200" dirty="0"/>
              <a:t>precision</a:t>
            </a:r>
            <a:r>
              <a:rPr lang="en-US" sz="2200" dirty="0"/>
              <a:t>,</a:t>
            </a:r>
            <a:r>
              <a:rPr sz="2200" dirty="0"/>
              <a:t> and recall?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sz="2200" dirty="0"/>
              <a:t>- What metric would you </a:t>
            </a:r>
            <a:r>
              <a:rPr lang="en-US" sz="2200" dirty="0"/>
              <a:t>use</a:t>
            </a:r>
            <a:r>
              <a:rPr sz="2200" dirty="0"/>
              <a:t> if missing a viral tweet is very costly?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4FBBD-9E75-018E-43C7-2788FDE6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Latin Modern Sans"/>
              </a:defRPr>
            </a:pPr>
            <a:r>
              <a:rPr lang="en-US" sz="3600" dirty="0"/>
              <a:t>Offline</a:t>
            </a:r>
            <a:r>
              <a:rPr sz="3600" dirty="0"/>
              <a:t>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/>
              <a:t>Discuss with </a:t>
            </a:r>
            <a:r>
              <a:rPr dirty="0"/>
              <a:t>Group</a:t>
            </a:r>
            <a:r>
              <a:rPr lang="en-US" dirty="0"/>
              <a:t> members: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1. Pick a social media phenomenon (e.g., influencer marketing, political mobilization, brand crisis)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2. Formulate a prediction </a:t>
            </a:r>
            <a:r>
              <a:rPr lang="en-US" dirty="0"/>
              <a:t>task / </a:t>
            </a:r>
            <a:r>
              <a:rPr dirty="0"/>
              <a:t>question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3. Choose a model (classification, OLS, </a:t>
            </a:r>
            <a:r>
              <a:rPr lang="en-US" dirty="0"/>
              <a:t>Ridge, </a:t>
            </a:r>
            <a:r>
              <a:rPr dirty="0"/>
              <a:t>or</a:t>
            </a:r>
            <a:r>
              <a:rPr lang="en-US" dirty="0"/>
              <a:t> NB</a:t>
            </a:r>
            <a:r>
              <a:rPr dirty="0"/>
              <a:t>)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4. List 4-5 predictors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5. Identify the best evaluation metric and justify 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6A0F9-ED05-A0C2-5D9F-6F73C7BA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Reflection</a:t>
            </a:r>
            <a:r>
              <a:rPr dirty="0"/>
              <a:t>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1. When would you prefer interpretability over predictive accuracy?</a:t>
            </a:r>
          </a:p>
          <a:p>
            <a:pPr algn="l">
              <a:spcAft>
                <a:spcPts val="1200"/>
              </a:spcAft>
              <a:defRPr sz="22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2. How do you decide the classification threshold in practice?</a:t>
            </a:r>
          </a:p>
          <a:p>
            <a:pPr algn="l">
              <a:spcAft>
                <a:spcPts val="1200"/>
              </a:spcAft>
              <a:defRPr sz="22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3. Can a model be accurate but unethical? Give an example.</a:t>
            </a:r>
          </a:p>
          <a:p>
            <a:pPr algn="l">
              <a:spcAft>
                <a:spcPts val="1200"/>
              </a:spcAft>
              <a:defRPr sz="22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4. What are the risks of deploying predictive models on social media?</a:t>
            </a:r>
          </a:p>
          <a:p>
            <a:pPr algn="l">
              <a:spcAft>
                <a:spcPts val="1200"/>
              </a:spcAft>
              <a:defRPr sz="22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5. How would you explain a logistic regression to</a:t>
            </a:r>
            <a:r>
              <a:rPr lang="en-US" dirty="0"/>
              <a:t> your grandma</a:t>
            </a:r>
            <a:r>
              <a:rPr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85709-5FBD-E8D8-EBB0-81DAF42A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4A8D3-4A42-D9AC-1F4A-1C0A968F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36524"/>
            <a:ext cx="7886700" cy="1325563"/>
          </a:xfrm>
        </p:spPr>
        <p:txBody>
          <a:bodyPr/>
          <a:lstStyle/>
          <a:p>
            <a:r>
              <a:rPr lang="en-US" dirty="0"/>
              <a:t>Course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CEBD3-2916-268F-45C1-00552DB41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1898"/>
            <a:ext cx="7886700" cy="4895851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  <a:latin typeface="+mn-lt"/>
              </a:rPr>
              <a:t>Brainstorm research questions for group projects</a:t>
            </a:r>
          </a:p>
          <a:p>
            <a:pPr algn="just"/>
            <a:r>
              <a:rPr lang="en-US" sz="2400" dirty="0">
                <a:solidFill>
                  <a:srgbClr val="0078B9"/>
                </a:solidFill>
                <a:latin typeface="+mn-lt"/>
              </a:rPr>
              <a:t>Consult ICWSM: </a:t>
            </a:r>
            <a:r>
              <a:rPr lang="en-US" sz="2400" dirty="0">
                <a:solidFill>
                  <a:srgbClr val="0078B9"/>
                </a:solidFill>
                <a:latin typeface="+mn-lt"/>
                <a:hlinkClick r:id="rId2"/>
              </a:rPr>
              <a:t>https://www.icwsm.org/2027/</a:t>
            </a:r>
            <a:endParaRPr lang="en-US" sz="2400" dirty="0">
              <a:solidFill>
                <a:srgbClr val="0078B9"/>
              </a:solidFill>
              <a:latin typeface="+mn-lt"/>
            </a:endParaRPr>
          </a:p>
          <a:p>
            <a:pPr algn="just"/>
            <a:endParaRPr lang="en-US" sz="2400" dirty="0">
              <a:solidFill>
                <a:srgbClr val="0078B9"/>
              </a:solidFill>
              <a:latin typeface="+mn-lt"/>
            </a:endParaRPr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D407923-D2AD-618A-05A1-2C6C4A31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171429"/>
            <a:ext cx="7772400" cy="4288787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9ABE49-46ED-93A7-01F6-2114FA8B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0941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Logistic Regression</a:t>
            </a:r>
            <a:r>
              <a:rPr lang="en-US" dirty="0"/>
              <a:t> (use for 2005)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t>Logit form: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4980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log(p / (1 - p)) = b</a:t>
            </a:r>
            <a:r>
              <a:rPr baseline="-25000" dirty="0"/>
              <a:t>0</a:t>
            </a:r>
            <a:r>
              <a:rPr dirty="0"/>
              <a:t> + b</a:t>
            </a:r>
            <a:r>
              <a:rPr baseline="-25000" dirty="0"/>
              <a:t>1</a:t>
            </a:r>
            <a:r>
              <a:rPr dirty="0"/>
              <a:t>X</a:t>
            </a:r>
            <a:r>
              <a:rPr baseline="-25000" dirty="0"/>
              <a:t>1</a:t>
            </a:r>
            <a:r>
              <a:rPr dirty="0"/>
              <a:t> + b</a:t>
            </a:r>
            <a:r>
              <a:rPr baseline="-25000" dirty="0"/>
              <a:t>2</a:t>
            </a:r>
            <a:r>
              <a:rPr dirty="0"/>
              <a:t>X</a:t>
            </a:r>
            <a:r>
              <a:rPr baseline="-25000" dirty="0"/>
              <a:t>2</a:t>
            </a:r>
            <a:r>
              <a:rPr dirty="0"/>
              <a:t> + ... + </a:t>
            </a:r>
            <a:r>
              <a:rPr dirty="0" err="1"/>
              <a:t>b</a:t>
            </a:r>
            <a:r>
              <a:rPr baseline="-25000" dirty="0" err="1"/>
              <a:t>k</a:t>
            </a:r>
            <a:r>
              <a:rPr dirty="0" err="1"/>
              <a:t>X</a:t>
            </a:r>
            <a:r>
              <a:rPr baseline="-25000" dirty="0" err="1"/>
              <a:t>k</a:t>
            </a:r>
            <a:endParaRPr baseline="-250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2643184"/>
            <a:ext cx="80467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p = probability of the outcome</a:t>
            </a:r>
            <a:endParaRPr lang="en-US" dirty="0"/>
          </a:p>
          <a:p>
            <a:pPr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X = predictor variables</a:t>
            </a:r>
            <a:endParaRPr dirty="0"/>
          </a:p>
          <a:p>
            <a:pPr algn="l">
              <a:spcAft>
                <a:spcPts val="6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b = coefficients (log-odds change for a one-unit increase in X)</a:t>
            </a:r>
          </a:p>
          <a:p>
            <a:pPr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/>
              <a:t>Odds (of success) means the term: p / (1-p)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/>
              <a:t>log (odds</a:t>
            </a:r>
            <a:r>
              <a:rPr lang="en-US" baseline="-25000" dirty="0"/>
              <a:t>2</a:t>
            </a:r>
            <a:r>
              <a:rPr lang="en-US" dirty="0"/>
              <a:t>) – log (odds</a:t>
            </a:r>
            <a:r>
              <a:rPr lang="en-US" sz="2400" b="1" baseline="-25000" dirty="0">
                <a:solidFill>
                  <a:srgbClr val="4C72B0"/>
                </a:solidFill>
                <a:latin typeface="Latin Modern Sans"/>
              </a:rPr>
              <a:t>1</a:t>
            </a:r>
            <a:r>
              <a:rPr lang="en-US" dirty="0"/>
              <a:t>) = b </a:t>
            </a:r>
            <a:r>
              <a:rPr lang="en-US" dirty="0">
                <a:sym typeface="Wingdings" pitchFamily="2" charset="2"/>
              </a:rPr>
              <a:t> odds</a:t>
            </a:r>
            <a:r>
              <a:rPr lang="en-US" sz="2400" b="1" baseline="-25000" dirty="0">
                <a:solidFill>
                  <a:srgbClr val="4C72B0"/>
                </a:solidFill>
                <a:latin typeface="Latin Modern Sans"/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/ odds</a:t>
            </a:r>
            <a:r>
              <a:rPr lang="en-US" sz="2400" b="1" baseline="-25000" dirty="0">
                <a:solidFill>
                  <a:srgbClr val="4C72B0"/>
                </a:solidFill>
                <a:latin typeface="Latin Modern Sans"/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= exp(b)</a:t>
            </a:r>
            <a:endParaRPr lang="en-US" dirty="0"/>
          </a:p>
          <a:p>
            <a:pPr>
              <a:spcAft>
                <a:spcPts val="6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>
                <a:solidFill>
                  <a:srgbClr val="C00000"/>
                </a:solidFill>
              </a:rPr>
              <a:t>This indicates that the </a:t>
            </a:r>
            <a:r>
              <a:rPr dirty="0">
                <a:solidFill>
                  <a:srgbClr val="C00000"/>
                </a:solidFill>
              </a:rPr>
              <a:t>odds </a:t>
            </a:r>
            <a:r>
              <a:rPr lang="en-US" dirty="0">
                <a:solidFill>
                  <a:srgbClr val="C00000"/>
                </a:solidFill>
              </a:rPr>
              <a:t>ratio stays constant for each</a:t>
            </a:r>
            <a:r>
              <a:rPr dirty="0">
                <a:solidFill>
                  <a:srgbClr val="C00000"/>
                </a:solidFill>
              </a:rPr>
              <a:t> one-unit increase in X.</a:t>
            </a:r>
            <a:r>
              <a:rPr lang="en-US" dirty="0">
                <a:solidFill>
                  <a:srgbClr val="C00000"/>
                </a:solidFill>
              </a:rPr>
              <a:t> We can also calculate the relative increase in odds of success as: (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odds</a:t>
            </a:r>
            <a:r>
              <a:rPr lang="en-US" sz="2400" baseline="-25000" dirty="0">
                <a:solidFill>
                  <a:srgbClr val="C00000"/>
                </a:solidFill>
                <a:latin typeface="Latin Modern Sans"/>
                <a:sym typeface="Wingdings" pitchFamily="2" charset="2"/>
              </a:rPr>
              <a:t>2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 - odds</a:t>
            </a:r>
            <a:r>
              <a:rPr lang="en-US" sz="2400" baseline="-25000" dirty="0">
                <a:solidFill>
                  <a:srgbClr val="C00000"/>
                </a:solidFill>
                <a:latin typeface="Latin Modern Sans"/>
                <a:sym typeface="Wingdings" pitchFamily="2" charset="2"/>
              </a:rPr>
              <a:t>1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) / odds</a:t>
            </a:r>
            <a:r>
              <a:rPr lang="en-US" sz="2400" baseline="-25000" dirty="0">
                <a:solidFill>
                  <a:srgbClr val="C00000"/>
                </a:solidFill>
                <a:latin typeface="Latin Modern Sans"/>
                <a:sym typeface="Wingdings" pitchFamily="2" charset="2"/>
              </a:rPr>
              <a:t>1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 = </a:t>
            </a:r>
            <a:r>
              <a:rPr lang="en-US" dirty="0">
                <a:solidFill>
                  <a:srgbClr val="C00000"/>
                </a:solidFill>
              </a:rPr>
              <a:t>exp(b) - 1</a:t>
            </a:r>
            <a:endParaRPr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3106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t>Logistic Regression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t>Research question: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t>Will a tweet be retweeted more than 100 times?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928" y="2283136"/>
            <a:ext cx="8581072" cy="414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Predictors: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Hashtag count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Sentiment score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Follower count of </a:t>
            </a:r>
            <a:r>
              <a:rPr lang="en-US" dirty="0"/>
              <a:t>user</a:t>
            </a:r>
            <a:endParaRPr dirty="0"/>
          </a:p>
          <a:p>
            <a:pPr algn="l"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- Contains image (yes/no)</a:t>
            </a:r>
          </a:p>
          <a:p>
            <a:pPr algn="l">
              <a:spcAft>
                <a:spcPts val="8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Outcome: 1 = high retweet, 0 = low retweet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dirty="0"/>
              <a:t>Interpretation: A positive </a:t>
            </a:r>
            <a:r>
              <a:rPr lang="en-US" dirty="0"/>
              <a:t>(&gt; 0) </a:t>
            </a:r>
            <a:r>
              <a:rPr dirty="0"/>
              <a:t>coefficient means the predictor increases the odds of </a:t>
            </a:r>
            <a:r>
              <a:rPr lang="en-US" dirty="0"/>
              <a:t>being </a:t>
            </a:r>
            <a:r>
              <a:rPr dirty="0"/>
              <a:t>high</a:t>
            </a:r>
            <a:r>
              <a:rPr lang="en-US" dirty="0"/>
              <a:t>ly</a:t>
            </a:r>
            <a:r>
              <a:rPr dirty="0"/>
              <a:t> retweet</a:t>
            </a:r>
            <a:r>
              <a:rPr lang="en-US" dirty="0"/>
              <a:t>ed</a:t>
            </a:r>
            <a:r>
              <a:rPr dirty="0"/>
              <a:t>.</a:t>
            </a:r>
            <a:endParaRPr lang="en-US" dirty="0"/>
          </a:p>
          <a:p>
            <a:pPr algn="l">
              <a:spcAft>
                <a:spcPts val="400"/>
              </a:spcAft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lang="en-US" dirty="0">
                <a:solidFill>
                  <a:srgbClr val="C00000"/>
                </a:solidFill>
              </a:rPr>
              <a:t>In practice, you can also report odds ratio (OR) by exponentiating the coefficient, then you compare OR with 1 instead of 0. Why?</a:t>
            </a:r>
            <a:endParaRPr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0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3792</Words>
  <Application>Microsoft Macintosh PowerPoint</Application>
  <PresentationFormat>On-screen Show (4:3)</PresentationFormat>
  <Paragraphs>595</Paragraphs>
  <Slides>50</Slides>
  <Notes>19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50</vt:i4>
      </vt:variant>
    </vt:vector>
  </HeadingPairs>
  <TitlesOfParts>
    <vt:vector size="68" baseType="lpstr">
      <vt:lpstr>-apple-system</vt:lpstr>
      <vt:lpstr>Latin Modern Sans</vt:lpstr>
      <vt:lpstr>LM Sans 12</vt:lpstr>
      <vt:lpstr>LMMathSymbols10</vt:lpstr>
      <vt:lpstr>LMMathSymbols8</vt:lpstr>
      <vt:lpstr>LMSans10</vt:lpstr>
      <vt:lpstr>Abadi MT Condensed Extra Bold</vt:lpstr>
      <vt:lpstr>Abadi MT Condensed Light</vt:lpstr>
      <vt:lpstr>Aptos</vt:lpstr>
      <vt:lpstr>Arial</vt:lpstr>
      <vt:lpstr>Calibri</vt:lpstr>
      <vt:lpstr>Wingdings</vt:lpstr>
      <vt:lpstr>Office Theme</vt:lpstr>
      <vt:lpstr>1_Office Theme</vt:lpstr>
      <vt:lpstr>2_Office Theme</vt:lpstr>
      <vt:lpstr>3_Office Theme</vt:lpstr>
      <vt:lpstr>4_Office Theme</vt:lpstr>
      <vt:lpstr>5_Office Theme</vt:lpstr>
      <vt:lpstr>DSC3013 Intro. to Social Media Analytics (Lec. 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Naïve Bayes classifier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Policy killings in BLM</vt:lpstr>
      <vt:lpstr>PowerPoint Presentation</vt:lpstr>
      <vt:lpstr>PowerPoint Presentation</vt:lpstr>
      <vt:lpstr>Protest volume in BLM</vt:lpstr>
      <vt:lpstr>PowerPoint Presentation</vt:lpstr>
      <vt:lpstr>Netflix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RMSE example</vt:lpstr>
      <vt:lpstr>PowerPoint Presentation</vt:lpstr>
      <vt:lpstr>R2 vs. Adjusted R2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Course Notes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 PENG</cp:lastModifiedBy>
  <cp:revision>65</cp:revision>
  <dcterms:created xsi:type="dcterms:W3CDTF">2013-01-27T09:14:16Z</dcterms:created>
  <dcterms:modified xsi:type="dcterms:W3CDTF">2026-09-14T12:50:17Z</dcterms:modified>
  <cp:category/>
</cp:coreProperties>
</file>