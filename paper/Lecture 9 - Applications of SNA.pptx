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4" r:id="rId3"/>
  </p:sldMasterIdLst>
  <p:notesMasterIdLst>
    <p:notesMasterId r:id="rId38"/>
  </p:notesMasterIdLst>
  <p:sldIdLst>
    <p:sldId id="582" r:id="rId4"/>
    <p:sldId id="767" r:id="rId5"/>
    <p:sldId id="369" r:id="rId6"/>
    <p:sldId id="812" r:id="rId7"/>
    <p:sldId id="819" r:id="rId8"/>
    <p:sldId id="818" r:id="rId9"/>
    <p:sldId id="376" r:id="rId10"/>
    <p:sldId id="374" r:id="rId11"/>
    <p:sldId id="803" r:id="rId12"/>
    <p:sldId id="821" r:id="rId13"/>
    <p:sldId id="857" r:id="rId14"/>
    <p:sldId id="843" r:id="rId15"/>
    <p:sldId id="844" r:id="rId16"/>
    <p:sldId id="845" r:id="rId17"/>
    <p:sldId id="316" r:id="rId18"/>
    <p:sldId id="794" r:id="rId19"/>
    <p:sldId id="858" r:id="rId20"/>
    <p:sldId id="850" r:id="rId21"/>
    <p:sldId id="851" r:id="rId22"/>
    <p:sldId id="852" r:id="rId23"/>
    <p:sldId id="381" r:id="rId24"/>
    <p:sldId id="859" r:id="rId25"/>
    <p:sldId id="789" r:id="rId26"/>
    <p:sldId id="853" r:id="rId27"/>
    <p:sldId id="787" r:id="rId28"/>
    <p:sldId id="830" r:id="rId29"/>
    <p:sldId id="831" r:id="rId30"/>
    <p:sldId id="790" r:id="rId31"/>
    <p:sldId id="849" r:id="rId32"/>
    <p:sldId id="854" r:id="rId33"/>
    <p:sldId id="855" r:id="rId34"/>
    <p:sldId id="856" r:id="rId35"/>
    <p:sldId id="605" r:id="rId36"/>
    <p:sldId id="82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B9"/>
    <a:srgbClr val="001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571DAA-4490-A644-95E2-4EB8D3701D61}" v="13" dt="2021-01-19T03:50:32.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2"/>
    <p:restoredTop sz="84984"/>
  </p:normalViewPr>
  <p:slideViewPr>
    <p:cSldViewPr snapToGrid="0" snapToObjects="1">
      <p:cViewPr>
        <p:scale>
          <a:sx n="84" d="100"/>
          <a:sy n="84" d="100"/>
        </p:scale>
        <p:origin x="776" y="264"/>
      </p:cViewPr>
      <p:guideLst/>
    </p:cSldViewPr>
  </p:slideViewPr>
  <p:outlineViewPr>
    <p:cViewPr>
      <p:scale>
        <a:sx n="33" d="100"/>
        <a:sy n="33" d="100"/>
      </p:scale>
      <p:origin x="0" y="-500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36B9E-612C-4041-827B-795ACB68482F}" type="datetimeFigureOut">
              <a:rPr lang="en-US" smtClean="0"/>
              <a:t>10/26/26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A2D53A-2AF6-4DBF-B05A-A2E1C10652AC}" type="slidenum">
              <a:rPr lang="en-US" smtClean="0"/>
              <a:t>‹#›</a:t>
            </a:fld>
            <a:endParaRPr lang="en-US"/>
          </a:p>
        </p:txBody>
      </p:sp>
    </p:spTree>
    <p:extLst>
      <p:ext uri="{BB962C8B-B14F-4D97-AF65-F5344CB8AC3E}">
        <p14:creationId xmlns:p14="http://schemas.microsoft.com/office/powerpoint/2010/main" val="3940742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6C42A-5AA1-B144-8688-E824ABDD91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755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 nodes and links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675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Co-authorship network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9797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actors show up in the same scene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395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0016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we can build a dendrogram to illustrate the merging process and determine the optimal cut.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2162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we can build a dendrogram to illustrate the merging process and determine the optimal cut.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5869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(Aij - ki*</a:t>
            </a:r>
            <a:r>
              <a:rPr lang="en-US" sz="1200" kern="1200" dirty="0" err="1">
                <a:solidFill>
                  <a:schemeClr val="tx1"/>
                </a:solidFill>
                <a:effectLst/>
                <a:latin typeface="+mn-lt"/>
                <a:ea typeface="+mn-ea"/>
                <a:cs typeface="+mn-cs"/>
              </a:rPr>
              <a:t>kj</a:t>
            </a:r>
            <a:r>
              <a:rPr lang="en-US" sz="1200" kern="1200" dirty="0">
                <a:solidFill>
                  <a:schemeClr val="tx1"/>
                </a:solidFill>
                <a:effectLst/>
                <a:latin typeface="+mn-lt"/>
                <a:ea typeface="+mn-ea"/>
                <a:cs typeface="+mn-cs"/>
              </a:rPr>
              <a:t>/M): </a:t>
            </a:r>
            <a:r>
              <a:rPr lang="en-US" sz="1200" b="0" i="0" kern="1200" dirty="0">
                <a:solidFill>
                  <a:schemeClr val="tx1"/>
                </a:solidFill>
                <a:effectLst/>
                <a:latin typeface="+mn-lt"/>
                <a:ea typeface="+mn-ea"/>
                <a:cs typeface="+mn-cs"/>
              </a:rPr>
              <a:t> the actual number of edges between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j) minus the expected number of edges between them.</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Calculate the term (Aij - ki*</a:t>
            </a:r>
            <a:r>
              <a:rPr lang="en-US" sz="1200" kern="1200" dirty="0" err="1">
                <a:solidFill>
                  <a:schemeClr val="tx1"/>
                </a:solidFill>
                <a:effectLst/>
                <a:latin typeface="+mn-lt"/>
                <a:ea typeface="+mn-ea"/>
                <a:cs typeface="+mn-cs"/>
              </a:rPr>
              <a:t>kj</a:t>
            </a:r>
            <a:r>
              <a:rPr lang="en-US" sz="1200" kern="1200" dirty="0">
                <a:solidFill>
                  <a:schemeClr val="tx1"/>
                </a:solidFill>
                <a:effectLst/>
                <a:latin typeface="+mn-lt"/>
                <a:ea typeface="+mn-ea"/>
                <a:cs typeface="+mn-cs"/>
              </a:rPr>
              <a:t>/M) for all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j) pairs that are in the same group.</a:t>
            </a:r>
            <a:endParaRPr lang="en-US" dirty="0"/>
          </a:p>
          <a:p>
            <a:endParaRPr lang="en-US" dirty="0"/>
          </a:p>
          <a:p>
            <a:r>
              <a:rPr lang="en-US" dirty="0"/>
              <a:t>Recall lecture 7.</a:t>
            </a:r>
          </a:p>
        </p:txBody>
      </p:sp>
      <p:sp>
        <p:nvSpPr>
          <p:cNvPr id="4" name="Slide Number Placeholder 3"/>
          <p:cNvSpPr>
            <a:spLocks noGrp="1"/>
          </p:cNvSpPr>
          <p:nvPr>
            <p:ph type="sldNum" sz="quarter" idx="5"/>
          </p:nvPr>
        </p:nvSpPr>
        <p:spPr/>
        <p:txBody>
          <a:bodyPr/>
          <a:lstStyle/>
          <a:p>
            <a:fld id="{ABA2D53A-2AF6-4DBF-B05A-A2E1C10652AC}" type="slidenum">
              <a:rPr lang="en-US" smtClean="0"/>
              <a:t>10</a:t>
            </a:fld>
            <a:endParaRPr lang="en-US"/>
          </a:p>
        </p:txBody>
      </p:sp>
    </p:spTree>
    <p:extLst>
      <p:ext uri="{BB962C8B-B14F-4D97-AF65-F5344CB8AC3E}">
        <p14:creationId xmlns:p14="http://schemas.microsoft.com/office/powerpoint/2010/main" val="129476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Sample Network corresponding to the Adjacency matrix with 10 nodes, 12 edges.</a:t>
            </a:r>
            <a:endParaRPr lang="en-US" dirty="0"/>
          </a:p>
        </p:txBody>
      </p:sp>
      <p:sp>
        <p:nvSpPr>
          <p:cNvPr id="4" name="Slide Number Placeholder 3"/>
          <p:cNvSpPr>
            <a:spLocks noGrp="1"/>
          </p:cNvSpPr>
          <p:nvPr>
            <p:ph type="sldNum" sz="quarter" idx="5"/>
          </p:nvPr>
        </p:nvSpPr>
        <p:spPr/>
        <p:txBody>
          <a:bodyPr/>
          <a:lstStyle/>
          <a:p>
            <a:fld id="{ABA2D53A-2AF6-4DBF-B05A-A2E1C10652AC}" type="slidenum">
              <a:rPr lang="en-US" smtClean="0"/>
              <a:t>11</a:t>
            </a:fld>
            <a:endParaRPr lang="en-US"/>
          </a:p>
        </p:txBody>
      </p:sp>
    </p:spTree>
    <p:extLst>
      <p:ext uri="{BB962C8B-B14F-4D97-AF65-F5344CB8AC3E}">
        <p14:creationId xmlns:p14="http://schemas.microsoft.com/office/powerpoint/2010/main" val="1702987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Disciplinary and interdisciplinary relationships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2606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“Clever” could belong to the yellow cluster of positive adjectives, but it could also belong to the big cluster of words related to science or scientists.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7051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6274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talked about three measures, because knowing about their characteristics can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1688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News and rumors – relying on weak tie is enough for sharing</a:t>
            </a:r>
          </a:p>
          <a:p>
            <a:endParaRPr lang="en-US" dirty="0"/>
          </a:p>
          <a:p>
            <a:r>
              <a:rPr lang="en-US" dirty="0"/>
              <a:t>How about joining a gym? Buy an </a:t>
            </a:r>
            <a:r>
              <a:rPr lang="en-US" dirty="0" err="1"/>
              <a:t>IPhone</a:t>
            </a:r>
            <a:r>
              <a:rPr lang="en-US" dirty="0"/>
              <a:t>? Accepting offer from </a:t>
            </a:r>
            <a:r>
              <a:rPr lang="en-US" dirty="0" err="1"/>
              <a:t>CityU</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288BBB-041B-CB44-8E38-886DBDF052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4967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B8F3-A335-CD79-D35C-D878970ED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927F37-81B1-ADEA-2597-5F302AF42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3E29E-73B3-E084-BB8F-27C8225F6B53}"/>
              </a:ext>
            </a:extLst>
          </p:cNvPr>
          <p:cNvSpPr>
            <a:spLocks noGrp="1"/>
          </p:cNvSpPr>
          <p:nvPr>
            <p:ph type="body" idx="1"/>
          </p:nvPr>
        </p:nvSpPr>
        <p:spPr/>
        <p:txBody>
          <a:bodyPr/>
          <a:lstStyle/>
          <a:p>
            <a:r>
              <a:rPr lang="en-US" dirty="0"/>
              <a:t>Social reinforcement theory</a:t>
            </a:r>
          </a:p>
        </p:txBody>
      </p:sp>
      <p:sp>
        <p:nvSpPr>
          <p:cNvPr id="4" name="Slide Number Placeholder 3">
            <a:extLst>
              <a:ext uri="{FF2B5EF4-FFF2-40B4-BE49-F238E27FC236}">
                <a16:creationId xmlns:a16="http://schemas.microsoft.com/office/drawing/2014/main" id="{4C12855A-75C9-94A9-7C75-D77939747C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288BBB-041B-CB44-8E38-886DBDF052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9374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B6CFB-5874-C69D-5C56-7FD301E41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64E07-B868-4621-30D2-F1D3F3053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AB43C-5806-3298-3451-3FC7B6F7CE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86B100-CB04-7A23-2AED-A79A91CACE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0306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89B50-8EBF-E263-4741-A3C39F76B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2252F-60B0-2E75-E4E7-D8A5A40B7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60AAD-5831-14DB-9803-6887825F0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22F866-3B9C-BAD7-9BA3-FD442A8DC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3861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DA80-FB8A-2199-FF37-377F125DB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B4F1F-0C8C-F3C8-1EE4-4C296D6D5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012FC-FAB7-8E1E-187D-A8E6C4686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640A82-78C1-E261-F985-E237CC16C4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5538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other words, if you fix mu, no matter how you pick seeds, it will reach a global cascade.</a:t>
            </a:r>
          </a:p>
          <a:p>
            <a:endParaRPr lang="en-US" dirty="0"/>
          </a:p>
          <a:p>
            <a:r>
              <a:rPr lang="en-US" dirty="0"/>
              <a:t>But, if you fix the seeds, for a network with strong modularity, it will spread locally; for a network with no modularity, it will spread nowhere.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A2D53A-2AF6-4DBF-B05A-A2E1C10652A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4907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consider many factors, such as…</a:t>
            </a:r>
          </a:p>
          <a:p>
            <a:r>
              <a:rPr lang="en-US" dirty="0"/>
              <a:t>A first hypothesis is that users who are influential/central are the most predictive of virality.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5511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consider many factors, such as…</a:t>
            </a:r>
          </a:p>
          <a:p>
            <a:r>
              <a:rPr lang="en-US" dirty="0"/>
              <a:t>A first hypothesis is that users who are influential/central are the most predictive of virality.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6606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consider many factors, such as…</a:t>
            </a:r>
          </a:p>
          <a:p>
            <a:r>
              <a:rPr lang="en-US" dirty="0"/>
              <a:t>A first hypothesis is that users who are influential/central are the most predictive of virality.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988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influence can exist without a network. E.g. in jaywalking.</a:t>
            </a:r>
          </a:p>
          <a:p>
            <a:r>
              <a:rPr lang="en-US" dirty="0"/>
              <a:t>As long as social influence can kick in, the magic would still work.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288BBB-041B-CB44-8E38-886DBDF052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8248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7976-6225-5E6C-9610-0A01EA315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B606B-259D-0E29-4858-45DCCAEE2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6C1C1-45C1-6268-344C-3A30C9402D84}"/>
              </a:ext>
            </a:extLst>
          </p:cNvPr>
          <p:cNvSpPr>
            <a:spLocks noGrp="1"/>
          </p:cNvSpPr>
          <p:nvPr>
            <p:ph type="body" idx="1"/>
          </p:nvPr>
        </p:nvSpPr>
        <p:spPr/>
        <p:txBody>
          <a:bodyPr/>
          <a:lstStyle/>
          <a:p>
            <a:r>
              <a:rPr lang="en-US" dirty="0"/>
              <a:t>Low vs. high availability</a:t>
            </a:r>
          </a:p>
        </p:txBody>
      </p:sp>
      <p:sp>
        <p:nvSpPr>
          <p:cNvPr id="4" name="Slide Number Placeholder 3">
            <a:extLst>
              <a:ext uri="{FF2B5EF4-FFF2-40B4-BE49-F238E27FC236}">
                <a16:creationId xmlns:a16="http://schemas.microsoft.com/office/drawing/2014/main" id="{3F0FA509-71BC-923D-CAAE-27662E6DA3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5317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0010-9E87-64E8-ABF9-F3780FAF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2E7C6-2063-9643-D38B-232985523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562D2-499B-1BA3-3383-87A301BFF8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scheduling polls that allow respondents to see others’ answers are more likely to succeed than polls that hide other responses, suggesting the impact of social inﬂuence, in which later respondents adopt the decisions of earlier respondents.</a:t>
            </a:r>
          </a:p>
        </p:txBody>
      </p:sp>
      <p:sp>
        <p:nvSpPr>
          <p:cNvPr id="4" name="Slide Number Placeholder 3">
            <a:extLst>
              <a:ext uri="{FF2B5EF4-FFF2-40B4-BE49-F238E27FC236}">
                <a16:creationId xmlns:a16="http://schemas.microsoft.com/office/drawing/2014/main" id="{47A2794F-D96D-EC7E-433C-1EE514656F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891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89053-252E-A16C-193B-20C12F397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F1EF8-3B5E-1942-9779-909B5D7EB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B0340-3AE7-E68A-6328-EDBF5EA38DCE}"/>
              </a:ext>
            </a:extLst>
          </p:cNvPr>
          <p:cNvSpPr>
            <a:spLocks noGrp="1"/>
          </p:cNvSpPr>
          <p:nvPr>
            <p:ph type="body" idx="1"/>
          </p:nvPr>
        </p:nvSpPr>
        <p:spPr/>
        <p:txBody>
          <a:bodyPr/>
          <a:lstStyle/>
          <a:p>
            <a:r>
              <a:rPr lang="en-US" dirty="0"/>
              <a:t>We identify when the respondent with the lowest/highest availability came in the sequence of respondents.</a:t>
            </a:r>
          </a:p>
          <a:p>
            <a:r>
              <a:rPr lang="en-US" dirty="0"/>
              <a:t>These ﬁrst two measures capture the location of the extreme respondents.</a:t>
            </a:r>
          </a:p>
          <a:p>
            <a:endParaRPr lang="en-US" dirty="0"/>
          </a:p>
          <a:p>
            <a:r>
              <a:rPr lang="en-US" dirty="0"/>
              <a:t>When early people are available, most people ”become” available.</a:t>
            </a:r>
          </a:p>
          <a:p>
            <a:r>
              <a:rPr lang="en-US" dirty="0"/>
              <a:t>When early people are unavailable, most people ”become” unavailable.</a:t>
            </a:r>
          </a:p>
        </p:txBody>
      </p:sp>
      <p:sp>
        <p:nvSpPr>
          <p:cNvPr id="4" name="Slide Number Placeholder 3">
            <a:extLst>
              <a:ext uri="{FF2B5EF4-FFF2-40B4-BE49-F238E27FC236}">
                <a16:creationId xmlns:a16="http://schemas.microsoft.com/office/drawing/2014/main" id="{A25D701B-501C-F6E8-7873-F1A2D809B2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37947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C64DD-69B4-A683-375C-C35FDB838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B634A-462F-D081-B883-5F4D08457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859E0-1B05-7414-C56F-BF36F4F80B4E}"/>
              </a:ext>
            </a:extLst>
          </p:cNvPr>
          <p:cNvSpPr>
            <a:spLocks noGrp="1"/>
          </p:cNvSpPr>
          <p:nvPr>
            <p:ph type="body" idx="1"/>
          </p:nvPr>
        </p:nvSpPr>
        <p:spPr/>
        <p:txBody>
          <a:bodyPr/>
          <a:lstStyle/>
          <a:p>
            <a:r>
              <a:rPr lang="en-US" dirty="0"/>
              <a:t>Determine threshold of low availability by cutting off at 5%.</a:t>
            </a:r>
          </a:p>
          <a:p>
            <a:endParaRPr lang="en-US" dirty="0"/>
          </a:p>
          <a:p>
            <a:r>
              <a:rPr lang="en-US" dirty="0"/>
              <a:t>Don’t need to hide all low avail. ones, just a small fraction of them.</a:t>
            </a:r>
          </a:p>
        </p:txBody>
      </p:sp>
      <p:sp>
        <p:nvSpPr>
          <p:cNvPr id="4" name="Slide Number Placeholder 3">
            <a:extLst>
              <a:ext uri="{FF2B5EF4-FFF2-40B4-BE49-F238E27FC236}">
                <a16:creationId xmlns:a16="http://schemas.microsoft.com/office/drawing/2014/main" id="{D28C688A-3BCB-21F0-CA35-87559A618C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2B4756-B30B-4FB3-9E39-B2A906E28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9216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5967B-9529-4A90-3AB8-977EF728D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D1101-9629-30F1-9723-B21FEDADB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A3128-718D-63CC-E6B8-A32E038DC35C}"/>
              </a:ext>
            </a:extLst>
          </p:cNvPr>
          <p:cNvSpPr>
            <a:spLocks noGrp="1"/>
          </p:cNvSpPr>
          <p:nvPr>
            <p:ph type="body" idx="1"/>
          </p:nvPr>
        </p:nvSpPr>
        <p:spPr/>
        <p:txBody>
          <a:bodyPr/>
          <a:lstStyle/>
          <a:p>
            <a:r>
              <a:rPr lang="en-US" dirty="0"/>
              <a:t>Important nodes identified by PR are quite different from that identified by DC.</a:t>
            </a:r>
          </a:p>
        </p:txBody>
      </p:sp>
      <p:sp>
        <p:nvSpPr>
          <p:cNvPr id="4" name="Slide Number Placeholder 3">
            <a:extLst>
              <a:ext uri="{FF2B5EF4-FFF2-40B4-BE49-F238E27FC236}">
                <a16:creationId xmlns:a16="http://schemas.microsoft.com/office/drawing/2014/main" id="{15A993D1-C38F-9357-D616-1B2FFE4F5341}"/>
              </a:ext>
            </a:extLst>
          </p:cNvPr>
          <p:cNvSpPr>
            <a:spLocks noGrp="1"/>
          </p:cNvSpPr>
          <p:nvPr>
            <p:ph type="sldNum" sz="quarter" idx="5"/>
          </p:nvPr>
        </p:nvSpPr>
        <p:spPr/>
        <p:txBody>
          <a:bodyPr/>
          <a:lstStyle/>
          <a:p>
            <a:fld id="{992B4756-B30B-4FB3-9E39-B2A906E2815E}" type="slidenum">
              <a:rPr lang="en-US" smtClean="0"/>
              <a:t>34</a:t>
            </a:fld>
            <a:endParaRPr lang="en-US"/>
          </a:p>
        </p:txBody>
      </p:sp>
    </p:spTree>
    <p:extLst>
      <p:ext uri="{BB962C8B-B14F-4D97-AF65-F5344CB8AC3E}">
        <p14:creationId xmlns:p14="http://schemas.microsoft.com/office/powerpoint/2010/main" val="1527857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i="0">
                <a:latin typeface="LM Sans 12" pitchFamily="2" charset="77"/>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b="0" i="0">
                <a:latin typeface="LM Sans 12"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b="0" i="0">
                <a:latin typeface="LM Sans 12" pitchFamily="2" charset="77"/>
              </a:defRPr>
            </a:lvl1pPr>
          </a:lstStyle>
          <a:p>
            <a:fld id="{4393DF9D-EE7A-5846-A898-C00E832B3FE2}" type="datetime1">
              <a:rPr lang="en-US" smtClean="0"/>
              <a:t>10/26/26</a:t>
            </a:fld>
            <a:endParaRPr lang="en-US"/>
          </a:p>
        </p:txBody>
      </p:sp>
      <p:sp>
        <p:nvSpPr>
          <p:cNvPr id="5" name="Footer Placeholder 4"/>
          <p:cNvSpPr>
            <a:spLocks noGrp="1"/>
          </p:cNvSpPr>
          <p:nvPr>
            <p:ph type="ftr" sz="quarter" idx="11"/>
          </p:nvPr>
        </p:nvSpPr>
        <p:spPr/>
        <p:txBody>
          <a:bodyPr/>
          <a:lstStyle>
            <a:lvl1pPr>
              <a:defRPr b="0" i="0">
                <a:latin typeface="LM Sans 12" pitchFamily="2" charset="77"/>
              </a:defRPr>
            </a:lvl1pPr>
          </a:lstStyle>
          <a:p>
            <a:endParaRPr lang="en-US"/>
          </a:p>
        </p:txBody>
      </p:sp>
      <p:sp>
        <p:nvSpPr>
          <p:cNvPr id="6" name="Slide Number Placeholder 5"/>
          <p:cNvSpPr>
            <a:spLocks noGrp="1"/>
          </p:cNvSpPr>
          <p:nvPr>
            <p:ph type="sldNum" sz="quarter" idx="12"/>
          </p:nvPr>
        </p:nvSpPr>
        <p:spPr/>
        <p:txBody>
          <a:bodyPr/>
          <a:lstStyle>
            <a:lvl1pPr>
              <a:defRPr b="0" i="0">
                <a:latin typeface="LM Sans 12" pitchFamily="2"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65915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LM Sans 12" pitchFamily="2" charset="77"/>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0" i="0">
                <a:latin typeface="LM Sans 12" pitchFamily="2" charset="77"/>
              </a:defRPr>
            </a:lvl1pPr>
            <a:lvl2pPr>
              <a:defRPr b="0" i="0">
                <a:latin typeface="LM Sans 12" pitchFamily="2" charset="77"/>
              </a:defRPr>
            </a:lvl2pPr>
            <a:lvl3pPr>
              <a:defRPr b="0" i="0">
                <a:latin typeface="LM Sans 12" pitchFamily="2" charset="77"/>
              </a:defRPr>
            </a:lvl3pPr>
            <a:lvl4pPr>
              <a:defRPr b="0" i="0">
                <a:latin typeface="LM Sans 12" pitchFamily="2" charset="77"/>
              </a:defRPr>
            </a:lvl4pPr>
            <a:lvl5pPr>
              <a:defRPr b="0" i="0">
                <a:latin typeface="LM Sans 12" pitchFamily="2"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b="0" i="0">
                <a:latin typeface="LM Sans 12" pitchFamily="2" charset="77"/>
              </a:defRPr>
            </a:lvl1pPr>
          </a:lstStyle>
          <a:p>
            <a:fld id="{FF0F38C5-D4AF-444B-8371-289E368DF46E}" type="datetime1">
              <a:rPr lang="en-US" smtClean="0"/>
              <a:t>10/26/26</a:t>
            </a:fld>
            <a:endParaRPr lang="en-US"/>
          </a:p>
        </p:txBody>
      </p:sp>
      <p:sp>
        <p:nvSpPr>
          <p:cNvPr id="5" name="Footer Placeholder 4"/>
          <p:cNvSpPr>
            <a:spLocks noGrp="1"/>
          </p:cNvSpPr>
          <p:nvPr>
            <p:ph type="ftr" sz="quarter" idx="11"/>
          </p:nvPr>
        </p:nvSpPr>
        <p:spPr/>
        <p:txBody>
          <a:bodyPr/>
          <a:lstStyle>
            <a:lvl1pPr>
              <a:defRPr b="0" i="0">
                <a:latin typeface="LM Sans 12" pitchFamily="2" charset="77"/>
              </a:defRPr>
            </a:lvl1pPr>
          </a:lstStyle>
          <a:p>
            <a:endParaRPr lang="en-US"/>
          </a:p>
        </p:txBody>
      </p:sp>
      <p:sp>
        <p:nvSpPr>
          <p:cNvPr id="6" name="Slide Number Placeholder 5"/>
          <p:cNvSpPr>
            <a:spLocks noGrp="1"/>
          </p:cNvSpPr>
          <p:nvPr>
            <p:ph type="sldNum" sz="quarter" idx="12"/>
          </p:nvPr>
        </p:nvSpPr>
        <p:spPr/>
        <p:txBody>
          <a:bodyPr/>
          <a:lstStyle>
            <a:lvl1pPr>
              <a:defRPr b="0" i="0">
                <a:latin typeface="LM Sans 12" pitchFamily="2"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660038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AD35AD-1225-3348-9A02-C522F7D66BE0}"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550750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DA41D529-962D-9B46-A88D-08F9AF100D00}" type="datetime1">
              <a:rPr lang="en-US" smtClean="0"/>
              <a:t>10/26/26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4154213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F6EE46-AD7B-B04F-A479-59AA594F54BC}" type="datetime1">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43695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770A82-A886-844B-8DD5-BA7AC1D5CF9E}" type="datetime1">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380124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5F03E5-873A-6042-9379-1841D89CB177}" type="datetime1">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70754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AC1579-E9E7-7949-9FD6-FBF0F1F7A3FA}" type="datetime1">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854822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18A237-F9BC-824F-954D-F29225C2A102}" type="datetime1">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45901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AA7E7D-7E8F-814F-AAF0-3452C767D958}"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126405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8D0618-FE65-144A-9965-E434E095785E}"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495215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i="0">
                <a:latin typeface="LM Sans 12" panose="00000500000000000000" pitchFamily="50" charset="0"/>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LM Sans 12"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43FC7AD7-711A-0F4C-BFC9-E5F7064D4DC5}" type="datetime1">
              <a:rPr lang="en-US" smtClean="0"/>
              <a:t>10/26/26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1401116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LM Sans 12" panose="00000500000000000000" pitchFamily="50"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LM Sans 12" panose="00000500000000000000" pitchFamily="50" charset="0"/>
              </a:defRPr>
            </a:lvl1pPr>
            <a:lvl2pPr>
              <a:defRPr>
                <a:latin typeface="LM Sans 12" panose="00000500000000000000" pitchFamily="50" charset="0"/>
              </a:defRPr>
            </a:lvl2pPr>
            <a:lvl3pPr>
              <a:defRPr>
                <a:latin typeface="LM Sans 12" panose="00000500000000000000" pitchFamily="50" charset="0"/>
              </a:defRPr>
            </a:lvl3pPr>
            <a:lvl4pPr>
              <a:defRPr>
                <a:latin typeface="LM Sans 12" panose="00000500000000000000" pitchFamily="50" charset="0"/>
              </a:defRPr>
            </a:lvl4pPr>
            <a:lvl5pPr>
              <a:defRPr>
                <a:latin typeface="LM Sans 12"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F1B52D86-386F-6B48-801A-92403B8072C0}" type="datetime1">
              <a:rPr lang="en-US" smtClean="0"/>
              <a:t>10/26/26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045808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49474D-6B75-6049-B5C0-5F31F2E9C51F}"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3467741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B0EF27B6-5D03-234D-8A3F-7D48F549CC1F}" type="datetime1">
              <a:rPr lang="en-US" smtClean="0"/>
              <a:t>10/26/26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665277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703A47-1FD7-5E47-A81F-BFBFFBC61142}" type="datetime1">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417872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F92685-AC5A-1A41-A044-AEBDDDBD9202}" type="datetime1">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413305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291FCB-F2D0-AE43-A3E6-5AACCAC513D8}" type="datetime1">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774473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BE4FAB-E14E-794B-A185-A632B054F335}" type="datetime1">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912259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095103B-4678-EE4B-8DB4-503F61A9B7C9}" type="datetime1">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1289448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DFDDFB-2918-7B40-8EA7-DE1D0D4F6943}"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18971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828CA-BC68-094D-B0DA-2418BA68B356}" type="datetime1">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679515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i="0">
                <a:latin typeface="LM Sans 12" panose="00000500000000000000" pitchFamily="50" charset="0"/>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LM Sans 12"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3F61BB81-E92A-AC43-843A-E4F6CBA4F63C}" type="datetimeFigureOut">
              <a:rPr lang="en-US" smtClean="0"/>
              <a:pPr/>
              <a:t>10/26/26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7579194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LM Sans 12" panose="00000500000000000000" pitchFamily="50"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LM Sans 12" panose="00000500000000000000" pitchFamily="50" charset="0"/>
              </a:defRPr>
            </a:lvl1pPr>
            <a:lvl2pPr>
              <a:defRPr>
                <a:latin typeface="LM Sans 12" panose="00000500000000000000" pitchFamily="50" charset="0"/>
              </a:defRPr>
            </a:lvl2pPr>
            <a:lvl3pPr>
              <a:defRPr>
                <a:latin typeface="LM Sans 12" panose="00000500000000000000" pitchFamily="50" charset="0"/>
              </a:defRPr>
            </a:lvl3pPr>
            <a:lvl4pPr>
              <a:defRPr>
                <a:latin typeface="LM Sans 12" panose="00000500000000000000" pitchFamily="50" charset="0"/>
              </a:defRPr>
            </a:lvl4pPr>
            <a:lvl5pPr>
              <a:defRPr>
                <a:latin typeface="LM Sans 12" panose="00000500000000000000" pitchFamily="50"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LM Sans 12" panose="00000500000000000000" pitchFamily="50" charset="0"/>
              </a:defRPr>
            </a:lvl1pPr>
          </a:lstStyle>
          <a:p>
            <a:fld id="{3F61BB81-E92A-AC43-843A-E4F6CBA4F63C}" type="datetimeFigureOut">
              <a:rPr lang="en-US" smtClean="0"/>
              <a:pPr/>
              <a:t>10/26/26</a:t>
            </a:fld>
            <a:endParaRPr lang="en-US"/>
          </a:p>
        </p:txBody>
      </p:sp>
      <p:sp>
        <p:nvSpPr>
          <p:cNvPr id="5" name="Footer Placeholder 4"/>
          <p:cNvSpPr>
            <a:spLocks noGrp="1"/>
          </p:cNvSpPr>
          <p:nvPr>
            <p:ph type="ftr" sz="quarter" idx="11"/>
          </p:nvPr>
        </p:nvSpPr>
        <p:spPr/>
        <p:txBody>
          <a:bodyPr/>
          <a:lstStyle>
            <a:lvl1pPr>
              <a:defRPr>
                <a:latin typeface="LM Sans 12" panose="00000500000000000000" pitchFamily="50" charset="0"/>
              </a:defRPr>
            </a:lvl1pPr>
          </a:lstStyle>
          <a:p>
            <a:endParaRPr lang="en-US"/>
          </a:p>
        </p:txBody>
      </p:sp>
      <p:sp>
        <p:nvSpPr>
          <p:cNvPr id="6" name="Slide Number Placeholder 5"/>
          <p:cNvSpPr>
            <a:spLocks noGrp="1"/>
          </p:cNvSpPr>
          <p:nvPr>
            <p:ph type="sldNum" sz="quarter" idx="12"/>
          </p:nvPr>
        </p:nvSpPr>
        <p:spPr/>
        <p:txBody>
          <a:bodyPr/>
          <a:lstStyle>
            <a:lvl1pPr>
              <a:defRPr>
                <a:latin typeface="LM Sans 12" panose="00000500000000000000" pitchFamily="50" charset="0"/>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0425441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61BB81-E92A-AC43-843A-E4F6CBA4F63C}"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3545246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badi MT Condensed Extra Bold" panose="020B0306030101010103" pitchFamily="34" charset="77"/>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badi MT Condensed Light" panose="020B0306030101010103" pitchFamily="34" charset="77"/>
              </a:defRPr>
            </a:lvl1pPr>
            <a:lvl2pPr>
              <a:defRPr>
                <a:latin typeface="Abadi MT Condensed Light" panose="020B0306030101010103" pitchFamily="34" charset="77"/>
              </a:defRPr>
            </a:lvl2pPr>
            <a:lvl3pPr>
              <a:defRPr>
                <a:latin typeface="Abadi MT Condensed Light" panose="020B0306030101010103" pitchFamily="34" charset="77"/>
              </a:defRPr>
            </a:lvl3pPr>
            <a:lvl4pPr>
              <a:defRPr>
                <a:latin typeface="Abadi MT Condensed Light" panose="020B0306030101010103" pitchFamily="34" charset="77"/>
              </a:defRPr>
            </a:lvl4pPr>
            <a:lvl5pPr>
              <a:defRPr>
                <a:latin typeface="Abadi MT Condensed Light" panose="020B0306030101010103" pitchFamily="34" charset="77"/>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badi MT Condensed Light" panose="020B0306030101010103" pitchFamily="34" charset="77"/>
              </a:defRPr>
            </a:lvl1pPr>
          </a:lstStyle>
          <a:p>
            <a:fld id="{3F61BB81-E92A-AC43-843A-E4F6CBA4F63C}" type="datetimeFigureOut">
              <a:rPr lang="en-US" smtClean="0"/>
              <a:pPr/>
              <a:t>10/26/26</a:t>
            </a:fld>
            <a:endParaRPr lang="en-US"/>
          </a:p>
        </p:txBody>
      </p:sp>
      <p:sp>
        <p:nvSpPr>
          <p:cNvPr id="6" name="Footer Placeholder 5"/>
          <p:cNvSpPr>
            <a:spLocks noGrp="1"/>
          </p:cNvSpPr>
          <p:nvPr>
            <p:ph type="ftr" sz="quarter" idx="11"/>
          </p:nvPr>
        </p:nvSpPr>
        <p:spPr/>
        <p:txBody>
          <a:bodyPr/>
          <a:lstStyle>
            <a:lvl1pPr>
              <a:defRPr>
                <a:latin typeface="Abadi MT Condensed Light" panose="020B0306030101010103" pitchFamily="34" charset="77"/>
              </a:defRPr>
            </a:lvl1pPr>
          </a:lstStyle>
          <a:p>
            <a:endParaRPr lang="en-US"/>
          </a:p>
        </p:txBody>
      </p:sp>
      <p:sp>
        <p:nvSpPr>
          <p:cNvPr id="7" name="Slide Number Placeholder 6"/>
          <p:cNvSpPr>
            <a:spLocks noGrp="1"/>
          </p:cNvSpPr>
          <p:nvPr>
            <p:ph type="sldNum" sz="quarter" idx="12"/>
          </p:nvPr>
        </p:nvSpPr>
        <p:spPr/>
        <p:txBody>
          <a:bodyPr/>
          <a:lstStyle>
            <a:lvl1pPr>
              <a:defRPr>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35639182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61BB81-E92A-AC43-843A-E4F6CBA4F63C}" type="datetimeFigureOut">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5460984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61BB81-E92A-AC43-843A-E4F6CBA4F63C}" type="datetimeFigureOut">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295527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1BB81-E92A-AC43-843A-E4F6CBA4F63C}" type="datetimeFigureOut">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3503578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61BB81-E92A-AC43-843A-E4F6CBA4F63C}"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4359200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61BB81-E92A-AC43-843A-E4F6CBA4F63C}"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4451157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1BB81-E92A-AC43-843A-E4F6CBA4F63C}"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9048473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61BB81-E92A-AC43-843A-E4F6CBA4F63C}"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FA791-3060-7643-8677-86D470F57523}" type="slidenum">
              <a:rPr lang="en-US" smtClean="0"/>
              <a:t>‹#›</a:t>
            </a:fld>
            <a:endParaRPr lang="en-US"/>
          </a:p>
        </p:txBody>
      </p:sp>
    </p:spTree>
    <p:extLst>
      <p:ext uri="{BB962C8B-B14F-4D97-AF65-F5344CB8AC3E}">
        <p14:creationId xmlns:p14="http://schemas.microsoft.com/office/powerpoint/2010/main" val="2881771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2046B914-9828-6240-A039-E562D38260A0}" type="datetime1">
              <a:rPr lang="en-US" smtClean="0"/>
              <a:t>10/26/26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9379487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B7D3C495-8298-8E4D-B867-28A0046EE430}" type="datetime1">
              <a:rPr lang="en-US" smtClean="0"/>
              <a:t>10/26/26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25042625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badi MT Condensed Light" panose="020B0306030101010103" pitchFamily="34" charset="77"/>
              </a:defRPr>
            </a:lvl1pPr>
          </a:lstStyle>
          <a:p>
            <a:fld id="{3F61BB81-E92A-AC43-843A-E4F6CBA4F63C}" type="datetimeFigureOut">
              <a:rPr lang="en-US" smtClean="0"/>
              <a:pPr/>
              <a:t>10/26/26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badi MT Condensed Light" panose="020B0306030101010103" pitchFamily="34" charset="77"/>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badi MT Condensed Light" panose="020B0306030101010103" pitchFamily="34" charset="77"/>
              </a:defRPr>
            </a:lvl1pPr>
          </a:lstStyle>
          <a:p>
            <a:fld id="{6DCFA791-3060-7643-8677-86D470F57523}" type="slidenum">
              <a:rPr lang="en-US" smtClean="0"/>
              <a:pPr/>
              <a:t>‹#›</a:t>
            </a:fld>
            <a:endParaRPr lang="en-US"/>
          </a:p>
        </p:txBody>
      </p:sp>
    </p:spTree>
    <p:extLst>
      <p:ext uri="{BB962C8B-B14F-4D97-AF65-F5344CB8AC3E}">
        <p14:creationId xmlns:p14="http://schemas.microsoft.com/office/powerpoint/2010/main" val="83103061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b="1" i="0" kern="1200">
          <a:solidFill>
            <a:schemeClr val="tx1"/>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MT Condensed Light" panose="020B03060301010101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MT Condensed Light" panose="020B03060301010101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MT Condensed Light" panose="020B03060301010101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MT Condensed Light" panose="020B03060301010101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memgraph.github.io/networkx-guide/algorithms/community-detection/girvan-newma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hyperlink" Target="https://snap.stanford.edu/node2vec/"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XqZsoesa55w"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nlinesurvey.cityu.edu.hk/"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3BB8D86-7309-C04C-901B-36514C38109C}"/>
              </a:ext>
            </a:extLst>
          </p:cNvPr>
          <p:cNvSpPr>
            <a:spLocks noGrp="1"/>
          </p:cNvSpPr>
          <p:nvPr>
            <p:ph type="subTitle" idx="1"/>
          </p:nvPr>
        </p:nvSpPr>
        <p:spPr>
          <a:xfrm>
            <a:off x="1142999" y="3429000"/>
            <a:ext cx="6858000" cy="2136153"/>
          </a:xfrm>
        </p:spPr>
        <p:txBody>
          <a:bodyPr>
            <a:normAutofit lnSpcReduction="10000"/>
          </a:bodyPr>
          <a:lstStyle/>
          <a:p>
            <a:endParaRPr lang="en-US" dirty="0">
              <a:latin typeface="LM Sans 12" panose="00000500000000000000" pitchFamily="50" charset="0"/>
              <a:ea typeface="Apple Symbols" panose="02000000000000000000" pitchFamily="2" charset="-79"/>
              <a:cs typeface="Apple Symbols" panose="02000000000000000000" pitchFamily="2" charset="-79"/>
            </a:endParaRPr>
          </a:p>
          <a:p>
            <a:r>
              <a:rPr lang="en-US" dirty="0">
                <a:latin typeface="LM Sans 12" panose="00000500000000000000" pitchFamily="50" charset="0"/>
                <a:ea typeface="Apple Symbols" panose="02000000000000000000" pitchFamily="2" charset="-79"/>
                <a:cs typeface="Apple Symbols" panose="02000000000000000000" pitchFamily="2" charset="-79"/>
              </a:rPr>
              <a:t>Hao PENG</a:t>
            </a:r>
          </a:p>
          <a:p>
            <a:r>
              <a:rPr lang="en-US" dirty="0">
                <a:latin typeface="LM Sans 12" panose="00000500000000000000" pitchFamily="50" charset="0"/>
                <a:ea typeface="Apple Symbols" panose="02000000000000000000" pitchFamily="2" charset="-79"/>
                <a:cs typeface="Apple Symbols" panose="02000000000000000000" pitchFamily="2" charset="-79"/>
              </a:rPr>
              <a:t>Department of Data Science</a:t>
            </a:r>
          </a:p>
          <a:p>
            <a:r>
              <a:rPr lang="en-US" dirty="0">
                <a:latin typeface="LM Sans 12" panose="00000500000000000000" pitchFamily="50" charset="0"/>
                <a:ea typeface="Apple Symbols" panose="02000000000000000000" pitchFamily="2" charset="-79"/>
                <a:cs typeface="Apple Symbols" panose="02000000000000000000" pitchFamily="2" charset="-79"/>
              </a:rPr>
              <a:t>City University of Hong Kong</a:t>
            </a:r>
          </a:p>
          <a:p>
            <a:r>
              <a:rPr lang="en-US" dirty="0">
                <a:solidFill>
                  <a:srgbClr val="0019FF"/>
                </a:solidFill>
                <a:latin typeface="LM Sans 12" panose="00000500000000000000" pitchFamily="50" charset="0"/>
                <a:ea typeface="Apple Symbols" panose="02000000000000000000" pitchFamily="2" charset="-79"/>
                <a:cs typeface="Apple Symbols" panose="02000000000000000000" pitchFamily="2" charset="-79"/>
              </a:rPr>
              <a:t>https://</a:t>
            </a:r>
            <a:r>
              <a:rPr lang="en-US" dirty="0" err="1">
                <a:solidFill>
                  <a:srgbClr val="0019FF"/>
                </a:solidFill>
                <a:latin typeface="LM Sans 12" panose="00000500000000000000" pitchFamily="50" charset="0"/>
                <a:ea typeface="Apple Symbols" panose="02000000000000000000" pitchFamily="2" charset="-79"/>
                <a:cs typeface="Apple Symbols" panose="02000000000000000000" pitchFamily="2" charset="-79"/>
              </a:rPr>
              <a:t>haoopeng.github.io</a:t>
            </a:r>
            <a:r>
              <a:rPr lang="en-US" dirty="0">
                <a:solidFill>
                  <a:srgbClr val="0019FF"/>
                </a:solidFill>
                <a:latin typeface="LM Sans 12" panose="00000500000000000000" pitchFamily="50" charset="0"/>
                <a:ea typeface="Apple Symbols" panose="02000000000000000000" pitchFamily="2" charset="-79"/>
                <a:cs typeface="Apple Symbols" panose="02000000000000000000" pitchFamily="2" charset="-79"/>
              </a:rPr>
              <a:t>/</a:t>
            </a:r>
          </a:p>
        </p:txBody>
      </p:sp>
      <p:sp>
        <p:nvSpPr>
          <p:cNvPr id="6" name="Title 1">
            <a:extLst>
              <a:ext uri="{FF2B5EF4-FFF2-40B4-BE49-F238E27FC236}">
                <a16:creationId xmlns:a16="http://schemas.microsoft.com/office/drawing/2014/main" id="{AF84287C-BF10-3660-A1AF-53A33D3EC018}"/>
              </a:ext>
            </a:extLst>
          </p:cNvPr>
          <p:cNvSpPr>
            <a:spLocks noGrp="1"/>
          </p:cNvSpPr>
          <p:nvPr>
            <p:ph type="ctrTitle"/>
          </p:nvPr>
        </p:nvSpPr>
        <p:spPr>
          <a:xfrm>
            <a:off x="698602" y="1413845"/>
            <a:ext cx="7746794" cy="1729289"/>
          </a:xfrm>
        </p:spPr>
        <p:txBody>
          <a:bodyPr>
            <a:normAutofit fontScale="90000"/>
          </a:bodyPr>
          <a:lstStyle/>
          <a:p>
            <a:r>
              <a:rPr lang="en-US" dirty="0"/>
              <a:t>DSC3013 Intro. to Social</a:t>
            </a:r>
            <a:br>
              <a:rPr lang="en-US" dirty="0"/>
            </a:br>
            <a:r>
              <a:rPr lang="en-US" dirty="0"/>
              <a:t>Media Analytics (</a:t>
            </a:r>
            <a:r>
              <a:rPr lang="en-US" dirty="0" err="1"/>
              <a:t>Lec</a:t>
            </a:r>
            <a:r>
              <a:rPr lang="en-US" dirty="0"/>
              <a:t>. 9)</a:t>
            </a:r>
          </a:p>
        </p:txBody>
      </p:sp>
    </p:spTree>
    <p:extLst>
      <p:ext uri="{BB962C8B-B14F-4D97-AF65-F5344CB8AC3E}">
        <p14:creationId xmlns:p14="http://schemas.microsoft.com/office/powerpoint/2010/main" val="1060034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D5828-808A-8A8D-8465-A5AE798C2204}"/>
              </a:ext>
            </a:extLst>
          </p:cNvPr>
          <p:cNvSpPr>
            <a:spLocks noGrp="1"/>
          </p:cNvSpPr>
          <p:nvPr>
            <p:ph type="title"/>
          </p:nvPr>
        </p:nvSpPr>
        <p:spPr>
          <a:xfrm>
            <a:off x="535345" y="365126"/>
            <a:ext cx="7886700" cy="1325563"/>
          </a:xfrm>
        </p:spPr>
        <p:txBody>
          <a:bodyPr>
            <a:normAutofit/>
          </a:bodyPr>
          <a:lstStyle/>
          <a:p>
            <a:r>
              <a:rPr lang="en-US" sz="4000" dirty="0"/>
              <a:t>Topics for this week</a:t>
            </a:r>
          </a:p>
        </p:txBody>
      </p:sp>
      <p:sp>
        <p:nvSpPr>
          <p:cNvPr id="3" name="Content Placeholder 2">
            <a:extLst>
              <a:ext uri="{FF2B5EF4-FFF2-40B4-BE49-F238E27FC236}">
                <a16:creationId xmlns:a16="http://schemas.microsoft.com/office/drawing/2014/main" id="{F0BE1627-25A0-17BA-95F0-DC1B030A6F0D}"/>
              </a:ext>
            </a:extLst>
          </p:cNvPr>
          <p:cNvSpPr>
            <a:spLocks noGrp="1"/>
          </p:cNvSpPr>
          <p:nvPr>
            <p:ph idx="1"/>
          </p:nvPr>
        </p:nvSpPr>
        <p:spPr>
          <a:xfrm>
            <a:off x="628650" y="1690688"/>
            <a:ext cx="8515350" cy="4538661"/>
          </a:xfrm>
        </p:spPr>
        <p:txBody>
          <a:bodyPr>
            <a:normAutofit/>
          </a:bodyPr>
          <a:lstStyle/>
          <a:p>
            <a:r>
              <a:rPr lang="en-US" altLang="zh-CN" dirty="0"/>
              <a:t>Applications of SNA</a:t>
            </a:r>
          </a:p>
          <a:p>
            <a:pPr lvl="1"/>
            <a:r>
              <a:rPr lang="en-US" altLang="zh-CN" dirty="0"/>
              <a:t>Community detection</a:t>
            </a:r>
          </a:p>
          <a:p>
            <a:pPr lvl="1"/>
            <a:r>
              <a:rPr lang="en-US" altLang="zh-CN" dirty="0"/>
              <a:t>Information diffusion</a:t>
            </a:r>
          </a:p>
          <a:p>
            <a:pPr lvl="2"/>
            <a:r>
              <a:rPr lang="en-US" altLang="zh-CN" dirty="0"/>
              <a:t>Simple vs. complex contagion</a:t>
            </a:r>
          </a:p>
          <a:p>
            <a:pPr lvl="2"/>
            <a:r>
              <a:rPr lang="en-US" altLang="zh-CN" dirty="0"/>
              <a:t>Linear threshold model (ABM)</a:t>
            </a:r>
          </a:p>
          <a:p>
            <a:pPr lvl="2"/>
            <a:r>
              <a:rPr lang="en-US" altLang="zh-CN" dirty="0"/>
              <a:t>Global cascade</a:t>
            </a:r>
          </a:p>
          <a:p>
            <a:pPr lvl="1"/>
            <a:r>
              <a:rPr lang="en-US" altLang="zh-CN" dirty="0"/>
              <a:t>Cascade prediction</a:t>
            </a:r>
          </a:p>
          <a:p>
            <a:pPr lvl="2"/>
            <a:r>
              <a:rPr lang="en-US" altLang="zh-CN" dirty="0"/>
              <a:t>Content features</a:t>
            </a:r>
          </a:p>
          <a:p>
            <a:pPr lvl="2"/>
            <a:r>
              <a:rPr lang="en-US" altLang="zh-CN" dirty="0"/>
              <a:t>Network features</a:t>
            </a:r>
          </a:p>
          <a:p>
            <a:pPr lvl="2"/>
            <a:r>
              <a:rPr lang="en-US" altLang="zh-CN" dirty="0"/>
              <a:t>Temporal features</a:t>
            </a:r>
          </a:p>
          <a:p>
            <a:pPr lvl="1"/>
            <a:r>
              <a:rPr lang="en-US" altLang="zh-CN" dirty="0"/>
              <a:t>Tutorial: Link Prediction</a:t>
            </a:r>
          </a:p>
        </p:txBody>
      </p:sp>
    </p:spTree>
    <p:extLst>
      <p:ext uri="{BB962C8B-B14F-4D97-AF65-F5344CB8AC3E}">
        <p14:creationId xmlns:p14="http://schemas.microsoft.com/office/powerpoint/2010/main" val="313826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karate4.pdf"/>
          <p:cNvPicPr>
            <a:picLocks noChangeAspect="1"/>
          </p:cNvPicPr>
          <p:nvPr/>
        </p:nvPicPr>
        <p:blipFill>
          <a:blip r:embed="rId3"/>
          <a:stretch>
            <a:fillRect/>
          </a:stretch>
        </p:blipFill>
        <p:spPr>
          <a:xfrm rot="18157562">
            <a:off x="2926795" y="1072096"/>
            <a:ext cx="4243666" cy="6005321"/>
          </a:xfrm>
          <a:prstGeom prst="rect">
            <a:avLst/>
          </a:prstGeom>
          <a:ln w="12700">
            <a:miter lim="400000"/>
          </a:ln>
        </p:spPr>
      </p:pic>
      <p:sp>
        <p:nvSpPr>
          <p:cNvPr id="2" name="Title 1"/>
          <p:cNvSpPr>
            <a:spLocks noGrp="1"/>
          </p:cNvSpPr>
          <p:nvPr>
            <p:ph type="title"/>
          </p:nvPr>
        </p:nvSpPr>
        <p:spPr/>
        <p:txBody>
          <a:bodyPr/>
          <a:lstStyle/>
          <a:p>
            <a:r>
              <a:rPr lang="en-US" dirty="0"/>
              <a:t>Community structure</a:t>
            </a:r>
          </a:p>
        </p:txBody>
      </p:sp>
      <p:sp>
        <p:nvSpPr>
          <p:cNvPr id="3" name="TextBox 2"/>
          <p:cNvSpPr txBox="1"/>
          <p:nvPr/>
        </p:nvSpPr>
        <p:spPr>
          <a:xfrm>
            <a:off x="628650" y="1690689"/>
            <a:ext cx="788670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600"/>
              </a:spcBef>
              <a:spcAft>
                <a:spcPts val="0"/>
              </a:spcAft>
              <a:buClrTx/>
              <a:buSzTx/>
              <a:buFontTx/>
              <a:buNone/>
              <a:tabLst/>
              <a:defRPr/>
            </a:pPr>
            <a:r>
              <a:rPr kumimoji="0" lang="en-US" sz="2100" b="0" i="0" u="none" strike="noStrike" kern="1200" cap="none" spc="0" normalizeH="0" baseline="0" noProof="0" dirty="0">
                <a:ln>
                  <a:noFill/>
                </a:ln>
                <a:solidFill>
                  <a:srgbClr val="0096FF"/>
                </a:solidFill>
                <a:effectLst/>
                <a:uLnTx/>
                <a:uFillTx/>
                <a:latin typeface="Calibri" panose="020F0502020204030204"/>
                <a:ea typeface="+mn-ea"/>
                <a:cs typeface="+mn-cs"/>
              </a:rPr>
              <a:t>Network communities </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are groups of nodes in a network with lots of connections within the groups and not too many between groups.</a:t>
            </a:r>
          </a:p>
        </p:txBody>
      </p:sp>
      <p:sp>
        <p:nvSpPr>
          <p:cNvPr id="8" name="TextBox 7">
            <a:extLst>
              <a:ext uri="{FF2B5EF4-FFF2-40B4-BE49-F238E27FC236}">
                <a16:creationId xmlns:a16="http://schemas.microsoft.com/office/drawing/2014/main" id="{AAB97848-3907-141B-5C8B-7419DEB52250}"/>
              </a:ext>
            </a:extLst>
          </p:cNvPr>
          <p:cNvSpPr txBox="1"/>
          <p:nvPr/>
        </p:nvSpPr>
        <p:spPr>
          <a:xfrm>
            <a:off x="1012468" y="5760657"/>
            <a:ext cx="53235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Friendship network in a karate club (Zachary 1977)</a:t>
            </a:r>
          </a:p>
        </p:txBody>
      </p:sp>
    </p:spTree>
    <p:extLst>
      <p:ext uri="{BB962C8B-B14F-4D97-AF65-F5344CB8AC3E}">
        <p14:creationId xmlns:p14="http://schemas.microsoft.com/office/powerpoint/2010/main" val="2049012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Scientific collaboration networks</a:t>
            </a:r>
          </a:p>
        </p:txBody>
      </p:sp>
      <p:pic>
        <p:nvPicPr>
          <p:cNvPr id="1026" name="Picture 2">
            <a:extLst>
              <a:ext uri="{FF2B5EF4-FFF2-40B4-BE49-F238E27FC236}">
                <a16:creationId xmlns:a16="http://schemas.microsoft.com/office/drawing/2014/main" id="{A3000DD7-D12C-1BCB-2BF9-39A4903F6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52" y="1437912"/>
            <a:ext cx="4616163" cy="50549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393B13-CEEF-3A5A-3B14-A5F2D982F836}"/>
              </a:ext>
            </a:extLst>
          </p:cNvPr>
          <p:cNvSpPr txBox="1"/>
          <p:nvPr/>
        </p:nvSpPr>
        <p:spPr>
          <a:xfrm>
            <a:off x="4554671" y="5178118"/>
            <a:ext cx="434644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Adobe Devanagari" panose="02040503050201020203" pitchFamily="18" charset="0"/>
              </a:rPr>
              <a:t>Largest component of collaboration network at the Santa Fe Institute.</a:t>
            </a:r>
          </a:p>
        </p:txBody>
      </p:sp>
      <p:sp>
        <p:nvSpPr>
          <p:cNvPr id="8" name="TextBox 7">
            <a:extLst>
              <a:ext uri="{FF2B5EF4-FFF2-40B4-BE49-F238E27FC236}">
                <a16:creationId xmlns:a16="http://schemas.microsoft.com/office/drawing/2014/main" id="{40CC7376-718B-6419-7096-FE7C3BB26185}"/>
              </a:ext>
            </a:extLst>
          </p:cNvPr>
          <p:cNvSpPr txBox="1"/>
          <p:nvPr/>
        </p:nvSpPr>
        <p:spPr>
          <a:xfrm>
            <a:off x="5435679" y="6123542"/>
            <a:ext cx="285388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Mark Newman, </a:t>
            </a:r>
            <a:r>
              <a:rPr kumimoji="0" lang="en-US" sz="18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PNAS</a:t>
            </a: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2004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2113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1CCDE6AC-22F0-B503-91AD-0EB80C1EC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71" y="1199776"/>
            <a:ext cx="4914339" cy="49143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65414" y="136524"/>
            <a:ext cx="7886700" cy="1325563"/>
          </a:xfrm>
        </p:spPr>
        <p:txBody>
          <a:bodyPr/>
          <a:lstStyle/>
          <a:p>
            <a:r>
              <a:rPr lang="en-US" dirty="0"/>
              <a:t>Networks in Game of Thrones</a:t>
            </a:r>
          </a:p>
        </p:txBody>
      </p:sp>
      <p:sp>
        <p:nvSpPr>
          <p:cNvPr id="8" name="TextBox 7">
            <a:extLst>
              <a:ext uri="{FF2B5EF4-FFF2-40B4-BE49-F238E27FC236}">
                <a16:creationId xmlns:a16="http://schemas.microsoft.com/office/drawing/2014/main" id="{40CC7376-718B-6419-7096-FE7C3BB26185}"/>
              </a:ext>
            </a:extLst>
          </p:cNvPr>
          <p:cNvSpPr txBox="1"/>
          <p:nvPr/>
        </p:nvSpPr>
        <p:spPr>
          <a:xfrm>
            <a:off x="518542" y="6035876"/>
            <a:ext cx="82895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https://</a:t>
            </a:r>
            <a:r>
              <a:rPr kumimoji="0" lang="en-US" sz="1800" b="0" i="0" u="none" strike="noStrike" kern="1200" cap="none" spc="0" normalizeH="0" baseline="0" noProof="0" dirty="0" err="1">
                <a:ln>
                  <a:noFill/>
                </a:ln>
                <a:solidFill>
                  <a:prstClr val="white">
                    <a:lumMod val="50000"/>
                  </a:prstClr>
                </a:solidFill>
                <a:effectLst/>
                <a:uLnTx/>
                <a:uFillTx/>
                <a:latin typeface="Adobe Devanagari"/>
                <a:ea typeface="+mn-ea"/>
                <a:cs typeface="+mn-cs"/>
              </a:rPr>
              <a:t>medium.com</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/web-mining-is688-spring-2021/web-of-thrones-255139b930bb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3F26CDD-B457-3E9C-2891-C3C1F30B4E1F}"/>
              </a:ext>
            </a:extLst>
          </p:cNvPr>
          <p:cNvSpPr txBox="1"/>
          <p:nvPr/>
        </p:nvSpPr>
        <p:spPr>
          <a:xfrm>
            <a:off x="5262794" y="2613392"/>
            <a:ext cx="3744046"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Adobe Devanagari" panose="02040503050201020203" pitchFamily="18" charset="0"/>
              </a:rPr>
              <a:t>How could we know about the strength of community structure?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Adobe Devanagari" panose="020405030502010202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Adobe Devanagari" panose="02040503050201020203" pitchFamily="18" charset="0"/>
              </a:rPr>
              <a:t>Does the observed structure exist due to random chance?</a:t>
            </a:r>
          </a:p>
        </p:txBody>
      </p:sp>
    </p:spTree>
    <p:extLst>
      <p:ext uri="{BB962C8B-B14F-4D97-AF65-F5344CB8AC3E}">
        <p14:creationId xmlns:p14="http://schemas.microsoft.com/office/powerpoint/2010/main" val="2246749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4FA7AC-BE83-8605-E071-25E91C5D70A5}"/>
              </a:ext>
            </a:extLst>
          </p:cNvPr>
          <p:cNvSpPr>
            <a:spLocks noGrp="1"/>
          </p:cNvSpPr>
          <p:nvPr>
            <p:ph type="title"/>
          </p:nvPr>
        </p:nvSpPr>
        <p:spPr/>
        <p:txBody>
          <a:bodyPr/>
          <a:lstStyle/>
          <a:p>
            <a:r>
              <a:rPr lang="en-US" dirty="0"/>
              <a:t>Community detection</a:t>
            </a:r>
          </a:p>
        </p:txBody>
      </p:sp>
      <p:sp>
        <p:nvSpPr>
          <p:cNvPr id="8" name="TextBox 7">
            <a:extLst>
              <a:ext uri="{FF2B5EF4-FFF2-40B4-BE49-F238E27FC236}">
                <a16:creationId xmlns:a16="http://schemas.microsoft.com/office/drawing/2014/main" id="{C7EFEE5F-35DA-BCC2-095B-B0AD2AAD80FD}"/>
              </a:ext>
            </a:extLst>
          </p:cNvPr>
          <p:cNvSpPr txBox="1"/>
          <p:nvPr/>
        </p:nvSpPr>
        <p:spPr>
          <a:xfrm>
            <a:off x="641891" y="1872163"/>
            <a:ext cx="8395429" cy="32675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600"/>
              </a:spcBef>
              <a:spcAft>
                <a:spcPts val="0"/>
              </a:spcAft>
              <a:buClrTx/>
              <a:buSzTx/>
              <a:buFontTx/>
              <a:buNone/>
              <a:tabLst/>
              <a:defRPr/>
            </a:pPr>
            <a:r>
              <a:rPr kumimoji="0" lang="en-US" sz="2400" b="0" i="0" u="none" strike="noStrike" kern="1200" cap="none" spc="0" normalizeH="0" baseline="0" noProof="0" dirty="0">
                <a:ln>
                  <a:noFill/>
                </a:ln>
                <a:solidFill>
                  <a:srgbClr val="0096FF"/>
                </a:solidFill>
                <a:effectLst/>
                <a:uLnTx/>
                <a:uFillTx/>
                <a:latin typeface="Calibri" panose="020F0502020204030204"/>
                <a:ea typeface="+mn-ea"/>
                <a:cs typeface="+mn-cs"/>
              </a:rPr>
              <a:t>Network communities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are groups of nodes in a network with lots of connections within groups and not too many between groups.</a:t>
            </a:r>
          </a:p>
          <a:p>
            <a:pPr marL="0" marR="0" lvl="0" indent="0" algn="l" defTabSz="914400" rtl="0" eaLnBrk="1" fontAlgn="auto" latinLnBrk="0" hangingPunct="1">
              <a:lnSpc>
                <a:spcPct val="100000"/>
              </a:lnSpc>
              <a:spcBef>
                <a:spcPts val="135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Algorithms for identifying communities:</a:t>
            </a:r>
          </a:p>
          <a:p>
            <a:pPr marL="0" marR="0" lvl="0" indent="0" algn="l" defTabSz="914400" rtl="0" eaLnBrk="1" fontAlgn="auto" latinLnBrk="0" hangingPunct="1">
              <a:lnSpc>
                <a:spcPct val="100000"/>
              </a:lnSpc>
              <a:spcBef>
                <a:spcPts val="135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1. Deploying a </a:t>
            </a:r>
            <a:r>
              <a:rPr kumimoji="0" lang="en-US" sz="2000" b="0" i="0" u="none" strike="noStrike" kern="1200" cap="none" spc="0" normalizeH="0" baseline="0" noProof="0" dirty="0">
                <a:ln>
                  <a:noFill/>
                </a:ln>
                <a:solidFill>
                  <a:srgbClr val="0096FF"/>
                </a:solidFill>
                <a:effectLst/>
                <a:uLnTx/>
                <a:uFillTx/>
                <a:latin typeface="Calibri" panose="020F0502020204030204"/>
                <a:ea typeface="+mn-ea"/>
                <a:cs typeface="+mn-cs"/>
              </a:rPr>
              <a:t>hierarchical clustering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idea:</a:t>
            </a:r>
          </a:p>
          <a:p>
            <a:pPr marL="1071563" marR="0" lvl="2" indent="-385763" algn="l" defTabSz="914400" rtl="0" eaLnBrk="1" fontAlgn="auto" latinLnBrk="0" hangingPunct="1">
              <a:lnSpc>
                <a:spcPct val="100000"/>
              </a:lnSpc>
              <a:spcBef>
                <a:spcPts val="1350"/>
              </a:spcBef>
              <a:spcAft>
                <a:spcPts val="0"/>
              </a:spcAft>
              <a:buClrTx/>
              <a:buSzTx/>
              <a:buFont typeface="+mj-lt"/>
              <a:buAutoNum type="alphaLcParenR"/>
              <a:tabLst/>
              <a:defRPr/>
            </a:pPr>
            <a:r>
              <a:rPr kumimoji="0" lang="en-US" sz="1800" b="0" i="0" u="none" strike="noStrike" kern="1200" cap="none" spc="0" normalizeH="0" baseline="0" noProof="0" dirty="0">
                <a:ln>
                  <a:noFill/>
                </a:ln>
                <a:solidFill>
                  <a:srgbClr val="0096FF"/>
                </a:solidFill>
                <a:effectLst/>
                <a:uLnTx/>
                <a:uFillTx/>
                <a:latin typeface="Calibri" panose="020F0502020204030204"/>
                <a:ea typeface="+mn-ea"/>
                <a:cs typeface="+mn-cs"/>
              </a:rPr>
              <a:t>Agglomerative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(bottom up: successive pairing nodes by adding edges)</a:t>
            </a:r>
          </a:p>
          <a:p>
            <a:pPr marL="1071563" marR="0" lvl="2" indent="-385763" algn="l" defTabSz="914400" rtl="0" eaLnBrk="1" fontAlgn="auto" latinLnBrk="0" hangingPunct="1">
              <a:lnSpc>
                <a:spcPct val="100000"/>
              </a:lnSpc>
              <a:spcBef>
                <a:spcPts val="1350"/>
              </a:spcBef>
              <a:spcAft>
                <a:spcPts val="0"/>
              </a:spcAft>
              <a:buClrTx/>
              <a:buSzTx/>
              <a:buFont typeface="+mj-lt"/>
              <a:buAutoNum type="alphaLcParenR"/>
              <a:tabLst/>
              <a:defRPr/>
            </a:pPr>
            <a:r>
              <a:rPr kumimoji="0" lang="en-US" sz="1800" b="0" i="0" u="none" strike="noStrike" kern="1200" cap="none" spc="0" normalizeH="0" baseline="0" noProof="0" dirty="0">
                <a:ln>
                  <a:noFill/>
                </a:ln>
                <a:solidFill>
                  <a:srgbClr val="0096FF"/>
                </a:solidFill>
                <a:effectLst/>
                <a:uLnTx/>
                <a:uFillTx/>
                <a:latin typeface="Calibri" panose="020F0502020204030204"/>
                <a:ea typeface="+mn-ea"/>
                <a:cs typeface="+mn-cs"/>
              </a:rPr>
              <a:t>Divisive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(top down: successive splitting clusters by removing edges)</a:t>
            </a:r>
          </a:p>
          <a:p>
            <a:pPr marL="61913" marR="0" lvl="2" indent="0" algn="l" defTabSz="914400" rtl="0" eaLnBrk="1" fontAlgn="auto" latinLnBrk="0" hangingPunct="1">
              <a:lnSpc>
                <a:spcPct val="100000"/>
              </a:lnSpc>
              <a:spcBef>
                <a:spcPts val="135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2. Based on </a:t>
            </a:r>
            <a:r>
              <a:rPr kumimoji="0" lang="en-US" sz="2000" b="0" i="0" u="none" strike="noStrike" kern="1200" cap="none" spc="0" normalizeH="0" baseline="0" noProof="0" dirty="0">
                <a:ln>
                  <a:noFill/>
                </a:ln>
                <a:solidFill>
                  <a:srgbClr val="0096FF"/>
                </a:solidFill>
                <a:effectLst/>
                <a:uLnTx/>
                <a:uFillTx/>
                <a:latin typeface="Calibri" panose="020F0502020204030204"/>
                <a:ea typeface="+mn-ea"/>
                <a:cs typeface="+mn-cs"/>
              </a:rPr>
              <a:t>information theory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(using random walks)</a:t>
            </a:r>
          </a:p>
        </p:txBody>
      </p:sp>
    </p:spTree>
    <p:extLst>
      <p:ext uri="{BB962C8B-B14F-4D97-AF65-F5344CB8AC3E}">
        <p14:creationId xmlns:p14="http://schemas.microsoft.com/office/powerpoint/2010/main" val="2559697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844" y="368942"/>
            <a:ext cx="8056481" cy="994172"/>
          </a:xfrm>
        </p:spPr>
        <p:txBody>
          <a:bodyPr>
            <a:normAutofit/>
          </a:bodyPr>
          <a:lstStyle/>
          <a:p>
            <a:r>
              <a:rPr lang="en-US" dirty="0"/>
              <a:t>Hierarchical clustering approach</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83" y="1641231"/>
            <a:ext cx="7656805" cy="3980564"/>
          </a:xfrm>
          <a:prstGeom prst="rect">
            <a:avLst/>
          </a:prstGeom>
        </p:spPr>
      </p:pic>
      <p:sp>
        <p:nvSpPr>
          <p:cNvPr id="7" name="TextBox 6"/>
          <p:cNvSpPr txBox="1"/>
          <p:nvPr/>
        </p:nvSpPr>
        <p:spPr>
          <a:xfrm>
            <a:off x="6372225" y="6252337"/>
            <a:ext cx="13775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lumMod val="50000"/>
                  </a:prstClr>
                </a:solidFill>
                <a:effectLst/>
                <a:uLnTx/>
                <a:uFillTx/>
                <a:latin typeface="Calibri" panose="020F0502020204030204"/>
                <a:ea typeface="+mn-ea"/>
                <a:cs typeface="+mn-cs"/>
              </a:rPr>
              <a:t>Maël</a:t>
            </a:r>
            <a:r>
              <a:rPr kumimoji="0" lang="en-US" sz="18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Fabien</a:t>
            </a:r>
          </a:p>
        </p:txBody>
      </p:sp>
      <p:cxnSp>
        <p:nvCxnSpPr>
          <p:cNvPr id="6" name="Straight Arrow Connector 5">
            <a:extLst>
              <a:ext uri="{FF2B5EF4-FFF2-40B4-BE49-F238E27FC236}">
                <a16:creationId xmlns:a16="http://schemas.microsoft.com/office/drawing/2014/main" id="{815E0FB1-ADC4-09E1-7ED5-4F0F40791FC3}"/>
              </a:ext>
            </a:extLst>
          </p:cNvPr>
          <p:cNvCxnSpPr/>
          <p:nvPr/>
        </p:nvCxnSpPr>
        <p:spPr>
          <a:xfrm>
            <a:off x="1150542" y="2898851"/>
            <a:ext cx="1" cy="1450655"/>
          </a:xfrm>
          <a:prstGeom prst="straightConnector1">
            <a:avLst/>
          </a:prstGeom>
          <a:ln w="1905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EF34796-9DD6-24CD-BEFD-F6C350962018}"/>
              </a:ext>
            </a:extLst>
          </p:cNvPr>
          <p:cNvSpPr txBox="1"/>
          <p:nvPr/>
        </p:nvSpPr>
        <p:spPr>
          <a:xfrm>
            <a:off x="-56325" y="3429491"/>
            <a:ext cx="1304557" cy="5078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rPr>
              <a:t>Agglomerative clustering</a:t>
            </a:r>
          </a:p>
        </p:txBody>
      </p:sp>
      <p:cxnSp>
        <p:nvCxnSpPr>
          <p:cNvPr id="15" name="Straight Arrow Connector 14">
            <a:extLst>
              <a:ext uri="{FF2B5EF4-FFF2-40B4-BE49-F238E27FC236}">
                <a16:creationId xmlns:a16="http://schemas.microsoft.com/office/drawing/2014/main" id="{7B3D8FF4-4ADF-DAD0-FAE5-E72DC668D7AB}"/>
              </a:ext>
            </a:extLst>
          </p:cNvPr>
          <p:cNvCxnSpPr/>
          <p:nvPr/>
        </p:nvCxnSpPr>
        <p:spPr>
          <a:xfrm>
            <a:off x="8537735" y="2822953"/>
            <a:ext cx="1" cy="145065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D8C94D9-FEBB-0964-F9E0-38BC85620461}"/>
              </a:ext>
            </a:extLst>
          </p:cNvPr>
          <p:cNvSpPr txBox="1"/>
          <p:nvPr/>
        </p:nvSpPr>
        <p:spPr>
          <a:xfrm>
            <a:off x="7490522" y="3353593"/>
            <a:ext cx="1047213" cy="5078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rPr>
              <a:t>Divisive clustering</a:t>
            </a:r>
          </a:p>
        </p:txBody>
      </p:sp>
      <p:sp>
        <p:nvSpPr>
          <p:cNvPr id="17" name="TextBox 16">
            <a:extLst>
              <a:ext uri="{FF2B5EF4-FFF2-40B4-BE49-F238E27FC236}">
                <a16:creationId xmlns:a16="http://schemas.microsoft.com/office/drawing/2014/main" id="{647F87FB-7628-281D-B097-119B39D532A0}"/>
              </a:ext>
            </a:extLst>
          </p:cNvPr>
          <p:cNvSpPr txBox="1"/>
          <p:nvPr/>
        </p:nvSpPr>
        <p:spPr>
          <a:xfrm>
            <a:off x="1350348" y="1453164"/>
            <a:ext cx="2683033" cy="70788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Start from each node as a community:</a:t>
            </a:r>
          </a:p>
        </p:txBody>
      </p:sp>
      <p:sp>
        <p:nvSpPr>
          <p:cNvPr id="18" name="TextBox 17">
            <a:extLst>
              <a:ext uri="{FF2B5EF4-FFF2-40B4-BE49-F238E27FC236}">
                <a16:creationId xmlns:a16="http://schemas.microsoft.com/office/drawing/2014/main" id="{532EDCFB-82CF-704E-7DF4-BD2C93FE8704}"/>
              </a:ext>
            </a:extLst>
          </p:cNvPr>
          <p:cNvSpPr txBox="1"/>
          <p:nvPr/>
        </p:nvSpPr>
        <p:spPr>
          <a:xfrm>
            <a:off x="5183740" y="1453164"/>
            <a:ext cx="2915541" cy="70788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Start from all nodes in a single community:</a:t>
            </a:r>
          </a:p>
        </p:txBody>
      </p:sp>
    </p:spTree>
    <p:extLst>
      <p:ext uri="{BB962C8B-B14F-4D97-AF65-F5344CB8AC3E}">
        <p14:creationId xmlns:p14="http://schemas.microsoft.com/office/powerpoint/2010/main" val="188190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399" y="505469"/>
            <a:ext cx="8056481" cy="994172"/>
          </a:xfrm>
        </p:spPr>
        <p:txBody>
          <a:bodyPr>
            <a:normAutofit/>
          </a:bodyPr>
          <a:lstStyle/>
          <a:p>
            <a:r>
              <a:rPr lang="en-US" dirty="0"/>
              <a:t>The Newman-Girvan algorithm</a:t>
            </a:r>
          </a:p>
        </p:txBody>
      </p:sp>
      <p:sp>
        <p:nvSpPr>
          <p:cNvPr id="14" name="TextBox 13">
            <a:extLst>
              <a:ext uri="{FF2B5EF4-FFF2-40B4-BE49-F238E27FC236}">
                <a16:creationId xmlns:a16="http://schemas.microsoft.com/office/drawing/2014/main" id="{21886399-03B0-5F43-A79A-818B85EC908C}"/>
              </a:ext>
            </a:extLst>
          </p:cNvPr>
          <p:cNvSpPr txBox="1"/>
          <p:nvPr/>
        </p:nvSpPr>
        <p:spPr>
          <a:xfrm>
            <a:off x="683871" y="5870214"/>
            <a:ext cx="6047119" cy="3000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lumMod val="50000"/>
                  </a:prstClr>
                </a:solidFill>
                <a:effectLst/>
                <a:uLnTx/>
                <a:uFillTx/>
                <a:latin typeface="Adobe Devanagari"/>
                <a:ea typeface="+mn-ea"/>
                <a:cs typeface="+mn-cs"/>
              </a:rPr>
              <a:t>Mark Newman, </a:t>
            </a:r>
            <a:r>
              <a:rPr kumimoji="0" lang="en-US" sz="1350" b="0" i="1" u="none" strike="noStrike" kern="1200" cap="none" spc="0" normalizeH="0" baseline="0" noProof="0" dirty="0">
                <a:ln>
                  <a:noFill/>
                </a:ln>
                <a:solidFill>
                  <a:prstClr val="white">
                    <a:lumMod val="50000"/>
                  </a:prstClr>
                </a:solidFill>
                <a:effectLst/>
                <a:uLnTx/>
                <a:uFillTx/>
                <a:latin typeface="Adobe Devanagari"/>
                <a:ea typeface="+mn-ea"/>
                <a:cs typeface="+mn-cs"/>
              </a:rPr>
              <a:t>PNAS</a:t>
            </a:r>
            <a:r>
              <a:rPr kumimoji="0" lang="en-US" sz="1350" b="0" i="0" u="none" strike="noStrike" kern="1200" cap="none" spc="0" normalizeH="0" baseline="0" noProof="0" dirty="0">
                <a:ln>
                  <a:noFill/>
                </a:ln>
                <a:solidFill>
                  <a:prstClr val="white">
                    <a:lumMod val="50000"/>
                  </a:prstClr>
                </a:solidFill>
                <a:effectLst/>
                <a:uLnTx/>
                <a:uFillTx/>
                <a:latin typeface="Adobe Devanagari"/>
                <a:ea typeface="+mn-ea"/>
                <a:cs typeface="+mn-cs"/>
              </a:rPr>
              <a:t>, 2006; Girvan and Newman, </a:t>
            </a:r>
            <a:r>
              <a:rPr kumimoji="0" lang="en-US" sz="1350" b="0" i="1" u="none" strike="noStrike" kern="1200" cap="none" spc="0" normalizeH="0" baseline="0" noProof="0" dirty="0">
                <a:ln>
                  <a:noFill/>
                </a:ln>
                <a:solidFill>
                  <a:prstClr val="white">
                    <a:lumMod val="50000"/>
                  </a:prstClr>
                </a:solidFill>
                <a:effectLst/>
                <a:uLnTx/>
                <a:uFillTx/>
                <a:latin typeface="Adobe Devanagari"/>
                <a:ea typeface="+mn-ea"/>
                <a:cs typeface="+mn-cs"/>
              </a:rPr>
              <a:t>PNAS</a:t>
            </a:r>
            <a:r>
              <a:rPr kumimoji="0" lang="en-US" sz="1350" b="0" i="0" u="none" strike="noStrike" kern="1200" cap="none" spc="0" normalizeH="0" baseline="0" noProof="0" dirty="0">
                <a:ln>
                  <a:noFill/>
                </a:ln>
                <a:solidFill>
                  <a:prstClr val="white">
                    <a:lumMod val="50000"/>
                  </a:prstClr>
                </a:solidFill>
                <a:effectLst/>
                <a:uLnTx/>
                <a:uFillTx/>
                <a:latin typeface="Adobe Devanagari"/>
                <a:ea typeface="+mn-ea"/>
                <a:cs typeface="+mn-cs"/>
              </a:rPr>
              <a:t>, 2002</a:t>
            </a:r>
          </a:p>
        </p:txBody>
      </p:sp>
      <p:sp>
        <p:nvSpPr>
          <p:cNvPr id="9" name="TextBox 8">
            <a:extLst>
              <a:ext uri="{FF2B5EF4-FFF2-40B4-BE49-F238E27FC236}">
                <a16:creationId xmlns:a16="http://schemas.microsoft.com/office/drawing/2014/main" id="{433E0435-0104-F576-EDEB-DEE4BFAA15BA}"/>
              </a:ext>
            </a:extLst>
          </p:cNvPr>
          <p:cNvSpPr txBox="1"/>
          <p:nvPr/>
        </p:nvSpPr>
        <p:spPr>
          <a:xfrm>
            <a:off x="509249" y="1499641"/>
            <a:ext cx="8926274" cy="17697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Repeatedly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removing</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edges (divisive):</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Calculate </a:t>
            </a:r>
            <a:r>
              <a:rPr kumimoji="0" lang="en-US" sz="2000" b="0" i="0" u="sng" strike="noStrike" kern="1200" cap="none" spc="0" normalizeH="0" baseline="0" noProof="0" dirty="0">
                <a:ln>
                  <a:noFill/>
                </a:ln>
                <a:solidFill>
                  <a:prstClr val="black"/>
                </a:solidFill>
                <a:effectLst/>
                <a:uLnTx/>
                <a:uFillTx/>
                <a:latin typeface="Calibri" panose="020F0502020204030204"/>
                <a:ea typeface="+mn-ea"/>
                <a:cs typeface="+mn-cs"/>
              </a:rPr>
              <a:t>betweenness centrality score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for all edges in the network.</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Remove the edge with the highest betweenness centrality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Recalculate betweenness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for all remaining edges.</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Repeat steps 2-4 until there are no more edges left.</a:t>
            </a:r>
          </a:p>
        </p:txBody>
      </p:sp>
      <p:pic>
        <p:nvPicPr>
          <p:cNvPr id="1028" name="Picture 4" descr="Girvan-newman-example-1">
            <a:extLst>
              <a:ext uri="{FF2B5EF4-FFF2-40B4-BE49-F238E27FC236}">
                <a16:creationId xmlns:a16="http://schemas.microsoft.com/office/drawing/2014/main" id="{FF1E110D-AF4A-1207-CEA7-43505525F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80" y="3429000"/>
            <a:ext cx="5120640" cy="237185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BA1606F-EA63-5F97-D20D-363C78697C91}"/>
              </a:ext>
            </a:extLst>
          </p:cNvPr>
          <p:cNvSpPr txBox="1"/>
          <p:nvPr/>
        </p:nvSpPr>
        <p:spPr>
          <a:xfrm>
            <a:off x="683871" y="6132506"/>
            <a:ext cx="744097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https://memgraph.github.io/networkx-guide/algorithms/community-detection/girvan-newman/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74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497" y="3145128"/>
            <a:ext cx="8184951" cy="2267299"/>
          </a:xfrm>
          <a:prstGeom prst="rect">
            <a:avLst/>
          </a:prstGeom>
        </p:spPr>
      </p:pic>
      <p:sp>
        <p:nvSpPr>
          <p:cNvPr id="14" name="TextBox 13">
            <a:extLst>
              <a:ext uri="{FF2B5EF4-FFF2-40B4-BE49-F238E27FC236}">
                <a16:creationId xmlns:a16="http://schemas.microsoft.com/office/drawing/2014/main" id="{21886399-03B0-5F43-A79A-818B85EC908C}"/>
              </a:ext>
            </a:extLst>
          </p:cNvPr>
          <p:cNvSpPr txBox="1"/>
          <p:nvPr/>
        </p:nvSpPr>
        <p:spPr>
          <a:xfrm>
            <a:off x="1948827" y="6208707"/>
            <a:ext cx="60471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Mark Newman,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PNAS</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2006; Girvan and Newman,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PNAS</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2002</a:t>
            </a:r>
          </a:p>
        </p:txBody>
      </p:sp>
      <p:sp>
        <p:nvSpPr>
          <p:cNvPr id="9" name="TextBox 8">
            <a:extLst>
              <a:ext uri="{FF2B5EF4-FFF2-40B4-BE49-F238E27FC236}">
                <a16:creationId xmlns:a16="http://schemas.microsoft.com/office/drawing/2014/main" id="{433E0435-0104-F576-EDEB-DEE4BFAA15BA}"/>
              </a:ext>
            </a:extLst>
          </p:cNvPr>
          <p:cNvSpPr txBox="1"/>
          <p:nvPr/>
        </p:nvSpPr>
        <p:spPr>
          <a:xfrm>
            <a:off x="493497" y="1651407"/>
            <a:ext cx="8650503" cy="101566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Repeatedly remove edges based on betweenness centrality.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It produces a dendrogram for different depth of network partition.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Can use </a:t>
            </a:r>
            <a:r>
              <a:rPr kumimoji="0" lang="en-US" sz="20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modularity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to measure the strength of community structure.</a:t>
            </a:r>
          </a:p>
        </p:txBody>
      </p:sp>
      <p:sp>
        <p:nvSpPr>
          <p:cNvPr id="11" name="Title 1">
            <a:extLst>
              <a:ext uri="{FF2B5EF4-FFF2-40B4-BE49-F238E27FC236}">
                <a16:creationId xmlns:a16="http://schemas.microsoft.com/office/drawing/2014/main" id="{FE3DEE89-3276-69F8-B1A9-96BF634B391D}"/>
              </a:ext>
            </a:extLst>
          </p:cNvPr>
          <p:cNvSpPr>
            <a:spLocks noGrp="1"/>
          </p:cNvSpPr>
          <p:nvPr>
            <p:ph type="title"/>
          </p:nvPr>
        </p:nvSpPr>
        <p:spPr>
          <a:xfrm>
            <a:off x="330399" y="505469"/>
            <a:ext cx="8056481" cy="994172"/>
          </a:xfrm>
        </p:spPr>
        <p:txBody>
          <a:bodyPr>
            <a:normAutofit/>
          </a:bodyPr>
          <a:lstStyle/>
          <a:p>
            <a:r>
              <a:rPr lang="en-US" dirty="0"/>
              <a:t>The Newman-Girvan algorithm</a:t>
            </a:r>
          </a:p>
        </p:txBody>
      </p:sp>
    </p:spTree>
    <p:extLst>
      <p:ext uri="{BB962C8B-B14F-4D97-AF65-F5344CB8AC3E}">
        <p14:creationId xmlns:p14="http://schemas.microsoft.com/office/powerpoint/2010/main" val="3754060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74FA7AC-BE83-8605-E071-25E91C5D70A5}"/>
              </a:ext>
            </a:extLst>
          </p:cNvPr>
          <p:cNvSpPr>
            <a:spLocks noGrp="1"/>
          </p:cNvSpPr>
          <p:nvPr>
            <p:ph type="title"/>
          </p:nvPr>
        </p:nvSpPr>
        <p:spPr>
          <a:xfrm>
            <a:off x="415926" y="134133"/>
            <a:ext cx="7886700" cy="1325563"/>
          </a:xfrm>
        </p:spPr>
        <p:txBody>
          <a:bodyPr/>
          <a:lstStyle/>
          <a:p>
            <a:r>
              <a:rPr lang="en-US" dirty="0"/>
              <a:t>Network modularity (Q)</a:t>
            </a:r>
          </a:p>
        </p:txBody>
      </p:sp>
      <p:sp>
        <p:nvSpPr>
          <p:cNvPr id="10" name="TextBox 9">
            <a:extLst>
              <a:ext uri="{FF2B5EF4-FFF2-40B4-BE49-F238E27FC236}">
                <a16:creationId xmlns:a16="http://schemas.microsoft.com/office/drawing/2014/main" id="{B462AA25-6351-C203-7400-D6E092010FD1}"/>
              </a:ext>
            </a:extLst>
          </p:cNvPr>
          <p:cNvSpPr txBox="1"/>
          <p:nvPr/>
        </p:nvSpPr>
        <p:spPr>
          <a:xfrm>
            <a:off x="471488" y="1275884"/>
            <a:ext cx="8559778" cy="1384995"/>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Modularity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is the fraction of all edges that fall within the same groups minus the expected fraction if edges were distributed at random.</a:t>
            </a:r>
          </a:p>
        </p:txBody>
      </p:sp>
      <p:sp>
        <p:nvSpPr>
          <p:cNvPr id="11" name="TextBox 10">
            <a:extLst>
              <a:ext uri="{FF2B5EF4-FFF2-40B4-BE49-F238E27FC236}">
                <a16:creationId xmlns:a16="http://schemas.microsoft.com/office/drawing/2014/main" id="{907FBB43-CC41-D8EC-3431-F5B074CD923A}"/>
              </a:ext>
            </a:extLst>
          </p:cNvPr>
          <p:cNvSpPr txBox="1"/>
          <p:nvPr/>
        </p:nvSpPr>
        <p:spPr>
          <a:xfrm>
            <a:off x="785812" y="6031209"/>
            <a:ext cx="7886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Mark Newman, “Modularity and community structure in networks”.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PNAS</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2006</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F3908FE4-DE08-8955-8C72-C6826E5BC07A}"/>
              </a:ext>
            </a:extLst>
          </p:cNvPr>
          <p:cNvPicPr>
            <a:picLocks noChangeAspect="1"/>
          </p:cNvPicPr>
          <p:nvPr/>
        </p:nvPicPr>
        <p:blipFill>
          <a:blip r:embed="rId3"/>
          <a:stretch>
            <a:fillRect/>
          </a:stretch>
        </p:blipFill>
        <p:spPr>
          <a:xfrm>
            <a:off x="956095" y="5145079"/>
            <a:ext cx="7300914" cy="658022"/>
          </a:xfrm>
          <a:prstGeom prst="rect">
            <a:avLst/>
          </a:prstGeom>
        </p:spPr>
      </p:pic>
      <p:grpSp>
        <p:nvGrpSpPr>
          <p:cNvPr id="18" name="Group 17">
            <a:extLst>
              <a:ext uri="{FF2B5EF4-FFF2-40B4-BE49-F238E27FC236}">
                <a16:creationId xmlns:a16="http://schemas.microsoft.com/office/drawing/2014/main" id="{91C7347A-D3B5-FA4A-81EA-3934F181EA0D}"/>
              </a:ext>
            </a:extLst>
          </p:cNvPr>
          <p:cNvGrpSpPr/>
          <p:nvPr/>
        </p:nvGrpSpPr>
        <p:grpSpPr>
          <a:xfrm>
            <a:off x="5826863" y="2445356"/>
            <a:ext cx="2218176" cy="2458412"/>
            <a:chOff x="6306345" y="3578698"/>
            <a:chExt cx="3517900" cy="3898900"/>
          </a:xfrm>
        </p:grpSpPr>
        <p:pic>
          <p:nvPicPr>
            <p:cNvPr id="17" name="Picture 16">
              <a:extLst>
                <a:ext uri="{FF2B5EF4-FFF2-40B4-BE49-F238E27FC236}">
                  <a16:creationId xmlns:a16="http://schemas.microsoft.com/office/drawing/2014/main" id="{BE0FA05D-8D06-C7D6-809B-892BD99895B1}"/>
                </a:ext>
              </a:extLst>
            </p:cNvPr>
            <p:cNvPicPr>
              <a:picLocks noChangeAspect="1"/>
            </p:cNvPicPr>
            <p:nvPr/>
          </p:nvPicPr>
          <p:blipFill>
            <a:blip r:embed="rId4"/>
            <a:stretch>
              <a:fillRect/>
            </a:stretch>
          </p:blipFill>
          <p:spPr>
            <a:xfrm>
              <a:off x="6306345" y="3578698"/>
              <a:ext cx="3517900" cy="3898900"/>
            </a:xfrm>
            <a:prstGeom prst="rect">
              <a:avLst/>
            </a:prstGeom>
          </p:spPr>
        </p:pic>
        <p:sp>
          <p:nvSpPr>
            <p:cNvPr id="16" name="Rectangle 15">
              <a:extLst>
                <a:ext uri="{FF2B5EF4-FFF2-40B4-BE49-F238E27FC236}">
                  <a16:creationId xmlns:a16="http://schemas.microsoft.com/office/drawing/2014/main" id="{28E06590-EEA8-9A14-C38E-B51115D5535F}"/>
                </a:ext>
              </a:extLst>
            </p:cNvPr>
            <p:cNvSpPr/>
            <p:nvPr/>
          </p:nvSpPr>
          <p:spPr>
            <a:xfrm>
              <a:off x="6306345" y="3596832"/>
              <a:ext cx="895739" cy="712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9" name="Picture 18">
            <a:extLst>
              <a:ext uri="{FF2B5EF4-FFF2-40B4-BE49-F238E27FC236}">
                <a16:creationId xmlns:a16="http://schemas.microsoft.com/office/drawing/2014/main" id="{4AAB4383-C092-7F07-BC5F-318D78D76D9C}"/>
              </a:ext>
            </a:extLst>
          </p:cNvPr>
          <p:cNvPicPr>
            <a:picLocks noChangeAspect="1"/>
          </p:cNvPicPr>
          <p:nvPr/>
        </p:nvPicPr>
        <p:blipFill>
          <a:blip r:embed="rId5"/>
          <a:stretch>
            <a:fillRect/>
          </a:stretch>
        </p:blipFill>
        <p:spPr>
          <a:xfrm>
            <a:off x="657225" y="3039562"/>
            <a:ext cx="4546600" cy="1270000"/>
          </a:xfrm>
          <a:prstGeom prst="rect">
            <a:avLst/>
          </a:prstGeom>
        </p:spPr>
      </p:pic>
      <p:sp>
        <p:nvSpPr>
          <p:cNvPr id="2" name="TextBox 1">
            <a:extLst>
              <a:ext uri="{FF2B5EF4-FFF2-40B4-BE49-F238E27FC236}">
                <a16:creationId xmlns:a16="http://schemas.microsoft.com/office/drawing/2014/main" id="{40095587-E027-47F1-BB8A-065BBF5C486B}"/>
              </a:ext>
            </a:extLst>
          </p:cNvPr>
          <p:cNvSpPr txBox="1"/>
          <p:nvPr/>
        </p:nvSpPr>
        <p:spPr>
          <a:xfrm>
            <a:off x="8175379" y="5218326"/>
            <a:ext cx="64793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70C0"/>
                </a:solidFill>
                <a:effectLst/>
                <a:uLnTx/>
                <a:uFillTx/>
                <a:latin typeface="Calibri" panose="020F0502020204030204"/>
                <a:ea typeface="+mn-ea"/>
                <a:cs typeface="+mn-cs"/>
              </a:rPr>
              <a:t>/M</a:t>
            </a:r>
            <a:endParaRPr kumimoji="0" lang="en-US" sz="2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511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table of numbers and digits&#10;&#10;AI-generated content may be incorrect.">
            <a:extLst>
              <a:ext uri="{FF2B5EF4-FFF2-40B4-BE49-F238E27FC236}">
                <a16:creationId xmlns:a16="http://schemas.microsoft.com/office/drawing/2014/main" id="{CA43D8B2-5848-B18F-EA82-FF89F92875A3}"/>
              </a:ext>
            </a:extLst>
          </p:cNvPr>
          <p:cNvPicPr>
            <a:picLocks noGrp="1" noChangeAspect="1"/>
          </p:cNvPicPr>
          <p:nvPr>
            <p:ph idx="1"/>
          </p:nvPr>
        </p:nvPicPr>
        <p:blipFill>
          <a:blip r:embed="rId3"/>
          <a:stretch>
            <a:fillRect/>
          </a:stretch>
        </p:blipFill>
        <p:spPr>
          <a:xfrm>
            <a:off x="726758" y="1832292"/>
            <a:ext cx="3710088" cy="4351338"/>
          </a:xfrm>
          <a:prstGeom prst="rect">
            <a:avLst/>
          </a:prstGeom>
        </p:spPr>
      </p:pic>
      <p:sp>
        <p:nvSpPr>
          <p:cNvPr id="4" name="Title 1">
            <a:extLst>
              <a:ext uri="{FF2B5EF4-FFF2-40B4-BE49-F238E27FC236}">
                <a16:creationId xmlns:a16="http://schemas.microsoft.com/office/drawing/2014/main" id="{CC361731-7B26-211F-4498-228978A2C353}"/>
              </a:ext>
            </a:extLst>
          </p:cNvPr>
          <p:cNvSpPr txBox="1">
            <a:spLocks/>
          </p:cNvSpPr>
          <p:nvPr/>
        </p:nvSpPr>
        <p:spPr>
          <a:xfrm>
            <a:off x="493497" y="373585"/>
            <a:ext cx="7886700" cy="9941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chemeClr val="tx1"/>
                </a:solidFill>
                <a:latin typeface="LM Sans 12" pitchFamily="2" charset="77"/>
                <a:ea typeface="+mj-ea"/>
                <a:cs typeface="+mj-cs"/>
              </a:defRPr>
            </a:lvl1pPr>
          </a:lstStyle>
          <a:p>
            <a:r>
              <a:rPr lang="en-US" dirty="0"/>
              <a:t>Adjacency matrix</a:t>
            </a:r>
          </a:p>
        </p:txBody>
      </p:sp>
      <p:pic>
        <p:nvPicPr>
          <p:cNvPr id="3076" name="Picture 4">
            <a:extLst>
              <a:ext uri="{FF2B5EF4-FFF2-40B4-BE49-F238E27FC236}">
                <a16:creationId xmlns:a16="http://schemas.microsoft.com/office/drawing/2014/main" id="{E00E005F-6899-3863-78F7-A8AD0EB1F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649" y="1497012"/>
            <a:ext cx="3260726" cy="32607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8995934-37AB-25C8-E3E6-EEA86341DA8C}"/>
              </a:ext>
            </a:extLst>
          </p:cNvPr>
          <p:cNvSpPr txBox="1"/>
          <p:nvPr/>
        </p:nvSpPr>
        <p:spPr>
          <a:xfrm>
            <a:off x="4707155" y="4886993"/>
            <a:ext cx="4010026" cy="400110"/>
          </a:xfrm>
          <a:prstGeom prst="rect">
            <a:avLst/>
          </a:prstGeom>
          <a:noFill/>
        </p:spPr>
        <p:txBody>
          <a:bodyPr wrap="square">
            <a:sp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Partition that maximizes Q = </a:t>
            </a:r>
            <a:r>
              <a:rPr lang="en-US" sz="2000" dirty="0"/>
              <a:t>0.49</a:t>
            </a:r>
          </a:p>
        </p:txBody>
      </p:sp>
      <p:sp>
        <p:nvSpPr>
          <p:cNvPr id="10" name="Left Brace 9">
            <a:extLst>
              <a:ext uri="{FF2B5EF4-FFF2-40B4-BE49-F238E27FC236}">
                <a16:creationId xmlns:a16="http://schemas.microsoft.com/office/drawing/2014/main" id="{29D1685F-B7EF-1AAD-E001-DF82353E8B9F}"/>
              </a:ext>
            </a:extLst>
          </p:cNvPr>
          <p:cNvSpPr/>
          <p:nvPr/>
        </p:nvSpPr>
        <p:spPr>
          <a:xfrm rot="5400000">
            <a:off x="2082975" y="1377996"/>
            <a:ext cx="190040" cy="840122"/>
          </a:xfrm>
          <a:prstGeom prst="leftBrace">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D0BC3D03-DEBA-B0A3-C112-76CF9392C9C6}"/>
              </a:ext>
            </a:extLst>
          </p:cNvPr>
          <p:cNvSpPr/>
          <p:nvPr/>
        </p:nvSpPr>
        <p:spPr>
          <a:xfrm rot="5400000">
            <a:off x="3002595" y="1525629"/>
            <a:ext cx="172797" cy="556639"/>
          </a:xfrm>
          <a:prstGeom prst="leftBrace">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ABC45BA0-398A-2C46-A10A-C754ABAD7F23}"/>
              </a:ext>
            </a:extLst>
          </p:cNvPr>
          <p:cNvSpPr/>
          <p:nvPr/>
        </p:nvSpPr>
        <p:spPr>
          <a:xfrm rot="5400000">
            <a:off x="3790052" y="1533976"/>
            <a:ext cx="172797" cy="556639"/>
          </a:xfrm>
          <a:prstGeom prst="leftBrace">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EB1EC666-F02E-9446-E591-C65BA9E4CED3}"/>
              </a:ext>
            </a:extLst>
          </p:cNvPr>
          <p:cNvSpPr txBox="1"/>
          <p:nvPr/>
        </p:nvSpPr>
        <p:spPr>
          <a:xfrm>
            <a:off x="1996440" y="1367756"/>
            <a:ext cx="583416" cy="369332"/>
          </a:xfrm>
          <a:prstGeom prst="rect">
            <a:avLst/>
          </a:prstGeom>
          <a:noFill/>
        </p:spPr>
        <p:txBody>
          <a:bodyPr wrap="square" rtlCol="0">
            <a:spAutoFit/>
          </a:bodyPr>
          <a:lstStyle/>
          <a:p>
            <a:r>
              <a:rPr lang="en-US" dirty="0"/>
              <a:t>C1</a:t>
            </a:r>
          </a:p>
        </p:txBody>
      </p:sp>
      <p:sp>
        <p:nvSpPr>
          <p:cNvPr id="14" name="TextBox 13">
            <a:extLst>
              <a:ext uri="{FF2B5EF4-FFF2-40B4-BE49-F238E27FC236}">
                <a16:creationId xmlns:a16="http://schemas.microsoft.com/office/drawing/2014/main" id="{4AF6281E-DE4A-6691-008D-84713DE68F86}"/>
              </a:ext>
            </a:extLst>
          </p:cNvPr>
          <p:cNvSpPr txBox="1"/>
          <p:nvPr/>
        </p:nvSpPr>
        <p:spPr>
          <a:xfrm>
            <a:off x="2899306" y="1367756"/>
            <a:ext cx="583416" cy="369332"/>
          </a:xfrm>
          <a:prstGeom prst="rect">
            <a:avLst/>
          </a:prstGeom>
          <a:noFill/>
        </p:spPr>
        <p:txBody>
          <a:bodyPr wrap="square" rtlCol="0">
            <a:spAutoFit/>
          </a:bodyPr>
          <a:lstStyle/>
          <a:p>
            <a:r>
              <a:rPr lang="en-US" dirty="0"/>
              <a:t>C2</a:t>
            </a:r>
          </a:p>
        </p:txBody>
      </p:sp>
      <p:sp>
        <p:nvSpPr>
          <p:cNvPr id="15" name="TextBox 14">
            <a:extLst>
              <a:ext uri="{FF2B5EF4-FFF2-40B4-BE49-F238E27FC236}">
                <a16:creationId xmlns:a16="http://schemas.microsoft.com/office/drawing/2014/main" id="{F91CD6B4-5F09-2F4D-53CE-FC88BDC96F50}"/>
              </a:ext>
            </a:extLst>
          </p:cNvPr>
          <p:cNvSpPr txBox="1"/>
          <p:nvPr/>
        </p:nvSpPr>
        <p:spPr>
          <a:xfrm>
            <a:off x="3668563" y="1367756"/>
            <a:ext cx="583416" cy="369332"/>
          </a:xfrm>
          <a:prstGeom prst="rect">
            <a:avLst/>
          </a:prstGeom>
          <a:noFill/>
        </p:spPr>
        <p:txBody>
          <a:bodyPr wrap="square" rtlCol="0">
            <a:spAutoFit/>
          </a:bodyPr>
          <a:lstStyle/>
          <a:p>
            <a:r>
              <a:rPr lang="en-US" dirty="0"/>
              <a:t>C3</a:t>
            </a:r>
          </a:p>
        </p:txBody>
      </p:sp>
    </p:spTree>
    <p:extLst>
      <p:ext uri="{BB962C8B-B14F-4D97-AF65-F5344CB8AC3E}">
        <p14:creationId xmlns:p14="http://schemas.microsoft.com/office/powerpoint/2010/main" val="717813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93497" y="373585"/>
            <a:ext cx="7886700" cy="994172"/>
          </a:xfrm>
        </p:spPr>
        <p:txBody>
          <a:bodyPr/>
          <a:lstStyle/>
          <a:p>
            <a:r>
              <a:rPr lang="en-US" sz="4400" dirty="0"/>
              <a:t>Node2vec</a:t>
            </a:r>
            <a:r>
              <a:rPr lang="en-US" dirty="0"/>
              <a:t> algorithm</a:t>
            </a:r>
          </a:p>
        </p:txBody>
      </p:sp>
      <p:sp>
        <p:nvSpPr>
          <p:cNvPr id="9" name="TextBox 8">
            <a:extLst>
              <a:ext uri="{FF2B5EF4-FFF2-40B4-BE49-F238E27FC236}">
                <a16:creationId xmlns:a16="http://schemas.microsoft.com/office/drawing/2014/main" id="{5557A83D-F0DA-B54D-BF49-69B01FE2B04E}"/>
              </a:ext>
            </a:extLst>
          </p:cNvPr>
          <p:cNvSpPr txBox="1"/>
          <p:nvPr/>
        </p:nvSpPr>
        <p:spPr>
          <a:xfrm>
            <a:off x="4962276" y="5961195"/>
            <a:ext cx="418172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50000"/>
                  </a:prstClr>
                </a:solidFill>
                <a:effectLst/>
                <a:uLnTx/>
                <a:uFillTx/>
                <a:latin typeface="Adobe Devanagari"/>
                <a:ea typeface="+mn-ea"/>
                <a:cs typeface="+mn-cs"/>
                <a:hlinkClick r:id="rId3"/>
              </a:rPr>
              <a:t>https://snap.stanford.edu/node2vec/</a:t>
            </a:r>
            <a:endParaRPr kumimoji="0" lang="en-US" sz="1400" b="0" i="0" u="none" strike="noStrike" kern="1200" cap="none" spc="0" normalizeH="0" baseline="0" noProof="0" dirty="0">
              <a:ln>
                <a:noFill/>
              </a:ln>
              <a:solidFill>
                <a:prstClr val="white">
                  <a:lumMod val="50000"/>
                </a:prstClr>
              </a:solidFill>
              <a:effectLst/>
              <a:uLnTx/>
              <a:uFillTx/>
              <a:latin typeface="Adobe Devanaga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lumMod val="50000"/>
                </a:prstClr>
              </a:solidFill>
              <a:effectLst/>
              <a:uLnTx/>
              <a:uFillTx/>
              <a:latin typeface="Adobe Devanagari"/>
              <a:ea typeface="+mn-ea"/>
              <a:cs typeface="+mn-cs"/>
            </a:endParaRPr>
          </a:p>
        </p:txBody>
      </p:sp>
      <p:sp>
        <p:nvSpPr>
          <p:cNvPr id="5" name="TextBox 4">
            <a:extLst>
              <a:ext uri="{FF2B5EF4-FFF2-40B4-BE49-F238E27FC236}">
                <a16:creationId xmlns:a16="http://schemas.microsoft.com/office/drawing/2014/main" id="{0EC6D1F8-4CB2-7F62-7EEF-9E55CADBC7C7}"/>
              </a:ext>
            </a:extLst>
          </p:cNvPr>
          <p:cNvSpPr txBox="1"/>
          <p:nvPr/>
        </p:nvSpPr>
        <p:spPr>
          <a:xfrm>
            <a:off x="506023" y="1235311"/>
            <a:ext cx="8650503" cy="15696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Generate random walks on a network (e.g., 100 steps)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Trick: consider each user as a “word”; then </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apply </a:t>
            </a:r>
            <a:r>
              <a:rPr kumimoji="0" lang="en-US" sz="2400" b="1" i="0" u="none" strike="noStrike" kern="1200" cap="none" spc="0" normalizeH="0" baseline="0" noProof="0" dirty="0">
                <a:ln>
                  <a:noFill/>
                </a:ln>
                <a:solidFill>
                  <a:srgbClr val="C00000"/>
                </a:solidFill>
                <a:effectLst/>
                <a:uLnTx/>
                <a:uFillTx/>
                <a:latin typeface="Calibri" panose="020F0502020204030204"/>
                <a:ea typeface="+mn-ea"/>
                <a:cs typeface="+mn-cs"/>
              </a:rPr>
              <a:t>word2vec</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 to generated “sentences” -&gt; obtain user vector!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a:rPr>
              <a:t>Final step:</a:t>
            </a:r>
            <a:r>
              <a:rPr lang="en-US" sz="2400" dirty="0">
                <a:solidFill>
                  <a:srgbClr val="00B0F0"/>
                </a:solidFill>
                <a:latin typeface="Calibri" panose="020F0502020204030204"/>
              </a:rPr>
              <a:t> </a:t>
            </a:r>
            <a:r>
              <a:rPr lang="en-US" sz="2400" dirty="0">
                <a:solidFill>
                  <a:srgbClr val="0078B9"/>
                </a:solidFill>
                <a:latin typeface="Calibri" panose="020F0502020204030204"/>
              </a:rPr>
              <a:t>do clustering (k-means) on user vectors.</a:t>
            </a:r>
            <a:endParaRPr kumimoji="0" lang="en-US" sz="2400" b="0" i="0" u="none" strike="noStrike" kern="1200" cap="none" spc="0" normalizeH="0" baseline="0" noProof="0" dirty="0">
              <a:ln>
                <a:noFill/>
              </a:ln>
              <a:solidFill>
                <a:srgbClr val="0078B9"/>
              </a:solidFill>
              <a:effectLst/>
              <a:uLnTx/>
              <a:uFillTx/>
              <a:latin typeface="Calibri" panose="020F0502020204030204"/>
              <a:ea typeface="+mn-ea"/>
              <a:cs typeface="+mn-cs"/>
            </a:endParaRPr>
          </a:p>
        </p:txBody>
      </p:sp>
      <p:pic>
        <p:nvPicPr>
          <p:cNvPr id="1026" name="Picture 2" descr="Node2Vec Extensive Guide &amp; How To Tutorial In Python">
            <a:extLst>
              <a:ext uri="{FF2B5EF4-FFF2-40B4-BE49-F238E27FC236}">
                <a16:creationId xmlns:a16="http://schemas.microsoft.com/office/drawing/2014/main" id="{5912DC58-F54A-D70D-065B-454FFAFCB0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593" y="3111868"/>
            <a:ext cx="4519874" cy="2542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386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a:xfrm>
            <a:off x="493497" y="373585"/>
            <a:ext cx="7886700" cy="994172"/>
          </a:xfrm>
        </p:spPr>
        <p:txBody>
          <a:bodyPr>
            <a:normAutofit/>
          </a:bodyPr>
          <a:lstStyle/>
          <a:p>
            <a:r>
              <a:rPr lang="en-US" dirty="0"/>
              <a:t>Perspective from Links</a:t>
            </a:r>
          </a:p>
        </p:txBody>
      </p:sp>
      <p:sp>
        <p:nvSpPr>
          <p:cNvPr id="9" name="TextBox 8">
            <a:extLst>
              <a:ext uri="{FF2B5EF4-FFF2-40B4-BE49-F238E27FC236}">
                <a16:creationId xmlns:a16="http://schemas.microsoft.com/office/drawing/2014/main" id="{5557A83D-F0DA-B54D-BF49-69B01FE2B04E}"/>
              </a:ext>
            </a:extLst>
          </p:cNvPr>
          <p:cNvSpPr txBox="1"/>
          <p:nvPr/>
        </p:nvSpPr>
        <p:spPr>
          <a:xfrm>
            <a:off x="628650" y="6037253"/>
            <a:ext cx="82438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lumMod val="50000"/>
                  </a:prstClr>
                </a:solidFill>
                <a:effectLst/>
                <a:uLnTx/>
                <a:uFillTx/>
                <a:latin typeface="Adobe Devanagari"/>
                <a:ea typeface="+mn-ea"/>
                <a:cs typeface="+mn-cs"/>
              </a:rPr>
              <a:t>Ahn</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et al. “Link communities reveal multi-scale complexity in networks.”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Nature</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2010.</a:t>
            </a:r>
          </a:p>
        </p:txBody>
      </p:sp>
      <p:sp>
        <p:nvSpPr>
          <p:cNvPr id="5" name="TextBox 4">
            <a:extLst>
              <a:ext uri="{FF2B5EF4-FFF2-40B4-BE49-F238E27FC236}">
                <a16:creationId xmlns:a16="http://schemas.microsoft.com/office/drawing/2014/main" id="{0EC6D1F8-4CB2-7F62-7EEF-9E55CADBC7C7}"/>
              </a:ext>
            </a:extLst>
          </p:cNvPr>
          <p:cNvSpPr txBox="1"/>
          <p:nvPr/>
        </p:nvSpPr>
        <p:spPr>
          <a:xfrm>
            <a:off x="493497" y="1312287"/>
            <a:ext cx="865050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node-level methods partition nodes into </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disjoint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groups.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B0F0"/>
                </a:solidFill>
                <a:effectLst/>
                <a:uLnTx/>
                <a:uFillTx/>
                <a:latin typeface="Calibri" panose="020F0502020204030204"/>
                <a:ea typeface="+mn-ea"/>
                <a:cs typeface="+mn-cs"/>
              </a:rPr>
              <a:t>But a node can (often) belong to multiple communities.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0E64AB1B-0E49-3500-9BFE-144C54C48AB3}"/>
              </a:ext>
            </a:extLst>
          </p:cNvPr>
          <p:cNvPicPr>
            <a:picLocks noChangeAspect="1"/>
          </p:cNvPicPr>
          <p:nvPr/>
        </p:nvPicPr>
        <p:blipFill>
          <a:blip r:embed="rId3"/>
          <a:stretch>
            <a:fillRect/>
          </a:stretch>
        </p:blipFill>
        <p:spPr>
          <a:xfrm>
            <a:off x="219279" y="2562471"/>
            <a:ext cx="2677144" cy="2614004"/>
          </a:xfrm>
          <a:prstGeom prst="rect">
            <a:avLst/>
          </a:prstGeom>
        </p:spPr>
      </p:pic>
      <p:pic>
        <p:nvPicPr>
          <p:cNvPr id="7" name="Picture 6">
            <a:extLst>
              <a:ext uri="{FF2B5EF4-FFF2-40B4-BE49-F238E27FC236}">
                <a16:creationId xmlns:a16="http://schemas.microsoft.com/office/drawing/2014/main" id="{BF367910-A098-2F95-DEF3-C2BED3BB129E}"/>
              </a:ext>
            </a:extLst>
          </p:cNvPr>
          <p:cNvPicPr>
            <a:picLocks noChangeAspect="1"/>
          </p:cNvPicPr>
          <p:nvPr/>
        </p:nvPicPr>
        <p:blipFill>
          <a:blip r:embed="rId4"/>
          <a:stretch>
            <a:fillRect/>
          </a:stretch>
        </p:blipFill>
        <p:spPr>
          <a:xfrm>
            <a:off x="2896413" y="2342840"/>
            <a:ext cx="6180819" cy="3072123"/>
          </a:xfrm>
          <a:prstGeom prst="rect">
            <a:avLst/>
          </a:prstGeom>
        </p:spPr>
      </p:pic>
    </p:spTree>
    <p:extLst>
      <p:ext uri="{BB962C8B-B14F-4D97-AF65-F5344CB8AC3E}">
        <p14:creationId xmlns:p14="http://schemas.microsoft.com/office/powerpoint/2010/main" val="3662198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a:xfrm>
            <a:off x="493497" y="373585"/>
            <a:ext cx="7886700" cy="994172"/>
          </a:xfrm>
        </p:spPr>
        <p:txBody>
          <a:bodyPr>
            <a:normAutofit fontScale="90000"/>
          </a:bodyPr>
          <a:lstStyle/>
          <a:p>
            <a:r>
              <a:rPr lang="en-US" dirty="0"/>
              <a:t>Community detection based on links</a:t>
            </a:r>
          </a:p>
        </p:txBody>
      </p:sp>
      <p:sp>
        <p:nvSpPr>
          <p:cNvPr id="9" name="TextBox 8">
            <a:extLst>
              <a:ext uri="{FF2B5EF4-FFF2-40B4-BE49-F238E27FC236}">
                <a16:creationId xmlns:a16="http://schemas.microsoft.com/office/drawing/2014/main" id="{5557A83D-F0DA-B54D-BF49-69B01FE2B04E}"/>
              </a:ext>
            </a:extLst>
          </p:cNvPr>
          <p:cNvSpPr txBox="1"/>
          <p:nvPr/>
        </p:nvSpPr>
        <p:spPr>
          <a:xfrm>
            <a:off x="628650" y="6037253"/>
            <a:ext cx="82438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lumMod val="50000"/>
                  </a:prstClr>
                </a:solidFill>
                <a:effectLst/>
                <a:uLnTx/>
                <a:uFillTx/>
                <a:latin typeface="Adobe Devanagari"/>
                <a:ea typeface="+mn-ea"/>
                <a:cs typeface="+mn-cs"/>
              </a:rPr>
              <a:t>Ahn</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et al. “Link communities reveal multi-scale complexity in networks.”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Nature</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2010.</a:t>
            </a:r>
          </a:p>
        </p:txBody>
      </p:sp>
      <p:sp>
        <p:nvSpPr>
          <p:cNvPr id="5" name="TextBox 4">
            <a:extLst>
              <a:ext uri="{FF2B5EF4-FFF2-40B4-BE49-F238E27FC236}">
                <a16:creationId xmlns:a16="http://schemas.microsoft.com/office/drawing/2014/main" id="{0EC6D1F8-4CB2-7F62-7EEF-9E55CADBC7C7}"/>
              </a:ext>
            </a:extLst>
          </p:cNvPr>
          <p:cNvSpPr txBox="1"/>
          <p:nvPr/>
        </p:nvSpPr>
        <p:spPr>
          <a:xfrm>
            <a:off x="628650" y="1247837"/>
            <a:ext cx="865050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Clustering links for finding </a:t>
            </a:r>
            <a:r>
              <a:rPr kumimoji="0" lang="en-US" sz="2400" b="0" i="0" u="none" strike="noStrike" kern="1200" cap="none" spc="0" normalizeH="0" baseline="0" noProof="0" dirty="0">
                <a:ln>
                  <a:noFill/>
                </a:ln>
                <a:solidFill>
                  <a:srgbClr val="00B0F0"/>
                </a:solidFill>
                <a:effectLst/>
                <a:uLnTx/>
                <a:uFillTx/>
                <a:latin typeface="Calibri" panose="020F0502020204030204"/>
                <a:ea typeface="+mn-ea"/>
                <a:cs typeface="+mn-cs"/>
              </a:rPr>
              <a:t>overlapping node communities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node can belong to multiple identified link communities</a:t>
            </a:r>
            <a:endParaRPr kumimoji="0" lang="en-US" sz="2400" b="0" i="0" u="none" strike="noStrike" kern="1200" cap="none" spc="0" normalizeH="0" baseline="0" noProof="0" dirty="0">
              <a:ln>
                <a:noFill/>
              </a:ln>
              <a:solidFill>
                <a:srgbClr val="00B0F0"/>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pic>
        <p:nvPicPr>
          <p:cNvPr id="1026" name="Picture 2" descr="Hard clusters of links.&#10;Karate club graph with overlapping node communities induced by three hard link clusters.">
            <a:extLst>
              <a:ext uri="{FF2B5EF4-FFF2-40B4-BE49-F238E27FC236}">
                <a16:creationId xmlns:a16="http://schemas.microsoft.com/office/drawing/2014/main" id="{5E6CF576-1560-905D-FED2-A338A8AA2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4489" y="2282013"/>
            <a:ext cx="5074139" cy="29070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19ECBB7-3339-4BB6-3012-731157A05D9D}"/>
              </a:ext>
            </a:extLst>
          </p:cNvPr>
          <p:cNvPicPr>
            <a:picLocks noChangeAspect="1"/>
          </p:cNvPicPr>
          <p:nvPr/>
        </p:nvPicPr>
        <p:blipFill>
          <a:blip r:embed="rId4"/>
          <a:stretch>
            <a:fillRect/>
          </a:stretch>
        </p:blipFill>
        <p:spPr>
          <a:xfrm>
            <a:off x="662387" y="2197065"/>
            <a:ext cx="2878349" cy="3684570"/>
          </a:xfrm>
          <a:prstGeom prst="rect">
            <a:avLst/>
          </a:prstGeom>
        </p:spPr>
      </p:pic>
      <p:sp>
        <p:nvSpPr>
          <p:cNvPr id="6" name="Rectangle 5">
            <a:extLst>
              <a:ext uri="{FF2B5EF4-FFF2-40B4-BE49-F238E27FC236}">
                <a16:creationId xmlns:a16="http://schemas.microsoft.com/office/drawing/2014/main" id="{C6DCA860-61A2-C2C3-5454-7C17E0E923F5}"/>
              </a:ext>
            </a:extLst>
          </p:cNvPr>
          <p:cNvSpPr/>
          <p:nvPr/>
        </p:nvSpPr>
        <p:spPr>
          <a:xfrm>
            <a:off x="2114550" y="2282013"/>
            <a:ext cx="228600" cy="2013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887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3497" y="4795205"/>
            <a:ext cx="8239686" cy="1293623"/>
          </a:xfrm>
          <a:solidFill>
            <a:schemeClr val="accent4">
              <a:lumMod val="20000"/>
              <a:lumOff val="80000"/>
            </a:schemeClr>
          </a:solidFill>
        </p:spPr>
        <p:txBody>
          <a:bodyPr>
            <a:noAutofit/>
          </a:bodyPr>
          <a:lstStyle/>
          <a:p>
            <a:pPr marL="0" indent="0">
              <a:buNone/>
            </a:pPr>
            <a:r>
              <a:rPr lang="en-US" sz="2000" dirty="0"/>
              <a:t>Information diffusion refers to the process by which a piece of information, ideas, rumors, or innovations spread through a network (</a:t>
            </a:r>
            <a:r>
              <a:rPr lang="en-US" altLang="zh-CN" sz="2000" dirty="0">
                <a:solidFill>
                  <a:srgbClr val="0078B9"/>
                </a:solidFill>
              </a:rPr>
              <a:t>"</a:t>
            </a:r>
            <a:r>
              <a:rPr lang="en-US" sz="2000" dirty="0">
                <a:solidFill>
                  <a:srgbClr val="0078B9"/>
                </a:solidFill>
              </a:rPr>
              <a:t>chain reaction</a:t>
            </a:r>
            <a:r>
              <a:rPr lang="en-US" altLang="zh-CN" sz="2000" dirty="0">
                <a:solidFill>
                  <a:srgbClr val="0078B9"/>
                </a:solidFill>
              </a:rPr>
              <a:t>"</a:t>
            </a:r>
            <a:r>
              <a:rPr lang="en-US" sz="2000" dirty="0"/>
              <a:t>). </a:t>
            </a:r>
          </a:p>
          <a:p>
            <a:pPr marL="0" indent="0">
              <a:buNone/>
            </a:pPr>
            <a:r>
              <a:rPr lang="en-US" sz="2000" dirty="0"/>
              <a:t>Being able to predict information spreading is vital for commercial marketing, tracking misinformation campaigns, and maximizing social influence.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3636" y="1517104"/>
            <a:ext cx="2943825" cy="2943825"/>
          </a:xfrm>
          <a:prstGeom prst="rect">
            <a:avLst/>
          </a:prstGeom>
        </p:spPr>
      </p:pic>
      <p:sp>
        <p:nvSpPr>
          <p:cNvPr id="8" name="Title 1">
            <a:extLst>
              <a:ext uri="{FF2B5EF4-FFF2-40B4-BE49-F238E27FC236}">
                <a16:creationId xmlns:a16="http://schemas.microsoft.com/office/drawing/2014/main" id="{48EED5DD-C4D2-396B-B804-ED8D235B8AE4}"/>
              </a:ext>
            </a:extLst>
          </p:cNvPr>
          <p:cNvSpPr>
            <a:spLocks noGrp="1"/>
          </p:cNvSpPr>
          <p:nvPr>
            <p:ph type="title"/>
          </p:nvPr>
        </p:nvSpPr>
        <p:spPr>
          <a:xfrm>
            <a:off x="493497" y="373585"/>
            <a:ext cx="8239686" cy="994172"/>
          </a:xfrm>
        </p:spPr>
        <p:txBody>
          <a:bodyPr>
            <a:normAutofit fontScale="90000"/>
          </a:bodyPr>
          <a:lstStyle/>
          <a:p>
            <a:r>
              <a:rPr lang="en-US" dirty="0"/>
              <a:t>Viral marketing / information diffusion</a:t>
            </a:r>
          </a:p>
        </p:txBody>
      </p:sp>
    </p:spTree>
    <p:extLst>
      <p:ext uri="{BB962C8B-B14F-4D97-AF65-F5344CB8AC3E}">
        <p14:creationId xmlns:p14="http://schemas.microsoft.com/office/powerpoint/2010/main" val="176919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7250-BA53-53F8-08AD-63965687DA31}"/>
              </a:ext>
            </a:extLst>
          </p:cNvPr>
          <p:cNvSpPr>
            <a:spLocks noGrp="1"/>
          </p:cNvSpPr>
          <p:nvPr>
            <p:ph type="title"/>
          </p:nvPr>
        </p:nvSpPr>
        <p:spPr>
          <a:xfrm>
            <a:off x="578546" y="365126"/>
            <a:ext cx="7886700" cy="1325563"/>
          </a:xfrm>
        </p:spPr>
        <p:txBody>
          <a:bodyPr/>
          <a:lstStyle/>
          <a:p>
            <a:r>
              <a:rPr lang="en-US" dirty="0"/>
              <a:t>Simple vs. complex contagion</a:t>
            </a:r>
          </a:p>
        </p:txBody>
      </p:sp>
      <p:sp>
        <p:nvSpPr>
          <p:cNvPr id="3" name="Content Placeholder 2">
            <a:extLst>
              <a:ext uri="{FF2B5EF4-FFF2-40B4-BE49-F238E27FC236}">
                <a16:creationId xmlns:a16="http://schemas.microsoft.com/office/drawing/2014/main" id="{33DE1F98-E430-7924-444A-07C0EB9519A0}"/>
              </a:ext>
            </a:extLst>
          </p:cNvPr>
          <p:cNvSpPr>
            <a:spLocks noGrp="1"/>
          </p:cNvSpPr>
          <p:nvPr>
            <p:ph idx="1"/>
          </p:nvPr>
        </p:nvSpPr>
        <p:spPr>
          <a:xfrm>
            <a:off x="628650" y="1574554"/>
            <a:ext cx="9493918" cy="5283446"/>
          </a:xfrm>
        </p:spPr>
        <p:txBody>
          <a:bodyPr>
            <a:normAutofit/>
          </a:bodyPr>
          <a:lstStyle/>
          <a:p>
            <a:pPr marL="0" indent="0">
              <a:buNone/>
            </a:pPr>
            <a:r>
              <a:rPr lang="en-US" dirty="0"/>
              <a:t>Two common information diffusion models:</a:t>
            </a:r>
          </a:p>
          <a:p>
            <a:r>
              <a:rPr lang="en-US" dirty="0">
                <a:solidFill>
                  <a:srgbClr val="0078B9"/>
                </a:solidFill>
              </a:rPr>
              <a:t>Independent cascade model (simple contagion)</a:t>
            </a:r>
          </a:p>
          <a:p>
            <a:pPr lvl="1"/>
            <a:r>
              <a:rPr lang="en-US" dirty="0"/>
              <a:t>Information spreads like </a:t>
            </a:r>
            <a:r>
              <a:rPr lang="en-US" dirty="0">
                <a:solidFill>
                  <a:srgbClr val="C00000"/>
                </a:solidFill>
              </a:rPr>
              <a:t>disease transmission</a:t>
            </a:r>
          </a:p>
          <a:p>
            <a:pPr lvl="1"/>
            <a:r>
              <a:rPr lang="en-US" dirty="0"/>
              <a:t>A node has </a:t>
            </a:r>
            <a:r>
              <a:rPr lang="en-US" dirty="0">
                <a:solidFill>
                  <a:srgbClr val="C00000"/>
                </a:solidFill>
              </a:rPr>
              <a:t>only one chance</a:t>
            </a:r>
            <a:r>
              <a:rPr lang="en-US" dirty="0"/>
              <a:t> to “infect” its neighbors</a:t>
            </a:r>
          </a:p>
          <a:p>
            <a:pPr lvl="1"/>
            <a:r>
              <a:rPr lang="en-US" dirty="0">
                <a:solidFill>
                  <a:srgbClr val="C00000"/>
                </a:solidFill>
              </a:rPr>
              <a:t>Each exposure is independent from each other</a:t>
            </a:r>
          </a:p>
          <a:p>
            <a:pPr marL="0" indent="0">
              <a:buNone/>
            </a:pPr>
            <a:endParaRPr lang="en-US" b="1" dirty="0">
              <a:solidFill>
                <a:srgbClr val="C00000"/>
              </a:solidFill>
            </a:endParaRPr>
          </a:p>
          <a:p>
            <a:pPr marL="0" indent="0">
              <a:buNone/>
            </a:pPr>
            <a:r>
              <a:rPr lang="en-US" b="1" dirty="0">
                <a:solidFill>
                  <a:srgbClr val="C00000"/>
                </a:solidFill>
              </a:rPr>
              <a:t>	Examples?</a:t>
            </a:r>
          </a:p>
        </p:txBody>
      </p:sp>
    </p:spTree>
    <p:extLst>
      <p:ext uri="{BB962C8B-B14F-4D97-AF65-F5344CB8AC3E}">
        <p14:creationId xmlns:p14="http://schemas.microsoft.com/office/powerpoint/2010/main" val="1402618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37D28-47CA-BBBC-1305-5B3A92306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D1B61-F7D4-1422-82C6-3607D0DF8C92}"/>
              </a:ext>
            </a:extLst>
          </p:cNvPr>
          <p:cNvSpPr>
            <a:spLocks noGrp="1"/>
          </p:cNvSpPr>
          <p:nvPr>
            <p:ph type="title"/>
          </p:nvPr>
        </p:nvSpPr>
        <p:spPr>
          <a:xfrm>
            <a:off x="578546" y="365126"/>
            <a:ext cx="7886700" cy="1325563"/>
          </a:xfrm>
        </p:spPr>
        <p:txBody>
          <a:bodyPr/>
          <a:lstStyle/>
          <a:p>
            <a:r>
              <a:rPr lang="en-US" dirty="0"/>
              <a:t>Simple vs. complex contagion</a:t>
            </a:r>
          </a:p>
        </p:txBody>
      </p:sp>
      <p:sp>
        <p:nvSpPr>
          <p:cNvPr id="3" name="Content Placeholder 2">
            <a:extLst>
              <a:ext uri="{FF2B5EF4-FFF2-40B4-BE49-F238E27FC236}">
                <a16:creationId xmlns:a16="http://schemas.microsoft.com/office/drawing/2014/main" id="{8BE3CD54-A464-512D-9BC1-1719CB8F0092}"/>
              </a:ext>
            </a:extLst>
          </p:cNvPr>
          <p:cNvSpPr>
            <a:spLocks noGrp="1"/>
          </p:cNvSpPr>
          <p:nvPr>
            <p:ph idx="1"/>
          </p:nvPr>
        </p:nvSpPr>
        <p:spPr>
          <a:xfrm>
            <a:off x="628650" y="1574554"/>
            <a:ext cx="9493918" cy="5283446"/>
          </a:xfrm>
        </p:spPr>
        <p:txBody>
          <a:bodyPr>
            <a:normAutofit/>
          </a:bodyPr>
          <a:lstStyle/>
          <a:p>
            <a:pPr marL="0" indent="0">
              <a:buNone/>
            </a:pPr>
            <a:r>
              <a:rPr lang="en-US" dirty="0"/>
              <a:t>Two common information diffusion models:</a:t>
            </a:r>
          </a:p>
          <a:p>
            <a:r>
              <a:rPr lang="en-US" dirty="0">
                <a:solidFill>
                  <a:srgbClr val="0078B9"/>
                </a:solidFill>
              </a:rPr>
              <a:t>Linear threshold model (complex contagion)</a:t>
            </a:r>
            <a:r>
              <a:rPr lang="en-US" dirty="0">
                <a:solidFill>
                  <a:srgbClr val="C00000"/>
                </a:solidFill>
              </a:rPr>
              <a:t>: Our focus!</a:t>
            </a:r>
          </a:p>
          <a:p>
            <a:pPr lvl="1"/>
            <a:r>
              <a:rPr lang="en-US" dirty="0"/>
              <a:t>Exposure to multiple neighbors is needed for adoption</a:t>
            </a:r>
          </a:p>
          <a:p>
            <a:pPr lvl="1"/>
            <a:r>
              <a:rPr lang="en-US" dirty="0"/>
              <a:t>Each node has a </a:t>
            </a:r>
            <a:r>
              <a:rPr lang="en-US" dirty="0">
                <a:solidFill>
                  <a:srgbClr val="C00000"/>
                </a:solidFill>
              </a:rPr>
              <a:t>threshold</a:t>
            </a:r>
            <a:r>
              <a:rPr lang="en-US" dirty="0"/>
              <a:t> for activation (</a:t>
            </a:r>
            <a:r>
              <a:rPr lang="en-US" b="1" dirty="0">
                <a:solidFill>
                  <a:srgbClr val="0078B9"/>
                </a:solidFill>
              </a:rPr>
              <a:t>count</a:t>
            </a:r>
            <a:r>
              <a:rPr lang="en-US" b="1" dirty="0">
                <a:solidFill>
                  <a:srgbClr val="C00000"/>
                </a:solidFill>
              </a:rPr>
              <a:t> </a:t>
            </a:r>
            <a:r>
              <a:rPr lang="en-US" b="1" dirty="0"/>
              <a:t>or</a:t>
            </a:r>
            <a:r>
              <a:rPr lang="en-US" b="1" dirty="0">
                <a:solidFill>
                  <a:srgbClr val="C00000"/>
                </a:solidFill>
              </a:rPr>
              <a:t> fraction</a:t>
            </a:r>
            <a:r>
              <a:rPr lang="en-US" dirty="0"/>
              <a:t>)</a:t>
            </a:r>
          </a:p>
          <a:p>
            <a:pPr lvl="1"/>
            <a:r>
              <a:rPr lang="en-US" dirty="0"/>
              <a:t>More applicable to the spread of </a:t>
            </a:r>
            <a:r>
              <a:rPr lang="en-US" dirty="0">
                <a:solidFill>
                  <a:srgbClr val="C00000"/>
                </a:solidFill>
              </a:rPr>
              <a:t>contentious</a:t>
            </a:r>
            <a:r>
              <a:rPr lang="en-US" dirty="0"/>
              <a:t> behaviors</a:t>
            </a:r>
          </a:p>
          <a:p>
            <a:pPr marL="457200" lvl="1" indent="0">
              <a:buNone/>
            </a:pPr>
            <a:r>
              <a:rPr lang="en-US" b="1" dirty="0">
                <a:solidFill>
                  <a:srgbClr val="C00000"/>
                </a:solidFill>
              </a:rPr>
              <a:t>	</a:t>
            </a:r>
          </a:p>
          <a:p>
            <a:pPr marL="457200" lvl="1" indent="0">
              <a:buNone/>
            </a:pPr>
            <a:r>
              <a:rPr lang="en-US" sz="2800" b="1" dirty="0">
                <a:solidFill>
                  <a:srgbClr val="C00000"/>
                </a:solidFill>
              </a:rPr>
              <a:t>More examples?</a:t>
            </a:r>
          </a:p>
          <a:p>
            <a:pPr marL="457200" marR="0" lvl="1" indent="0" algn="l" defTabSz="914400" rtl="0" eaLnBrk="1" fontAlgn="auto" latinLnBrk="0" hangingPunct="1">
              <a:lnSpc>
                <a:spcPct val="90000"/>
              </a:lnSpc>
              <a:spcBef>
                <a:spcPts val="500"/>
              </a:spcBef>
              <a:spcAft>
                <a:spcPts val="6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LM Sans 12" pitchFamily="2" charset="77"/>
                <a:ea typeface="+mn-ea"/>
                <a:cs typeface="+mn-cs"/>
              </a:rPr>
              <a:t>(such as </a:t>
            </a:r>
            <a:r>
              <a:rPr kumimoji="0" lang="en-US" sz="2400" b="0" i="1" u="none" strike="noStrike" kern="1200" cap="none" spc="0" normalizeH="0" baseline="0" noProof="0" dirty="0">
                <a:ln>
                  <a:noFill/>
                </a:ln>
                <a:solidFill>
                  <a:srgbClr val="0078B9"/>
                </a:solidFill>
                <a:effectLst/>
                <a:uLnTx/>
                <a:uFillTx/>
                <a:latin typeface="LM Sans 12" pitchFamily="2" charset="77"/>
                <a:ea typeface="+mn-ea"/>
                <a:cs typeface="+mn-cs"/>
              </a:rPr>
              <a:t>wearing mask, voting, jaywalking, new fashion</a:t>
            </a:r>
            <a:r>
              <a:rPr kumimoji="0" lang="en-US" sz="2400" b="0" i="0" u="none" strike="noStrike" kern="1200" cap="none" spc="0" normalizeH="0" baseline="0" noProof="0" dirty="0">
                <a:ln>
                  <a:noFill/>
                </a:ln>
                <a:solidFill>
                  <a:prstClr val="black"/>
                </a:solidFill>
                <a:effectLst/>
                <a:uLnTx/>
                <a:uFillTx/>
                <a:latin typeface="LM Sans 12" pitchFamily="2" charset="77"/>
                <a:ea typeface="+mn-ea"/>
                <a:cs typeface="+mn-cs"/>
              </a:rPr>
              <a:t>)</a:t>
            </a:r>
          </a:p>
          <a:p>
            <a:pPr marL="457200" lvl="1" indent="0">
              <a:buNone/>
            </a:pPr>
            <a:endParaRPr lang="en-US" sz="2800" b="1" dirty="0">
              <a:solidFill>
                <a:srgbClr val="C00000"/>
              </a:solidFill>
            </a:endParaRPr>
          </a:p>
        </p:txBody>
      </p:sp>
    </p:spTree>
    <p:extLst>
      <p:ext uri="{BB962C8B-B14F-4D97-AF65-F5344CB8AC3E}">
        <p14:creationId xmlns:p14="http://schemas.microsoft.com/office/powerpoint/2010/main" val="1516176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8EBE-AF57-9314-4C5F-A1F044BFF6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99BB8-CD5B-503B-B5B4-65E73E4D58FB}"/>
              </a:ext>
            </a:extLst>
          </p:cNvPr>
          <p:cNvSpPr>
            <a:spLocks noGrp="1"/>
          </p:cNvSpPr>
          <p:nvPr>
            <p:ph idx="1"/>
          </p:nvPr>
        </p:nvSpPr>
        <p:spPr>
          <a:xfrm>
            <a:off x="493497" y="1283971"/>
            <a:ext cx="8435350" cy="2459138"/>
          </a:xfrm>
        </p:spPr>
        <p:txBody>
          <a:bodyPr>
            <a:noAutofit/>
          </a:bodyPr>
          <a:lstStyle/>
          <a:p>
            <a:pPr marL="0" indent="0">
              <a:buNone/>
            </a:pPr>
            <a:r>
              <a:rPr lang="en-US" dirty="0"/>
              <a:t>Simulating complex contagion in discrete steps:</a:t>
            </a:r>
          </a:p>
          <a:p>
            <a:pPr>
              <a:lnSpc>
                <a:spcPct val="100000"/>
              </a:lnSpc>
              <a:spcBef>
                <a:spcPts val="0"/>
              </a:spcBef>
            </a:pPr>
            <a:r>
              <a:rPr lang="en-US" sz="2400" dirty="0">
                <a:solidFill>
                  <a:srgbClr val="0078B9"/>
                </a:solidFill>
              </a:rPr>
              <a:t>Start with a few seed nodes at step 0.</a:t>
            </a:r>
          </a:p>
          <a:p>
            <a:pPr>
              <a:lnSpc>
                <a:spcPct val="100000"/>
              </a:lnSpc>
              <a:spcBef>
                <a:spcPts val="0"/>
              </a:spcBef>
            </a:pPr>
            <a:r>
              <a:rPr lang="en-US" sz="2400" dirty="0">
                <a:solidFill>
                  <a:srgbClr val="0078B9"/>
                </a:solidFill>
              </a:rPr>
              <a:t>In each step, for each inactive node, check if the fraction of its active friends meets its threshold. </a:t>
            </a:r>
          </a:p>
          <a:p>
            <a:pPr>
              <a:lnSpc>
                <a:spcPct val="100000"/>
              </a:lnSpc>
              <a:spcBef>
                <a:spcPts val="0"/>
              </a:spcBef>
            </a:pPr>
            <a:r>
              <a:rPr lang="en-US" sz="2400" dirty="0">
                <a:solidFill>
                  <a:srgbClr val="0078B9"/>
                </a:solidFill>
              </a:rPr>
              <a:t>If so, activate the node (it remains active permanently later).</a:t>
            </a:r>
          </a:p>
          <a:p>
            <a:pPr>
              <a:lnSpc>
                <a:spcPct val="100000"/>
              </a:lnSpc>
              <a:spcBef>
                <a:spcPts val="0"/>
              </a:spcBef>
            </a:pPr>
            <a:r>
              <a:rPr lang="en-US" sz="2400" dirty="0"/>
              <a:t>The process unfolds deterministically until no change happens.</a:t>
            </a:r>
          </a:p>
        </p:txBody>
      </p:sp>
      <p:sp>
        <p:nvSpPr>
          <p:cNvPr id="8" name="Title 1">
            <a:extLst>
              <a:ext uri="{FF2B5EF4-FFF2-40B4-BE49-F238E27FC236}">
                <a16:creationId xmlns:a16="http://schemas.microsoft.com/office/drawing/2014/main" id="{50293784-3AEC-58AF-0BB5-D4EE7393B6D4}"/>
              </a:ext>
            </a:extLst>
          </p:cNvPr>
          <p:cNvSpPr>
            <a:spLocks noGrp="1"/>
          </p:cNvSpPr>
          <p:nvPr>
            <p:ph type="title"/>
          </p:nvPr>
        </p:nvSpPr>
        <p:spPr>
          <a:xfrm>
            <a:off x="493497" y="373585"/>
            <a:ext cx="8239686" cy="994172"/>
          </a:xfrm>
        </p:spPr>
        <p:txBody>
          <a:bodyPr>
            <a:normAutofit/>
          </a:bodyPr>
          <a:lstStyle/>
          <a:p>
            <a:r>
              <a:rPr lang="en-US"/>
              <a:t>Agent-based modeling</a:t>
            </a:r>
            <a:endParaRPr lang="en-US" dirty="0"/>
          </a:p>
        </p:txBody>
      </p:sp>
      <p:pic>
        <p:nvPicPr>
          <p:cNvPr id="12" name="Picture 11" descr="A diagram of steps and steps&#10;&#10;AI-generated content may be incorrect.">
            <a:extLst>
              <a:ext uri="{FF2B5EF4-FFF2-40B4-BE49-F238E27FC236}">
                <a16:creationId xmlns:a16="http://schemas.microsoft.com/office/drawing/2014/main" id="{8AE121E7-B5EA-24FE-D1CA-193E0BEFAB78}"/>
              </a:ext>
            </a:extLst>
          </p:cNvPr>
          <p:cNvPicPr>
            <a:picLocks noChangeAspect="1"/>
          </p:cNvPicPr>
          <p:nvPr/>
        </p:nvPicPr>
        <p:blipFill>
          <a:blip r:embed="rId3"/>
          <a:stretch>
            <a:fillRect/>
          </a:stretch>
        </p:blipFill>
        <p:spPr>
          <a:xfrm>
            <a:off x="486095" y="3506048"/>
            <a:ext cx="8164408" cy="2978367"/>
          </a:xfrm>
          <a:prstGeom prst="rect">
            <a:avLst/>
          </a:prstGeom>
        </p:spPr>
      </p:pic>
    </p:spTree>
    <p:extLst>
      <p:ext uri="{BB962C8B-B14F-4D97-AF65-F5344CB8AC3E}">
        <p14:creationId xmlns:p14="http://schemas.microsoft.com/office/powerpoint/2010/main" val="3408968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E0F5-7080-FD1D-55B6-BDC0B48A896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53B358B-C849-7183-A795-17689B40CB61}"/>
              </a:ext>
            </a:extLst>
          </p:cNvPr>
          <p:cNvSpPr>
            <a:spLocks noGrp="1"/>
          </p:cNvSpPr>
          <p:nvPr>
            <p:ph type="title"/>
          </p:nvPr>
        </p:nvSpPr>
        <p:spPr>
          <a:xfrm>
            <a:off x="493497" y="373585"/>
            <a:ext cx="8239686" cy="994172"/>
          </a:xfrm>
        </p:spPr>
        <p:txBody>
          <a:bodyPr>
            <a:normAutofit/>
          </a:bodyPr>
          <a:lstStyle/>
          <a:p>
            <a:r>
              <a:rPr lang="en-US" dirty="0"/>
              <a:t>Complex contagion illustration</a:t>
            </a:r>
          </a:p>
        </p:txBody>
      </p:sp>
      <p:pic>
        <p:nvPicPr>
          <p:cNvPr id="4" name="Picture 3" descr="A diagram of a step 1 and eva activite&#10;&#10;AI-generated content may be incorrect.">
            <a:extLst>
              <a:ext uri="{FF2B5EF4-FFF2-40B4-BE49-F238E27FC236}">
                <a16:creationId xmlns:a16="http://schemas.microsoft.com/office/drawing/2014/main" id="{11DBC8E9-48BE-AA00-B780-891D7F41D8CE}"/>
              </a:ext>
            </a:extLst>
          </p:cNvPr>
          <p:cNvPicPr>
            <a:picLocks noChangeAspect="1"/>
          </p:cNvPicPr>
          <p:nvPr/>
        </p:nvPicPr>
        <p:blipFill>
          <a:blip r:embed="rId3"/>
          <a:stretch>
            <a:fillRect/>
          </a:stretch>
        </p:blipFill>
        <p:spPr>
          <a:xfrm>
            <a:off x="685800" y="1170538"/>
            <a:ext cx="7772400" cy="2961395"/>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CCFB0BE1-254B-6EC1-FE0D-04C2B8522BEE}"/>
              </a:ext>
            </a:extLst>
          </p:cNvPr>
          <p:cNvPicPr>
            <a:picLocks noChangeAspect="1"/>
          </p:cNvPicPr>
          <p:nvPr/>
        </p:nvPicPr>
        <p:blipFill>
          <a:blip r:embed="rId4"/>
          <a:stretch>
            <a:fillRect/>
          </a:stretch>
        </p:blipFill>
        <p:spPr>
          <a:xfrm>
            <a:off x="685800" y="3656411"/>
            <a:ext cx="7772400" cy="3004370"/>
          </a:xfrm>
          <a:prstGeom prst="rect">
            <a:avLst/>
          </a:prstGeom>
        </p:spPr>
      </p:pic>
    </p:spTree>
    <p:extLst>
      <p:ext uri="{BB962C8B-B14F-4D97-AF65-F5344CB8AC3E}">
        <p14:creationId xmlns:p14="http://schemas.microsoft.com/office/powerpoint/2010/main" val="2376892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9BC55-C6AD-AC4D-5B59-C456C5CE88C0}"/>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E70BA9-4EE7-6D77-C9B6-3200B7295C88}"/>
              </a:ext>
            </a:extLst>
          </p:cNvPr>
          <p:cNvSpPr>
            <a:spLocks noGrp="1"/>
          </p:cNvSpPr>
          <p:nvPr>
            <p:ph type="title"/>
          </p:nvPr>
        </p:nvSpPr>
        <p:spPr>
          <a:xfrm>
            <a:off x="493497" y="373585"/>
            <a:ext cx="8239686" cy="994172"/>
          </a:xfrm>
        </p:spPr>
        <p:txBody>
          <a:bodyPr>
            <a:normAutofit/>
          </a:bodyPr>
          <a:lstStyle/>
          <a:p>
            <a:r>
              <a:rPr lang="en-US" dirty="0"/>
              <a:t>Global cascade</a:t>
            </a:r>
          </a:p>
        </p:txBody>
      </p:sp>
      <p:sp>
        <p:nvSpPr>
          <p:cNvPr id="11" name="TextBox 10">
            <a:extLst>
              <a:ext uri="{FF2B5EF4-FFF2-40B4-BE49-F238E27FC236}">
                <a16:creationId xmlns:a16="http://schemas.microsoft.com/office/drawing/2014/main" id="{EC8DE7D2-4602-C0A4-0F52-DA44AD70B3FB}"/>
              </a:ext>
            </a:extLst>
          </p:cNvPr>
          <p:cNvSpPr txBox="1"/>
          <p:nvPr/>
        </p:nvSpPr>
        <p:spPr>
          <a:xfrm>
            <a:off x="493497" y="1711857"/>
            <a:ext cx="8683160" cy="320087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8B9"/>
                </a:solidFill>
                <a:effectLst/>
                <a:uLnTx/>
                <a:uFillTx/>
                <a:latin typeface="Calibri" panose="020F0502020204030204"/>
                <a:ea typeface="+mn-ea"/>
                <a:cs typeface="+mn-cs"/>
              </a:rPr>
              <a:t>A global cascade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means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Calibri" panose="020F0502020204030204"/>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(almost) every node gets infected in the 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How can we “infect” the whole network with a limited budget?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How to select initial users? Pick influential users?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2400" dirty="0">
                <a:solidFill>
                  <a:srgbClr val="C00000"/>
                </a:solidFill>
                <a:latin typeface="Calibri" panose="020F0502020204030204"/>
              </a:rPr>
              <a:t>Are</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 super-star users as important as we think?</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What’s the impact of network structure?</a:t>
            </a:r>
          </a:p>
        </p:txBody>
      </p:sp>
    </p:spTree>
    <p:extLst>
      <p:ext uri="{BB962C8B-B14F-4D97-AF65-F5344CB8AC3E}">
        <p14:creationId xmlns:p14="http://schemas.microsoft.com/office/powerpoint/2010/main" val="2680995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116" y="217050"/>
            <a:ext cx="8295217" cy="1816653"/>
          </a:xfrm>
        </p:spPr>
        <p:txBody>
          <a:bodyPr>
            <a:normAutofit/>
          </a:bodyPr>
          <a:lstStyle/>
          <a:p>
            <a:r>
              <a:rPr lang="en-US" sz="4000" dirty="0"/>
              <a:t>Community structure impacts cascade size more than seed nodes do!</a:t>
            </a:r>
          </a:p>
        </p:txBody>
      </p:sp>
      <p:pic>
        <p:nvPicPr>
          <p:cNvPr id="5" name="Picture 4">
            <a:extLst>
              <a:ext uri="{FF2B5EF4-FFF2-40B4-BE49-F238E27FC236}">
                <a16:creationId xmlns:a16="http://schemas.microsoft.com/office/drawing/2014/main" id="{AFC30804-2839-D84B-A65B-F03F7813E437}"/>
              </a:ext>
            </a:extLst>
          </p:cNvPr>
          <p:cNvPicPr>
            <a:picLocks noChangeAspect="1"/>
          </p:cNvPicPr>
          <p:nvPr/>
        </p:nvPicPr>
        <p:blipFill>
          <a:blip r:embed="rId2"/>
          <a:stretch>
            <a:fillRect/>
          </a:stretch>
        </p:blipFill>
        <p:spPr>
          <a:xfrm>
            <a:off x="1071782" y="3994857"/>
            <a:ext cx="6686046" cy="2031325"/>
          </a:xfrm>
          <a:prstGeom prst="rect">
            <a:avLst/>
          </a:prstGeom>
        </p:spPr>
      </p:pic>
      <p:sp>
        <p:nvSpPr>
          <p:cNvPr id="6" name="TextBox 5">
            <a:extLst>
              <a:ext uri="{FF2B5EF4-FFF2-40B4-BE49-F238E27FC236}">
                <a16:creationId xmlns:a16="http://schemas.microsoft.com/office/drawing/2014/main" id="{B030F78B-1C1B-DF45-A14E-2ABDE07912FA}"/>
              </a:ext>
            </a:extLst>
          </p:cNvPr>
          <p:cNvSpPr txBox="1"/>
          <p:nvPr/>
        </p:nvSpPr>
        <p:spPr>
          <a:xfrm>
            <a:off x="628650" y="1777733"/>
            <a:ext cx="8058150" cy="235449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A network with 2 equal-sized communities A and B;</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Fixed network size: 100 nodes and 400 edges;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Each node has the same threshold 0.35;</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srgbClr val="0078B9"/>
                </a:solidFill>
                <a:effectLst/>
                <a:uLnTx/>
                <a:uFillTx/>
                <a:latin typeface="Calibri" panose="020F0502020204030204"/>
                <a:ea typeface="+mn-ea"/>
                <a:cs typeface="+mn-cs"/>
              </a:rPr>
              <a:t>Define </a:t>
            </a:r>
            <a:r>
              <a:rPr kumimoji="0" lang="en-US" sz="2100" b="0" i="1" u="none" strike="noStrike" kern="1200" cap="none" spc="0" normalizeH="0" baseline="0" noProof="0" dirty="0">
                <a:ln>
                  <a:noFill/>
                </a:ln>
                <a:solidFill>
                  <a:srgbClr val="0078B9"/>
                </a:solidFill>
                <a:effectLst/>
                <a:uLnTx/>
                <a:uFillTx/>
                <a:latin typeface="Calibri" panose="020F0502020204030204"/>
                <a:ea typeface="+mn-ea"/>
                <a:cs typeface="+mn-cs"/>
              </a:rPr>
              <a:t>u </a:t>
            </a:r>
            <a:r>
              <a:rPr kumimoji="0" lang="en-US" sz="2100" b="0" i="0" u="none" strike="noStrike" kern="1200" cap="none" spc="0" normalizeH="0" baseline="0" noProof="0" dirty="0">
                <a:ln>
                  <a:noFill/>
                </a:ln>
                <a:solidFill>
                  <a:srgbClr val="0078B9"/>
                </a:solidFill>
                <a:effectLst/>
                <a:uLnTx/>
                <a:uFillTx/>
                <a:latin typeface="Calibri" panose="020F0502020204030204"/>
                <a:ea typeface="+mn-ea"/>
                <a:cs typeface="+mn-cs"/>
              </a:rPr>
              <a:t>as the fraction of edges running between A and B;</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Let </a:t>
            </a:r>
            <a:r>
              <a:rPr kumimoji="0" lang="en-US" sz="2100" b="0" i="1" u="none" strike="noStrike" kern="1200" cap="none" spc="0" normalizeH="0" baseline="0" noProof="0" dirty="0">
                <a:ln>
                  <a:noFill/>
                </a:ln>
                <a:solidFill>
                  <a:srgbClr val="0078B9"/>
                </a:solidFill>
                <a:effectLst/>
                <a:uLnTx/>
                <a:uFillTx/>
                <a:latin typeface="Calibri" panose="020F0502020204030204"/>
                <a:ea typeface="+mn-ea"/>
                <a:cs typeface="+mn-cs"/>
              </a:rPr>
              <a:t>u </a:t>
            </a:r>
            <a:r>
              <a:rPr kumimoji="0" lang="en-US" sz="2100" b="0" i="0" u="none" strike="noStrike" kern="1200" cap="none" spc="0" normalizeH="0" baseline="0" noProof="0" dirty="0">
                <a:ln>
                  <a:noFill/>
                </a:ln>
                <a:solidFill>
                  <a:srgbClr val="0078B9"/>
                </a:solidFill>
                <a:effectLst/>
                <a:uLnTx/>
                <a:uFillTx/>
                <a:latin typeface="Calibri" panose="020F0502020204030204"/>
                <a:ea typeface="+mn-ea"/>
                <a:cs typeface="+mn-cs"/>
              </a:rPr>
              <a:t>control strength of modularity</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(large </a:t>
            </a:r>
            <a:r>
              <a:rPr kumimoji="0" lang="en-US" sz="2100" b="0" i="1" u="none" strike="noStrike" kern="1200" cap="none" spc="0" normalizeH="0" baseline="0" noProof="0" dirty="0">
                <a:ln>
                  <a:noFill/>
                </a:ln>
                <a:solidFill>
                  <a:prstClr val="black"/>
                </a:solidFill>
                <a:effectLst/>
                <a:uLnTx/>
                <a:uFillTx/>
                <a:latin typeface="Calibri" panose="020F0502020204030204"/>
                <a:ea typeface="+mn-ea"/>
                <a:cs typeface="+mn-cs"/>
              </a:rPr>
              <a:t>u </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--&gt; weak community);</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srgbClr val="0078B9"/>
                </a:solidFill>
                <a:effectLst/>
                <a:uLnTx/>
                <a:uFillTx/>
                <a:latin typeface="Calibri" panose="020F0502020204030204"/>
                <a:ea typeface="+mn-ea"/>
                <a:cs typeface="+mn-cs"/>
              </a:rPr>
              <a:t>Randomly activate</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20% nodes (as seeds) in A;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srgbClr val="C00000"/>
                </a:solidFill>
                <a:effectLst/>
                <a:uLnTx/>
                <a:uFillTx/>
                <a:latin typeface="Calibri" panose="020F0502020204030204"/>
                <a:ea typeface="+mn-ea"/>
                <a:cs typeface="+mn-cs"/>
              </a:rPr>
              <a:t>Calculate final cascade size</a:t>
            </a:r>
          </a:p>
        </p:txBody>
      </p:sp>
      <p:sp>
        <p:nvSpPr>
          <p:cNvPr id="7" name="TextBox 6">
            <a:extLst>
              <a:ext uri="{FF2B5EF4-FFF2-40B4-BE49-F238E27FC236}">
                <a16:creationId xmlns:a16="http://schemas.microsoft.com/office/drawing/2014/main" id="{086475DA-8EC9-5C46-BBBF-A438B9E519F0}"/>
              </a:ext>
            </a:extLst>
          </p:cNvPr>
          <p:cNvSpPr txBox="1"/>
          <p:nvPr/>
        </p:nvSpPr>
        <p:spPr>
          <a:xfrm>
            <a:off x="628650" y="6171349"/>
            <a:ext cx="89948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lumMod val="50000"/>
                  </a:prstClr>
                </a:solidFill>
                <a:effectLst/>
                <a:uLnTx/>
                <a:uFillTx/>
                <a:latin typeface="Adobe Devanagari"/>
                <a:ea typeface="+mn-ea"/>
                <a:cs typeface="+mn-cs"/>
              </a:rPr>
              <a:t>Nematzadeh</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et al. “Optimal network modularity for information diffusion”. PRL, 2014.</a:t>
            </a:r>
          </a:p>
        </p:txBody>
      </p:sp>
      <p:sp>
        <p:nvSpPr>
          <p:cNvPr id="8" name="TextBox 7">
            <a:extLst>
              <a:ext uri="{FF2B5EF4-FFF2-40B4-BE49-F238E27FC236}">
                <a16:creationId xmlns:a16="http://schemas.microsoft.com/office/drawing/2014/main" id="{BBEF1AD2-0AD9-924C-9111-1052F7E118F8}"/>
              </a:ext>
            </a:extLst>
          </p:cNvPr>
          <p:cNvSpPr txBox="1"/>
          <p:nvPr/>
        </p:nvSpPr>
        <p:spPr>
          <a:xfrm>
            <a:off x="1602233" y="4027108"/>
            <a:ext cx="340158"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9" name="TextBox 8">
            <a:extLst>
              <a:ext uri="{FF2B5EF4-FFF2-40B4-BE49-F238E27FC236}">
                <a16:creationId xmlns:a16="http://schemas.microsoft.com/office/drawing/2014/main" id="{94249467-BDCE-C040-AD45-6A6D5613E847}"/>
              </a:ext>
            </a:extLst>
          </p:cNvPr>
          <p:cNvSpPr txBox="1"/>
          <p:nvPr/>
        </p:nvSpPr>
        <p:spPr>
          <a:xfrm>
            <a:off x="1029102" y="4972194"/>
            <a:ext cx="330540"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Tree>
    <p:extLst>
      <p:ext uri="{BB962C8B-B14F-4D97-AF65-F5344CB8AC3E}">
        <p14:creationId xmlns:p14="http://schemas.microsoft.com/office/powerpoint/2010/main" val="1999062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3735D-A999-FCCD-684F-E4F9B706C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33E2F-A010-FDE5-D3C4-E38D93D961B2}"/>
              </a:ext>
            </a:extLst>
          </p:cNvPr>
          <p:cNvSpPr>
            <a:spLocks noGrp="1"/>
          </p:cNvSpPr>
          <p:nvPr>
            <p:ph type="title"/>
          </p:nvPr>
        </p:nvSpPr>
        <p:spPr>
          <a:xfrm>
            <a:off x="628650" y="365126"/>
            <a:ext cx="8365038" cy="1325563"/>
          </a:xfrm>
        </p:spPr>
        <p:txBody>
          <a:bodyPr>
            <a:normAutofit/>
          </a:bodyPr>
          <a:lstStyle/>
          <a:p>
            <a:r>
              <a:rPr lang="en-US" sz="4000" dirty="0"/>
              <a:t>Optimal modularity for global cascade</a:t>
            </a:r>
          </a:p>
        </p:txBody>
      </p:sp>
      <p:pic>
        <p:nvPicPr>
          <p:cNvPr id="5" name="Content Placeholder 3">
            <a:extLst>
              <a:ext uri="{FF2B5EF4-FFF2-40B4-BE49-F238E27FC236}">
                <a16:creationId xmlns:a16="http://schemas.microsoft.com/office/drawing/2014/main" id="{CAB9DBDC-3ACD-E5CD-1B18-064235EE0508}"/>
              </a:ext>
            </a:extLst>
          </p:cNvPr>
          <p:cNvPicPr>
            <a:picLocks noGrp="1" noChangeAspect="1"/>
          </p:cNvPicPr>
          <p:nvPr>
            <p:ph idx="1"/>
          </p:nvPr>
        </p:nvPicPr>
        <p:blipFill>
          <a:blip r:embed="rId2"/>
          <a:stretch>
            <a:fillRect/>
          </a:stretch>
        </p:blipFill>
        <p:spPr>
          <a:xfrm>
            <a:off x="1678707" y="2485753"/>
            <a:ext cx="4322301" cy="3399859"/>
          </a:xfrm>
          <a:prstGeom prst="rect">
            <a:avLst/>
          </a:prstGeom>
        </p:spPr>
      </p:pic>
      <p:sp>
        <p:nvSpPr>
          <p:cNvPr id="6" name="TextBox 5">
            <a:extLst>
              <a:ext uri="{FF2B5EF4-FFF2-40B4-BE49-F238E27FC236}">
                <a16:creationId xmlns:a16="http://schemas.microsoft.com/office/drawing/2014/main" id="{DE5C4DA8-2589-686D-C1B5-78E3D3364369}"/>
              </a:ext>
            </a:extLst>
          </p:cNvPr>
          <p:cNvSpPr txBox="1"/>
          <p:nvPr/>
        </p:nvSpPr>
        <p:spPr>
          <a:xfrm>
            <a:off x="567690" y="6001622"/>
            <a:ext cx="84259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Peng et al. “Network modularity controls the speed of information diffusion”.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PRE</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2020.</a:t>
            </a:r>
          </a:p>
        </p:txBody>
      </p:sp>
      <p:cxnSp>
        <p:nvCxnSpPr>
          <p:cNvPr id="7" name="Straight Arrow Connector 6">
            <a:extLst>
              <a:ext uri="{FF2B5EF4-FFF2-40B4-BE49-F238E27FC236}">
                <a16:creationId xmlns:a16="http://schemas.microsoft.com/office/drawing/2014/main" id="{D87F5E67-3144-A99E-E1E8-27079D64ACE2}"/>
              </a:ext>
            </a:extLst>
          </p:cNvPr>
          <p:cNvCxnSpPr>
            <a:cxnSpLocks/>
          </p:cNvCxnSpPr>
          <p:nvPr/>
        </p:nvCxnSpPr>
        <p:spPr>
          <a:xfrm flipV="1">
            <a:off x="5737373" y="4371705"/>
            <a:ext cx="527270" cy="4919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4E0B1A8-1035-6945-3333-BB1DD44F23B4}"/>
              </a:ext>
            </a:extLst>
          </p:cNvPr>
          <p:cNvSpPr txBox="1"/>
          <p:nvPr/>
        </p:nvSpPr>
        <p:spPr>
          <a:xfrm>
            <a:off x="6065246" y="2374708"/>
            <a:ext cx="2800093"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Red plot (right y)</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cascade size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Calibri" panose="020F0502020204030204"/>
              </a:rPr>
              <a:t>[Global cascade happens in the whole green area.]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F2B10861-3722-216C-DB6C-C36239590A3D}"/>
              </a:ext>
            </a:extLst>
          </p:cNvPr>
          <p:cNvSpPr txBox="1">
            <a:spLocks/>
          </p:cNvSpPr>
          <p:nvPr/>
        </p:nvSpPr>
        <p:spPr>
          <a:xfrm>
            <a:off x="840778" y="1655498"/>
            <a:ext cx="7462444" cy="484204"/>
          </a:xfrm>
          <a:prstGeom prst="rect">
            <a:avLst/>
          </a:prstGeom>
          <a:ln w="25400">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LM Sans 12"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LM Sans 12"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LM Sans 12"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Sans 1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Sans 12"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LM Sans 12" pitchFamily="2" charset="77"/>
                <a:ea typeface="+mn-ea"/>
                <a:cs typeface="+mn-cs"/>
              </a:rPr>
              <a:t>Run 1000 simulations per </a:t>
            </a:r>
            <a:r>
              <a:rPr kumimoji="0" lang="en-US" sz="2400" b="0" i="1" u="none" strike="noStrike" kern="1200" cap="none" spc="0" normalizeH="0" baseline="0" noProof="0" dirty="0">
                <a:ln>
                  <a:noFill/>
                </a:ln>
                <a:solidFill>
                  <a:srgbClr val="0078B9"/>
                </a:solidFill>
                <a:effectLst/>
                <a:uLnTx/>
                <a:uFillTx/>
                <a:latin typeface="LM Sans 12" pitchFamily="2" charset="77"/>
                <a:ea typeface="+mn-ea"/>
                <a:cs typeface="+mn-cs"/>
              </a:rPr>
              <a:t>u </a:t>
            </a:r>
            <a:r>
              <a:rPr kumimoji="0" lang="en-US" sz="2400" b="0" i="0" u="none" strike="noStrike" kern="1200" cap="none" spc="0" normalizeH="0" baseline="0" noProof="0" dirty="0">
                <a:ln>
                  <a:noFill/>
                </a:ln>
                <a:solidFill>
                  <a:prstClr val="black"/>
                </a:solidFill>
                <a:effectLst/>
                <a:uLnTx/>
                <a:uFillTx/>
                <a:latin typeface="LM Sans 12" pitchFamily="2" charset="77"/>
                <a:ea typeface="+mn-ea"/>
                <a:cs typeface="+mn-cs"/>
              </a:rPr>
              <a:t>using Agent-Based Modeling.</a:t>
            </a:r>
          </a:p>
        </p:txBody>
      </p:sp>
    </p:spTree>
    <p:extLst>
      <p:ext uri="{BB962C8B-B14F-4D97-AF65-F5344CB8AC3E}">
        <p14:creationId xmlns:p14="http://schemas.microsoft.com/office/powerpoint/2010/main" val="1018796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365038" cy="1325563"/>
          </a:xfrm>
        </p:spPr>
        <p:txBody>
          <a:bodyPr>
            <a:normAutofit/>
          </a:bodyPr>
          <a:lstStyle/>
          <a:p>
            <a:r>
              <a:rPr lang="en-US" sz="4000" dirty="0"/>
              <a:t>Optimal modularity for global cascade</a:t>
            </a:r>
          </a:p>
        </p:txBody>
      </p:sp>
      <p:pic>
        <p:nvPicPr>
          <p:cNvPr id="5" name="Content Placeholder 3">
            <a:extLst>
              <a:ext uri="{FF2B5EF4-FFF2-40B4-BE49-F238E27FC236}">
                <a16:creationId xmlns:a16="http://schemas.microsoft.com/office/drawing/2014/main" id="{C1A338FE-11A6-9342-94C3-28AB34799DBB}"/>
              </a:ext>
            </a:extLst>
          </p:cNvPr>
          <p:cNvPicPr>
            <a:picLocks noGrp="1" noChangeAspect="1"/>
          </p:cNvPicPr>
          <p:nvPr>
            <p:ph idx="1"/>
          </p:nvPr>
        </p:nvPicPr>
        <p:blipFill>
          <a:blip r:embed="rId2"/>
          <a:stretch>
            <a:fillRect/>
          </a:stretch>
        </p:blipFill>
        <p:spPr>
          <a:xfrm>
            <a:off x="1678707" y="2485753"/>
            <a:ext cx="4322301" cy="3399859"/>
          </a:xfrm>
          <a:prstGeom prst="rect">
            <a:avLst/>
          </a:prstGeom>
        </p:spPr>
      </p:pic>
      <p:sp>
        <p:nvSpPr>
          <p:cNvPr id="6" name="TextBox 5">
            <a:extLst>
              <a:ext uri="{FF2B5EF4-FFF2-40B4-BE49-F238E27FC236}">
                <a16:creationId xmlns:a16="http://schemas.microsoft.com/office/drawing/2014/main" id="{CFDDB001-A76B-AD4E-92AF-94651F98A105}"/>
              </a:ext>
            </a:extLst>
          </p:cNvPr>
          <p:cNvSpPr txBox="1"/>
          <p:nvPr/>
        </p:nvSpPr>
        <p:spPr>
          <a:xfrm>
            <a:off x="567690" y="6001622"/>
            <a:ext cx="84259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Peng et al. “Network modularity controls the speed of information diffusion”.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PRE</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2020.</a:t>
            </a:r>
          </a:p>
        </p:txBody>
      </p:sp>
      <p:cxnSp>
        <p:nvCxnSpPr>
          <p:cNvPr id="11" name="Straight Arrow Connector 10">
            <a:extLst>
              <a:ext uri="{FF2B5EF4-FFF2-40B4-BE49-F238E27FC236}">
                <a16:creationId xmlns:a16="http://schemas.microsoft.com/office/drawing/2014/main" id="{6AB3BDC3-1C87-0814-3C72-003D96DC2026}"/>
              </a:ext>
            </a:extLst>
          </p:cNvPr>
          <p:cNvCxnSpPr>
            <a:cxnSpLocks/>
          </p:cNvCxnSpPr>
          <p:nvPr/>
        </p:nvCxnSpPr>
        <p:spPr>
          <a:xfrm flipH="1" flipV="1">
            <a:off x="1565753" y="2322322"/>
            <a:ext cx="87902" cy="18383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E1C2B92-CC9F-1A63-9203-1387C23BCD0E}"/>
              </a:ext>
            </a:extLst>
          </p:cNvPr>
          <p:cNvSpPr txBox="1"/>
          <p:nvPr/>
        </p:nvSpPr>
        <p:spPr>
          <a:xfrm>
            <a:off x="783658" y="1491325"/>
            <a:ext cx="821003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Blue plot (left y axis)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diffusion speed. Max speed happens at a middle level of modularity (too strong or too weak is no good).</a:t>
            </a:r>
          </a:p>
        </p:txBody>
      </p:sp>
    </p:spTree>
    <p:extLst>
      <p:ext uri="{BB962C8B-B14F-4D97-AF65-F5344CB8AC3E}">
        <p14:creationId xmlns:p14="http://schemas.microsoft.com/office/powerpoint/2010/main" val="70922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A28C-4C61-D040-DA6C-28782CC76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44338-D925-0679-4E6E-423139A7C6F8}"/>
              </a:ext>
            </a:extLst>
          </p:cNvPr>
          <p:cNvSpPr>
            <a:spLocks noGrp="1"/>
          </p:cNvSpPr>
          <p:nvPr>
            <p:ph type="title"/>
          </p:nvPr>
        </p:nvSpPr>
        <p:spPr>
          <a:xfrm>
            <a:off x="628650" y="365126"/>
            <a:ext cx="8365038" cy="1325563"/>
          </a:xfrm>
        </p:spPr>
        <p:txBody>
          <a:bodyPr>
            <a:normAutofit/>
          </a:bodyPr>
          <a:lstStyle/>
          <a:p>
            <a:r>
              <a:rPr lang="en-US" sz="4000" dirty="0"/>
              <a:t>Optimal modularity for global cascade</a:t>
            </a:r>
          </a:p>
        </p:txBody>
      </p:sp>
      <p:pic>
        <p:nvPicPr>
          <p:cNvPr id="5" name="Content Placeholder 3">
            <a:extLst>
              <a:ext uri="{FF2B5EF4-FFF2-40B4-BE49-F238E27FC236}">
                <a16:creationId xmlns:a16="http://schemas.microsoft.com/office/drawing/2014/main" id="{A33BCD1E-1955-3EF7-56AD-8B0A7A042D01}"/>
              </a:ext>
            </a:extLst>
          </p:cNvPr>
          <p:cNvPicPr>
            <a:picLocks noGrp="1" noChangeAspect="1"/>
          </p:cNvPicPr>
          <p:nvPr>
            <p:ph idx="1"/>
          </p:nvPr>
        </p:nvPicPr>
        <p:blipFill>
          <a:blip r:embed="rId3"/>
          <a:stretch>
            <a:fillRect/>
          </a:stretch>
        </p:blipFill>
        <p:spPr>
          <a:xfrm>
            <a:off x="764305" y="1533122"/>
            <a:ext cx="4322301" cy="3399859"/>
          </a:xfrm>
          <a:prstGeom prst="rect">
            <a:avLst/>
          </a:prstGeom>
        </p:spPr>
      </p:pic>
      <p:sp>
        <p:nvSpPr>
          <p:cNvPr id="6" name="TextBox 5">
            <a:extLst>
              <a:ext uri="{FF2B5EF4-FFF2-40B4-BE49-F238E27FC236}">
                <a16:creationId xmlns:a16="http://schemas.microsoft.com/office/drawing/2014/main" id="{89B64429-64BB-A2C8-FF26-B2429CB0C5B0}"/>
              </a:ext>
            </a:extLst>
          </p:cNvPr>
          <p:cNvSpPr txBox="1"/>
          <p:nvPr/>
        </p:nvSpPr>
        <p:spPr>
          <a:xfrm>
            <a:off x="567690" y="6001622"/>
            <a:ext cx="84259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Peng et al. “Network modularity controls the speed of information diffusion”. </a:t>
            </a:r>
            <a:r>
              <a:rPr kumimoji="0" lang="en-US" sz="1800" b="0" i="1" u="none" strike="noStrike" kern="1200" cap="none" spc="0" normalizeH="0" baseline="0" noProof="0" dirty="0">
                <a:ln>
                  <a:noFill/>
                </a:ln>
                <a:solidFill>
                  <a:prstClr val="white">
                    <a:lumMod val="50000"/>
                  </a:prstClr>
                </a:solidFill>
                <a:effectLst/>
                <a:uLnTx/>
                <a:uFillTx/>
                <a:latin typeface="Adobe Devanagari"/>
                <a:ea typeface="+mn-ea"/>
                <a:cs typeface="+mn-cs"/>
              </a:rPr>
              <a:t>PRE</a:t>
            </a:r>
            <a:r>
              <a:rPr kumimoji="0" lang="en-US" sz="1800" b="0" i="0" u="none" strike="noStrike" kern="1200" cap="none" spc="0" normalizeH="0" baseline="0" noProof="0" dirty="0">
                <a:ln>
                  <a:noFill/>
                </a:ln>
                <a:solidFill>
                  <a:prstClr val="white">
                    <a:lumMod val="50000"/>
                  </a:prstClr>
                </a:solidFill>
                <a:effectLst/>
                <a:uLnTx/>
                <a:uFillTx/>
                <a:latin typeface="Adobe Devanagari"/>
                <a:ea typeface="+mn-ea"/>
                <a:cs typeface="+mn-cs"/>
              </a:rPr>
              <a:t>, 2020.</a:t>
            </a:r>
          </a:p>
        </p:txBody>
      </p:sp>
      <p:sp>
        <p:nvSpPr>
          <p:cNvPr id="3" name="Content Placeholder 2">
            <a:extLst>
              <a:ext uri="{FF2B5EF4-FFF2-40B4-BE49-F238E27FC236}">
                <a16:creationId xmlns:a16="http://schemas.microsoft.com/office/drawing/2014/main" id="{CE1CC117-1519-8B59-1E49-059EEE485A9F}"/>
              </a:ext>
            </a:extLst>
          </p:cNvPr>
          <p:cNvSpPr txBox="1">
            <a:spLocks/>
          </p:cNvSpPr>
          <p:nvPr/>
        </p:nvSpPr>
        <p:spPr>
          <a:xfrm>
            <a:off x="5151922" y="1963773"/>
            <a:ext cx="3698164" cy="33998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LM Sans 12"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LM Sans 12"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LM Sans 12"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Sans 1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Sans 12"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LM Sans 12" pitchFamily="2" charset="77"/>
                <a:ea typeface="+mn-ea"/>
                <a:cs typeface="+mn-cs"/>
              </a:rPr>
              <a:t>Fig: </a:t>
            </a:r>
            <a:r>
              <a:rPr kumimoji="0" lang="en-US" sz="2400" b="0" i="0" u="none" strike="noStrike" kern="1200" cap="none" spc="0" normalizeH="0" baseline="0" noProof="0" dirty="0">
                <a:ln>
                  <a:noFill/>
                </a:ln>
                <a:solidFill>
                  <a:srgbClr val="0078B9"/>
                </a:solidFill>
                <a:effectLst/>
                <a:uLnTx/>
                <a:uFillTx/>
                <a:latin typeface="LM Sans 12" pitchFamily="2" charset="77"/>
                <a:ea typeface="+mn-ea"/>
                <a:cs typeface="+mn-cs"/>
              </a:rPr>
              <a:t>With a medium level of community structure, global cascades are guaranteed to happen, </a:t>
            </a:r>
            <a:r>
              <a:rPr kumimoji="0" lang="en-US" sz="2400" b="0" i="0" u="sng" strike="noStrike" kern="1200" cap="none" spc="0" normalizeH="0" baseline="0" noProof="0" dirty="0">
                <a:ln>
                  <a:noFill/>
                </a:ln>
                <a:solidFill>
                  <a:srgbClr val="0078B9"/>
                </a:solidFill>
                <a:effectLst/>
                <a:uLnTx/>
                <a:uFillTx/>
                <a:latin typeface="LM Sans 12" pitchFamily="2" charset="77"/>
                <a:ea typeface="+mn-ea"/>
                <a:cs typeface="+mn-cs"/>
              </a:rPr>
              <a:t>no matter how you pick the seeds</a:t>
            </a:r>
            <a:r>
              <a:rPr kumimoji="0" lang="en-US" sz="2400" b="0" i="0" u="none" strike="noStrike" kern="1200" cap="none" spc="0" normalizeH="0" baseline="0" noProof="0" dirty="0">
                <a:ln>
                  <a:noFill/>
                </a:ln>
                <a:solidFill>
                  <a:srgbClr val="0078B9"/>
                </a:solidFill>
                <a:effectLst/>
                <a:uLnTx/>
                <a:uFillTx/>
                <a:latin typeface="LM Sans 12" pitchFamily="2" charset="77"/>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srgbClr val="0078B9"/>
              </a:solidFil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dirty="0">
                <a:solidFill>
                  <a:srgbClr val="C00000"/>
                </a:solidFill>
              </a:rPr>
              <a:t>Further, there is an optimal modularity for max speed.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rgbClr val="C00000"/>
              </a:solidFill>
              <a:effectLst/>
              <a:uLnTx/>
              <a:uFillTx/>
              <a:latin typeface="LM Sans 12" pitchFamily="2" charset="77"/>
              <a:ea typeface="+mn-ea"/>
              <a:cs typeface="+mn-cs"/>
            </a:endParaRPr>
          </a:p>
        </p:txBody>
      </p:sp>
      <p:cxnSp>
        <p:nvCxnSpPr>
          <p:cNvPr id="9" name="Straight Arrow Connector 8">
            <a:extLst>
              <a:ext uri="{FF2B5EF4-FFF2-40B4-BE49-F238E27FC236}">
                <a16:creationId xmlns:a16="http://schemas.microsoft.com/office/drawing/2014/main" id="{6F9B3C32-DAE5-5357-7E02-B2D430DFC4E8}"/>
              </a:ext>
            </a:extLst>
          </p:cNvPr>
          <p:cNvCxnSpPr>
            <a:cxnSpLocks/>
          </p:cNvCxnSpPr>
          <p:nvPr/>
        </p:nvCxnSpPr>
        <p:spPr>
          <a:xfrm flipV="1">
            <a:off x="1163863" y="3334737"/>
            <a:ext cx="527510" cy="18028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A383C23B-6E29-023F-0C9A-FEBE7A340624}"/>
              </a:ext>
            </a:extLst>
          </p:cNvPr>
          <p:cNvSpPr txBox="1"/>
          <p:nvPr/>
        </p:nvSpPr>
        <p:spPr>
          <a:xfrm>
            <a:off x="521946" y="5083217"/>
            <a:ext cx="185429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Local spreading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(only in A)</a:t>
            </a:r>
          </a:p>
        </p:txBody>
      </p:sp>
      <p:cxnSp>
        <p:nvCxnSpPr>
          <p:cNvPr id="14" name="Straight Arrow Connector 13">
            <a:extLst>
              <a:ext uri="{FF2B5EF4-FFF2-40B4-BE49-F238E27FC236}">
                <a16:creationId xmlns:a16="http://schemas.microsoft.com/office/drawing/2014/main" id="{8A518D20-F5EE-6C9D-F0E8-7B0A4836F5B5}"/>
              </a:ext>
            </a:extLst>
          </p:cNvPr>
          <p:cNvCxnSpPr>
            <a:cxnSpLocks/>
          </p:cNvCxnSpPr>
          <p:nvPr/>
        </p:nvCxnSpPr>
        <p:spPr>
          <a:xfrm flipH="1" flipV="1">
            <a:off x="3609335" y="4237333"/>
            <a:ext cx="359468" cy="98016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1541EBCA-1D20-5D55-13D4-29CB16E51CA2}"/>
              </a:ext>
            </a:extLst>
          </p:cNvPr>
          <p:cNvSpPr txBox="1"/>
          <p:nvPr/>
        </p:nvSpPr>
        <p:spPr>
          <a:xfrm>
            <a:off x="3115579" y="5101892"/>
            <a:ext cx="162236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No spreading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(even in A)</a:t>
            </a:r>
          </a:p>
        </p:txBody>
      </p:sp>
    </p:spTree>
    <p:extLst>
      <p:ext uri="{BB962C8B-B14F-4D97-AF65-F5344CB8AC3E}">
        <p14:creationId xmlns:p14="http://schemas.microsoft.com/office/powerpoint/2010/main" val="353726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628650" y="1512112"/>
            <a:ext cx="8362950" cy="33239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70C0"/>
                </a:solidFill>
                <a:effectLst/>
                <a:uLnTx/>
                <a:uFillTx/>
                <a:latin typeface="Calibri" panose="020F0502020204030204"/>
                <a:ea typeface="+mn-ea"/>
                <a:cs typeface="+mn-cs"/>
              </a:rPr>
              <a:t>Memes</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are units of transmissible information (product, norm, behavior).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Adobe Devanagari" panose="02040503050201020203" pitchFamily="18" charset="0"/>
              <a:ea typeface="+mn-ea"/>
              <a:cs typeface="Adobe Devanagari" panose="020405030502010202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C00000"/>
                </a:solidFill>
                <a:effectLst/>
                <a:uLnTx/>
                <a:uFillTx/>
                <a:latin typeface="Adobe Devanagari" panose="02040503050201020203" pitchFamily="18" charset="0"/>
                <a:ea typeface="+mn-ea"/>
                <a:cs typeface="Adobe Devanagari" panose="02040503050201020203" pitchFamily="18" charset="0"/>
              </a:rPr>
              <a:t>Virality prediction</a:t>
            </a:r>
            <a:r>
              <a:rPr kumimoji="0" lang="en-US" sz="2100" b="0" i="0" u="none" strike="noStrike" kern="1200" cap="none" spc="0" normalizeH="0" baseline="0" noProof="0" dirty="0">
                <a:ln>
                  <a:noFill/>
                </a:ln>
                <a:solidFill>
                  <a:srgbClr val="C00000"/>
                </a:solidFill>
                <a:effectLst/>
                <a:uLnTx/>
                <a:uFillTx/>
                <a:latin typeface="Adobe Devanagari" panose="02040503050201020203" pitchFamily="18" charset="0"/>
                <a:ea typeface="+mn-ea"/>
                <a:cs typeface="Adobe Devanagari" panose="02040503050201020203" pitchFamily="18" charset="0"/>
              </a:rPr>
              <a:t>:</a:t>
            </a:r>
            <a:r>
              <a:rPr kumimoji="0" lang="en-US" sz="2100" b="0" i="1" u="none" strike="noStrike" kern="1200" cap="none" spc="0" normalizeH="0" baseline="0" noProof="0" dirty="0">
                <a:ln>
                  <a:noFill/>
                </a:ln>
                <a:solidFill>
                  <a:srgbClr val="C00000"/>
                </a:solidFill>
                <a:effectLst/>
                <a:uLnTx/>
                <a:uFillTx/>
                <a:latin typeface="Adobe Devanagari" panose="02040503050201020203" pitchFamily="18" charset="0"/>
                <a:ea typeface="+mn-ea"/>
                <a:cs typeface="Adobe Devanagari" panose="02040503050201020203" pitchFamily="18" charset="0"/>
              </a:rPr>
              <a:t> Is this meme going to “infect” x% of the whole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Potential useful factors based on the initial stage of sharing: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100" b="0" i="0" u="sng" strike="noStrike" kern="1200" cap="none" spc="0" normalizeH="0" baseline="0" noProof="0" dirty="0">
                <a:ln>
                  <a:noFill/>
                </a:ln>
                <a:solidFill>
                  <a:prstClr val="black"/>
                </a:solidFill>
                <a:effectLst/>
                <a:uLnTx/>
                <a:uFillTx/>
                <a:latin typeface="Calibri" panose="020F0502020204030204"/>
                <a:ea typeface="+mn-ea"/>
                <a:cs typeface="+mn-cs"/>
              </a:rPr>
              <a:t>Meme content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100" b="0" i="0" u="sng" strike="noStrike" kern="1200" cap="none" spc="0" normalizeH="0" baseline="0" noProof="0" dirty="0">
                <a:ln>
                  <a:noFill/>
                </a:ln>
                <a:solidFill>
                  <a:prstClr val="black"/>
                </a:solidFill>
                <a:effectLst/>
                <a:uLnTx/>
                <a:uFillTx/>
                <a:latin typeface="Calibri" panose="020F0502020204030204"/>
                <a:ea typeface="+mn-ea"/>
                <a:cs typeface="+mn-cs"/>
              </a:rPr>
              <a:t>User characteristics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100" b="0" i="0" u="sng" strike="noStrike" kern="1200" cap="none" spc="0" normalizeH="0" baseline="0" noProof="0" dirty="0">
                <a:ln>
                  <a:noFill/>
                </a:ln>
                <a:solidFill>
                  <a:prstClr val="black"/>
                </a:solidFill>
                <a:effectLst/>
                <a:uLnTx/>
                <a:uFillTx/>
                <a:latin typeface="Calibri" panose="020F0502020204030204"/>
                <a:ea typeface="+mn-ea"/>
                <a:cs typeface="+mn-cs"/>
              </a:rPr>
              <a:t>Temporal variation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100" b="0" i="0" u="none" strike="noStrike" kern="1200" cap="none" spc="0" normalizeH="0" baseline="0" noProof="0" dirty="0">
                <a:ln>
                  <a:noFill/>
                </a:ln>
                <a:solidFill>
                  <a:srgbClr val="00B0F0"/>
                </a:solidFill>
                <a:effectLst/>
                <a:uLnTx/>
                <a:uFillTx/>
                <a:latin typeface="Calibri" panose="020F0502020204030204"/>
                <a:ea typeface="+mn-ea"/>
                <a:cs typeface="+mn-cs"/>
              </a:rPr>
              <a:t>Network topology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100" b="0" i="0" u="none" strike="noStrike" kern="1200" cap="none" spc="0" normalizeH="0" baseline="0" noProof="0" dirty="0">
                <a:ln>
                  <a:noFill/>
                </a:ln>
                <a:solidFill>
                  <a:srgbClr val="00B0F0"/>
                </a:solidFill>
                <a:effectLst/>
                <a:uLnTx/>
                <a:uFillTx/>
                <a:latin typeface="Calibri" panose="020F0502020204030204"/>
                <a:ea typeface="+mn-ea"/>
                <a:cs typeface="+mn-cs"/>
              </a:rPr>
              <a:t>Community structure</a:t>
            </a:r>
          </a:p>
        </p:txBody>
      </p:sp>
      <p:sp>
        <p:nvSpPr>
          <p:cNvPr id="2" name="TextBox 1">
            <a:extLst>
              <a:ext uri="{FF2B5EF4-FFF2-40B4-BE49-F238E27FC236}">
                <a16:creationId xmlns:a16="http://schemas.microsoft.com/office/drawing/2014/main" id="{B5D92098-E3A9-A1F5-22AD-3221E3F488E2}"/>
              </a:ext>
            </a:extLst>
          </p:cNvPr>
          <p:cNvSpPr txBox="1"/>
          <p:nvPr/>
        </p:nvSpPr>
        <p:spPr>
          <a:xfrm>
            <a:off x="4192265" y="5792208"/>
            <a:ext cx="3631122"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hlinkClick r:id="rId3"/>
              </a:rPr>
              <a:t>https://www.youtube.com/watch?v=XqZsoesa55w</a:t>
            </a:r>
            <a:endParaRPr kumimoji="0" lang="en-US" sz="1050" b="0" i="1"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pic>
        <p:nvPicPr>
          <p:cNvPr id="6" name="Content Placeholder 7">
            <a:extLst>
              <a:ext uri="{FF2B5EF4-FFF2-40B4-BE49-F238E27FC236}">
                <a16:creationId xmlns:a16="http://schemas.microsoft.com/office/drawing/2014/main" id="{23AF3445-0836-F0DF-12C8-D330563FF12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277993" y="3429000"/>
            <a:ext cx="3424931" cy="2214563"/>
          </a:xfrm>
        </p:spPr>
      </p:pic>
      <p:sp>
        <p:nvSpPr>
          <p:cNvPr id="4" name="Title 1">
            <a:extLst>
              <a:ext uri="{FF2B5EF4-FFF2-40B4-BE49-F238E27FC236}">
                <a16:creationId xmlns:a16="http://schemas.microsoft.com/office/drawing/2014/main" id="{2B9DB852-FCF3-8DDA-DF83-3B6A9A58D173}"/>
              </a:ext>
            </a:extLst>
          </p:cNvPr>
          <p:cNvSpPr>
            <a:spLocks noGrp="1"/>
          </p:cNvSpPr>
          <p:nvPr>
            <p:ph type="title"/>
          </p:nvPr>
        </p:nvSpPr>
        <p:spPr>
          <a:xfrm>
            <a:off x="493497" y="373585"/>
            <a:ext cx="7886700" cy="994172"/>
          </a:xfrm>
        </p:spPr>
        <p:txBody>
          <a:bodyPr>
            <a:normAutofit/>
          </a:bodyPr>
          <a:lstStyle/>
          <a:p>
            <a:r>
              <a:rPr lang="en-US" dirty="0"/>
              <a:t>Virality prediction</a:t>
            </a:r>
          </a:p>
        </p:txBody>
      </p:sp>
    </p:spTree>
    <p:extLst>
      <p:ext uri="{BB962C8B-B14F-4D97-AF65-F5344CB8AC3E}">
        <p14:creationId xmlns:p14="http://schemas.microsoft.com/office/powerpoint/2010/main" val="2429892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5EFBC96-D4B4-747A-4A98-91896A1DA79F}"/>
              </a:ext>
            </a:extLst>
          </p:cNvPr>
          <p:cNvSpPr txBox="1"/>
          <p:nvPr/>
        </p:nvSpPr>
        <p:spPr>
          <a:xfrm>
            <a:off x="570955" y="5979523"/>
            <a:ext cx="7944395" cy="3000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Weng, </a:t>
            </a:r>
            <a:r>
              <a:rPr kumimoji="0" lang="en-US" sz="1350" b="0" i="0" u="none" strike="noStrike" kern="1200" cap="none" spc="0" normalizeH="0" baseline="0" noProof="0" dirty="0" err="1">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Menczer</a:t>
            </a: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 </a:t>
            </a:r>
            <a:r>
              <a:rPr kumimoji="0" lang="en-US" sz="1350" b="0" i="0" u="none" strike="noStrike" kern="1200" cap="none" spc="0" normalizeH="0" baseline="0" noProof="0" dirty="0" err="1">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Ahn</a:t>
            </a: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 “Virality prediction and community structure in social networks,” </a:t>
            </a:r>
            <a:r>
              <a:rPr kumimoji="0" lang="en-US" sz="1350" b="0" i="1"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Scientific Reports</a:t>
            </a: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 2013</a:t>
            </a:r>
          </a:p>
        </p:txBody>
      </p:sp>
      <p:pic>
        <p:nvPicPr>
          <p:cNvPr id="12" name="Picture 11">
            <a:extLst>
              <a:ext uri="{FF2B5EF4-FFF2-40B4-BE49-F238E27FC236}">
                <a16:creationId xmlns:a16="http://schemas.microsoft.com/office/drawing/2014/main" id="{47ECC75B-B74D-7A51-3A42-18985AAEF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690" y="1923467"/>
            <a:ext cx="3889310" cy="3334649"/>
          </a:xfrm>
          <a:prstGeom prst="rect">
            <a:avLst/>
          </a:prstGeom>
        </p:spPr>
      </p:pic>
      <p:sp>
        <p:nvSpPr>
          <p:cNvPr id="13" name="TextBox 12">
            <a:extLst>
              <a:ext uri="{FF2B5EF4-FFF2-40B4-BE49-F238E27FC236}">
                <a16:creationId xmlns:a16="http://schemas.microsoft.com/office/drawing/2014/main" id="{D27398F1-A19F-205C-D5B7-51C912D4C1E7}"/>
              </a:ext>
            </a:extLst>
          </p:cNvPr>
          <p:cNvSpPr txBox="1"/>
          <p:nvPr/>
        </p:nvSpPr>
        <p:spPr>
          <a:xfrm>
            <a:off x="4963588" y="2027542"/>
            <a:ext cx="3551761"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evolution of a viral meme (#</a:t>
            </a:r>
            <a:r>
              <a:rPr kumimoji="0" lang="en-US" sz="2000" b="0" i="0" u="none" strike="noStrike" kern="1200" cap="none" spc="0" normalizeH="0" baseline="0" noProof="0" dirty="0" err="1">
                <a:ln>
                  <a:noFill/>
                </a:ln>
                <a:solidFill>
                  <a:srgbClr val="0070C0"/>
                </a:solidFill>
                <a:effectLst/>
                <a:uLnTx/>
                <a:uFillTx/>
                <a:latin typeface="Calibri" panose="020F0502020204030204"/>
                <a:ea typeface="+mn-ea"/>
                <a:cs typeface="+mn-cs"/>
              </a:rPr>
              <a:t>ThoughtsDuringSchool</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from the early stage (30 tweets) to the late stage (200 tweets) of diffusion.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evolution of a non-viral meme (#</a:t>
            </a:r>
            <a:r>
              <a:rPr kumimoji="0" lang="en-US" sz="2000" b="0" i="0" u="none" strike="noStrike" kern="1200" cap="none" spc="0" normalizeH="0" baseline="0" noProof="0" dirty="0" err="1">
                <a:ln>
                  <a:noFill/>
                </a:ln>
                <a:solidFill>
                  <a:srgbClr val="0070C0"/>
                </a:solidFill>
                <a:effectLst/>
                <a:uLnTx/>
                <a:uFillTx/>
                <a:latin typeface="Calibri" panose="020F0502020204030204"/>
                <a:ea typeface="+mn-ea"/>
                <a:cs typeface="+mn-cs"/>
              </a:rPr>
              <a:t>ProperBand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from the early stage to the final stage (65 tweets in total).</a:t>
            </a:r>
          </a:p>
        </p:txBody>
      </p:sp>
      <p:sp>
        <p:nvSpPr>
          <p:cNvPr id="14" name="TextBox 13">
            <a:extLst>
              <a:ext uri="{FF2B5EF4-FFF2-40B4-BE49-F238E27FC236}">
                <a16:creationId xmlns:a16="http://schemas.microsoft.com/office/drawing/2014/main" id="{887DBFD7-B205-F1F3-B13C-339468C1A837}"/>
              </a:ext>
            </a:extLst>
          </p:cNvPr>
          <p:cNvSpPr txBox="1"/>
          <p:nvPr/>
        </p:nvSpPr>
        <p:spPr>
          <a:xfrm>
            <a:off x="1731815" y="5407962"/>
            <a:ext cx="67835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Effect of superstars is often exaggerated on online platforms;)</a:t>
            </a:r>
          </a:p>
        </p:txBody>
      </p:sp>
      <p:sp>
        <p:nvSpPr>
          <p:cNvPr id="2" name="Title 1">
            <a:extLst>
              <a:ext uri="{FF2B5EF4-FFF2-40B4-BE49-F238E27FC236}">
                <a16:creationId xmlns:a16="http://schemas.microsoft.com/office/drawing/2014/main" id="{A9C8FED6-AE7B-36E6-8379-65AAE52FDD14}"/>
              </a:ext>
            </a:extLst>
          </p:cNvPr>
          <p:cNvSpPr>
            <a:spLocks noGrp="1"/>
          </p:cNvSpPr>
          <p:nvPr>
            <p:ph type="title"/>
          </p:nvPr>
        </p:nvSpPr>
        <p:spPr>
          <a:xfrm>
            <a:off x="578546" y="365126"/>
            <a:ext cx="7886700" cy="1325563"/>
          </a:xfrm>
        </p:spPr>
        <p:txBody>
          <a:bodyPr>
            <a:normAutofit fontScale="90000"/>
          </a:bodyPr>
          <a:lstStyle/>
          <a:p>
            <a:r>
              <a:rPr lang="en-US" dirty="0"/>
              <a:t>Influential early adopters are not required to produce large cascades</a:t>
            </a:r>
          </a:p>
        </p:txBody>
      </p:sp>
    </p:spTree>
    <p:extLst>
      <p:ext uri="{BB962C8B-B14F-4D97-AF65-F5344CB8AC3E}">
        <p14:creationId xmlns:p14="http://schemas.microsoft.com/office/powerpoint/2010/main" val="3119625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5EFBC96-D4B4-747A-4A98-91896A1DA79F}"/>
              </a:ext>
            </a:extLst>
          </p:cNvPr>
          <p:cNvSpPr txBox="1"/>
          <p:nvPr/>
        </p:nvSpPr>
        <p:spPr>
          <a:xfrm>
            <a:off x="738971" y="6144158"/>
            <a:ext cx="79443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8B9"/>
                </a:solidFill>
                <a:effectLst/>
                <a:uLnTx/>
                <a:uFillTx/>
                <a:latin typeface="Adobe Devanagari" panose="02040503050201020203" pitchFamily="18" charset="0"/>
                <a:ea typeface="+mn-ea"/>
                <a:cs typeface="Adobe Devanagari" panose="02040503050201020203" pitchFamily="18" charset="0"/>
              </a:rPr>
              <a:t>Read this paper (helpful for HW2):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Weng et al. “Virality prediction and community structure in social networks,” </a:t>
            </a:r>
            <a:r>
              <a:rPr kumimoji="0" lang="en-US" sz="1400" b="0" i="1"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Scientific Reports</a:t>
            </a:r>
            <a:r>
              <a:rPr kumimoji="0" lang="en-US" sz="140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 2013</a:t>
            </a:r>
          </a:p>
        </p:txBody>
      </p:sp>
      <p:sp>
        <p:nvSpPr>
          <p:cNvPr id="2" name="TextBox 1">
            <a:extLst>
              <a:ext uri="{FF2B5EF4-FFF2-40B4-BE49-F238E27FC236}">
                <a16:creationId xmlns:a16="http://schemas.microsoft.com/office/drawing/2014/main" id="{4B4D2033-D1D8-B4AD-1BF3-8443754FF6A2}"/>
              </a:ext>
            </a:extLst>
          </p:cNvPr>
          <p:cNvSpPr txBox="1"/>
          <p:nvPr/>
        </p:nvSpPr>
        <p:spPr>
          <a:xfrm>
            <a:off x="728858" y="1329404"/>
            <a:ext cx="7751262" cy="24468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Basic network features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Number of early adopters</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Number of uninfected neighbors of early adopters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Community features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(structural):</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Number of infected communities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Entropy of initial posts (measure the strength of concentration)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Fraction of intra-community user interactions</a:t>
            </a:r>
          </a:p>
        </p:txBody>
      </p:sp>
      <p:pic>
        <p:nvPicPr>
          <p:cNvPr id="4" name="Picture 3">
            <a:extLst>
              <a:ext uri="{FF2B5EF4-FFF2-40B4-BE49-F238E27FC236}">
                <a16:creationId xmlns:a16="http://schemas.microsoft.com/office/drawing/2014/main" id="{40FE924D-F5E5-F49E-9153-EF159F4D7AD9}"/>
              </a:ext>
            </a:extLst>
          </p:cNvPr>
          <p:cNvPicPr>
            <a:picLocks noChangeAspect="1"/>
          </p:cNvPicPr>
          <p:nvPr/>
        </p:nvPicPr>
        <p:blipFill>
          <a:blip r:embed="rId3"/>
          <a:stretch>
            <a:fillRect/>
          </a:stretch>
        </p:blipFill>
        <p:spPr>
          <a:xfrm>
            <a:off x="1371165" y="3949032"/>
            <a:ext cx="5575300" cy="2022322"/>
          </a:xfrm>
          <a:prstGeom prst="rect">
            <a:avLst/>
          </a:prstGeom>
          <a:ln w="12700">
            <a:solidFill>
              <a:schemeClr val="tx1"/>
            </a:solidFill>
          </a:ln>
        </p:spPr>
      </p:pic>
      <p:sp>
        <p:nvSpPr>
          <p:cNvPr id="8" name="Title 1">
            <a:extLst>
              <a:ext uri="{FF2B5EF4-FFF2-40B4-BE49-F238E27FC236}">
                <a16:creationId xmlns:a16="http://schemas.microsoft.com/office/drawing/2014/main" id="{9A1DC5A0-3543-22DD-9087-12D61FA31986}"/>
              </a:ext>
            </a:extLst>
          </p:cNvPr>
          <p:cNvSpPr>
            <a:spLocks noGrp="1"/>
          </p:cNvSpPr>
          <p:nvPr>
            <p:ph type="title"/>
          </p:nvPr>
        </p:nvSpPr>
        <p:spPr>
          <a:xfrm>
            <a:off x="570955" y="223864"/>
            <a:ext cx="7886700" cy="1325563"/>
          </a:xfrm>
        </p:spPr>
        <p:txBody>
          <a:bodyPr/>
          <a:lstStyle/>
          <a:p>
            <a:r>
              <a:rPr lang="en-US" dirty="0"/>
              <a:t>Community structure matters</a:t>
            </a:r>
          </a:p>
        </p:txBody>
      </p:sp>
    </p:spTree>
    <p:extLst>
      <p:ext uri="{BB962C8B-B14F-4D97-AF65-F5344CB8AC3E}">
        <p14:creationId xmlns:p14="http://schemas.microsoft.com/office/powerpoint/2010/main" val="2293260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3942" y="1585033"/>
            <a:ext cx="7886700" cy="233910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Large cascades don’t depend on highly influential individuals. </a:t>
            </a: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Instead, they require a </a:t>
            </a:r>
            <a:r>
              <a:rPr kumimoji="0" lang="en-US" sz="2100" b="0" i="0" u="none" strike="noStrike" kern="1200" cap="none" spc="0" normalizeH="0" baseline="0" noProof="0" dirty="0">
                <a:ln>
                  <a:noFill/>
                </a:ln>
                <a:solidFill>
                  <a:srgbClr val="0096FF"/>
                </a:solidFill>
                <a:effectLst/>
                <a:uLnTx/>
                <a:uFillTx/>
                <a:latin typeface="Calibri" panose="020F0502020204030204"/>
                <a:ea typeface="+mn-ea"/>
                <a:cs typeface="+mn-cs"/>
              </a:rPr>
              <a:t>critical mass</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100" b="0" i="0" u="sng" strike="noStrike" kern="1200" cap="none" spc="0" normalizeH="0" baseline="0" noProof="0" dirty="0">
                <a:ln>
                  <a:noFill/>
                </a:ln>
                <a:solidFill>
                  <a:prstClr val="black"/>
                </a:solidFill>
                <a:effectLst/>
                <a:uLnTx/>
                <a:uFillTx/>
                <a:latin typeface="Calibri" panose="020F0502020204030204"/>
                <a:ea typeface="+mn-ea"/>
                <a:cs typeface="+mn-cs"/>
              </a:rPr>
              <a:t>no matter who</a:t>
            </a: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 of easily influenced people connected to other easy-to-influence people.</a:t>
            </a: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rPr>
              <a:t>The key to the spread of complex contagion is to find </a:t>
            </a:r>
            <a:r>
              <a:rPr kumimoji="0" lang="en-US" sz="2100" b="0" i="0" u="none" strike="noStrike" kern="1200" cap="none" spc="0" normalizeH="0" baseline="0" noProof="0" dirty="0">
                <a:ln>
                  <a:noFill/>
                </a:ln>
                <a:solidFill>
                  <a:srgbClr val="0096FF"/>
                </a:solidFill>
                <a:effectLst/>
                <a:uLnTx/>
                <a:uFillTx/>
                <a:latin typeface="Calibri" panose="020F0502020204030204"/>
                <a:ea typeface="+mn-ea"/>
                <a:cs typeface="+mn-cs"/>
              </a:rPr>
              <a:t>tightly connected groups of easily influenced adopters where social influence/reinforcement can flow effectively and efficiently.</a:t>
            </a:r>
          </a:p>
        </p:txBody>
      </p:sp>
      <p:sp>
        <p:nvSpPr>
          <p:cNvPr id="6" name="Title 1">
            <a:extLst>
              <a:ext uri="{FF2B5EF4-FFF2-40B4-BE49-F238E27FC236}">
                <a16:creationId xmlns:a16="http://schemas.microsoft.com/office/drawing/2014/main" id="{EEE646ED-7EF2-0681-AE9F-280E040BF611}"/>
              </a:ext>
            </a:extLst>
          </p:cNvPr>
          <p:cNvSpPr>
            <a:spLocks noGrp="1"/>
          </p:cNvSpPr>
          <p:nvPr>
            <p:ph type="title"/>
          </p:nvPr>
        </p:nvSpPr>
        <p:spPr>
          <a:xfrm>
            <a:off x="628650" y="365126"/>
            <a:ext cx="7886700" cy="1325563"/>
          </a:xfrm>
        </p:spPr>
        <p:txBody>
          <a:bodyPr/>
          <a:lstStyle/>
          <a:p>
            <a:r>
              <a:rPr lang="en-US" dirty="0"/>
              <a:t>Complex contagion &amp; Cascade</a:t>
            </a:r>
          </a:p>
        </p:txBody>
      </p:sp>
      <p:sp>
        <p:nvSpPr>
          <p:cNvPr id="2" name="TextBox 1">
            <a:extLst>
              <a:ext uri="{FF2B5EF4-FFF2-40B4-BE49-F238E27FC236}">
                <a16:creationId xmlns:a16="http://schemas.microsoft.com/office/drawing/2014/main" id="{30C619ED-DBF1-9A76-E21F-6635279AC64F}"/>
              </a:ext>
            </a:extLst>
          </p:cNvPr>
          <p:cNvSpPr txBox="1"/>
          <p:nvPr/>
        </p:nvSpPr>
        <p:spPr>
          <a:xfrm>
            <a:off x="672485" y="4028993"/>
            <a:ext cx="81402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Community structure can provide enough social influence needed to trigger a global cascade from the early adopters.</a:t>
            </a:r>
          </a:p>
        </p:txBody>
      </p:sp>
      <p:sp>
        <p:nvSpPr>
          <p:cNvPr id="5" name="TextBox 4">
            <a:extLst>
              <a:ext uri="{FF2B5EF4-FFF2-40B4-BE49-F238E27FC236}">
                <a16:creationId xmlns:a16="http://schemas.microsoft.com/office/drawing/2014/main" id="{F58B6877-DCB0-6A28-2CC9-93A351A360DB}"/>
              </a:ext>
            </a:extLst>
          </p:cNvPr>
          <p:cNvSpPr txBox="1"/>
          <p:nvPr/>
        </p:nvSpPr>
        <p:spPr>
          <a:xfrm>
            <a:off x="672484" y="5008006"/>
            <a:ext cx="8140211" cy="83099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Can social influence exist without a network?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Are there examples of cascades without a network?</a:t>
            </a:r>
          </a:p>
        </p:txBody>
      </p:sp>
    </p:spTree>
    <p:extLst>
      <p:ext uri="{BB962C8B-B14F-4D97-AF65-F5344CB8AC3E}">
        <p14:creationId xmlns:p14="http://schemas.microsoft.com/office/powerpoint/2010/main" val="206955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5424-F149-B12E-3E48-0F7BF4A90AC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5F4A6E8-C4D8-67B6-BBBB-6E90B488070D}"/>
              </a:ext>
            </a:extLst>
          </p:cNvPr>
          <p:cNvSpPr>
            <a:spLocks noGrp="1"/>
          </p:cNvSpPr>
          <p:nvPr>
            <p:ph type="title"/>
          </p:nvPr>
        </p:nvSpPr>
        <p:spPr>
          <a:xfrm>
            <a:off x="628650" y="422243"/>
            <a:ext cx="7886700" cy="994172"/>
          </a:xfrm>
        </p:spPr>
        <p:txBody>
          <a:bodyPr>
            <a:normAutofit/>
          </a:bodyPr>
          <a:lstStyle/>
          <a:p>
            <a:r>
              <a:rPr lang="en-US" b="0" dirty="0"/>
              <a:t>Social Influence w/o network</a:t>
            </a:r>
            <a:endParaRPr lang="en-US" b="0" i="1" dirty="0"/>
          </a:p>
        </p:txBody>
      </p:sp>
      <p:sp>
        <p:nvSpPr>
          <p:cNvPr id="6" name="Content Placeholder 5">
            <a:extLst>
              <a:ext uri="{FF2B5EF4-FFF2-40B4-BE49-F238E27FC236}">
                <a16:creationId xmlns:a16="http://schemas.microsoft.com/office/drawing/2014/main" id="{AAA2851B-9BE6-C655-3126-C2369ACBE70E}"/>
              </a:ext>
            </a:extLst>
          </p:cNvPr>
          <p:cNvSpPr>
            <a:spLocks noGrp="1"/>
          </p:cNvSpPr>
          <p:nvPr>
            <p:ph idx="1"/>
          </p:nvPr>
        </p:nvSpPr>
        <p:spPr>
          <a:xfrm>
            <a:off x="628649" y="1825625"/>
            <a:ext cx="8270421" cy="4351338"/>
          </a:xfrm>
        </p:spPr>
        <p:txBody>
          <a:bodyPr/>
          <a:lstStyle/>
          <a:p>
            <a:r>
              <a:rPr lang="en-US" dirty="0"/>
              <a:t>Does social inﬂuence affect group decision-making processes, such as online event scheduling (Doodle)?</a:t>
            </a:r>
          </a:p>
          <a:p>
            <a:r>
              <a:rPr lang="en-US" dirty="0"/>
              <a:t>If so, who has a larger inﬂuence on the outcome of a poll: </a:t>
            </a:r>
            <a:r>
              <a:rPr lang="en-US" dirty="0">
                <a:solidFill>
                  <a:srgbClr val="C00000"/>
                </a:solidFill>
              </a:rPr>
              <a:t>early respondents vs. late respondents</a:t>
            </a:r>
            <a:r>
              <a:rPr lang="en-US" dirty="0"/>
              <a:t>?</a:t>
            </a:r>
          </a:p>
        </p:txBody>
      </p:sp>
      <p:pic>
        <p:nvPicPr>
          <p:cNvPr id="12" name="Picture 11" descr="A screenshot of a calendar&#10;&#10;AI-generated content may be incorrect.">
            <a:extLst>
              <a:ext uri="{FF2B5EF4-FFF2-40B4-BE49-F238E27FC236}">
                <a16:creationId xmlns:a16="http://schemas.microsoft.com/office/drawing/2014/main" id="{9CAC1C99-C7F8-7602-FCB8-3C8A3E8E21B0}"/>
              </a:ext>
            </a:extLst>
          </p:cNvPr>
          <p:cNvPicPr>
            <a:picLocks noChangeAspect="1"/>
          </p:cNvPicPr>
          <p:nvPr/>
        </p:nvPicPr>
        <p:blipFill>
          <a:blip r:embed="rId3"/>
          <a:stretch>
            <a:fillRect/>
          </a:stretch>
        </p:blipFill>
        <p:spPr>
          <a:xfrm>
            <a:off x="1734458" y="4001294"/>
            <a:ext cx="4992914" cy="2027509"/>
          </a:xfrm>
          <a:prstGeom prst="rect">
            <a:avLst/>
          </a:prstGeom>
        </p:spPr>
      </p:pic>
    </p:spTree>
    <p:extLst>
      <p:ext uri="{BB962C8B-B14F-4D97-AF65-F5344CB8AC3E}">
        <p14:creationId xmlns:p14="http://schemas.microsoft.com/office/powerpoint/2010/main" val="882826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82D0-ECCE-8627-7FFD-2DF3C576C4D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5916EAE-3459-EA93-794C-B5E9854FAC96}"/>
              </a:ext>
            </a:extLst>
          </p:cNvPr>
          <p:cNvSpPr>
            <a:spLocks noGrp="1"/>
          </p:cNvSpPr>
          <p:nvPr>
            <p:ph type="title"/>
          </p:nvPr>
        </p:nvSpPr>
        <p:spPr>
          <a:xfrm>
            <a:off x="628650" y="422243"/>
            <a:ext cx="7886700" cy="994172"/>
          </a:xfrm>
        </p:spPr>
        <p:txBody>
          <a:bodyPr>
            <a:normAutofit/>
          </a:bodyPr>
          <a:lstStyle/>
          <a:p>
            <a:r>
              <a:rPr lang="en-US" b="0" dirty="0"/>
              <a:t>Social Influence w/o network</a:t>
            </a:r>
            <a:endParaRPr lang="en-US" b="0" i="1" dirty="0"/>
          </a:p>
        </p:txBody>
      </p:sp>
      <p:sp>
        <p:nvSpPr>
          <p:cNvPr id="6" name="Content Placeholder 5">
            <a:extLst>
              <a:ext uri="{FF2B5EF4-FFF2-40B4-BE49-F238E27FC236}">
                <a16:creationId xmlns:a16="http://schemas.microsoft.com/office/drawing/2014/main" id="{234F1973-A375-F70F-9647-419A4BA03201}"/>
              </a:ext>
            </a:extLst>
          </p:cNvPr>
          <p:cNvSpPr>
            <a:spLocks noGrp="1"/>
          </p:cNvSpPr>
          <p:nvPr>
            <p:ph idx="1"/>
          </p:nvPr>
        </p:nvSpPr>
        <p:spPr>
          <a:xfrm>
            <a:off x="628650" y="1629683"/>
            <a:ext cx="7886700" cy="4351338"/>
          </a:xfrm>
        </p:spPr>
        <p:txBody>
          <a:bodyPr/>
          <a:lstStyle/>
          <a:p>
            <a:r>
              <a:rPr lang="en-US" dirty="0"/>
              <a:t>Open polls have a higher success rate of scheduling than hidden polls. </a:t>
            </a:r>
            <a:r>
              <a:rPr lang="en-US" dirty="0">
                <a:solidFill>
                  <a:srgbClr val="C00000"/>
                </a:solidFill>
              </a:rPr>
              <a:t>Why is this?</a:t>
            </a:r>
          </a:p>
          <a:p>
            <a:r>
              <a:rPr lang="en-US" dirty="0">
                <a:solidFill>
                  <a:srgbClr val="C00000"/>
                </a:solidFill>
              </a:rPr>
              <a:t>But is social influence always good in this context?</a:t>
            </a:r>
          </a:p>
        </p:txBody>
      </p:sp>
      <p:pic>
        <p:nvPicPr>
          <p:cNvPr id="3" name="Picture 2" descr="A graph of a number of individuals&#10;&#10;AI-generated content may be incorrect.">
            <a:extLst>
              <a:ext uri="{FF2B5EF4-FFF2-40B4-BE49-F238E27FC236}">
                <a16:creationId xmlns:a16="http://schemas.microsoft.com/office/drawing/2014/main" id="{6BCD73FB-0380-3F7B-EF57-D354CEC42C10}"/>
              </a:ext>
            </a:extLst>
          </p:cNvPr>
          <p:cNvPicPr>
            <a:picLocks noChangeAspect="1"/>
          </p:cNvPicPr>
          <p:nvPr/>
        </p:nvPicPr>
        <p:blipFill>
          <a:blip r:embed="rId3"/>
          <a:stretch>
            <a:fillRect/>
          </a:stretch>
        </p:blipFill>
        <p:spPr>
          <a:xfrm>
            <a:off x="1778907" y="3387589"/>
            <a:ext cx="4279900" cy="2806700"/>
          </a:xfrm>
          <a:prstGeom prst="rect">
            <a:avLst/>
          </a:prstGeom>
        </p:spPr>
      </p:pic>
    </p:spTree>
    <p:extLst>
      <p:ext uri="{BB962C8B-B14F-4D97-AF65-F5344CB8AC3E}">
        <p14:creationId xmlns:p14="http://schemas.microsoft.com/office/powerpoint/2010/main" val="1235623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9B1E7-B515-2469-24CF-105A7A46652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782E48-391D-C67F-B0B5-5A523EE34DAF}"/>
              </a:ext>
            </a:extLst>
          </p:cNvPr>
          <p:cNvSpPr>
            <a:spLocks noGrp="1"/>
          </p:cNvSpPr>
          <p:nvPr>
            <p:ph type="title"/>
          </p:nvPr>
        </p:nvSpPr>
        <p:spPr>
          <a:xfrm>
            <a:off x="628650" y="422243"/>
            <a:ext cx="7886700" cy="994172"/>
          </a:xfrm>
        </p:spPr>
        <p:txBody>
          <a:bodyPr>
            <a:normAutofit/>
          </a:bodyPr>
          <a:lstStyle/>
          <a:p>
            <a:r>
              <a:rPr lang="en-US" b="0" dirty="0"/>
              <a:t>Influence: double-edged sword</a:t>
            </a:r>
            <a:endParaRPr lang="en-US" b="0" i="1" dirty="0"/>
          </a:p>
        </p:txBody>
      </p:sp>
      <p:sp>
        <p:nvSpPr>
          <p:cNvPr id="6" name="Content Placeholder 5">
            <a:extLst>
              <a:ext uri="{FF2B5EF4-FFF2-40B4-BE49-F238E27FC236}">
                <a16:creationId xmlns:a16="http://schemas.microsoft.com/office/drawing/2014/main" id="{85C55796-A5F9-311A-615D-5B91241E9A37}"/>
              </a:ext>
            </a:extLst>
          </p:cNvPr>
          <p:cNvSpPr>
            <a:spLocks noGrp="1"/>
          </p:cNvSpPr>
          <p:nvPr>
            <p:ph idx="1"/>
          </p:nvPr>
        </p:nvSpPr>
        <p:spPr>
          <a:xfrm>
            <a:off x="628650" y="1436228"/>
            <a:ext cx="7886700" cy="5238891"/>
          </a:xfrm>
        </p:spPr>
        <p:txBody>
          <a:bodyPr>
            <a:normAutofit lnSpcReduction="10000"/>
          </a:bodyPr>
          <a:lstStyle/>
          <a:p>
            <a:r>
              <a:rPr lang="en-US" dirty="0"/>
              <a:t>The availability (behavior) of early respondents has a bigger impact on success than late ones.</a:t>
            </a:r>
          </a:p>
          <a:p>
            <a:r>
              <a:rPr lang="en-US" dirty="0">
                <a:solidFill>
                  <a:srgbClr val="0078B9"/>
                </a:solidFill>
              </a:rPr>
              <a:t>Influence is beneficial if early people show high availability; but can be bad if they show low avail.</a:t>
            </a:r>
          </a:p>
          <a:p>
            <a:pPr marL="0" indent="0">
              <a:buNone/>
            </a:pPr>
            <a:endParaRPr lang="en-US" dirty="0">
              <a:solidFill>
                <a:srgbClr val="0078B9"/>
              </a:solidFill>
            </a:endParaRPr>
          </a:p>
          <a:p>
            <a:pPr marL="0" indent="0">
              <a:buNone/>
            </a:pPr>
            <a:endParaRPr lang="en-US" dirty="0">
              <a:solidFill>
                <a:srgbClr val="0078B9"/>
              </a:solidFill>
            </a:endParaRPr>
          </a:p>
          <a:p>
            <a:pPr marL="0" indent="0">
              <a:buNone/>
            </a:pPr>
            <a:endParaRPr lang="en-US" dirty="0">
              <a:solidFill>
                <a:srgbClr val="0078B9"/>
              </a:solidFill>
            </a:endParaRPr>
          </a:p>
          <a:p>
            <a:pPr marL="0" indent="0">
              <a:buNone/>
            </a:pPr>
            <a:endParaRPr lang="en-US" dirty="0">
              <a:solidFill>
                <a:srgbClr val="0078B9"/>
              </a:solidFill>
            </a:endParaRPr>
          </a:p>
          <a:p>
            <a:pPr marL="0" indent="0">
              <a:buNone/>
            </a:pPr>
            <a:endParaRPr lang="en-US" dirty="0">
              <a:solidFill>
                <a:srgbClr val="0078B9"/>
              </a:solidFill>
            </a:endParaRPr>
          </a:p>
          <a:p>
            <a:pPr marL="0" indent="0">
              <a:buNone/>
            </a:pPr>
            <a:endParaRPr lang="en-US" dirty="0">
              <a:solidFill>
                <a:srgbClr val="0078B9"/>
              </a:solidFill>
            </a:endParaRPr>
          </a:p>
          <a:p>
            <a:r>
              <a:rPr lang="en-US" dirty="0">
                <a:solidFill>
                  <a:srgbClr val="C00000"/>
                </a:solidFill>
              </a:rPr>
              <a:t>What strategy can further boost success rate?</a:t>
            </a:r>
          </a:p>
          <a:p>
            <a:endParaRPr lang="en-US" dirty="0"/>
          </a:p>
          <a:p>
            <a:endParaRPr lang="en-US" dirty="0"/>
          </a:p>
        </p:txBody>
      </p:sp>
      <p:pic>
        <p:nvPicPr>
          <p:cNvPr id="5" name="Picture 4" descr="A graph of results and a graph of results&#10;&#10;AI-generated content may be incorrect.">
            <a:extLst>
              <a:ext uri="{FF2B5EF4-FFF2-40B4-BE49-F238E27FC236}">
                <a16:creationId xmlns:a16="http://schemas.microsoft.com/office/drawing/2014/main" id="{E9B14AC3-CC83-D3C7-44EF-F0191F296F5E}"/>
              </a:ext>
            </a:extLst>
          </p:cNvPr>
          <p:cNvPicPr>
            <a:picLocks noChangeAspect="1"/>
          </p:cNvPicPr>
          <p:nvPr/>
        </p:nvPicPr>
        <p:blipFill>
          <a:blip r:embed="rId3"/>
          <a:stretch>
            <a:fillRect/>
          </a:stretch>
        </p:blipFill>
        <p:spPr>
          <a:xfrm>
            <a:off x="842010" y="3269203"/>
            <a:ext cx="6811219" cy="2289729"/>
          </a:xfrm>
          <a:prstGeom prst="rect">
            <a:avLst/>
          </a:prstGeom>
        </p:spPr>
      </p:pic>
    </p:spTree>
    <p:extLst>
      <p:ext uri="{BB962C8B-B14F-4D97-AF65-F5344CB8AC3E}">
        <p14:creationId xmlns:p14="http://schemas.microsoft.com/office/powerpoint/2010/main" val="412586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C210F-B428-578E-8645-C8EC8EC590B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BE6ED50-D334-8537-88D2-C7F50E999A46}"/>
              </a:ext>
            </a:extLst>
          </p:cNvPr>
          <p:cNvSpPr>
            <a:spLocks noGrp="1"/>
          </p:cNvSpPr>
          <p:nvPr>
            <p:ph type="title"/>
          </p:nvPr>
        </p:nvSpPr>
        <p:spPr>
          <a:xfrm>
            <a:off x="628650" y="422243"/>
            <a:ext cx="7886700" cy="994172"/>
          </a:xfrm>
        </p:spPr>
        <p:txBody>
          <a:bodyPr>
            <a:normAutofit/>
          </a:bodyPr>
          <a:lstStyle/>
          <a:p>
            <a:r>
              <a:rPr lang="en-US" b="0" dirty="0"/>
              <a:t>Mitigation strategy</a:t>
            </a:r>
            <a:endParaRPr lang="en-US" b="0" i="1" dirty="0"/>
          </a:p>
        </p:txBody>
      </p:sp>
      <p:sp>
        <p:nvSpPr>
          <p:cNvPr id="6" name="Content Placeholder 5">
            <a:extLst>
              <a:ext uri="{FF2B5EF4-FFF2-40B4-BE49-F238E27FC236}">
                <a16:creationId xmlns:a16="http://schemas.microsoft.com/office/drawing/2014/main" id="{D07B7C1E-F1E0-476F-D29B-61DC9E6C3FDA}"/>
              </a:ext>
            </a:extLst>
          </p:cNvPr>
          <p:cNvSpPr>
            <a:spLocks noGrp="1"/>
          </p:cNvSpPr>
          <p:nvPr>
            <p:ph idx="1"/>
          </p:nvPr>
        </p:nvSpPr>
        <p:spPr>
          <a:xfrm>
            <a:off x="628649" y="1436229"/>
            <a:ext cx="8156121" cy="4351338"/>
          </a:xfrm>
        </p:spPr>
        <p:txBody>
          <a:bodyPr>
            <a:normAutofit fontScale="92500" lnSpcReduction="10000"/>
          </a:bodyPr>
          <a:lstStyle/>
          <a:p>
            <a:r>
              <a:rPr lang="en-US" dirty="0">
                <a:solidFill>
                  <a:srgbClr val="0078B9"/>
                </a:solidFill>
              </a:rPr>
              <a:t>Hiding early respondents vs. </a:t>
            </a:r>
            <a:r>
              <a:rPr lang="en-US" dirty="0">
                <a:solidFill>
                  <a:srgbClr val="C00000"/>
                </a:solidFill>
              </a:rPr>
              <a:t>hiding low avail. ones?</a:t>
            </a:r>
          </a:p>
          <a:p>
            <a:r>
              <a:rPr lang="en-US" dirty="0"/>
              <a:t>Using agent-based modeling (ABM):</a:t>
            </a:r>
          </a:p>
          <a:p>
            <a:pPr lvl="1"/>
            <a:r>
              <a:rPr lang="en-US" dirty="0"/>
              <a:t>Agent decision: </a:t>
            </a:r>
            <a:r>
              <a:rPr lang="el-GR" i="1" dirty="0"/>
              <a:t>α</a:t>
            </a:r>
            <a:r>
              <a:rPr lang="en-US" dirty="0"/>
              <a:t> * prev. </a:t>
            </a:r>
            <a:r>
              <a:rPr lang="en-US" i="1" dirty="0"/>
              <a:t>k</a:t>
            </a:r>
            <a:r>
              <a:rPr lang="en-US" dirty="0"/>
              <a:t> users’ + (1-</a:t>
            </a:r>
            <a:r>
              <a:rPr lang="el-GR" i="1" dirty="0"/>
              <a:t>α</a:t>
            </a:r>
            <a:r>
              <a:rPr lang="en-US" dirty="0"/>
              <a:t>) * her own decision</a:t>
            </a:r>
          </a:p>
          <a:p>
            <a:pPr lvl="1"/>
            <a:r>
              <a:rPr lang="en-US" dirty="0"/>
              <a:t>Strategy 1: Hide the ﬁrst </a:t>
            </a:r>
            <a:r>
              <a:rPr lang="en-US" i="1" dirty="0"/>
              <a:t>E </a:t>
            </a:r>
            <a:r>
              <a:rPr lang="en-US" dirty="0"/>
              <a:t>users’ decision</a:t>
            </a:r>
          </a:p>
          <a:p>
            <a:pPr lvl="1"/>
            <a:r>
              <a:rPr lang="en-US" dirty="0"/>
              <a:t>Strategy 2: Hide users whose availability &lt; </a:t>
            </a:r>
            <a:r>
              <a:rPr lang="el-GR" i="1" dirty="0"/>
              <a:t>τ</a:t>
            </a:r>
            <a:endParaRPr lang="en-US" dirty="0"/>
          </a:p>
          <a:p>
            <a:r>
              <a:rPr lang="en-US" b="1" dirty="0"/>
              <a:t>Strategy 2 is better</a:t>
            </a:r>
            <a:r>
              <a:rPr lang="en-US" dirty="0"/>
              <a:t>: one can eliminate negative effect of social inﬂuence by hiding low availability responses from just &lt;5% of all respondents.</a:t>
            </a:r>
          </a:p>
          <a:p>
            <a:r>
              <a:rPr lang="en-US" b="1" dirty="0"/>
              <a:t>Extra finding</a:t>
            </a:r>
            <a:r>
              <a:rPr lang="en-US" dirty="0"/>
              <a:t>: one can optimize success rate through the positive effect of social inﬂuence </a:t>
            </a:r>
            <a:r>
              <a:rPr lang="en-US" dirty="0">
                <a:solidFill>
                  <a:srgbClr val="0078B9"/>
                </a:solidFill>
              </a:rPr>
              <a:t>by hiding ~35%-65% of low availability responses</a:t>
            </a:r>
            <a:r>
              <a:rPr lang="en-US" dirty="0"/>
              <a:t>.</a:t>
            </a:r>
          </a:p>
          <a:p>
            <a:endParaRPr lang="en-US" dirty="0"/>
          </a:p>
          <a:p>
            <a:endParaRPr lang="en-US" dirty="0"/>
          </a:p>
        </p:txBody>
      </p:sp>
      <p:sp>
        <p:nvSpPr>
          <p:cNvPr id="2" name="TextBox 1">
            <a:extLst>
              <a:ext uri="{FF2B5EF4-FFF2-40B4-BE49-F238E27FC236}">
                <a16:creationId xmlns:a16="http://schemas.microsoft.com/office/drawing/2014/main" id="{77E563AD-7D69-A2FB-92A8-B9B73BA4F3E3}"/>
              </a:ext>
            </a:extLst>
          </p:cNvPr>
          <p:cNvSpPr txBox="1"/>
          <p:nvPr/>
        </p:nvSpPr>
        <p:spPr>
          <a:xfrm>
            <a:off x="530677" y="5897879"/>
            <a:ext cx="8515350" cy="300082"/>
          </a:xfrm>
          <a:prstGeom prst="rect">
            <a:avLst/>
          </a:prstGeom>
          <a:noFill/>
        </p:spPr>
        <p:txBody>
          <a:bodyPr wrap="square" rtlCol="0">
            <a:spAutoFit/>
          </a:bodyPr>
          <a:lstStyle/>
          <a:p>
            <a:pPr lvl="0">
              <a:defRPr/>
            </a:pP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Romero et al</a:t>
            </a:r>
            <a:r>
              <a:rPr lang="en-US" sz="1350" dirty="0">
                <a:solidFill>
                  <a:prstClr val="white">
                    <a:lumMod val="50000"/>
                  </a:prstClr>
                </a:solidFill>
                <a:latin typeface="Adobe Devanagari" panose="02040503050201020203" pitchFamily="18" charset="0"/>
                <a:cs typeface="Adobe Devanagari" panose="02040503050201020203" pitchFamily="18" charset="0"/>
              </a:rPr>
              <a:t>. “Inﬂuence of Early Respondents: Information Cascade Effects in Online Event Scheduling.” </a:t>
            </a:r>
            <a:r>
              <a:rPr kumimoji="0" lang="en-US" sz="1350" b="0" i="1"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WSDM</a:t>
            </a:r>
            <a:r>
              <a:rPr kumimoji="0" lang="en-US" sz="1350" b="0" i="0" u="none" strike="noStrike" kern="1200" cap="none" spc="0" normalizeH="0" baseline="0" noProof="0" dirty="0">
                <a:ln>
                  <a:noFill/>
                </a:ln>
                <a:solidFill>
                  <a:prstClr val="white">
                    <a:lumMod val="50000"/>
                  </a:prstClr>
                </a:solidFill>
                <a:effectLst/>
                <a:uLnTx/>
                <a:uFillTx/>
                <a:latin typeface="Adobe Devanagari" panose="02040503050201020203" pitchFamily="18" charset="0"/>
                <a:ea typeface="+mn-ea"/>
                <a:cs typeface="Adobe Devanagari" panose="02040503050201020203" pitchFamily="18" charset="0"/>
              </a:rPr>
              <a:t>, 2017</a:t>
            </a:r>
          </a:p>
        </p:txBody>
      </p:sp>
    </p:spTree>
    <p:extLst>
      <p:ext uri="{BB962C8B-B14F-4D97-AF65-F5344CB8AC3E}">
        <p14:creationId xmlns:p14="http://schemas.microsoft.com/office/powerpoint/2010/main" val="3537513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FB86EBA-A005-0E17-7EC8-8B9FCC142553}"/>
              </a:ext>
            </a:extLst>
          </p:cNvPr>
          <p:cNvSpPr>
            <a:spLocks noGrp="1"/>
          </p:cNvSpPr>
          <p:nvPr>
            <p:ph type="title"/>
          </p:nvPr>
        </p:nvSpPr>
        <p:spPr>
          <a:xfrm>
            <a:off x="628650" y="365126"/>
            <a:ext cx="7886700" cy="1325563"/>
          </a:xfrm>
        </p:spPr>
        <p:txBody>
          <a:bodyPr/>
          <a:lstStyle/>
          <a:p>
            <a:r>
              <a:rPr lang="en-US" b="0" dirty="0"/>
              <a:t>Course notes</a:t>
            </a:r>
          </a:p>
        </p:txBody>
      </p:sp>
      <p:sp>
        <p:nvSpPr>
          <p:cNvPr id="4" name="Content Placeholder 2">
            <a:extLst>
              <a:ext uri="{FF2B5EF4-FFF2-40B4-BE49-F238E27FC236}">
                <a16:creationId xmlns:a16="http://schemas.microsoft.com/office/drawing/2014/main" id="{AA978717-5A6B-4A08-A1BC-E854F83FB8F1}"/>
              </a:ext>
            </a:extLst>
          </p:cNvPr>
          <p:cNvSpPr>
            <a:spLocks noGrp="1"/>
          </p:cNvSpPr>
          <p:nvPr>
            <p:ph idx="1"/>
          </p:nvPr>
        </p:nvSpPr>
        <p:spPr>
          <a:xfrm>
            <a:off x="628650" y="1690689"/>
            <a:ext cx="7886700" cy="4351338"/>
          </a:xfrm>
        </p:spPr>
        <p:txBody>
          <a:bodyPr>
            <a:normAutofit/>
          </a:bodyPr>
          <a:lstStyle/>
          <a:p>
            <a:r>
              <a:rPr lang="en-US" dirty="0"/>
              <a:t>HW2 will be released this week</a:t>
            </a:r>
          </a:p>
          <a:p>
            <a:pPr lvl="1"/>
            <a:r>
              <a:rPr lang="en-US" dirty="0"/>
              <a:t>Due in two weeks</a:t>
            </a:r>
          </a:p>
          <a:p>
            <a:r>
              <a:rPr lang="en-US" dirty="0"/>
              <a:t>Network visualization </a:t>
            </a:r>
            <a:r>
              <a:rPr lang="en-US" altLang="zh-CN" dirty="0"/>
              <a:t>next</a:t>
            </a:r>
            <a:r>
              <a:rPr lang="zh-CN" altLang="en-US" dirty="0"/>
              <a:t> </a:t>
            </a:r>
            <a:r>
              <a:rPr lang="en-US" altLang="zh-CN" dirty="0"/>
              <a:t>wee</a:t>
            </a:r>
            <a:r>
              <a:rPr lang="en-US" dirty="0"/>
              <a:t>k</a:t>
            </a:r>
          </a:p>
          <a:p>
            <a:r>
              <a:rPr lang="en-US" dirty="0"/>
              <a:t>Tutorial 5: </a:t>
            </a:r>
            <a:r>
              <a:rPr lang="en-US" dirty="0">
                <a:solidFill>
                  <a:srgbClr val="0078B9"/>
                </a:solidFill>
              </a:rPr>
              <a:t>Link prediction</a:t>
            </a:r>
            <a:r>
              <a:rPr lang="en-US" dirty="0"/>
              <a:t> (in practice)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B9C725-0EA3-C195-67DA-846A9B910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ABB6A-2453-0A78-8E84-CC63EC260A40}"/>
              </a:ext>
            </a:extLst>
          </p:cNvPr>
          <p:cNvSpPr>
            <a:spLocks noGrp="1"/>
          </p:cNvSpPr>
          <p:nvPr>
            <p:ph type="title"/>
          </p:nvPr>
        </p:nvSpPr>
        <p:spPr>
          <a:xfrm>
            <a:off x="628649" y="365126"/>
            <a:ext cx="8127043" cy="1325563"/>
          </a:xfrm>
        </p:spPr>
        <p:txBody>
          <a:bodyPr/>
          <a:lstStyle/>
          <a:p>
            <a:r>
              <a:rPr lang="en-US" altLang="zh-CN" dirty="0"/>
              <a:t>LOQ course evaluation survey</a:t>
            </a:r>
            <a:endParaRPr lang="en-US" dirty="0"/>
          </a:p>
        </p:txBody>
      </p:sp>
      <p:sp>
        <p:nvSpPr>
          <p:cNvPr id="3" name="Content Placeholder 2">
            <a:extLst>
              <a:ext uri="{FF2B5EF4-FFF2-40B4-BE49-F238E27FC236}">
                <a16:creationId xmlns:a16="http://schemas.microsoft.com/office/drawing/2014/main" id="{F367368E-4EA6-A1EA-7367-5F5C2742F9F2}"/>
              </a:ext>
            </a:extLst>
          </p:cNvPr>
          <p:cNvSpPr>
            <a:spLocks noGrp="1"/>
          </p:cNvSpPr>
          <p:nvPr>
            <p:ph idx="1"/>
          </p:nvPr>
        </p:nvSpPr>
        <p:spPr>
          <a:xfrm>
            <a:off x="714025" y="1513616"/>
            <a:ext cx="7886700" cy="5087940"/>
          </a:xfrm>
        </p:spPr>
        <p:txBody>
          <a:bodyPr>
            <a:normAutofit/>
          </a:bodyPr>
          <a:lstStyle/>
          <a:p>
            <a:r>
              <a:rPr lang="en-US" sz="2400" dirty="0"/>
              <a:t>Appreciate your insightful feedback!</a:t>
            </a:r>
          </a:p>
          <a:p>
            <a:r>
              <a:rPr lang="en-US" sz="2400" dirty="0"/>
              <a:t>LOQ system: </a:t>
            </a:r>
            <a:r>
              <a:rPr lang="en-US" sz="2400" dirty="0">
                <a:hlinkClick r:id="rId3"/>
              </a:rPr>
              <a:t>https://onlinesurvey.cityu.edu.hk/</a:t>
            </a:r>
            <a:endParaRPr lang="en-US" sz="2400" dirty="0"/>
          </a:p>
          <a:p>
            <a:r>
              <a:rPr lang="en-US" sz="2400" dirty="0"/>
              <a:t>Also available on Canvas course site.</a:t>
            </a:r>
          </a:p>
          <a:p>
            <a:endParaRPr lang="en-US" sz="2400" dirty="0"/>
          </a:p>
        </p:txBody>
      </p:sp>
      <p:pic>
        <p:nvPicPr>
          <p:cNvPr id="1026" name="Picture 2">
            <a:extLst>
              <a:ext uri="{FF2B5EF4-FFF2-40B4-BE49-F238E27FC236}">
                <a16:creationId xmlns:a16="http://schemas.microsoft.com/office/drawing/2014/main" id="{07238D77-8514-A190-8D8D-03B0118467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688" y="2924908"/>
            <a:ext cx="3270250" cy="327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29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hang" id="{16B57925-4BF1-1F47-9CC9-F9B8FF84AD2B}" vid="{9FDA24BC-AEBA-8448-BDDE-8ACFED39388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11801</TotalTime>
  <Words>2327</Words>
  <Application>Microsoft Macintosh PowerPoint</Application>
  <PresentationFormat>On-screen Show (4:3)</PresentationFormat>
  <Paragraphs>280</Paragraphs>
  <Slides>34</Slides>
  <Notes>29</Notes>
  <HiddenSlides>3</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34</vt:i4>
      </vt:variant>
    </vt:vector>
  </HeadingPairs>
  <TitlesOfParts>
    <vt:vector size="45" baseType="lpstr">
      <vt:lpstr>Adobe Devanagari</vt:lpstr>
      <vt:lpstr>LM Sans 12</vt:lpstr>
      <vt:lpstr>Abadi MT Condensed Extra Bold</vt:lpstr>
      <vt:lpstr>Abadi MT Condensed Light</vt:lpstr>
      <vt:lpstr>Arial</vt:lpstr>
      <vt:lpstr>Calibri</vt:lpstr>
      <vt:lpstr>Courier New</vt:lpstr>
      <vt:lpstr>Wingdings</vt:lpstr>
      <vt:lpstr>Office Theme</vt:lpstr>
      <vt:lpstr>1_Office Theme</vt:lpstr>
      <vt:lpstr>2_Office Theme</vt:lpstr>
      <vt:lpstr>DSC3013 Intro. to Social Media Analytics (Lec. 9)</vt:lpstr>
      <vt:lpstr>Topics for this week</vt:lpstr>
      <vt:lpstr>Community structure</vt:lpstr>
      <vt:lpstr>Scientific collaboration networks</vt:lpstr>
      <vt:lpstr>Networks in Game of Thrones</vt:lpstr>
      <vt:lpstr>Community detection</vt:lpstr>
      <vt:lpstr>Hierarchical clustering approach</vt:lpstr>
      <vt:lpstr>The Newman-Girvan algorithm</vt:lpstr>
      <vt:lpstr>The Newman-Girvan algorithm</vt:lpstr>
      <vt:lpstr>Network modularity (Q)</vt:lpstr>
      <vt:lpstr>PowerPoint Presentation</vt:lpstr>
      <vt:lpstr>Node2vec algorithm</vt:lpstr>
      <vt:lpstr>Perspective from Links</vt:lpstr>
      <vt:lpstr>Community detection based on links</vt:lpstr>
      <vt:lpstr>Viral marketing / information diffusion</vt:lpstr>
      <vt:lpstr>Simple vs. complex contagion</vt:lpstr>
      <vt:lpstr>Simple vs. complex contagion</vt:lpstr>
      <vt:lpstr>Agent-based modeling</vt:lpstr>
      <vt:lpstr>Complex contagion illustration</vt:lpstr>
      <vt:lpstr>Global cascade</vt:lpstr>
      <vt:lpstr>Community structure impacts cascade size more than seed nodes do!</vt:lpstr>
      <vt:lpstr>Optimal modularity for global cascade</vt:lpstr>
      <vt:lpstr>Optimal modularity for global cascade</vt:lpstr>
      <vt:lpstr>Optimal modularity for global cascade</vt:lpstr>
      <vt:lpstr>Virality prediction</vt:lpstr>
      <vt:lpstr>Influential early adopters are not required to produce large cascades</vt:lpstr>
      <vt:lpstr>Community structure matters</vt:lpstr>
      <vt:lpstr>Complex contagion &amp; Cascade</vt:lpstr>
      <vt:lpstr>Social Influence w/o network</vt:lpstr>
      <vt:lpstr>Social Influence w/o network</vt:lpstr>
      <vt:lpstr>Influence: double-edged sword</vt:lpstr>
      <vt:lpstr>Mitigation strategy</vt:lpstr>
      <vt:lpstr>Course notes</vt:lpstr>
      <vt:lpstr>LOQ course evaluation survey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SEEM4112 Computing Methods in Data Analytics 1. Introduction</dc:title>
  <dc:creator>Q Z</dc:creator>
  <cp:lastModifiedBy>Hao PENG</cp:lastModifiedBy>
  <cp:revision>378</cp:revision>
  <dcterms:created xsi:type="dcterms:W3CDTF">2019-01-16T16:49:18Z</dcterms:created>
  <dcterms:modified xsi:type="dcterms:W3CDTF">2026-10-26T13:32:57Z</dcterms:modified>
</cp:coreProperties>
</file>