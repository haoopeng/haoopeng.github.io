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91" r:id="rId3"/>
    <p:sldMasterId id="2147483703" r:id="rId4"/>
  </p:sldMasterIdLst>
  <p:notesMasterIdLst>
    <p:notesMasterId r:id="rId70"/>
  </p:notesMasterIdLst>
  <p:sldIdLst>
    <p:sldId id="602" r:id="rId5"/>
    <p:sldId id="633" r:id="rId6"/>
    <p:sldId id="634" r:id="rId7"/>
    <p:sldId id="256" r:id="rId8"/>
    <p:sldId id="627" r:id="rId9"/>
    <p:sldId id="617" r:id="rId10"/>
    <p:sldId id="635" r:id="rId11"/>
    <p:sldId id="269" r:id="rId12"/>
    <p:sldId id="589" r:id="rId13"/>
    <p:sldId id="380" r:id="rId14"/>
    <p:sldId id="386" r:id="rId15"/>
    <p:sldId id="397" r:id="rId16"/>
    <p:sldId id="377" r:id="rId17"/>
    <p:sldId id="401" r:id="rId18"/>
    <p:sldId id="399" r:id="rId19"/>
    <p:sldId id="404" r:id="rId20"/>
    <p:sldId id="400" r:id="rId21"/>
    <p:sldId id="405" r:id="rId22"/>
    <p:sldId id="591" r:id="rId23"/>
    <p:sldId id="593" r:id="rId24"/>
    <p:sldId id="348" r:id="rId25"/>
    <p:sldId id="594" r:id="rId26"/>
    <p:sldId id="275" r:id="rId27"/>
    <p:sldId id="276" r:id="rId28"/>
    <p:sldId id="592" r:id="rId29"/>
    <p:sldId id="424" r:id="rId30"/>
    <p:sldId id="618" r:id="rId31"/>
    <p:sldId id="408" r:id="rId32"/>
    <p:sldId id="365" r:id="rId33"/>
    <p:sldId id="266" r:id="rId34"/>
    <p:sldId id="267" r:id="rId35"/>
    <p:sldId id="268" r:id="rId36"/>
    <p:sldId id="636" r:id="rId37"/>
    <p:sldId id="292" r:id="rId38"/>
    <p:sldId id="293" r:id="rId39"/>
    <p:sldId id="296" r:id="rId40"/>
    <p:sldId id="588" r:id="rId41"/>
    <p:sldId id="257" r:id="rId42"/>
    <p:sldId id="600" r:id="rId43"/>
    <p:sldId id="601" r:id="rId44"/>
    <p:sldId id="630" r:id="rId45"/>
    <p:sldId id="629" r:id="rId46"/>
    <p:sldId id="640" r:id="rId47"/>
    <p:sldId id="259" r:id="rId48"/>
    <p:sldId id="258" r:id="rId49"/>
    <p:sldId id="260" r:id="rId50"/>
    <p:sldId id="631" r:id="rId51"/>
    <p:sldId id="637" r:id="rId52"/>
    <p:sldId id="616" r:id="rId53"/>
    <p:sldId id="622" r:id="rId54"/>
    <p:sldId id="280" r:id="rId55"/>
    <p:sldId id="281" r:id="rId56"/>
    <p:sldId id="282" r:id="rId57"/>
    <p:sldId id="284" r:id="rId58"/>
    <p:sldId id="285" r:id="rId59"/>
    <p:sldId id="290" r:id="rId60"/>
    <p:sldId id="638" r:id="rId61"/>
    <p:sldId id="639" r:id="rId62"/>
    <p:sldId id="519" r:id="rId63"/>
    <p:sldId id="468" r:id="rId64"/>
    <p:sldId id="508" r:id="rId65"/>
    <p:sldId id="510" r:id="rId66"/>
    <p:sldId id="299" r:id="rId67"/>
    <p:sldId id="302" r:id="rId68"/>
    <p:sldId id="524"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B9"/>
    <a:srgbClr val="941100"/>
    <a:srgbClr val="545D7E"/>
    <a:srgbClr val="FF2600"/>
    <a:srgbClr val="0432FF"/>
    <a:srgbClr val="001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336732-C8B6-1247-BB98-8D90FCEB993F}" v="1" dt="2021-01-12T06:42:57.855"/>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4"/>
    <p:restoredTop sz="77006"/>
  </p:normalViewPr>
  <p:slideViewPr>
    <p:cSldViewPr snapToGrid="0" snapToObjects="1">
      <p:cViewPr varScale="1">
        <p:scale>
          <a:sx n="61" d="100"/>
          <a:sy n="61" d="100"/>
        </p:scale>
        <p:origin x="216"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 Z" userId="0598117016cd6850" providerId="LiveId" clId="{1E336732-C8B6-1247-BB98-8D90FCEB993F}"/>
    <pc:docChg chg="custSel modSld">
      <pc:chgData name="Q Z" userId="0598117016cd6850" providerId="LiveId" clId="{1E336732-C8B6-1247-BB98-8D90FCEB993F}" dt="2021-01-12T06:42:57.854" v="267"/>
      <pc:docMkLst>
        <pc:docMk/>
      </pc:docMkLst>
      <pc:sldChg chg="addSp">
        <pc:chgData name="Q Z" userId="0598117016cd6850" providerId="LiveId" clId="{1E336732-C8B6-1247-BB98-8D90FCEB993F}" dt="2021-01-12T06:42:57.854" v="267"/>
        <pc:sldMkLst>
          <pc:docMk/>
          <pc:sldMk cId="532418191" sldId="261"/>
        </pc:sldMkLst>
        <pc:inkChg chg="add">
          <ac:chgData name="Q Z" userId="0598117016cd6850" providerId="LiveId" clId="{1E336732-C8B6-1247-BB98-8D90FCEB993F}" dt="2021-01-12T06:42:57.854" v="267"/>
          <ac:inkMkLst>
            <pc:docMk/>
            <pc:sldMk cId="532418191" sldId="261"/>
            <ac:inkMk id="3" creationId="{A30FF634-57C9-7447-A2A9-0989AB6EC147}"/>
          </ac:inkMkLst>
        </pc:inkChg>
      </pc:sldChg>
      <pc:sldChg chg="addSp">
        <pc:chgData name="Q Z" userId="0598117016cd6850" providerId="LiveId" clId="{1E336732-C8B6-1247-BB98-8D90FCEB993F}" dt="2021-01-12T06:42:57.854" v="267"/>
        <pc:sldMkLst>
          <pc:docMk/>
          <pc:sldMk cId="200450022" sldId="262"/>
        </pc:sldMkLst>
        <pc:inkChg chg="add">
          <ac:chgData name="Q Z" userId="0598117016cd6850" providerId="LiveId" clId="{1E336732-C8B6-1247-BB98-8D90FCEB993F}" dt="2021-01-12T06:42:57.854" v="267"/>
          <ac:inkMkLst>
            <pc:docMk/>
            <pc:sldMk cId="200450022" sldId="262"/>
            <ac:inkMk id="3" creationId="{60C952EA-9E65-F140-B5F4-DC99132B4E6A}"/>
          </ac:inkMkLst>
        </pc:inkChg>
      </pc:sldChg>
      <pc:sldChg chg="addSp">
        <pc:chgData name="Q Z" userId="0598117016cd6850" providerId="LiveId" clId="{1E336732-C8B6-1247-BB98-8D90FCEB993F}" dt="2021-01-12T06:42:57.854" v="267"/>
        <pc:sldMkLst>
          <pc:docMk/>
          <pc:sldMk cId="2495955489" sldId="264"/>
        </pc:sldMkLst>
        <pc:inkChg chg="add">
          <ac:chgData name="Q Z" userId="0598117016cd6850" providerId="LiveId" clId="{1E336732-C8B6-1247-BB98-8D90FCEB993F}" dt="2021-01-12T06:42:57.854" v="267"/>
          <ac:inkMkLst>
            <pc:docMk/>
            <pc:sldMk cId="2495955489" sldId="264"/>
            <ac:inkMk id="6" creationId="{32BCD74E-1CC4-E842-8CA9-181800AB9985}"/>
          </ac:inkMkLst>
        </pc:inkChg>
      </pc:sldChg>
      <pc:sldChg chg="addSp">
        <pc:chgData name="Q Z" userId="0598117016cd6850" providerId="LiveId" clId="{1E336732-C8B6-1247-BB98-8D90FCEB993F}" dt="2021-01-12T06:42:57.854" v="267"/>
        <pc:sldMkLst>
          <pc:docMk/>
          <pc:sldMk cId="3318632322" sldId="265"/>
        </pc:sldMkLst>
        <pc:inkChg chg="add">
          <ac:chgData name="Q Z" userId="0598117016cd6850" providerId="LiveId" clId="{1E336732-C8B6-1247-BB98-8D90FCEB993F}" dt="2021-01-12T06:42:57.854" v="267"/>
          <ac:inkMkLst>
            <pc:docMk/>
            <pc:sldMk cId="3318632322" sldId="265"/>
            <ac:inkMk id="4" creationId="{B8BFEC17-95EF-214A-97B0-07A7611296C6}"/>
          </ac:inkMkLst>
        </pc:inkChg>
      </pc:sldChg>
      <pc:sldChg chg="addSp">
        <pc:chgData name="Q Z" userId="0598117016cd6850" providerId="LiveId" clId="{1E336732-C8B6-1247-BB98-8D90FCEB993F}" dt="2021-01-12T06:42:57.854" v="267"/>
        <pc:sldMkLst>
          <pc:docMk/>
          <pc:sldMk cId="502340965" sldId="274"/>
        </pc:sldMkLst>
        <pc:inkChg chg="add">
          <ac:chgData name="Q Z" userId="0598117016cd6850" providerId="LiveId" clId="{1E336732-C8B6-1247-BB98-8D90FCEB993F}" dt="2021-01-12T06:42:57.854" v="267"/>
          <ac:inkMkLst>
            <pc:docMk/>
            <pc:sldMk cId="502340965" sldId="274"/>
            <ac:inkMk id="5" creationId="{86494887-27ED-4E4F-AE19-1D4461D58E14}"/>
          </ac:inkMkLst>
        </pc:inkChg>
      </pc:sldChg>
      <pc:sldChg chg="addSp">
        <pc:chgData name="Q Z" userId="0598117016cd6850" providerId="LiveId" clId="{1E336732-C8B6-1247-BB98-8D90FCEB993F}" dt="2021-01-12T06:42:57.854" v="267"/>
        <pc:sldMkLst>
          <pc:docMk/>
          <pc:sldMk cId="3678248846" sldId="277"/>
        </pc:sldMkLst>
        <pc:inkChg chg="add">
          <ac:chgData name="Q Z" userId="0598117016cd6850" providerId="LiveId" clId="{1E336732-C8B6-1247-BB98-8D90FCEB993F}" dt="2021-01-12T06:42:57.854" v="267"/>
          <ac:inkMkLst>
            <pc:docMk/>
            <pc:sldMk cId="3678248846" sldId="277"/>
            <ac:inkMk id="5" creationId="{EF01DF33-D127-9845-9AB3-86A8074B59B4}"/>
          </ac:inkMkLst>
        </pc:inkChg>
      </pc:sldChg>
      <pc:sldChg chg="addSp">
        <pc:chgData name="Q Z" userId="0598117016cd6850" providerId="LiveId" clId="{1E336732-C8B6-1247-BB98-8D90FCEB993F}" dt="2021-01-12T06:42:57.854" v="267"/>
        <pc:sldMkLst>
          <pc:docMk/>
          <pc:sldMk cId="2548179530" sldId="281"/>
        </pc:sldMkLst>
        <pc:inkChg chg="add">
          <ac:chgData name="Q Z" userId="0598117016cd6850" providerId="LiveId" clId="{1E336732-C8B6-1247-BB98-8D90FCEB993F}" dt="2021-01-12T06:42:57.854" v="267"/>
          <ac:inkMkLst>
            <pc:docMk/>
            <pc:sldMk cId="2548179530" sldId="281"/>
            <ac:inkMk id="5" creationId="{FCF82DE6-E3B1-C24C-8507-9D117A6BDB32}"/>
          </ac:inkMkLst>
        </pc:inkChg>
      </pc:sldChg>
      <pc:sldChg chg="addSp">
        <pc:chgData name="Q Z" userId="0598117016cd6850" providerId="LiveId" clId="{1E336732-C8B6-1247-BB98-8D90FCEB993F}" dt="2021-01-12T06:42:57.854" v="267"/>
        <pc:sldMkLst>
          <pc:docMk/>
          <pc:sldMk cId="1688405579" sldId="283"/>
        </pc:sldMkLst>
        <pc:inkChg chg="add">
          <ac:chgData name="Q Z" userId="0598117016cd6850" providerId="LiveId" clId="{1E336732-C8B6-1247-BB98-8D90FCEB993F}" dt="2021-01-12T06:42:57.854" v="267"/>
          <ac:inkMkLst>
            <pc:docMk/>
            <pc:sldMk cId="1688405579" sldId="283"/>
            <ac:inkMk id="4" creationId="{1EE2DC9D-3483-374E-9030-025F16FF530B}"/>
          </ac:inkMkLst>
        </pc:inkChg>
      </pc:sldChg>
      <pc:sldChg chg="addSp">
        <pc:chgData name="Q Z" userId="0598117016cd6850" providerId="LiveId" clId="{1E336732-C8B6-1247-BB98-8D90FCEB993F}" dt="2021-01-12T06:42:57.854" v="267"/>
        <pc:sldMkLst>
          <pc:docMk/>
          <pc:sldMk cId="1740026222" sldId="286"/>
        </pc:sldMkLst>
        <pc:inkChg chg="add">
          <ac:chgData name="Q Z" userId="0598117016cd6850" providerId="LiveId" clId="{1E336732-C8B6-1247-BB98-8D90FCEB993F}" dt="2021-01-12T06:42:57.854" v="267"/>
          <ac:inkMkLst>
            <pc:docMk/>
            <pc:sldMk cId="1740026222" sldId="286"/>
            <ac:inkMk id="5" creationId="{51BFC437-AB53-E04E-B9D7-7F023A3FBEA2}"/>
          </ac:inkMkLst>
        </pc:inkChg>
      </pc:sldChg>
      <pc:sldChg chg="addSp">
        <pc:chgData name="Q Z" userId="0598117016cd6850" providerId="LiveId" clId="{1E336732-C8B6-1247-BB98-8D90FCEB993F}" dt="2021-01-12T06:42:57.854" v="267"/>
        <pc:sldMkLst>
          <pc:docMk/>
          <pc:sldMk cId="1144012446" sldId="295"/>
        </pc:sldMkLst>
        <pc:inkChg chg="add">
          <ac:chgData name="Q Z" userId="0598117016cd6850" providerId="LiveId" clId="{1E336732-C8B6-1247-BB98-8D90FCEB993F}" dt="2021-01-12T06:42:57.854" v="267"/>
          <ac:inkMkLst>
            <pc:docMk/>
            <pc:sldMk cId="1144012446" sldId="295"/>
            <ac:inkMk id="4" creationId="{3C202D86-3016-534E-83B1-6176C2AE0675}"/>
          </ac:inkMkLst>
        </pc:inkChg>
      </pc:sldChg>
      <pc:sldChg chg="addSp">
        <pc:chgData name="Q Z" userId="0598117016cd6850" providerId="LiveId" clId="{1E336732-C8B6-1247-BB98-8D90FCEB993F}" dt="2021-01-12T06:42:57.854" v="267"/>
        <pc:sldMkLst>
          <pc:docMk/>
          <pc:sldMk cId="800579994" sldId="298"/>
        </pc:sldMkLst>
        <pc:inkChg chg="add">
          <ac:chgData name="Q Z" userId="0598117016cd6850" providerId="LiveId" clId="{1E336732-C8B6-1247-BB98-8D90FCEB993F}" dt="2021-01-12T06:42:57.854" v="267"/>
          <ac:inkMkLst>
            <pc:docMk/>
            <pc:sldMk cId="800579994" sldId="298"/>
            <ac:inkMk id="3" creationId="{B1D23E70-D545-4040-85EB-59B1CFB82A4A}"/>
          </ac:inkMkLst>
        </pc:inkChg>
      </pc:sldChg>
      <pc:sldChg chg="modSp mod">
        <pc:chgData name="Q Z" userId="0598117016cd6850" providerId="LiveId" clId="{1E336732-C8B6-1247-BB98-8D90FCEB993F}" dt="2021-01-12T00:36:45.806" v="176" actId="20577"/>
        <pc:sldMkLst>
          <pc:docMk/>
          <pc:sldMk cId="1668323801" sldId="300"/>
        </pc:sldMkLst>
        <pc:spChg chg="mod">
          <ac:chgData name="Q Z" userId="0598117016cd6850" providerId="LiveId" clId="{1E336732-C8B6-1247-BB98-8D90FCEB993F}" dt="2021-01-12T00:36:45.806" v="176" actId="20577"/>
          <ac:spMkLst>
            <pc:docMk/>
            <pc:sldMk cId="1668323801" sldId="300"/>
            <ac:spMk id="3" creationId="{551CAB00-106C-FD48-80DB-4E60597D50E9}"/>
          </ac:spMkLst>
        </pc:spChg>
      </pc:sldChg>
      <pc:sldChg chg="addSp">
        <pc:chgData name="Q Z" userId="0598117016cd6850" providerId="LiveId" clId="{1E336732-C8B6-1247-BB98-8D90FCEB993F}" dt="2021-01-12T06:42:57.854" v="267"/>
        <pc:sldMkLst>
          <pc:docMk/>
          <pc:sldMk cId="3105363865" sldId="302"/>
        </pc:sldMkLst>
        <pc:inkChg chg="add">
          <ac:chgData name="Q Z" userId="0598117016cd6850" providerId="LiveId" clId="{1E336732-C8B6-1247-BB98-8D90FCEB993F}" dt="2021-01-12T06:42:57.854" v="267"/>
          <ac:inkMkLst>
            <pc:docMk/>
            <pc:sldMk cId="3105363865" sldId="302"/>
            <ac:inkMk id="4" creationId="{8587AAA6-D756-A64B-93AF-74519FE60536}"/>
          </ac:inkMkLst>
        </pc:inkChg>
      </pc:sldChg>
      <pc:sldChg chg="addSp">
        <pc:chgData name="Q Z" userId="0598117016cd6850" providerId="LiveId" clId="{1E336732-C8B6-1247-BB98-8D90FCEB993F}" dt="2021-01-12T06:42:57.854" v="267"/>
        <pc:sldMkLst>
          <pc:docMk/>
          <pc:sldMk cId="2062287952" sldId="304"/>
        </pc:sldMkLst>
        <pc:inkChg chg="add">
          <ac:chgData name="Q Z" userId="0598117016cd6850" providerId="LiveId" clId="{1E336732-C8B6-1247-BB98-8D90FCEB993F}" dt="2021-01-12T06:42:57.854" v="267"/>
          <ac:inkMkLst>
            <pc:docMk/>
            <pc:sldMk cId="2062287952" sldId="304"/>
            <ac:inkMk id="2" creationId="{7C6ADA49-4D6A-3340-9313-17AFD1137008}"/>
          </ac:inkMkLst>
        </pc:inkChg>
      </pc:sldChg>
      <pc:sldChg chg="addSp">
        <pc:chgData name="Q Z" userId="0598117016cd6850" providerId="LiveId" clId="{1E336732-C8B6-1247-BB98-8D90FCEB993F}" dt="2021-01-12T06:42:57.854" v="267"/>
        <pc:sldMkLst>
          <pc:docMk/>
          <pc:sldMk cId="1989142146" sldId="307"/>
        </pc:sldMkLst>
        <pc:inkChg chg="add">
          <ac:chgData name="Q Z" userId="0598117016cd6850" providerId="LiveId" clId="{1E336732-C8B6-1247-BB98-8D90FCEB993F}" dt="2021-01-12T06:42:57.854" v="267"/>
          <ac:inkMkLst>
            <pc:docMk/>
            <pc:sldMk cId="1989142146" sldId="307"/>
            <ac:inkMk id="4" creationId="{79E07468-77F3-514C-B80C-802205A48887}"/>
          </ac:inkMkLst>
        </pc:inkChg>
      </pc:sldChg>
      <pc:sldChg chg="addSp">
        <pc:chgData name="Q Z" userId="0598117016cd6850" providerId="LiveId" clId="{1E336732-C8B6-1247-BB98-8D90FCEB993F}" dt="2021-01-12T06:42:57.854" v="267"/>
        <pc:sldMkLst>
          <pc:docMk/>
          <pc:sldMk cId="3545004305" sldId="308"/>
        </pc:sldMkLst>
        <pc:inkChg chg="add">
          <ac:chgData name="Q Z" userId="0598117016cd6850" providerId="LiveId" clId="{1E336732-C8B6-1247-BB98-8D90FCEB993F}" dt="2021-01-12T06:42:57.854" v="267"/>
          <ac:inkMkLst>
            <pc:docMk/>
            <pc:sldMk cId="3545004305" sldId="308"/>
            <ac:inkMk id="4" creationId="{5C043EB2-8D58-D448-A5A6-EF951083F642}"/>
          </ac:inkMkLst>
        </pc:inkChg>
      </pc:sldChg>
      <pc:sldChg chg="addSp modSp mod">
        <pc:chgData name="Q Z" userId="0598117016cd6850" providerId="LiveId" clId="{1E336732-C8B6-1247-BB98-8D90FCEB993F}" dt="2021-01-12T06:42:57.854" v="267"/>
        <pc:sldMkLst>
          <pc:docMk/>
          <pc:sldMk cId="581332896" sldId="309"/>
        </pc:sldMkLst>
        <pc:spChg chg="mod">
          <ac:chgData name="Q Z" userId="0598117016cd6850" providerId="LiveId" clId="{1E336732-C8B6-1247-BB98-8D90FCEB993F}" dt="2021-01-12T00:40:56.082" v="266" actId="113"/>
          <ac:spMkLst>
            <pc:docMk/>
            <pc:sldMk cId="581332896" sldId="309"/>
            <ac:spMk id="3" creationId="{1B15B996-5952-CA44-90B0-02ABAA4EAC6C}"/>
          </ac:spMkLst>
        </pc:spChg>
        <pc:inkChg chg="add">
          <ac:chgData name="Q Z" userId="0598117016cd6850" providerId="LiveId" clId="{1E336732-C8B6-1247-BB98-8D90FCEB993F}" dt="2021-01-12T06:42:57.854" v="267"/>
          <ac:inkMkLst>
            <pc:docMk/>
            <pc:sldMk cId="581332896" sldId="309"/>
            <ac:inkMk id="4" creationId="{B47DC87F-0A15-2342-BA53-E570C6B9257C}"/>
          </ac:inkMkLst>
        </pc:inkChg>
      </pc:sldChg>
      <pc:sldChg chg="addSp">
        <pc:chgData name="Q Z" userId="0598117016cd6850" providerId="LiveId" clId="{1E336732-C8B6-1247-BB98-8D90FCEB993F}" dt="2021-01-12T06:42:57.854" v="267"/>
        <pc:sldMkLst>
          <pc:docMk/>
          <pc:sldMk cId="758662977" sldId="313"/>
        </pc:sldMkLst>
        <pc:inkChg chg="add">
          <ac:chgData name="Q Z" userId="0598117016cd6850" providerId="LiveId" clId="{1E336732-C8B6-1247-BB98-8D90FCEB993F}" dt="2021-01-12T06:42:57.854" v="267"/>
          <ac:inkMkLst>
            <pc:docMk/>
            <pc:sldMk cId="758662977" sldId="313"/>
            <ac:inkMk id="6" creationId="{236CEAF4-9349-8C43-97FA-E755F87043D3}"/>
          </ac:inkMkLst>
        </pc:inkChg>
      </pc:sldChg>
      <pc:sldChg chg="addSp">
        <pc:chgData name="Q Z" userId="0598117016cd6850" providerId="LiveId" clId="{1E336732-C8B6-1247-BB98-8D90FCEB993F}" dt="2021-01-12T06:42:57.854" v="267"/>
        <pc:sldMkLst>
          <pc:docMk/>
          <pc:sldMk cId="806699933" sldId="314"/>
        </pc:sldMkLst>
        <pc:inkChg chg="add">
          <ac:chgData name="Q Z" userId="0598117016cd6850" providerId="LiveId" clId="{1E336732-C8B6-1247-BB98-8D90FCEB993F}" dt="2021-01-12T06:42:57.854" v="267"/>
          <ac:inkMkLst>
            <pc:docMk/>
            <pc:sldMk cId="806699933" sldId="314"/>
            <ac:inkMk id="4" creationId="{824F5F81-9516-B84B-85A3-183C8C8282B0}"/>
          </ac:inkMkLst>
        </pc:inkChg>
      </pc:sldChg>
      <pc:sldChg chg="addSp">
        <pc:chgData name="Q Z" userId="0598117016cd6850" providerId="LiveId" clId="{1E336732-C8B6-1247-BB98-8D90FCEB993F}" dt="2021-01-12T06:42:57.854" v="267"/>
        <pc:sldMkLst>
          <pc:docMk/>
          <pc:sldMk cId="690263055" sldId="315"/>
        </pc:sldMkLst>
        <pc:inkChg chg="add">
          <ac:chgData name="Q Z" userId="0598117016cd6850" providerId="LiveId" clId="{1E336732-C8B6-1247-BB98-8D90FCEB993F}" dt="2021-01-12T06:42:57.854" v="267"/>
          <ac:inkMkLst>
            <pc:docMk/>
            <pc:sldMk cId="690263055" sldId="315"/>
            <ac:inkMk id="6" creationId="{1D5ABB7D-7DB8-0242-92E5-1AC09ED25904}"/>
          </ac:inkMkLst>
        </pc:inkChg>
      </pc:sldChg>
      <pc:sldChg chg="addSp">
        <pc:chgData name="Q Z" userId="0598117016cd6850" providerId="LiveId" clId="{1E336732-C8B6-1247-BB98-8D90FCEB993F}" dt="2021-01-12T06:42:57.854" v="267"/>
        <pc:sldMkLst>
          <pc:docMk/>
          <pc:sldMk cId="938421699" sldId="320"/>
        </pc:sldMkLst>
        <pc:inkChg chg="add">
          <ac:chgData name="Q Z" userId="0598117016cd6850" providerId="LiveId" clId="{1E336732-C8B6-1247-BB98-8D90FCEB993F}" dt="2021-01-12T06:42:57.854" v="267"/>
          <ac:inkMkLst>
            <pc:docMk/>
            <pc:sldMk cId="938421699" sldId="320"/>
            <ac:inkMk id="4" creationId="{F6C17624-A201-7443-A1EF-5BEF317DC94F}"/>
          </ac:inkMkLst>
        </pc:inkChg>
      </pc:sldChg>
      <pc:sldChg chg="addSp">
        <pc:chgData name="Q Z" userId="0598117016cd6850" providerId="LiveId" clId="{1E336732-C8B6-1247-BB98-8D90FCEB993F}" dt="2021-01-12T06:42:57.854" v="267"/>
        <pc:sldMkLst>
          <pc:docMk/>
          <pc:sldMk cId="108173595" sldId="321"/>
        </pc:sldMkLst>
        <pc:inkChg chg="add">
          <ac:chgData name="Q Z" userId="0598117016cd6850" providerId="LiveId" clId="{1E336732-C8B6-1247-BB98-8D90FCEB993F}" dt="2021-01-12T06:42:57.854" v="267"/>
          <ac:inkMkLst>
            <pc:docMk/>
            <pc:sldMk cId="108173595" sldId="321"/>
            <ac:inkMk id="5" creationId="{50BE96FE-AAC5-B447-9208-F7FE53F6A0B9}"/>
          </ac:inkMkLst>
        </pc:inkChg>
      </pc:sldChg>
      <pc:sldChg chg="addSp">
        <pc:chgData name="Q Z" userId="0598117016cd6850" providerId="LiveId" clId="{1E336732-C8B6-1247-BB98-8D90FCEB993F}" dt="2021-01-12T06:42:57.854" v="267"/>
        <pc:sldMkLst>
          <pc:docMk/>
          <pc:sldMk cId="82143924" sldId="322"/>
        </pc:sldMkLst>
        <pc:inkChg chg="add">
          <ac:chgData name="Q Z" userId="0598117016cd6850" providerId="LiveId" clId="{1E336732-C8B6-1247-BB98-8D90FCEB993F}" dt="2021-01-12T06:42:57.854" v="267"/>
          <ac:inkMkLst>
            <pc:docMk/>
            <pc:sldMk cId="82143924" sldId="322"/>
            <ac:inkMk id="4" creationId="{F0D28E15-1894-8146-8F56-660176DCC755}"/>
          </ac:inkMkLst>
        </pc:inkChg>
      </pc:sldChg>
      <pc:sldChg chg="addSp">
        <pc:chgData name="Q Z" userId="0598117016cd6850" providerId="LiveId" clId="{1E336732-C8B6-1247-BB98-8D90FCEB993F}" dt="2021-01-12T06:42:57.854" v="267"/>
        <pc:sldMkLst>
          <pc:docMk/>
          <pc:sldMk cId="1207180606" sldId="323"/>
        </pc:sldMkLst>
        <pc:inkChg chg="add">
          <ac:chgData name="Q Z" userId="0598117016cd6850" providerId="LiveId" clId="{1E336732-C8B6-1247-BB98-8D90FCEB993F}" dt="2021-01-12T06:42:57.854" v="267"/>
          <ac:inkMkLst>
            <pc:docMk/>
            <pc:sldMk cId="1207180606" sldId="323"/>
            <ac:inkMk id="5" creationId="{D1CB38B3-DBF0-1043-9BE1-8314B02773AE}"/>
          </ac:inkMkLst>
        </pc:inkChg>
      </pc:sldChg>
      <pc:sldChg chg="addSp">
        <pc:chgData name="Q Z" userId="0598117016cd6850" providerId="LiveId" clId="{1E336732-C8B6-1247-BB98-8D90FCEB993F}" dt="2021-01-12T06:42:57.854" v="267"/>
        <pc:sldMkLst>
          <pc:docMk/>
          <pc:sldMk cId="2223405279" sldId="327"/>
        </pc:sldMkLst>
        <pc:inkChg chg="add">
          <ac:chgData name="Q Z" userId="0598117016cd6850" providerId="LiveId" clId="{1E336732-C8B6-1247-BB98-8D90FCEB993F}" dt="2021-01-12T06:42:57.854" v="267"/>
          <ac:inkMkLst>
            <pc:docMk/>
            <pc:sldMk cId="2223405279" sldId="327"/>
            <ac:inkMk id="4" creationId="{BFFBAD07-1ABE-7246-BB7B-7B93C6C05F60}"/>
          </ac:inkMkLst>
        </pc:inkChg>
      </pc:sldChg>
      <pc:sldChg chg="addSp">
        <pc:chgData name="Q Z" userId="0598117016cd6850" providerId="LiveId" clId="{1E336732-C8B6-1247-BB98-8D90FCEB993F}" dt="2021-01-12T06:42:57.854" v="267"/>
        <pc:sldMkLst>
          <pc:docMk/>
          <pc:sldMk cId="2580820078" sldId="329"/>
        </pc:sldMkLst>
        <pc:inkChg chg="add">
          <ac:chgData name="Q Z" userId="0598117016cd6850" providerId="LiveId" clId="{1E336732-C8B6-1247-BB98-8D90FCEB993F}" dt="2021-01-12T06:42:57.854" v="267"/>
          <ac:inkMkLst>
            <pc:docMk/>
            <pc:sldMk cId="2580820078" sldId="329"/>
            <ac:inkMk id="6" creationId="{B5F4D88E-6934-564D-BE81-1340A8E269EB}"/>
          </ac:inkMkLst>
        </pc:inkChg>
      </pc:sldChg>
      <pc:sldChg chg="addSp">
        <pc:chgData name="Q Z" userId="0598117016cd6850" providerId="LiveId" clId="{1E336732-C8B6-1247-BB98-8D90FCEB993F}" dt="2021-01-12T06:42:57.854" v="267"/>
        <pc:sldMkLst>
          <pc:docMk/>
          <pc:sldMk cId="3730086564" sldId="331"/>
        </pc:sldMkLst>
        <pc:inkChg chg="add">
          <ac:chgData name="Q Z" userId="0598117016cd6850" providerId="LiveId" clId="{1E336732-C8B6-1247-BB98-8D90FCEB993F}" dt="2021-01-12T06:42:57.854" v="267"/>
          <ac:inkMkLst>
            <pc:docMk/>
            <pc:sldMk cId="3730086564" sldId="331"/>
            <ac:inkMk id="4" creationId="{F8ED0622-DF26-A748-84B6-474F576CC577}"/>
          </ac:inkMkLst>
        </pc:inkChg>
      </pc:sldChg>
    </pc:docChg>
  </pc:docChgLst>
  <pc:docChgLst>
    <pc:chgData name="Q Z" userId="0598117016cd6850" providerId="LiveId" clId="{D2FDEEAF-84E1-154D-A946-0BAEA53F7449}"/>
    <pc:docChg chg="undo custSel addSld delSld modSld">
      <pc:chgData name="Q Z" userId="0598117016cd6850" providerId="LiveId" clId="{D2FDEEAF-84E1-154D-A946-0BAEA53F7449}" dt="2019-09-04T18:21:47.967" v="1277" actId="20577"/>
      <pc:docMkLst>
        <pc:docMk/>
      </pc:docMkLst>
      <pc:sldChg chg="modSp">
        <pc:chgData name="Q Z" userId="0598117016cd6850" providerId="LiveId" clId="{D2FDEEAF-84E1-154D-A946-0BAEA53F7449}" dt="2019-09-04T17:50:06.927" v="44" actId="20577"/>
        <pc:sldMkLst>
          <pc:docMk/>
          <pc:sldMk cId="2533019783" sldId="256"/>
        </pc:sldMkLst>
        <pc:spChg chg="mod">
          <ac:chgData name="Q Z" userId="0598117016cd6850" providerId="LiveId" clId="{D2FDEEAF-84E1-154D-A946-0BAEA53F7449}" dt="2019-09-04T17:50:06.927" v="44" actId="20577"/>
          <ac:spMkLst>
            <pc:docMk/>
            <pc:sldMk cId="2533019783" sldId="256"/>
            <ac:spMk id="2" creationId="{4F6B6359-AFC8-5749-ABD8-D22C31534A8C}"/>
          </ac:spMkLst>
        </pc:spChg>
        <pc:spChg chg="mod">
          <ac:chgData name="Q Z" userId="0598117016cd6850" providerId="LiveId" clId="{D2FDEEAF-84E1-154D-A946-0BAEA53F7449}" dt="2019-09-04T14:49:56.657" v="31" actId="20577"/>
          <ac:spMkLst>
            <pc:docMk/>
            <pc:sldMk cId="2533019783" sldId="256"/>
            <ac:spMk id="3" creationId="{03BB8D86-7309-C04C-901B-36514C38109C}"/>
          </ac:spMkLst>
        </pc:spChg>
      </pc:sldChg>
      <pc:sldChg chg="add">
        <pc:chgData name="Q Z" userId="0598117016cd6850" providerId="LiveId" clId="{D2FDEEAF-84E1-154D-A946-0BAEA53F7449}" dt="2019-09-04T18:17:03.924" v="714"/>
        <pc:sldMkLst>
          <pc:docMk/>
          <pc:sldMk cId="595021793" sldId="257"/>
        </pc:sldMkLst>
      </pc:sldChg>
      <pc:sldChg chg="add">
        <pc:chgData name="Q Z" userId="0598117016cd6850" providerId="LiveId" clId="{D2FDEEAF-84E1-154D-A946-0BAEA53F7449}" dt="2019-09-04T18:17:03.924" v="714"/>
        <pc:sldMkLst>
          <pc:docMk/>
          <pc:sldMk cId="121927036" sldId="258"/>
        </pc:sldMkLst>
      </pc:sldChg>
      <pc:sldChg chg="modSp">
        <pc:chgData name="Q Z" userId="0598117016cd6850" providerId="LiveId" clId="{D2FDEEAF-84E1-154D-A946-0BAEA53F7449}" dt="2019-09-04T17:51:15.354" v="96" actId="20577"/>
        <pc:sldMkLst>
          <pc:docMk/>
          <pc:sldMk cId="2090911193" sldId="260"/>
        </pc:sldMkLst>
        <pc:spChg chg="mod">
          <ac:chgData name="Q Z" userId="0598117016cd6850" providerId="LiveId" clId="{D2FDEEAF-84E1-154D-A946-0BAEA53F7449}" dt="2019-09-04T17:51:15.354" v="96" actId="20577"/>
          <ac:spMkLst>
            <pc:docMk/>
            <pc:sldMk cId="2090911193" sldId="260"/>
            <ac:spMk id="3" creationId="{858FDFE8-5660-3142-B97F-1D1C17F05F34}"/>
          </ac:spMkLst>
        </pc:spChg>
      </pc:sldChg>
      <pc:sldChg chg="modSp add">
        <pc:chgData name="Q Z" userId="0598117016cd6850" providerId="LiveId" clId="{D2FDEEAF-84E1-154D-A946-0BAEA53F7449}" dt="2019-09-04T18:17:04.095" v="715" actId="27636"/>
        <pc:sldMkLst>
          <pc:docMk/>
          <pc:sldMk cId="532418191" sldId="261"/>
        </pc:sldMkLst>
        <pc:spChg chg="mod">
          <ac:chgData name="Q Z" userId="0598117016cd6850" providerId="LiveId" clId="{D2FDEEAF-84E1-154D-A946-0BAEA53F7449}" dt="2019-09-04T18:17:04.095" v="715" actId="27636"/>
          <ac:spMkLst>
            <pc:docMk/>
            <pc:sldMk cId="532418191" sldId="261"/>
            <ac:spMk id="2" creationId="{A41F1BB6-7C99-144F-B969-F0BD4E7E05F1}"/>
          </ac:spMkLst>
        </pc:spChg>
      </pc:sldChg>
      <pc:sldChg chg="del">
        <pc:chgData name="Q Z" userId="0598117016cd6850" providerId="LiveId" clId="{D2FDEEAF-84E1-154D-A946-0BAEA53F7449}" dt="2019-09-04T14:50:58.821" v="34" actId="2696"/>
        <pc:sldMkLst>
          <pc:docMk/>
          <pc:sldMk cId="783585029" sldId="261"/>
        </pc:sldMkLst>
      </pc:sldChg>
      <pc:sldChg chg="modSp add">
        <pc:chgData name="Q Z" userId="0598117016cd6850" providerId="LiveId" clId="{D2FDEEAF-84E1-154D-A946-0BAEA53F7449}" dt="2019-09-04T18:17:04.108" v="716" actId="27636"/>
        <pc:sldMkLst>
          <pc:docMk/>
          <pc:sldMk cId="200450022" sldId="262"/>
        </pc:sldMkLst>
        <pc:spChg chg="mod">
          <ac:chgData name="Q Z" userId="0598117016cd6850" providerId="LiveId" clId="{D2FDEEAF-84E1-154D-A946-0BAEA53F7449}" dt="2019-09-04T18:17:04.108" v="716" actId="27636"/>
          <ac:spMkLst>
            <pc:docMk/>
            <pc:sldMk cId="200450022" sldId="262"/>
            <ac:spMk id="2" creationId="{A41F1BB6-7C99-144F-B969-F0BD4E7E05F1}"/>
          </ac:spMkLst>
        </pc:spChg>
      </pc:sldChg>
      <pc:sldChg chg="del">
        <pc:chgData name="Q Z" userId="0598117016cd6850" providerId="LiveId" clId="{D2FDEEAF-84E1-154D-A946-0BAEA53F7449}" dt="2019-09-04T14:50:58.824" v="37" actId="2696"/>
        <pc:sldMkLst>
          <pc:docMk/>
          <pc:sldMk cId="2838881580" sldId="262"/>
        </pc:sldMkLst>
      </pc:sldChg>
      <pc:sldChg chg="del">
        <pc:chgData name="Q Z" userId="0598117016cd6850" providerId="LiveId" clId="{D2FDEEAF-84E1-154D-A946-0BAEA53F7449}" dt="2019-09-04T14:50:58.823" v="36" actId="2696"/>
        <pc:sldMkLst>
          <pc:docMk/>
          <pc:sldMk cId="1942777124" sldId="263"/>
        </pc:sldMkLst>
      </pc:sldChg>
      <pc:sldChg chg="add">
        <pc:chgData name="Q Z" userId="0598117016cd6850" providerId="LiveId" clId="{D2FDEEAF-84E1-154D-A946-0BAEA53F7449}" dt="2019-09-04T18:17:03.924" v="714"/>
        <pc:sldMkLst>
          <pc:docMk/>
          <pc:sldMk cId="2048896579" sldId="263"/>
        </pc:sldMkLst>
      </pc:sldChg>
      <pc:sldChg chg="del">
        <pc:chgData name="Q Z" userId="0598117016cd6850" providerId="LiveId" clId="{D2FDEEAF-84E1-154D-A946-0BAEA53F7449}" dt="2019-09-04T14:50:58.825" v="38" actId="2696"/>
        <pc:sldMkLst>
          <pc:docMk/>
          <pc:sldMk cId="2231365434" sldId="264"/>
        </pc:sldMkLst>
      </pc:sldChg>
      <pc:sldChg chg="add">
        <pc:chgData name="Q Z" userId="0598117016cd6850" providerId="LiveId" clId="{D2FDEEAF-84E1-154D-A946-0BAEA53F7449}" dt="2019-09-04T18:17:03.924" v="714"/>
        <pc:sldMkLst>
          <pc:docMk/>
          <pc:sldMk cId="2495955489" sldId="264"/>
        </pc:sldMkLst>
      </pc:sldChg>
      <pc:sldChg chg="del">
        <pc:chgData name="Q Z" userId="0598117016cd6850" providerId="LiveId" clId="{D2FDEEAF-84E1-154D-A946-0BAEA53F7449}" dt="2019-09-04T14:50:58.834" v="42" actId="2696"/>
        <pc:sldMkLst>
          <pc:docMk/>
          <pc:sldMk cId="2283137282" sldId="265"/>
        </pc:sldMkLst>
      </pc:sldChg>
      <pc:sldChg chg="add">
        <pc:chgData name="Q Z" userId="0598117016cd6850" providerId="LiveId" clId="{D2FDEEAF-84E1-154D-A946-0BAEA53F7449}" dt="2019-09-04T18:17:03.924" v="714"/>
        <pc:sldMkLst>
          <pc:docMk/>
          <pc:sldMk cId="3318632322" sldId="265"/>
        </pc:sldMkLst>
      </pc:sldChg>
      <pc:sldChg chg="del">
        <pc:chgData name="Q Z" userId="0598117016cd6850" providerId="LiveId" clId="{D2FDEEAF-84E1-154D-A946-0BAEA53F7449}" dt="2019-09-04T14:50:58.827" v="40" actId="2696"/>
        <pc:sldMkLst>
          <pc:docMk/>
          <pc:sldMk cId="2210613991" sldId="266"/>
        </pc:sldMkLst>
      </pc:sldChg>
      <pc:sldChg chg="add">
        <pc:chgData name="Q Z" userId="0598117016cd6850" providerId="LiveId" clId="{D2FDEEAF-84E1-154D-A946-0BAEA53F7449}" dt="2019-09-04T18:17:03.924" v="714"/>
        <pc:sldMkLst>
          <pc:docMk/>
          <pc:sldMk cId="3492845242" sldId="266"/>
        </pc:sldMkLst>
      </pc:sldChg>
      <pc:sldChg chg="modSp">
        <pc:chgData name="Q Z" userId="0598117016cd6850" providerId="LiveId" clId="{D2FDEEAF-84E1-154D-A946-0BAEA53F7449}" dt="2019-09-04T17:52:07.105" v="112" actId="207"/>
        <pc:sldMkLst>
          <pc:docMk/>
          <pc:sldMk cId="2096993788" sldId="267"/>
        </pc:sldMkLst>
        <pc:spChg chg="mod">
          <ac:chgData name="Q Z" userId="0598117016cd6850" providerId="LiveId" clId="{D2FDEEAF-84E1-154D-A946-0BAEA53F7449}" dt="2019-09-04T17:52:07.105" v="112" actId="207"/>
          <ac:spMkLst>
            <pc:docMk/>
            <pc:sldMk cId="2096993788" sldId="267"/>
            <ac:spMk id="3" creationId="{92C5435D-7C46-D248-89C2-A468B8E05E4B}"/>
          </ac:spMkLst>
        </pc:spChg>
      </pc:sldChg>
      <pc:sldChg chg="del">
        <pc:chgData name="Q Z" userId="0598117016cd6850" providerId="LiveId" clId="{D2FDEEAF-84E1-154D-A946-0BAEA53F7449}" dt="2019-09-04T14:50:58.822" v="35" actId="2696"/>
        <pc:sldMkLst>
          <pc:docMk/>
          <pc:sldMk cId="1861225924" sldId="268"/>
        </pc:sldMkLst>
      </pc:sldChg>
      <pc:sldChg chg="add">
        <pc:chgData name="Q Z" userId="0598117016cd6850" providerId="LiveId" clId="{D2FDEEAF-84E1-154D-A946-0BAEA53F7449}" dt="2019-09-04T18:17:03.924" v="714"/>
        <pc:sldMkLst>
          <pc:docMk/>
          <pc:sldMk cId="3454883529" sldId="268"/>
        </pc:sldMkLst>
      </pc:sldChg>
      <pc:sldChg chg="add del">
        <pc:chgData name="Q Z" userId="0598117016cd6850" providerId="LiveId" clId="{D2FDEEAF-84E1-154D-A946-0BAEA53F7449}" dt="2019-09-04T17:53:35.526" v="120" actId="2696"/>
        <pc:sldMkLst>
          <pc:docMk/>
          <pc:sldMk cId="3305728334" sldId="270"/>
        </pc:sldMkLst>
      </pc:sldChg>
      <pc:sldChg chg="modSp add del">
        <pc:chgData name="Q Z" userId="0598117016cd6850" providerId="LiveId" clId="{D2FDEEAF-84E1-154D-A946-0BAEA53F7449}" dt="2019-09-04T17:55:57.015" v="138" actId="20577"/>
        <pc:sldMkLst>
          <pc:docMk/>
          <pc:sldMk cId="3331877505" sldId="271"/>
        </pc:sldMkLst>
        <pc:spChg chg="mod">
          <ac:chgData name="Q Z" userId="0598117016cd6850" providerId="LiveId" clId="{D2FDEEAF-84E1-154D-A946-0BAEA53F7449}" dt="2019-09-04T17:55:57.015" v="138" actId="20577"/>
          <ac:spMkLst>
            <pc:docMk/>
            <pc:sldMk cId="3331877505" sldId="271"/>
            <ac:spMk id="2" creationId="{6660E2C4-0D9F-6543-92DC-EEC98C67AB17}"/>
          </ac:spMkLst>
        </pc:spChg>
      </pc:sldChg>
      <pc:sldChg chg="add del">
        <pc:chgData name="Q Z" userId="0598117016cd6850" providerId="LiveId" clId="{D2FDEEAF-84E1-154D-A946-0BAEA53F7449}" dt="2019-09-04T17:53:35.482" v="117" actId="2696"/>
        <pc:sldMkLst>
          <pc:docMk/>
          <pc:sldMk cId="3558231805" sldId="272"/>
        </pc:sldMkLst>
      </pc:sldChg>
      <pc:sldChg chg="modSp add">
        <pc:chgData name="Q Z" userId="0598117016cd6850" providerId="LiveId" clId="{D2FDEEAF-84E1-154D-A946-0BAEA53F7449}" dt="2019-09-04T18:17:04.328" v="720" actId="27636"/>
        <pc:sldMkLst>
          <pc:docMk/>
          <pc:sldMk cId="502340965" sldId="274"/>
        </pc:sldMkLst>
        <pc:spChg chg="mod">
          <ac:chgData name="Q Z" userId="0598117016cd6850" providerId="LiveId" clId="{D2FDEEAF-84E1-154D-A946-0BAEA53F7449}" dt="2019-09-04T18:17:04.328" v="720" actId="27636"/>
          <ac:spMkLst>
            <pc:docMk/>
            <pc:sldMk cId="502340965" sldId="274"/>
            <ac:spMk id="3" creationId="{3E183C73-DAEA-B44A-A5FE-7317F31E7B1F}"/>
          </ac:spMkLst>
        </pc:spChg>
      </pc:sldChg>
      <pc:sldChg chg="add del">
        <pc:chgData name="Q Z" userId="0598117016cd6850" providerId="LiveId" clId="{D2FDEEAF-84E1-154D-A946-0BAEA53F7449}" dt="2019-09-04T17:56:05.978" v="139" actId="2696"/>
        <pc:sldMkLst>
          <pc:docMk/>
          <pc:sldMk cId="1213925051" sldId="274"/>
        </pc:sldMkLst>
      </pc:sldChg>
      <pc:sldChg chg="modSp">
        <pc:chgData name="Q Z" userId="0598117016cd6850" providerId="LiveId" clId="{D2FDEEAF-84E1-154D-A946-0BAEA53F7449}" dt="2019-09-04T17:55:32.064" v="121" actId="20577"/>
        <pc:sldMkLst>
          <pc:docMk/>
          <pc:sldMk cId="954695919" sldId="275"/>
        </pc:sldMkLst>
        <pc:spChg chg="mod">
          <ac:chgData name="Q Z" userId="0598117016cd6850" providerId="LiveId" clId="{D2FDEEAF-84E1-154D-A946-0BAEA53F7449}" dt="2019-09-04T17:55:32.064" v="121" actId="20577"/>
          <ac:spMkLst>
            <pc:docMk/>
            <pc:sldMk cId="954695919" sldId="275"/>
            <ac:spMk id="3" creationId="{8156CB1A-BF1B-814F-B131-5A4E9A2B2F55}"/>
          </ac:spMkLst>
        </pc:spChg>
      </pc:sldChg>
      <pc:sldChg chg="del">
        <pc:chgData name="Q Z" userId="0598117016cd6850" providerId="LiveId" clId="{D2FDEEAF-84E1-154D-A946-0BAEA53F7449}" dt="2019-09-04T17:56:38.052" v="144" actId="2696"/>
        <pc:sldMkLst>
          <pc:docMk/>
          <pc:sldMk cId="1065454564" sldId="277"/>
        </pc:sldMkLst>
      </pc:sldChg>
      <pc:sldChg chg="add">
        <pc:chgData name="Q Z" userId="0598117016cd6850" providerId="LiveId" clId="{D2FDEEAF-84E1-154D-A946-0BAEA53F7449}" dt="2019-09-04T18:17:03.924" v="714"/>
        <pc:sldMkLst>
          <pc:docMk/>
          <pc:sldMk cId="3678248846" sldId="277"/>
        </pc:sldMkLst>
      </pc:sldChg>
      <pc:sldChg chg="add">
        <pc:chgData name="Q Z" userId="0598117016cd6850" providerId="LiveId" clId="{D2FDEEAF-84E1-154D-A946-0BAEA53F7449}" dt="2019-09-04T18:17:03.924" v="714"/>
        <pc:sldMkLst>
          <pc:docMk/>
          <pc:sldMk cId="1081087372" sldId="280"/>
        </pc:sldMkLst>
      </pc:sldChg>
      <pc:sldChg chg="del">
        <pc:chgData name="Q Z" userId="0598117016cd6850" providerId="LiveId" clId="{D2FDEEAF-84E1-154D-A946-0BAEA53F7449}" dt="2019-09-04T17:56:34.037" v="142" actId="2696"/>
        <pc:sldMkLst>
          <pc:docMk/>
          <pc:sldMk cId="1143589674" sldId="280"/>
        </pc:sldMkLst>
      </pc:sldChg>
      <pc:sldChg chg="add">
        <pc:chgData name="Q Z" userId="0598117016cd6850" providerId="LiveId" clId="{D2FDEEAF-84E1-154D-A946-0BAEA53F7449}" dt="2019-09-04T18:17:03.924" v="714"/>
        <pc:sldMkLst>
          <pc:docMk/>
          <pc:sldMk cId="2548179530" sldId="281"/>
        </pc:sldMkLst>
      </pc:sldChg>
      <pc:sldChg chg="del">
        <pc:chgData name="Q Z" userId="0598117016cd6850" providerId="LiveId" clId="{D2FDEEAF-84E1-154D-A946-0BAEA53F7449}" dt="2019-09-04T17:56:34.036" v="141" actId="2696"/>
        <pc:sldMkLst>
          <pc:docMk/>
          <pc:sldMk cId="4098453554" sldId="281"/>
        </pc:sldMkLst>
      </pc:sldChg>
      <pc:sldChg chg="add">
        <pc:chgData name="Q Z" userId="0598117016cd6850" providerId="LiveId" clId="{D2FDEEAF-84E1-154D-A946-0BAEA53F7449}" dt="2019-09-04T18:17:03.924" v="714"/>
        <pc:sldMkLst>
          <pc:docMk/>
          <pc:sldMk cId="494661934" sldId="282"/>
        </pc:sldMkLst>
      </pc:sldChg>
      <pc:sldChg chg="del">
        <pc:chgData name="Q Z" userId="0598117016cd6850" providerId="LiveId" clId="{D2FDEEAF-84E1-154D-A946-0BAEA53F7449}" dt="2019-09-04T17:56:34.038" v="143" actId="2696"/>
        <pc:sldMkLst>
          <pc:docMk/>
          <pc:sldMk cId="4145358547" sldId="282"/>
        </pc:sldMkLst>
      </pc:sldChg>
      <pc:sldChg chg="add">
        <pc:chgData name="Q Z" userId="0598117016cd6850" providerId="LiveId" clId="{D2FDEEAF-84E1-154D-A946-0BAEA53F7449}" dt="2019-09-04T18:17:03.924" v="714"/>
        <pc:sldMkLst>
          <pc:docMk/>
          <pc:sldMk cId="1688405579" sldId="283"/>
        </pc:sldMkLst>
      </pc:sldChg>
      <pc:sldChg chg="del">
        <pc:chgData name="Q Z" userId="0598117016cd6850" providerId="LiveId" clId="{D2FDEEAF-84E1-154D-A946-0BAEA53F7449}" dt="2019-09-04T14:50:58.826" v="39" actId="2696"/>
        <pc:sldMkLst>
          <pc:docMk/>
          <pc:sldMk cId="3749237926" sldId="283"/>
        </pc:sldMkLst>
      </pc:sldChg>
      <pc:sldChg chg="del">
        <pc:chgData name="Q Z" userId="0598117016cd6850" providerId="LiveId" clId="{D2FDEEAF-84E1-154D-A946-0BAEA53F7449}" dt="2019-09-04T17:56:34.035" v="140" actId="2696"/>
        <pc:sldMkLst>
          <pc:docMk/>
          <pc:sldMk cId="1766107003" sldId="284"/>
        </pc:sldMkLst>
      </pc:sldChg>
      <pc:sldChg chg="modSp add">
        <pc:chgData name="Q Z" userId="0598117016cd6850" providerId="LiveId" clId="{D2FDEEAF-84E1-154D-A946-0BAEA53F7449}" dt="2019-09-04T18:17:04.209" v="717" actId="27636"/>
        <pc:sldMkLst>
          <pc:docMk/>
          <pc:sldMk cId="3382824642" sldId="284"/>
        </pc:sldMkLst>
        <pc:spChg chg="mod">
          <ac:chgData name="Q Z" userId="0598117016cd6850" providerId="LiveId" clId="{D2FDEEAF-84E1-154D-A946-0BAEA53F7449}" dt="2019-09-04T18:17:04.209" v="717" actId="27636"/>
          <ac:spMkLst>
            <pc:docMk/>
            <pc:sldMk cId="3382824642" sldId="284"/>
            <ac:spMk id="3" creationId="{C7F9E529-8EAE-E242-ABE3-8FF4C6CFE94E}"/>
          </ac:spMkLst>
        </pc:spChg>
      </pc:sldChg>
      <pc:sldChg chg="modSp">
        <pc:chgData name="Q Z" userId="0598117016cd6850" providerId="LiveId" clId="{D2FDEEAF-84E1-154D-A946-0BAEA53F7449}" dt="2019-09-04T17:57:06.144" v="161" actId="20577"/>
        <pc:sldMkLst>
          <pc:docMk/>
          <pc:sldMk cId="1964004983" sldId="285"/>
        </pc:sldMkLst>
        <pc:spChg chg="mod">
          <ac:chgData name="Q Z" userId="0598117016cd6850" providerId="LiveId" clId="{D2FDEEAF-84E1-154D-A946-0BAEA53F7449}" dt="2019-09-04T17:57:06.144" v="161" actId="20577"/>
          <ac:spMkLst>
            <pc:docMk/>
            <pc:sldMk cId="1964004983" sldId="285"/>
            <ac:spMk id="3" creationId="{5F1D1A32-6966-D74D-BC08-BB6F9D54EB65}"/>
          </ac:spMkLst>
        </pc:spChg>
      </pc:sldChg>
      <pc:sldChg chg="del">
        <pc:chgData name="Q Z" userId="0598117016cd6850" providerId="LiveId" clId="{D2FDEEAF-84E1-154D-A946-0BAEA53F7449}" dt="2019-09-04T17:57:19.396" v="162" actId="2696"/>
        <pc:sldMkLst>
          <pc:docMk/>
          <pc:sldMk cId="1027414483" sldId="286"/>
        </pc:sldMkLst>
      </pc:sldChg>
      <pc:sldChg chg="add">
        <pc:chgData name="Q Z" userId="0598117016cd6850" providerId="LiveId" clId="{D2FDEEAF-84E1-154D-A946-0BAEA53F7449}" dt="2019-09-04T18:17:03.924" v="714"/>
        <pc:sldMkLst>
          <pc:docMk/>
          <pc:sldMk cId="1740026222" sldId="286"/>
        </pc:sldMkLst>
      </pc:sldChg>
      <pc:sldChg chg="del">
        <pc:chgData name="Q Z" userId="0598117016cd6850" providerId="LiveId" clId="{D2FDEEAF-84E1-154D-A946-0BAEA53F7449}" dt="2019-09-04T17:59:18.421" v="163" actId="2696"/>
        <pc:sldMkLst>
          <pc:docMk/>
          <pc:sldMk cId="3061299955" sldId="299"/>
        </pc:sldMkLst>
      </pc:sldChg>
      <pc:sldChg chg="modSp del">
        <pc:chgData name="Q Z" userId="0598117016cd6850" providerId="LiveId" clId="{D2FDEEAF-84E1-154D-A946-0BAEA53F7449}" dt="2019-09-04T18:15:41.903" v="685" actId="2696"/>
        <pc:sldMkLst>
          <pc:docMk/>
          <pc:sldMk cId="485196877" sldId="300"/>
        </pc:sldMkLst>
        <pc:spChg chg="mod">
          <ac:chgData name="Q Z" userId="0598117016cd6850" providerId="LiveId" clId="{D2FDEEAF-84E1-154D-A946-0BAEA53F7449}" dt="2019-09-04T18:13:29.105" v="592" actId="20577"/>
          <ac:spMkLst>
            <pc:docMk/>
            <pc:sldMk cId="485196877" sldId="300"/>
            <ac:spMk id="3" creationId="{551CAB00-106C-FD48-80DB-4E60597D50E9}"/>
          </ac:spMkLst>
        </pc:spChg>
      </pc:sldChg>
      <pc:sldChg chg="modSp add">
        <pc:chgData name="Q Z" userId="0598117016cd6850" providerId="LiveId" clId="{D2FDEEAF-84E1-154D-A946-0BAEA53F7449}" dt="2019-09-04T18:20:13.592" v="1095" actId="15"/>
        <pc:sldMkLst>
          <pc:docMk/>
          <pc:sldMk cId="1668323801" sldId="300"/>
        </pc:sldMkLst>
        <pc:spChg chg="mod">
          <ac:chgData name="Q Z" userId="0598117016cd6850" providerId="LiveId" clId="{D2FDEEAF-84E1-154D-A946-0BAEA53F7449}" dt="2019-09-04T18:20:13.592" v="1095" actId="15"/>
          <ac:spMkLst>
            <pc:docMk/>
            <pc:sldMk cId="1668323801" sldId="300"/>
            <ac:spMk id="3" creationId="{551CAB00-106C-FD48-80DB-4E60597D50E9}"/>
          </ac:spMkLst>
        </pc:spChg>
      </pc:sldChg>
      <pc:sldChg chg="add">
        <pc:chgData name="Q Z" userId="0598117016cd6850" providerId="LiveId" clId="{D2FDEEAF-84E1-154D-A946-0BAEA53F7449}" dt="2019-09-04T18:15:48.786" v="686"/>
        <pc:sldMkLst>
          <pc:docMk/>
          <pc:sldMk cId="164302631" sldId="301"/>
        </pc:sldMkLst>
      </pc:sldChg>
      <pc:sldChg chg="modSp del">
        <pc:chgData name="Q Z" userId="0598117016cd6850" providerId="LiveId" clId="{D2FDEEAF-84E1-154D-A946-0BAEA53F7449}" dt="2019-09-04T18:15:41.898" v="684" actId="2696"/>
        <pc:sldMkLst>
          <pc:docMk/>
          <pc:sldMk cId="3603428551" sldId="301"/>
        </pc:sldMkLst>
        <pc:spChg chg="mod">
          <ac:chgData name="Q Z" userId="0598117016cd6850" providerId="LiveId" clId="{D2FDEEAF-84E1-154D-A946-0BAEA53F7449}" dt="2019-09-04T18:15:28.173" v="683" actId="20577"/>
          <ac:spMkLst>
            <pc:docMk/>
            <pc:sldMk cId="3603428551" sldId="301"/>
            <ac:spMk id="3" creationId="{045F8D64-8F34-2744-8A83-F43DB949F89C}"/>
          </ac:spMkLst>
        </pc:spChg>
      </pc:sldChg>
      <pc:sldChg chg="modSp add">
        <pc:chgData name="Q Z" userId="0598117016cd6850" providerId="LiveId" clId="{D2FDEEAF-84E1-154D-A946-0BAEA53F7449}" dt="2019-09-04T18:21:47.967" v="1277" actId="20577"/>
        <pc:sldMkLst>
          <pc:docMk/>
          <pc:sldMk cId="3105363865" sldId="302"/>
        </pc:sldMkLst>
        <pc:spChg chg="mod">
          <ac:chgData name="Q Z" userId="0598117016cd6850" providerId="LiveId" clId="{D2FDEEAF-84E1-154D-A946-0BAEA53F7449}" dt="2019-09-04T18:21:47.967" v="1277" actId="20577"/>
          <ac:spMkLst>
            <pc:docMk/>
            <pc:sldMk cId="3105363865" sldId="302"/>
            <ac:spMk id="2" creationId="{284F9CDD-41B2-3041-9CA4-BA9DAE607F54}"/>
          </ac:spMkLst>
        </pc:spChg>
        <pc:spChg chg="mod">
          <ac:chgData name="Q Z" userId="0598117016cd6850" providerId="LiveId" clId="{D2FDEEAF-84E1-154D-A946-0BAEA53F7449}" dt="2019-09-04T18:17:52.749" v="841" actId="20577"/>
          <ac:spMkLst>
            <pc:docMk/>
            <pc:sldMk cId="3105363865" sldId="302"/>
            <ac:spMk id="3" creationId="{524CCAD7-23D9-E84C-8DAC-C00F9425778D}"/>
          </ac:spMkLst>
        </pc:spChg>
      </pc:sldChg>
      <pc:sldChg chg="del">
        <pc:chgData name="Q Z" userId="0598117016cd6850" providerId="LiveId" clId="{D2FDEEAF-84E1-154D-A946-0BAEA53F7449}" dt="2019-09-04T14:50:58.827" v="41" actId="2696"/>
        <pc:sldMkLst>
          <pc:docMk/>
          <pc:sldMk cId="3428064723" sldId="302"/>
        </pc:sldMkLst>
      </pc:sldChg>
      <pc:sldChg chg="add">
        <pc:chgData name="Q Z" userId="0598117016cd6850" providerId="LiveId" clId="{D2FDEEAF-84E1-154D-A946-0BAEA53F7449}" dt="2019-09-04T18:17:03.924" v="714"/>
        <pc:sldMkLst>
          <pc:docMk/>
          <pc:sldMk cId="657279489" sldId="303"/>
        </pc:sldMkLst>
      </pc:sldChg>
      <pc:sldChg chg="add">
        <pc:chgData name="Q Z" userId="0598117016cd6850" providerId="LiveId" clId="{D2FDEEAF-84E1-154D-A946-0BAEA53F7449}" dt="2019-09-04T18:17:03.924" v="714"/>
        <pc:sldMkLst>
          <pc:docMk/>
          <pc:sldMk cId="2062287952" sldId="304"/>
        </pc:sldMkLst>
      </pc:sldChg>
      <pc:sldChg chg="add">
        <pc:chgData name="Q Z" userId="0598117016cd6850" providerId="LiveId" clId="{D2FDEEAF-84E1-154D-A946-0BAEA53F7449}" dt="2019-09-04T18:17:03.924" v="714"/>
        <pc:sldMkLst>
          <pc:docMk/>
          <pc:sldMk cId="1590203373" sldId="305"/>
        </pc:sldMkLst>
      </pc:sldChg>
      <pc:sldChg chg="add">
        <pc:chgData name="Q Z" userId="0598117016cd6850" providerId="LiveId" clId="{D2FDEEAF-84E1-154D-A946-0BAEA53F7449}" dt="2019-09-04T18:17:03.924" v="714"/>
        <pc:sldMkLst>
          <pc:docMk/>
          <pc:sldMk cId="271758653" sldId="306"/>
        </pc:sldMkLst>
      </pc:sldChg>
      <pc:sldChg chg="add">
        <pc:chgData name="Q Z" userId="0598117016cd6850" providerId="LiveId" clId="{D2FDEEAF-84E1-154D-A946-0BAEA53F7449}" dt="2019-09-04T18:17:03.924" v="714"/>
        <pc:sldMkLst>
          <pc:docMk/>
          <pc:sldMk cId="1989142146" sldId="307"/>
        </pc:sldMkLst>
      </pc:sldChg>
      <pc:sldChg chg="add">
        <pc:chgData name="Q Z" userId="0598117016cd6850" providerId="LiveId" clId="{D2FDEEAF-84E1-154D-A946-0BAEA53F7449}" dt="2019-09-04T18:17:03.924" v="714"/>
        <pc:sldMkLst>
          <pc:docMk/>
          <pc:sldMk cId="3545004305" sldId="308"/>
        </pc:sldMkLst>
      </pc:sldChg>
      <pc:sldChg chg="add">
        <pc:chgData name="Q Z" userId="0598117016cd6850" providerId="LiveId" clId="{D2FDEEAF-84E1-154D-A946-0BAEA53F7449}" dt="2019-09-04T18:17:03.924" v="714"/>
        <pc:sldMkLst>
          <pc:docMk/>
          <pc:sldMk cId="581332896" sldId="309"/>
        </pc:sldMkLst>
      </pc:sldChg>
      <pc:sldChg chg="add">
        <pc:chgData name="Q Z" userId="0598117016cd6850" providerId="LiveId" clId="{D2FDEEAF-84E1-154D-A946-0BAEA53F7449}" dt="2019-09-04T18:17:03.924" v="714"/>
        <pc:sldMkLst>
          <pc:docMk/>
          <pc:sldMk cId="4283312347" sldId="310"/>
        </pc:sldMkLst>
      </pc:sldChg>
      <pc:sldChg chg="add">
        <pc:chgData name="Q Z" userId="0598117016cd6850" providerId="LiveId" clId="{D2FDEEAF-84E1-154D-A946-0BAEA53F7449}" dt="2019-09-04T18:17:03.924" v="714"/>
        <pc:sldMkLst>
          <pc:docMk/>
          <pc:sldMk cId="1278548823" sldId="311"/>
        </pc:sldMkLst>
      </pc:sldChg>
      <pc:sldChg chg="add">
        <pc:chgData name="Q Z" userId="0598117016cd6850" providerId="LiveId" clId="{D2FDEEAF-84E1-154D-A946-0BAEA53F7449}" dt="2019-09-04T18:17:03.924" v="714"/>
        <pc:sldMkLst>
          <pc:docMk/>
          <pc:sldMk cId="2187985168" sldId="312"/>
        </pc:sldMkLst>
      </pc:sldChg>
      <pc:sldChg chg="modSp add">
        <pc:chgData name="Q Z" userId="0598117016cd6850" providerId="LiveId" clId="{D2FDEEAF-84E1-154D-A946-0BAEA53F7449}" dt="2019-09-04T18:17:04.231" v="718" actId="27636"/>
        <pc:sldMkLst>
          <pc:docMk/>
          <pc:sldMk cId="758662977" sldId="313"/>
        </pc:sldMkLst>
        <pc:spChg chg="mod">
          <ac:chgData name="Q Z" userId="0598117016cd6850" providerId="LiveId" clId="{D2FDEEAF-84E1-154D-A946-0BAEA53F7449}" dt="2019-09-04T18:17:04.231" v="718" actId="27636"/>
          <ac:spMkLst>
            <pc:docMk/>
            <pc:sldMk cId="758662977" sldId="313"/>
            <ac:spMk id="3" creationId="{ECDE4A1C-2F14-8F49-8E66-0CAD7BB35774}"/>
          </ac:spMkLst>
        </pc:spChg>
      </pc:sldChg>
      <pc:sldChg chg="add">
        <pc:chgData name="Q Z" userId="0598117016cd6850" providerId="LiveId" clId="{D2FDEEAF-84E1-154D-A946-0BAEA53F7449}" dt="2019-09-04T18:17:03.924" v="714"/>
        <pc:sldMkLst>
          <pc:docMk/>
          <pc:sldMk cId="806699933" sldId="314"/>
        </pc:sldMkLst>
      </pc:sldChg>
      <pc:sldChg chg="modSp add">
        <pc:chgData name="Q Z" userId="0598117016cd6850" providerId="LiveId" clId="{D2FDEEAF-84E1-154D-A946-0BAEA53F7449}" dt="2019-09-04T18:17:04.304" v="719" actId="27636"/>
        <pc:sldMkLst>
          <pc:docMk/>
          <pc:sldMk cId="690263055" sldId="315"/>
        </pc:sldMkLst>
        <pc:spChg chg="mod">
          <ac:chgData name="Q Z" userId="0598117016cd6850" providerId="LiveId" clId="{D2FDEEAF-84E1-154D-A946-0BAEA53F7449}" dt="2019-09-04T18:17:04.304" v="719" actId="27636"/>
          <ac:spMkLst>
            <pc:docMk/>
            <pc:sldMk cId="690263055" sldId="315"/>
            <ac:spMk id="3" creationId="{833E0AB9-AE05-854F-B0E8-CCE667980C18}"/>
          </ac:spMkLst>
        </pc:spChg>
      </pc:sldChg>
      <pc:sldChg chg="add">
        <pc:chgData name="Q Z" userId="0598117016cd6850" providerId="LiveId" clId="{D2FDEEAF-84E1-154D-A946-0BAEA53F7449}" dt="2019-09-04T18:17:03.924" v="714"/>
        <pc:sldMkLst>
          <pc:docMk/>
          <pc:sldMk cId="1334250750" sldId="316"/>
        </pc:sldMkLst>
      </pc:sldChg>
      <pc:sldChg chg="add">
        <pc:chgData name="Q Z" userId="0598117016cd6850" providerId="LiveId" clId="{D2FDEEAF-84E1-154D-A946-0BAEA53F7449}" dt="2019-09-04T18:17:03.924" v="714"/>
        <pc:sldMkLst>
          <pc:docMk/>
          <pc:sldMk cId="607632866" sldId="317"/>
        </pc:sldMkLst>
      </pc:sldChg>
      <pc:sldChg chg="add">
        <pc:chgData name="Q Z" userId="0598117016cd6850" providerId="LiveId" clId="{D2FDEEAF-84E1-154D-A946-0BAEA53F7449}" dt="2019-09-04T18:17:03.924" v="714"/>
        <pc:sldMkLst>
          <pc:docMk/>
          <pc:sldMk cId="2608597354" sldId="318"/>
        </pc:sldMkLst>
      </pc:sldChg>
      <pc:sldChg chg="modSp add">
        <pc:chgData name="Q Z" userId="0598117016cd6850" providerId="LiveId" clId="{D2FDEEAF-84E1-154D-A946-0BAEA53F7449}" dt="2019-09-04T18:21:23.153" v="1262" actId="20577"/>
        <pc:sldMkLst>
          <pc:docMk/>
          <pc:sldMk cId="2458459384" sldId="319"/>
        </pc:sldMkLst>
        <pc:spChg chg="mod">
          <ac:chgData name="Q Z" userId="0598117016cd6850" providerId="LiveId" clId="{D2FDEEAF-84E1-154D-A946-0BAEA53F7449}" dt="2019-09-04T18:18:07.927" v="853" actId="20577"/>
          <ac:spMkLst>
            <pc:docMk/>
            <pc:sldMk cId="2458459384" sldId="319"/>
            <ac:spMk id="2" creationId="{0AEC5667-D50F-3E47-A4DA-BC797509AD6B}"/>
          </ac:spMkLst>
        </pc:spChg>
        <pc:spChg chg="mod">
          <ac:chgData name="Q Z" userId="0598117016cd6850" providerId="LiveId" clId="{D2FDEEAF-84E1-154D-A946-0BAEA53F7449}" dt="2019-09-04T18:21:23.153" v="1262" actId="20577"/>
          <ac:spMkLst>
            <pc:docMk/>
            <pc:sldMk cId="2458459384" sldId="319"/>
            <ac:spMk id="3" creationId="{8232105E-677A-EF4D-B7AC-71CF68479263}"/>
          </ac:spMkLst>
        </pc:spChg>
      </pc:sldChg>
    </pc:docChg>
  </pc:docChgLst>
  <pc:docChgLst>
    <pc:chgData name="Q Z" userId="0598117016cd6850" providerId="LiveId" clId="{2BA66019-4591-C846-9028-2CD292E1765D}"/>
    <pc:docChg chg="undo custSel addSld delSld modSld">
      <pc:chgData name="Q Z" userId="0598117016cd6850" providerId="LiveId" clId="{2BA66019-4591-C846-9028-2CD292E1765D}" dt="2020-09-02T18:14:30.582" v="379" actId="2696"/>
      <pc:docMkLst>
        <pc:docMk/>
      </pc:docMkLst>
      <pc:sldChg chg="modSp mod">
        <pc:chgData name="Q Z" userId="0598117016cd6850" providerId="LiveId" clId="{2BA66019-4591-C846-9028-2CD292E1765D}" dt="2020-09-02T17:54:00.188" v="147" actId="404"/>
        <pc:sldMkLst>
          <pc:docMk/>
          <pc:sldMk cId="2090911193" sldId="260"/>
        </pc:sldMkLst>
        <pc:spChg chg="mod">
          <ac:chgData name="Q Z" userId="0598117016cd6850" providerId="LiveId" clId="{2BA66019-4591-C846-9028-2CD292E1765D}" dt="2020-09-02T17:54:00.188" v="147" actId="404"/>
          <ac:spMkLst>
            <pc:docMk/>
            <pc:sldMk cId="2090911193" sldId="260"/>
            <ac:spMk id="3" creationId="{858FDFE8-5660-3142-B97F-1D1C17F05F34}"/>
          </ac:spMkLst>
        </pc:spChg>
      </pc:sldChg>
      <pc:sldChg chg="modSp mod">
        <pc:chgData name="Q Z" userId="0598117016cd6850" providerId="LiveId" clId="{2BA66019-4591-C846-9028-2CD292E1765D}" dt="2020-09-02T18:06:08.458" v="310" actId="1076"/>
        <pc:sldMkLst>
          <pc:docMk/>
          <pc:sldMk cId="3690723403" sldId="279"/>
        </pc:sldMkLst>
        <pc:picChg chg="mod">
          <ac:chgData name="Q Z" userId="0598117016cd6850" providerId="LiveId" clId="{2BA66019-4591-C846-9028-2CD292E1765D}" dt="2020-09-02T18:06:08.458" v="310" actId="1076"/>
          <ac:picMkLst>
            <pc:docMk/>
            <pc:sldMk cId="3690723403" sldId="279"/>
            <ac:picMk id="4" creationId="{2B40250E-5C73-B04A-BBCC-724D95A16E1D}"/>
          </ac:picMkLst>
        </pc:picChg>
      </pc:sldChg>
      <pc:sldChg chg="modSp mod">
        <pc:chgData name="Q Z" userId="0598117016cd6850" providerId="LiveId" clId="{2BA66019-4591-C846-9028-2CD292E1765D}" dt="2020-09-02T17:57:35.733" v="206" actId="20577"/>
        <pc:sldMkLst>
          <pc:docMk/>
          <pc:sldMk cId="1668323801" sldId="300"/>
        </pc:sldMkLst>
        <pc:spChg chg="mod">
          <ac:chgData name="Q Z" userId="0598117016cd6850" providerId="LiveId" clId="{2BA66019-4591-C846-9028-2CD292E1765D}" dt="2020-09-02T17:57:35.733" v="206" actId="20577"/>
          <ac:spMkLst>
            <pc:docMk/>
            <pc:sldMk cId="1668323801" sldId="300"/>
            <ac:spMk id="3" creationId="{551CAB00-106C-FD48-80DB-4E60597D50E9}"/>
          </ac:spMkLst>
        </pc:spChg>
      </pc:sldChg>
      <pc:sldChg chg="modSp mod">
        <pc:chgData name="Q Z" userId="0598117016cd6850" providerId="LiveId" clId="{2BA66019-4591-C846-9028-2CD292E1765D}" dt="2020-09-02T18:04:21" v="307" actId="20577"/>
        <pc:sldMkLst>
          <pc:docMk/>
          <pc:sldMk cId="2458459384" sldId="319"/>
        </pc:sldMkLst>
        <pc:spChg chg="mod">
          <ac:chgData name="Q Z" userId="0598117016cd6850" providerId="LiveId" clId="{2BA66019-4591-C846-9028-2CD292E1765D}" dt="2020-09-02T18:04:21" v="307" actId="20577"/>
          <ac:spMkLst>
            <pc:docMk/>
            <pc:sldMk cId="2458459384" sldId="319"/>
            <ac:spMk id="3" creationId="{8232105E-677A-EF4D-B7AC-71CF68479263}"/>
          </ac:spMkLst>
        </pc:spChg>
      </pc:sldChg>
      <pc:sldChg chg="del">
        <pc:chgData name="Q Z" userId="0598117016cd6850" providerId="LiveId" clId="{2BA66019-4591-C846-9028-2CD292E1765D}" dt="2020-09-02T18:14:30.582" v="379" actId="2696"/>
        <pc:sldMkLst>
          <pc:docMk/>
          <pc:sldMk cId="1315374295" sldId="324"/>
        </pc:sldMkLst>
      </pc:sldChg>
      <pc:sldChg chg="addSp modSp add mod">
        <pc:chgData name="Q Z" userId="0598117016cd6850" providerId="LiveId" clId="{2BA66019-4591-C846-9028-2CD292E1765D}" dt="2020-09-02T18:10:24.651" v="378" actId="1076"/>
        <pc:sldMkLst>
          <pc:docMk/>
          <pc:sldMk cId="1771734156" sldId="326"/>
        </pc:sldMkLst>
        <pc:spChg chg="mod">
          <ac:chgData name="Q Z" userId="0598117016cd6850" providerId="LiveId" clId="{2BA66019-4591-C846-9028-2CD292E1765D}" dt="2020-09-02T18:07:38.347" v="353" actId="20577"/>
          <ac:spMkLst>
            <pc:docMk/>
            <pc:sldMk cId="1771734156" sldId="326"/>
            <ac:spMk id="2" creationId="{B9E0B195-2247-F141-ACF4-E4A1A8DA7C76}"/>
          </ac:spMkLst>
        </pc:spChg>
        <pc:spChg chg="mod">
          <ac:chgData name="Q Z" userId="0598117016cd6850" providerId="LiveId" clId="{2BA66019-4591-C846-9028-2CD292E1765D}" dt="2020-09-02T18:09:33.994" v="372" actId="404"/>
          <ac:spMkLst>
            <pc:docMk/>
            <pc:sldMk cId="1771734156" sldId="326"/>
            <ac:spMk id="3" creationId="{3541D7D8-FD16-F344-A89A-0C487F5F535C}"/>
          </ac:spMkLst>
        </pc:spChg>
        <pc:picChg chg="add mod">
          <ac:chgData name="Q Z" userId="0598117016cd6850" providerId="LiveId" clId="{2BA66019-4591-C846-9028-2CD292E1765D}" dt="2020-09-02T18:09:14.362" v="355" actId="1076"/>
          <ac:picMkLst>
            <pc:docMk/>
            <pc:sldMk cId="1771734156" sldId="326"/>
            <ac:picMk id="4" creationId="{28A2F7EC-1506-584F-9F84-478CF2DAE9A0}"/>
          </ac:picMkLst>
        </pc:picChg>
        <pc:picChg chg="add mod">
          <ac:chgData name="Q Z" userId="0598117016cd6850" providerId="LiveId" clId="{2BA66019-4591-C846-9028-2CD292E1765D}" dt="2020-09-02T18:10:24.651" v="378" actId="1076"/>
          <ac:picMkLst>
            <pc:docMk/>
            <pc:sldMk cId="1771734156" sldId="326"/>
            <ac:picMk id="1026" creationId="{06B1BA0E-569A-9645-9A7C-B513FF505C70}"/>
          </ac:picMkLst>
        </pc:picChg>
      </pc:sldChg>
    </pc:docChg>
  </pc:docChgLst>
  <pc:docChgLst>
    <pc:chgData name="Q Z" userId="0598117016cd6850" providerId="LiveId" clId="{3351F81B-803C-2C49-B9B7-94669ACAE3A8}"/>
    <pc:docChg chg="addSld modSld">
      <pc:chgData name="Q Z" userId="0598117016cd6850" providerId="LiveId" clId="{3351F81B-803C-2C49-B9B7-94669ACAE3A8}" dt="2020-09-03T09:04:41.933" v="55" actId="207"/>
      <pc:docMkLst>
        <pc:docMk/>
      </pc:docMkLst>
      <pc:sldChg chg="modSp">
        <pc:chgData name="Q Z" userId="0598117016cd6850" providerId="LiveId" clId="{3351F81B-803C-2C49-B9B7-94669ACAE3A8}" dt="2020-09-03T09:04:41.933" v="55" actId="207"/>
        <pc:sldMkLst>
          <pc:docMk/>
          <pc:sldMk cId="581332896" sldId="309"/>
        </pc:sldMkLst>
        <pc:spChg chg="mod">
          <ac:chgData name="Q Z" userId="0598117016cd6850" providerId="LiveId" clId="{3351F81B-803C-2C49-B9B7-94669ACAE3A8}" dt="2020-09-03T09:04:41.933" v="55" actId="207"/>
          <ac:spMkLst>
            <pc:docMk/>
            <pc:sldMk cId="581332896" sldId="309"/>
            <ac:spMk id="3" creationId="{1B15B996-5952-CA44-90B0-02ABAA4EAC6C}"/>
          </ac:spMkLst>
        </pc:spChg>
      </pc:sldChg>
      <pc:sldChg chg="addSp delSp modSp add">
        <pc:chgData name="Q Z" userId="0598117016cd6850" providerId="LiveId" clId="{3351F81B-803C-2C49-B9B7-94669ACAE3A8}" dt="2020-09-03T07:22:19.689" v="50" actId="1076"/>
        <pc:sldMkLst>
          <pc:docMk/>
          <pc:sldMk cId="2223405279" sldId="327"/>
        </pc:sldMkLst>
        <pc:spChg chg="mod">
          <ac:chgData name="Q Z" userId="0598117016cd6850" providerId="LiveId" clId="{3351F81B-803C-2C49-B9B7-94669ACAE3A8}" dt="2020-09-03T06:59:39.432" v="3"/>
          <ac:spMkLst>
            <pc:docMk/>
            <pc:sldMk cId="2223405279" sldId="327"/>
            <ac:spMk id="2" creationId="{1387362F-A24A-6342-BAAE-FACB800A3028}"/>
          </ac:spMkLst>
        </pc:spChg>
        <pc:spChg chg="mod">
          <ac:chgData name="Q Z" userId="0598117016cd6850" providerId="LiveId" clId="{3351F81B-803C-2C49-B9B7-94669ACAE3A8}" dt="2020-09-03T07:01:37.255" v="17" actId="14100"/>
          <ac:spMkLst>
            <pc:docMk/>
            <pc:sldMk cId="2223405279" sldId="327"/>
            <ac:spMk id="3" creationId="{09CB959C-A4EF-9742-8A17-1FEE29A4E276}"/>
          </ac:spMkLst>
        </pc:spChg>
        <pc:picChg chg="add del mod">
          <ac:chgData name="Q Z" userId="0598117016cd6850" providerId="LiveId" clId="{3351F81B-803C-2C49-B9B7-94669ACAE3A8}" dt="2020-09-03T07:03:47.855" v="32" actId="21"/>
          <ac:picMkLst>
            <pc:docMk/>
            <pc:sldMk cId="2223405279" sldId="327"/>
            <ac:picMk id="1026" creationId="{2CC0705B-C583-EB44-A6F0-3D7914EA4F67}"/>
          </ac:picMkLst>
        </pc:picChg>
        <pc:picChg chg="add del mod">
          <ac:chgData name="Q Z" userId="0598117016cd6850" providerId="LiveId" clId="{3351F81B-803C-2C49-B9B7-94669ACAE3A8}" dt="2020-09-03T07:03:47.855" v="32" actId="21"/>
          <ac:picMkLst>
            <pc:docMk/>
            <pc:sldMk cId="2223405279" sldId="327"/>
            <ac:picMk id="1028" creationId="{3C27A4E4-1D03-A64E-AD97-BCA56FBF8CD3}"/>
          </ac:picMkLst>
        </pc:picChg>
        <pc:picChg chg="add del mod">
          <ac:chgData name="Q Z" userId="0598117016cd6850" providerId="LiveId" clId="{3351F81B-803C-2C49-B9B7-94669ACAE3A8}" dt="2020-09-03T07:01:38.281" v="18"/>
          <ac:picMkLst>
            <pc:docMk/>
            <pc:sldMk cId="2223405279" sldId="327"/>
            <ac:picMk id="1030" creationId="{342F3586-D385-E742-A2C2-22F776B620DD}"/>
          </ac:picMkLst>
        </pc:picChg>
        <pc:picChg chg="add mod">
          <ac:chgData name="Q Z" userId="0598117016cd6850" providerId="LiveId" clId="{3351F81B-803C-2C49-B9B7-94669ACAE3A8}" dt="2020-09-03T07:22:19.689" v="50" actId="1076"/>
          <ac:picMkLst>
            <pc:docMk/>
            <pc:sldMk cId="2223405279" sldId="327"/>
            <ac:picMk id="1032" creationId="{51408161-DC70-BF41-B4E9-3A5ED79BA1B9}"/>
          </ac:picMkLst>
        </pc:picChg>
      </pc:sldChg>
      <pc:sldChg chg="addSp modSp add">
        <pc:chgData name="Q Z" userId="0598117016cd6850" providerId="LiveId" clId="{3351F81B-803C-2C49-B9B7-94669ACAE3A8}" dt="2020-09-03T07:04:16.074" v="38" actId="1076"/>
        <pc:sldMkLst>
          <pc:docMk/>
          <pc:sldMk cId="2711338742" sldId="328"/>
        </pc:sldMkLst>
        <pc:spChg chg="mod">
          <ac:chgData name="Q Z" userId="0598117016cd6850" providerId="LiveId" clId="{3351F81B-803C-2C49-B9B7-94669ACAE3A8}" dt="2020-09-03T07:03:29.915" v="31"/>
          <ac:spMkLst>
            <pc:docMk/>
            <pc:sldMk cId="2711338742" sldId="328"/>
            <ac:spMk id="2" creationId="{AC25ADB1-CF40-D540-82AD-CA29789D7DDA}"/>
          </ac:spMkLst>
        </pc:spChg>
        <pc:spChg chg="mod">
          <ac:chgData name="Q Z" userId="0598117016cd6850" providerId="LiveId" clId="{3351F81B-803C-2C49-B9B7-94669ACAE3A8}" dt="2020-09-03T07:02:22.768" v="26"/>
          <ac:spMkLst>
            <pc:docMk/>
            <pc:sldMk cId="2711338742" sldId="328"/>
            <ac:spMk id="3" creationId="{932B9BCA-7B9C-DF45-B6F8-04054E4A03F1}"/>
          </ac:spMkLst>
        </pc:spChg>
        <pc:picChg chg="add mod">
          <ac:chgData name="Q Z" userId="0598117016cd6850" providerId="LiveId" clId="{3351F81B-803C-2C49-B9B7-94669ACAE3A8}" dt="2020-09-03T07:04:16.074" v="38" actId="1076"/>
          <ac:picMkLst>
            <pc:docMk/>
            <pc:sldMk cId="2711338742" sldId="328"/>
            <ac:picMk id="4" creationId="{C25F8C83-F8D4-DD42-A362-8C519A77A271}"/>
          </ac:picMkLst>
        </pc:picChg>
      </pc:sldChg>
      <pc:sldChg chg="addSp delSp modSp add">
        <pc:chgData name="Q Z" userId="0598117016cd6850" providerId="LiveId" clId="{3351F81B-803C-2C49-B9B7-94669ACAE3A8}" dt="2020-09-03T07:05:16.381" v="42" actId="1076"/>
        <pc:sldMkLst>
          <pc:docMk/>
          <pc:sldMk cId="2580820078" sldId="329"/>
        </pc:sldMkLst>
        <pc:picChg chg="add mod">
          <ac:chgData name="Q Z" userId="0598117016cd6850" providerId="LiveId" clId="{3351F81B-803C-2C49-B9B7-94669ACAE3A8}" dt="2020-09-03T07:04:03.759" v="34"/>
          <ac:picMkLst>
            <pc:docMk/>
            <pc:sldMk cId="2580820078" sldId="329"/>
            <ac:picMk id="4" creationId="{23E38AF4-EE30-9748-8A9A-36C60CF5EA36}"/>
          </ac:picMkLst>
        </pc:picChg>
        <pc:picChg chg="add del mod">
          <ac:chgData name="Q Z" userId="0598117016cd6850" providerId="LiveId" clId="{3351F81B-803C-2C49-B9B7-94669ACAE3A8}" dt="2020-09-03T07:05:06.740" v="39" actId="1076"/>
          <ac:picMkLst>
            <pc:docMk/>
            <pc:sldMk cId="2580820078" sldId="329"/>
            <ac:picMk id="5" creationId="{E736130E-66FA-2E44-A00B-1FC5AD39B6DF}"/>
          </ac:picMkLst>
        </pc:picChg>
        <pc:picChg chg="add mod">
          <ac:chgData name="Q Z" userId="0598117016cd6850" providerId="LiveId" clId="{3351F81B-803C-2C49-B9B7-94669ACAE3A8}" dt="2020-09-03T07:05:16.381" v="42" actId="1076"/>
          <ac:picMkLst>
            <pc:docMk/>
            <pc:sldMk cId="2580820078" sldId="329"/>
            <ac:picMk id="2050" creationId="{885110A3-036A-974F-915C-551E62C9FA11}"/>
          </ac:picMkLst>
        </pc:picChg>
      </pc:sldChg>
      <pc:sldChg chg="addSp modSp add">
        <pc:chgData name="Q Z" userId="0598117016cd6850" providerId="LiveId" clId="{3351F81B-803C-2C49-B9B7-94669ACAE3A8}" dt="2020-09-03T07:23:27.125" v="54" actId="1076"/>
        <pc:sldMkLst>
          <pc:docMk/>
          <pc:sldMk cId="2355989735" sldId="330"/>
        </pc:sldMkLst>
        <pc:picChg chg="add mod">
          <ac:chgData name="Q Z" userId="0598117016cd6850" providerId="LiveId" clId="{3351F81B-803C-2C49-B9B7-94669ACAE3A8}" dt="2020-09-03T07:23:27.125" v="54" actId="1076"/>
          <ac:picMkLst>
            <pc:docMk/>
            <pc:sldMk cId="2355989735" sldId="330"/>
            <ac:picMk id="4098" creationId="{7CFFEB50-B1F5-4D46-8D41-1D790CF5C271}"/>
          </ac:picMkLst>
        </pc:picChg>
      </pc:sldChg>
      <pc:sldChg chg="modSp add">
        <pc:chgData name="Q Z" userId="0598117016cd6850" providerId="LiveId" clId="{3351F81B-803C-2C49-B9B7-94669ACAE3A8}" dt="2020-09-03T07:20:48.810" v="47" actId="20577"/>
        <pc:sldMkLst>
          <pc:docMk/>
          <pc:sldMk cId="3730086564" sldId="331"/>
        </pc:sldMkLst>
        <pc:spChg chg="mod">
          <ac:chgData name="Q Z" userId="0598117016cd6850" providerId="LiveId" clId="{3351F81B-803C-2C49-B9B7-94669ACAE3A8}" dt="2020-09-03T07:20:48.810" v="47" actId="20577"/>
          <ac:spMkLst>
            <pc:docMk/>
            <pc:sldMk cId="3730086564" sldId="331"/>
            <ac:spMk id="3" creationId="{52F30828-5CE0-BC4B-9D54-707C0B699C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72524C-7966-684C-BDC9-CFD451BFAD4B}" type="datetimeFigureOut">
              <a:rPr lang="en-US" smtClean="0"/>
              <a:t>9/21/26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6C42A-5AA1-B144-8688-E824ABDD91B9}" type="slidenum">
              <a:rPr lang="en-US" smtClean="0"/>
              <a:t>‹#›</a:t>
            </a:fld>
            <a:endParaRPr lang="en-US"/>
          </a:p>
        </p:txBody>
      </p:sp>
    </p:spTree>
    <p:extLst>
      <p:ext uri="{BB962C8B-B14F-4D97-AF65-F5344CB8AC3E}">
        <p14:creationId xmlns:p14="http://schemas.microsoft.com/office/powerpoint/2010/main" val="584254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nytimes.com/2021/12/02/health/covid-booster-shots-mix-and-match.html"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nytimes.com/2021/12/02/health/covid-booster-shots-mix-and-match.html"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6C42A-5AA1-B144-8688-E824ABDD91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1755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prstGeom prst="rect">
            <a:avLst/>
          </a:prstGeom>
        </p:spPr>
        <p:txBody>
          <a:bodyPr/>
          <a:lstStyle/>
          <a:p>
            <a:endParaRPr/>
          </a:p>
        </p:txBody>
      </p:sp>
      <p:sp>
        <p:nvSpPr>
          <p:cNvPr id="180" name="Shape 180"/>
          <p:cNvSpPr>
            <a:spLocks noGrp="1"/>
          </p:cNvSpPr>
          <p:nvPr>
            <p:ph type="body" sz="quarter" idx="1"/>
          </p:nvPr>
        </p:nvSpPr>
        <p:spPr>
          <a:prstGeom prst="rect">
            <a:avLst/>
          </a:prstGeom>
        </p:spPr>
        <p:txBody>
          <a:bodyPr/>
          <a:lstStyle>
            <a:lvl1pPr>
              <a:lnSpc>
                <a:spcPct val="125000"/>
              </a:lnSpc>
              <a:defRPr sz="2000"/>
            </a:lvl1pPr>
          </a:lstStyle>
          <a:p>
            <a:r>
              <a:t>This is one paper which has received 7K tweet mentions.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7153B-4D24-33F1-BD9A-AB595A040858}"/>
            </a:ext>
          </a:extLst>
        </p:cNvPr>
        <p:cNvGrpSpPr/>
        <p:nvPr/>
      </p:nvGrpSpPr>
      <p:grpSpPr>
        <a:xfrm>
          <a:off x="0" y="0"/>
          <a:ext cx="0" cy="0"/>
          <a:chOff x="0" y="0"/>
          <a:chExt cx="0" cy="0"/>
        </a:xfrm>
      </p:grpSpPr>
      <p:sp>
        <p:nvSpPr>
          <p:cNvPr id="179" name="Shape 179">
            <a:extLst>
              <a:ext uri="{FF2B5EF4-FFF2-40B4-BE49-F238E27FC236}">
                <a16:creationId xmlns:a16="http://schemas.microsoft.com/office/drawing/2014/main" id="{472DB376-A30F-ACFD-3907-2762774C2A28}"/>
              </a:ext>
            </a:extLst>
          </p:cNvPr>
          <p:cNvSpPr>
            <a:spLocks noGrp="1" noRot="1" noChangeAspect="1"/>
          </p:cNvSpPr>
          <p:nvPr>
            <p:ph type="sldImg"/>
          </p:nvPr>
        </p:nvSpPr>
        <p:spPr>
          <a:prstGeom prst="rect">
            <a:avLst/>
          </a:prstGeom>
        </p:spPr>
        <p:txBody>
          <a:bodyPr/>
          <a:lstStyle/>
          <a:p>
            <a:endParaRPr/>
          </a:p>
        </p:txBody>
      </p:sp>
      <p:sp>
        <p:nvSpPr>
          <p:cNvPr id="180" name="Shape 180">
            <a:extLst>
              <a:ext uri="{FF2B5EF4-FFF2-40B4-BE49-F238E27FC236}">
                <a16:creationId xmlns:a16="http://schemas.microsoft.com/office/drawing/2014/main" id="{D15F5F41-12A5-B52F-91F0-08BB3BCD8147}"/>
              </a:ext>
            </a:extLst>
          </p:cNvPr>
          <p:cNvSpPr>
            <a:spLocks noGrp="1"/>
          </p:cNvSpPr>
          <p:nvPr>
            <p:ph type="body" sz="quarter" idx="1"/>
          </p:nvPr>
        </p:nvSpPr>
        <p:spPr>
          <a:prstGeom prst="rect">
            <a:avLst/>
          </a:prstGeom>
        </p:spPr>
        <p:txBody>
          <a:bodyPr/>
          <a:lstStyle>
            <a:lvl1pPr>
              <a:lnSpc>
                <a:spcPct val="125000"/>
              </a:lnSpc>
              <a:defRPr sz="2000"/>
            </a:lvl1pPr>
          </a:lstStyle>
          <a:p>
            <a:r>
              <a:t>This is one paper which has received 7K tweet mentions.</a:t>
            </a:r>
          </a:p>
        </p:txBody>
      </p:sp>
    </p:spTree>
    <p:extLst>
      <p:ext uri="{BB962C8B-B14F-4D97-AF65-F5344CB8AC3E}">
        <p14:creationId xmlns:p14="http://schemas.microsoft.com/office/powerpoint/2010/main" val="449171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D1EF-C249-88A4-CAAD-B821D1186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2D699-26DD-A178-171A-EF7EBB5E42E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FB8D84-038A-D388-7153-4BCEE20ACC16}"/>
              </a:ext>
            </a:extLst>
          </p:cNvPr>
          <p:cNvSpPr>
            <a:spLocks noGrp="1"/>
          </p:cNvSpPr>
          <p:nvPr>
            <p:ph type="body" sz="quarter" idx="3"/>
          </p:nvPr>
        </p:nvSpPr>
        <p:spPr/>
        <p:txBody>
          <a:bodyPr/>
          <a:lstStyle/>
          <a:p>
            <a:pPr marL="228600" indent="-228600">
              <a:buAutoNum type="arabicPeriod"/>
            </a:pPr>
            <a:r>
              <a:rPr lang="en-US" dirty="0"/>
              <a:t>Predict num of tweet mentions or news coverage.</a:t>
            </a:r>
            <a:endParaRPr dirty="0"/>
          </a:p>
        </p:txBody>
      </p:sp>
      <p:sp>
        <p:nvSpPr>
          <p:cNvPr id="4" name="Slide Number Placeholder 3">
            <a:extLst>
              <a:ext uri="{FF2B5EF4-FFF2-40B4-BE49-F238E27FC236}">
                <a16:creationId xmlns:a16="http://schemas.microsoft.com/office/drawing/2014/main" id="{19B932AF-2430-EA61-D627-4DCE2682E690}"/>
              </a:ext>
            </a:extLst>
          </p:cNvPr>
          <p:cNvSpPr>
            <a:spLocks noGrp="1"/>
          </p:cNvSpPr>
          <p:nvPr>
            <p:ph type="sldNum" sz="quarter" idx="5"/>
          </p:nvPr>
        </p:nvSpPr>
        <p:spPr/>
      </p:sp>
    </p:spTree>
    <p:extLst>
      <p:ext uri="{BB962C8B-B14F-4D97-AF65-F5344CB8AC3E}">
        <p14:creationId xmlns:p14="http://schemas.microsoft.com/office/powerpoint/2010/main" val="4057919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8</a:t>
            </a:fld>
            <a:endParaRPr lang="en-US"/>
          </a:p>
        </p:txBody>
      </p:sp>
    </p:spTree>
    <p:extLst>
      <p:ext uri="{BB962C8B-B14F-4D97-AF65-F5344CB8AC3E}">
        <p14:creationId xmlns:p14="http://schemas.microsoft.com/office/powerpoint/2010/main" val="3930748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9</a:t>
            </a:fld>
            <a:endParaRPr lang="en-US"/>
          </a:p>
        </p:txBody>
      </p:sp>
    </p:spTree>
    <p:extLst>
      <p:ext uri="{BB962C8B-B14F-4D97-AF65-F5344CB8AC3E}">
        <p14:creationId xmlns:p14="http://schemas.microsoft.com/office/powerpoint/2010/main" val="1454052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10</a:t>
            </a:fld>
            <a:endParaRPr lang="en-US"/>
          </a:p>
        </p:txBody>
      </p:sp>
    </p:spTree>
    <p:extLst>
      <p:ext uri="{BB962C8B-B14F-4D97-AF65-F5344CB8AC3E}">
        <p14:creationId xmlns:p14="http://schemas.microsoft.com/office/powerpoint/2010/main" val="344528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11</a:t>
            </a:fld>
            <a:endParaRPr lang="en-US"/>
          </a:p>
        </p:txBody>
      </p:sp>
    </p:spTree>
    <p:extLst>
      <p:ext uri="{BB962C8B-B14F-4D97-AF65-F5344CB8AC3E}">
        <p14:creationId xmlns:p14="http://schemas.microsoft.com/office/powerpoint/2010/main" val="4294544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12</a:t>
            </a:fld>
            <a:endParaRPr lang="en-US"/>
          </a:p>
        </p:txBody>
      </p:sp>
    </p:spTree>
    <p:extLst>
      <p:ext uri="{BB962C8B-B14F-4D97-AF65-F5344CB8AC3E}">
        <p14:creationId xmlns:p14="http://schemas.microsoft.com/office/powerpoint/2010/main" val="305688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13</a:t>
            </a:fld>
            <a:endParaRPr lang="en-US"/>
          </a:p>
        </p:txBody>
      </p:sp>
    </p:spTree>
    <p:extLst>
      <p:ext uri="{BB962C8B-B14F-4D97-AF65-F5344CB8AC3E}">
        <p14:creationId xmlns:p14="http://schemas.microsoft.com/office/powerpoint/2010/main" val="361293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14</a:t>
            </a:fld>
            <a:endParaRPr lang="en-US"/>
          </a:p>
        </p:txBody>
      </p:sp>
    </p:spTree>
    <p:extLst>
      <p:ext uri="{BB962C8B-B14F-4D97-AF65-F5344CB8AC3E}">
        <p14:creationId xmlns:p14="http://schemas.microsoft.com/office/powerpoint/2010/main" val="4281809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15</a:t>
            </a:fld>
            <a:endParaRPr lang="en-US"/>
          </a:p>
        </p:txBody>
      </p:sp>
    </p:spTree>
    <p:extLst>
      <p:ext uri="{BB962C8B-B14F-4D97-AF65-F5344CB8AC3E}">
        <p14:creationId xmlns:p14="http://schemas.microsoft.com/office/powerpoint/2010/main" val="1407773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16</a:t>
            </a:fld>
            <a:endParaRPr lang="en-US"/>
          </a:p>
        </p:txBody>
      </p:sp>
    </p:spTree>
    <p:extLst>
      <p:ext uri="{BB962C8B-B14F-4D97-AF65-F5344CB8AC3E}">
        <p14:creationId xmlns:p14="http://schemas.microsoft.com/office/powerpoint/2010/main" val="853839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17</a:t>
            </a:fld>
            <a:endParaRPr lang="en-US"/>
          </a:p>
        </p:txBody>
      </p:sp>
    </p:spTree>
    <p:extLst>
      <p:ext uri="{BB962C8B-B14F-4D97-AF65-F5344CB8AC3E}">
        <p14:creationId xmlns:p14="http://schemas.microsoft.com/office/powerpoint/2010/main" val="1730620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18</a:t>
            </a:fld>
            <a:endParaRPr lang="en-US"/>
          </a:p>
        </p:txBody>
      </p:sp>
    </p:spTree>
    <p:extLst>
      <p:ext uri="{BB962C8B-B14F-4D97-AF65-F5344CB8AC3E}">
        <p14:creationId xmlns:p14="http://schemas.microsoft.com/office/powerpoint/2010/main" val="611273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19</a:t>
            </a:fld>
            <a:endParaRPr lang="en-US"/>
          </a:p>
        </p:txBody>
      </p:sp>
    </p:spTree>
    <p:extLst>
      <p:ext uri="{BB962C8B-B14F-4D97-AF65-F5344CB8AC3E}">
        <p14:creationId xmlns:p14="http://schemas.microsoft.com/office/powerpoint/2010/main" val="3747668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20</a:t>
            </a:fld>
            <a:endParaRPr lang="en-US"/>
          </a:p>
        </p:txBody>
      </p:sp>
    </p:spTree>
    <p:extLst>
      <p:ext uri="{BB962C8B-B14F-4D97-AF65-F5344CB8AC3E}">
        <p14:creationId xmlns:p14="http://schemas.microsoft.com/office/powerpoint/2010/main" val="1952360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06C42A-5AA1-B144-8688-E824ABDD91B9}" type="slidenum">
              <a:rPr lang="en-US" smtClean="0"/>
              <a:t>22</a:t>
            </a:fld>
            <a:endParaRPr lang="en-US"/>
          </a:p>
        </p:txBody>
      </p:sp>
    </p:spTree>
    <p:extLst>
      <p:ext uri="{BB962C8B-B14F-4D97-AF65-F5344CB8AC3E}">
        <p14:creationId xmlns:p14="http://schemas.microsoft.com/office/powerpoint/2010/main" val="1574034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23</a:t>
            </a:fld>
            <a:endParaRPr lang="en-US"/>
          </a:p>
        </p:txBody>
      </p:sp>
    </p:spTree>
    <p:extLst>
      <p:ext uri="{BB962C8B-B14F-4D97-AF65-F5344CB8AC3E}">
        <p14:creationId xmlns:p14="http://schemas.microsoft.com/office/powerpoint/2010/main" val="1078748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24</a:t>
            </a:fld>
            <a:endParaRPr lang="en-US"/>
          </a:p>
        </p:txBody>
      </p:sp>
    </p:spTree>
    <p:extLst>
      <p:ext uri="{BB962C8B-B14F-4D97-AF65-F5344CB8AC3E}">
        <p14:creationId xmlns:p14="http://schemas.microsoft.com/office/powerpoint/2010/main" val="36520930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no backslash in the r-string, so it is the same as regular RE.</a:t>
            </a:r>
          </a:p>
          <a:p>
            <a:endParaRPr lang="en-US" dirty="0"/>
          </a:p>
        </p:txBody>
      </p:sp>
      <p:sp>
        <p:nvSpPr>
          <p:cNvPr id="4" name="Slide Number Placeholder 3"/>
          <p:cNvSpPr>
            <a:spLocks noGrp="1"/>
          </p:cNvSpPr>
          <p:nvPr>
            <p:ph type="sldNum" sz="quarter" idx="5"/>
          </p:nvPr>
        </p:nvSpPr>
        <p:spPr/>
        <p:txBody>
          <a:bodyPr/>
          <a:lstStyle/>
          <a:p>
            <a:fld id="{BD06C42A-5AA1-B144-8688-E824ABDD91B9}" type="slidenum">
              <a:rPr lang="en-US" smtClean="0"/>
              <a:t>26</a:t>
            </a:fld>
            <a:endParaRPr lang="en-US"/>
          </a:p>
        </p:txBody>
      </p:sp>
    </p:spTree>
    <p:extLst>
      <p:ext uri="{BB962C8B-B14F-4D97-AF65-F5344CB8AC3E}">
        <p14:creationId xmlns:p14="http://schemas.microsoft.com/office/powerpoint/2010/main" val="33903604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06C42A-5AA1-B144-8688-E824ABDD91B9}" type="slidenum">
              <a:rPr lang="en-US" smtClean="0"/>
              <a:t>27</a:t>
            </a:fld>
            <a:endParaRPr lang="en-US"/>
          </a:p>
        </p:txBody>
      </p:sp>
    </p:spTree>
    <p:extLst>
      <p:ext uri="{BB962C8B-B14F-4D97-AF65-F5344CB8AC3E}">
        <p14:creationId xmlns:p14="http://schemas.microsoft.com/office/powerpoint/2010/main" val="2309594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Start with either a capital T or lowercase t. Are followed immediately by the exact characters “</a:t>
            </a:r>
            <a:r>
              <a:rPr lang="en-US" dirty="0" err="1"/>
              <a:t>oday</a:t>
            </a:r>
            <a:r>
              <a:rPr lang="en-US" dirty="0"/>
              <a:t>”. Must appear at the start of the string.</a:t>
            </a:r>
          </a:p>
        </p:txBody>
      </p:sp>
      <p:sp>
        <p:nvSpPr>
          <p:cNvPr id="4" name="Slide Number Placeholder 3"/>
          <p:cNvSpPr>
            <a:spLocks noGrp="1"/>
          </p:cNvSpPr>
          <p:nvPr>
            <p:ph type="sldNum" sz="quarter" idx="10"/>
          </p:nvPr>
        </p:nvSpPr>
        <p:spPr/>
        <p:txBody>
          <a:bodyPr/>
          <a:lstStyle/>
          <a:p>
            <a:fld id="{E0A0E0A3-9BF8-4DB2-8CB8-4256C0A802C2}" type="slidenum">
              <a:rPr lang="en-US" smtClean="0"/>
              <a:t>28</a:t>
            </a:fld>
            <a:endParaRPr lang="en-US"/>
          </a:p>
        </p:txBody>
      </p:sp>
    </p:spTree>
    <p:extLst>
      <p:ext uri="{BB962C8B-B14F-4D97-AF65-F5344CB8AC3E}">
        <p14:creationId xmlns:p14="http://schemas.microsoft.com/office/powerpoint/2010/main" val="345713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29</a:t>
            </a:fld>
            <a:endParaRPr lang="en-US"/>
          </a:p>
        </p:txBody>
      </p:sp>
    </p:spTree>
    <p:extLst>
      <p:ext uri="{BB962C8B-B14F-4D97-AF65-F5344CB8AC3E}">
        <p14:creationId xmlns:p14="http://schemas.microsoft.com/office/powerpoint/2010/main" val="4144767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A0E0A3-9BF8-4DB2-8CB8-4256C0A802C2}" type="slidenum">
              <a:rPr lang="en-US" smtClean="0"/>
              <a:t>38</a:t>
            </a:fld>
            <a:endParaRPr lang="en-US"/>
          </a:p>
        </p:txBody>
      </p:sp>
    </p:spTree>
    <p:extLst>
      <p:ext uri="{BB962C8B-B14F-4D97-AF65-F5344CB8AC3E}">
        <p14:creationId xmlns:p14="http://schemas.microsoft.com/office/powerpoint/2010/main" val="1816849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hape 204"/>
          <p:cNvSpPr>
            <a:spLocks noGrp="1" noRot="1" noChangeAspect="1"/>
          </p:cNvSpPr>
          <p:nvPr>
            <p:ph type="sldImg"/>
          </p:nvPr>
        </p:nvSpPr>
        <p:spPr>
          <a:prstGeom prst="rect">
            <a:avLst/>
          </a:prstGeom>
        </p:spPr>
        <p:txBody>
          <a:bodyPr/>
          <a:lstStyle/>
          <a:p>
            <a:endParaRPr/>
          </a:p>
        </p:txBody>
      </p:sp>
      <p:sp>
        <p:nvSpPr>
          <p:cNvPr id="205" name="Shape 205"/>
          <p:cNvSpPr>
            <a:spLocks noGrp="1"/>
          </p:cNvSpPr>
          <p:nvPr>
            <p:ph type="body" sz="quarter" idx="1"/>
          </p:nvPr>
        </p:nvSpPr>
        <p:spPr>
          <a:prstGeom prst="rect">
            <a:avLst/>
          </a:prstGeom>
        </p:spPr>
        <p:txBody>
          <a:bodyPr/>
          <a:lstStyle>
            <a:lvl1pPr>
              <a:lnSpc>
                <a:spcPct val="125000"/>
              </a:lnSpc>
              <a:defRPr sz="2000"/>
            </a:lvl1pPr>
          </a:lstStyle>
          <a:p>
            <a:r>
              <a:t>To systematically investigate this issue, we did an obs study to answer two big RQs.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Shape 198"/>
          <p:cNvSpPr>
            <a:spLocks noGrp="1" noRot="1" noChangeAspect="1"/>
          </p:cNvSpPr>
          <p:nvPr>
            <p:ph type="sldImg"/>
          </p:nvPr>
        </p:nvSpPr>
        <p:spPr>
          <a:prstGeom prst="rect">
            <a:avLst/>
          </a:prstGeom>
        </p:spPr>
        <p:txBody>
          <a:bodyPr/>
          <a:lstStyle/>
          <a:p>
            <a:endParaRPr/>
          </a:p>
        </p:txBody>
      </p:sp>
      <p:sp>
        <p:nvSpPr>
          <p:cNvPr id="199" name="Shape 199"/>
          <p:cNvSpPr>
            <a:spLocks noGrp="1"/>
          </p:cNvSpPr>
          <p:nvPr>
            <p:ph type="body" sz="quarter" idx="1"/>
          </p:nvPr>
        </p:nvSpPr>
        <p:spPr>
          <a:prstGeom prst="rect">
            <a:avLst/>
          </a:prstGeom>
        </p:spPr>
        <p:txBody>
          <a:bodyPr/>
          <a:lstStyle/>
          <a:p>
            <a:pPr>
              <a:lnSpc>
                <a:spcPct val="125000"/>
              </a:lnSpc>
              <a:defRPr sz="2000"/>
            </a:pPr>
            <a:r>
              <a:t>This story reports a paper, mentions the last author, but referred to all other authors as British researchers.</a:t>
            </a:r>
          </a:p>
          <a:p>
            <a:pPr>
              <a:lnSpc>
                <a:spcPct val="125000"/>
              </a:lnSpc>
              <a:defRPr sz="2000"/>
            </a:pPr>
            <a:r>
              <a:rPr u="sng">
                <a:hlinkClick r:id="rId3"/>
              </a:rPr>
              <a:t>https://www.nytimes.com/2021/12/02/health/covid-booster-shots-mix-and-match.html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D3B2-CCE7-6475-A63C-13956EF1E597}"/>
            </a:ext>
          </a:extLst>
        </p:cNvPr>
        <p:cNvGrpSpPr/>
        <p:nvPr/>
      </p:nvGrpSpPr>
      <p:grpSpPr>
        <a:xfrm>
          <a:off x="0" y="0"/>
          <a:ext cx="0" cy="0"/>
          <a:chOff x="0" y="0"/>
          <a:chExt cx="0" cy="0"/>
        </a:xfrm>
      </p:grpSpPr>
      <p:sp>
        <p:nvSpPr>
          <p:cNvPr id="198" name="Shape 198">
            <a:extLst>
              <a:ext uri="{FF2B5EF4-FFF2-40B4-BE49-F238E27FC236}">
                <a16:creationId xmlns:a16="http://schemas.microsoft.com/office/drawing/2014/main" id="{A126FDC9-C855-01FC-0913-A7F540E9E1E5}"/>
              </a:ext>
            </a:extLst>
          </p:cNvPr>
          <p:cNvSpPr>
            <a:spLocks noGrp="1" noRot="1" noChangeAspect="1"/>
          </p:cNvSpPr>
          <p:nvPr>
            <p:ph type="sldImg"/>
          </p:nvPr>
        </p:nvSpPr>
        <p:spPr>
          <a:prstGeom prst="rect">
            <a:avLst/>
          </a:prstGeom>
        </p:spPr>
        <p:txBody>
          <a:bodyPr/>
          <a:lstStyle/>
          <a:p>
            <a:endParaRPr/>
          </a:p>
        </p:txBody>
      </p:sp>
      <p:sp>
        <p:nvSpPr>
          <p:cNvPr id="199" name="Shape 199">
            <a:extLst>
              <a:ext uri="{FF2B5EF4-FFF2-40B4-BE49-F238E27FC236}">
                <a16:creationId xmlns:a16="http://schemas.microsoft.com/office/drawing/2014/main" id="{8519EA59-8D59-84EB-477B-3AB2805132FD}"/>
              </a:ext>
            </a:extLst>
          </p:cNvPr>
          <p:cNvSpPr>
            <a:spLocks noGrp="1"/>
          </p:cNvSpPr>
          <p:nvPr>
            <p:ph type="body" sz="quarter" idx="1"/>
          </p:nvPr>
        </p:nvSpPr>
        <p:spPr>
          <a:prstGeom prst="rect">
            <a:avLst/>
          </a:prstGeom>
        </p:spPr>
        <p:txBody>
          <a:bodyPr/>
          <a:lstStyle/>
          <a:p>
            <a:pPr>
              <a:lnSpc>
                <a:spcPct val="125000"/>
              </a:lnSpc>
              <a:defRPr sz="2000"/>
            </a:pPr>
            <a:endParaRPr u="sng" dirty="0">
              <a:hlinkClick r:id="rId3"/>
            </a:endParaRPr>
          </a:p>
        </p:txBody>
      </p:sp>
    </p:spTree>
    <p:extLst>
      <p:ext uri="{BB962C8B-B14F-4D97-AF65-F5344CB8AC3E}">
        <p14:creationId xmlns:p14="http://schemas.microsoft.com/office/powerpoint/2010/main" val="2384494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hape 242"/>
          <p:cNvSpPr>
            <a:spLocks noGrp="1" noRot="1" noChangeAspect="1"/>
          </p:cNvSpPr>
          <p:nvPr>
            <p:ph type="sldImg"/>
          </p:nvPr>
        </p:nvSpPr>
        <p:spPr>
          <a:prstGeom prst="rect">
            <a:avLst/>
          </a:prstGeom>
        </p:spPr>
        <p:txBody>
          <a:bodyPr/>
          <a:lstStyle/>
          <a:p>
            <a:endParaRPr/>
          </a:p>
        </p:txBody>
      </p:sp>
      <p:sp>
        <p:nvSpPr>
          <p:cNvPr id="243" name="Shape 243"/>
          <p:cNvSpPr>
            <a:spLocks noGrp="1"/>
          </p:cNvSpPr>
          <p:nvPr>
            <p:ph type="body" sz="quarter" idx="1"/>
          </p:nvPr>
        </p:nvSpPr>
        <p:spPr>
          <a:prstGeom prst="rect">
            <a:avLst/>
          </a:prstGeom>
        </p:spPr>
        <p:txBody>
          <a:bodyPr/>
          <a:lstStyle>
            <a:lvl1pPr>
              <a:lnSpc>
                <a:spcPct val="125000"/>
              </a:lnSpc>
              <a:defRPr sz="2000"/>
            </a:lvl1pPr>
          </a:lstStyle>
          <a:p>
            <a:r>
              <a:t>In our final dataset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endParaRPr/>
          </a:p>
        </p:txBody>
      </p:sp>
      <p:sp>
        <p:nvSpPr>
          <p:cNvPr id="225" name="Shape 225"/>
          <p:cNvSpPr>
            <a:spLocks noGrp="1"/>
          </p:cNvSpPr>
          <p:nvPr>
            <p:ph type="body" sz="quarter" idx="1"/>
          </p:nvPr>
        </p:nvSpPr>
        <p:spPr>
          <a:prstGeom prst="rect">
            <a:avLst/>
          </a:prstGeom>
        </p:spPr>
        <p:txBody>
          <a:bodyPr/>
          <a:lstStyle/>
          <a:p>
            <a:r>
              <a:t>We treated each triplet as an obs.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chance exists that this process may introduce false positives for authors with common words as last names (e.g., “White”), such cases are rare because (</a:t>
            </a:r>
            <a:r>
              <a:rPr lang="en-US" dirty="0" err="1"/>
              <a:t>i</a:t>
            </a:r>
            <a:r>
              <a:rPr lang="en-US" dirty="0"/>
              <a:t>) few authors in our dataset have common English words as their last names, and (ii) these words rarely appear at the beginning of a sentence in the story when they would be capitalized.</a:t>
            </a:r>
          </a:p>
        </p:txBody>
      </p:sp>
      <p:sp>
        <p:nvSpPr>
          <p:cNvPr id="4" name="Slide Number Placeholder 3"/>
          <p:cNvSpPr>
            <a:spLocks noGrp="1"/>
          </p:cNvSpPr>
          <p:nvPr>
            <p:ph type="sldNum" sz="quarter" idx="5"/>
          </p:nvPr>
        </p:nvSpPr>
        <p:spPr/>
        <p:txBody>
          <a:bodyPr/>
          <a:lstStyle/>
          <a:p>
            <a:fld id="{BD06C42A-5AA1-B144-8688-E824ABDD91B9}" type="slidenum">
              <a:rPr lang="en-US" smtClean="0"/>
              <a:t>47</a:t>
            </a:fld>
            <a:endParaRPr lang="en-US"/>
          </a:p>
        </p:txBody>
      </p:sp>
    </p:spTree>
    <p:extLst>
      <p:ext uri="{BB962C8B-B14F-4D97-AF65-F5344CB8AC3E}">
        <p14:creationId xmlns:p14="http://schemas.microsoft.com/office/powerpoint/2010/main" val="17658285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8B5AB-F931-F886-4318-C94F501EF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2B1FE-776D-12E1-2B9F-2B6E398CDF14}"/>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CC22F787-B52C-8D51-0261-DDC5CCAED7B5}"/>
              </a:ext>
            </a:extLst>
          </p:cNvPr>
          <p:cNvSpPr>
            <a:spLocks noGrp="1"/>
          </p:cNvSpPr>
          <p:nvPr>
            <p:ph type="body" idx="1"/>
          </p:nvPr>
        </p:nvSpPr>
        <p:spPr/>
        <p:txBody>
          <a:bodyPr/>
          <a:lstStyle/>
          <a:p>
            <a:r>
              <a:rPr lang="en-US" dirty="0"/>
              <a:t>Prompt: </a:t>
            </a:r>
          </a:p>
          <a:p>
            <a:endParaRPr lang="en-US" dirty="0"/>
          </a:p>
          <a:p>
            <a:r>
              <a:rPr lang="en-US" sz="1200" b="0" i="0" kern="1200" dirty="0">
                <a:solidFill>
                  <a:schemeClr val="tx1"/>
                </a:solidFill>
                <a:effectLst/>
                <a:latin typeface="+mn-lt"/>
                <a:ea typeface="+mn-ea"/>
                <a:cs typeface="+mn-cs"/>
              </a:rPr>
              <a:t>Design a regular expression to capture quotes that include these quote-signaling words (18 out of top 50 verbs): “describe”, “explain”, “say”, “tell”, “note”, “add”, “acknowledge”, “oﬀer”, “point”, “caution”, “advise”, “emphasize”, “see”, “suggest”, “comment”, “continue”, “conﬁrm”, “accord”. If any of the 18 verbs (or their verb tenses) appears within ﬁve tokens before or after a person’s full or last name, it is a match.</a:t>
            </a:r>
            <a:endParaRPr lang="en-US" dirty="0"/>
          </a:p>
        </p:txBody>
      </p:sp>
      <p:sp>
        <p:nvSpPr>
          <p:cNvPr id="4" name="Slide Number Placeholder 3">
            <a:extLst>
              <a:ext uri="{FF2B5EF4-FFF2-40B4-BE49-F238E27FC236}">
                <a16:creationId xmlns:a16="http://schemas.microsoft.com/office/drawing/2014/main" id="{511555B3-01EC-4D97-E9BC-7D91F7ACD0EF}"/>
              </a:ext>
            </a:extLst>
          </p:cNvPr>
          <p:cNvSpPr>
            <a:spLocks noGrp="1"/>
          </p:cNvSpPr>
          <p:nvPr>
            <p:ph type="sldNum" sz="quarter" idx="10"/>
          </p:nvPr>
        </p:nvSpPr>
        <p:spPr/>
        <p:txBody>
          <a:bodyPr/>
          <a:lstStyle/>
          <a:p>
            <a:fld id="{E0A0E0A3-9BF8-4DB2-8CB8-4256C0A802C2}" type="slidenum">
              <a:rPr lang="en-US" smtClean="0"/>
              <a:t>49</a:t>
            </a:fld>
            <a:endParaRPr lang="en-US"/>
          </a:p>
        </p:txBody>
      </p:sp>
    </p:spTree>
    <p:extLst>
      <p:ext uri="{BB962C8B-B14F-4D97-AF65-F5344CB8AC3E}">
        <p14:creationId xmlns:p14="http://schemas.microsoft.com/office/powerpoint/2010/main" val="5658019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Higher-level text analysis for social media</a:t>
            </a:r>
          </a:p>
          <a:p>
            <a:endParaRPr lang="en-US" dirty="0"/>
          </a:p>
        </p:txBody>
      </p:sp>
      <p:sp>
        <p:nvSpPr>
          <p:cNvPr id="4" name="Slide Number Placeholder 3"/>
          <p:cNvSpPr>
            <a:spLocks noGrp="1"/>
          </p:cNvSpPr>
          <p:nvPr>
            <p:ph type="sldNum" sz="quarter" idx="5"/>
          </p:nvPr>
        </p:nvSpPr>
        <p:spPr/>
        <p:txBody>
          <a:bodyPr/>
          <a:lstStyle/>
          <a:p>
            <a:fld id="{BD06C42A-5AA1-B144-8688-E824ABDD91B9}" type="slidenum">
              <a:rPr lang="en-US" smtClean="0"/>
              <a:t>50</a:t>
            </a:fld>
            <a:endParaRPr lang="en-US"/>
          </a:p>
        </p:txBody>
      </p:sp>
    </p:spTree>
    <p:extLst>
      <p:ext uri="{BB962C8B-B14F-4D97-AF65-F5344CB8AC3E}">
        <p14:creationId xmlns:p14="http://schemas.microsoft.com/office/powerpoint/2010/main" val="1609367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The Segmentation Procedure</a:t>
                </a:r>
                <a:br>
                  <a:rPr lang="en-US" dirty="0"/>
                </a:br>
                <a:r>
                  <a:rPr lang="en-US" sz="1200" b="0" i="0" kern="1200" dirty="0">
                    <a:solidFill>
                      <a:schemeClr val="tx1"/>
                    </a:solidFill>
                    <a:effectLst/>
                    <a:latin typeface="+mn-lt"/>
                    <a:ea typeface="+mn-ea"/>
                    <a:cs typeface="+mn-cs"/>
                  </a:rPr>
                  <a:t>To operationalize this, the full debate is segmented into </a:t>
                </a:r>
                <a:r>
                  <a:rPr lang="en-US" sz="1200" b="1" i="0" kern="1200" dirty="0">
                    <a:solidFill>
                      <a:schemeClr val="tx1"/>
                    </a:solidFill>
                    <a:effectLst/>
                    <a:latin typeface="+mn-lt"/>
                    <a:ea typeface="+mn-ea"/>
                    <a:cs typeface="+mn-cs"/>
                  </a:rPr>
                  <a:t>sub-segments</a:t>
                </a:r>
                <a:r>
                  <a:rPr lang="en-US" sz="1200" b="0" i="0" kern="1200" dirty="0">
                    <a:solidFill>
                      <a:schemeClr val="tx1"/>
                    </a:solidFill>
                    <a:effectLst/>
                    <a:latin typeface="+mn-lt"/>
                    <a:ea typeface="+mn-ea"/>
                    <a:cs typeface="+mn-cs"/>
                  </a:rPr>
                  <a:t> where there is a lead statement (a question or a statement by a participant). Each lead statement is rated for the linguistic markers, and the response statement by the next candidate is categorized as either containing the marker or not. This is done for all sub-segments across the entire debate</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prev</a:t>
                </a:r>
                <a:r>
                  <a:rPr lang="en-US" sz="1200" b="0" i="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c</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d</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m</a:t>
                </a:r>
                <a:r>
                  <a:rPr lang="en-US" sz="1200" b="0" i="0" kern="1200" dirty="0">
                    <a:solidFill>
                      <a:schemeClr val="tx1"/>
                    </a:solidFill>
                    <a:effectLst/>
                    <a:latin typeface="+mn-lt"/>
                    <a:ea typeface="+mn-ea"/>
                    <a:cs typeface="+mn-cs"/>
                  </a:rPr>
                  <a:t>): The total number of times the person who spoke right before </a:t>
                </a:r>
                <a14:m>
                  <m:oMath xmlns:m="http://schemas.openxmlformats.org/officeDocument/2006/math">
                    <m:r>
                      <a:rPr lang="en-US" sz="1200" i="1" kern="1200">
                        <a:solidFill>
                          <a:schemeClr val="tx1"/>
                        </a:solidFill>
                        <a:latin typeface="Cambria Math" panose="02040503050406030204" pitchFamily="18" charset="0"/>
                        <a:ea typeface="+mn-ea"/>
                        <a:cs typeface="+mn-cs"/>
                      </a:rPr>
                      <m:t>𝑐</m:t>
                    </m:r>
                  </m:oMath>
                </a14:m>
                <a:r>
                  <a:rPr lang="en-US" sz="1200" b="0" i="0" kern="1200" dirty="0">
                    <a:solidFill>
                      <a:schemeClr val="tx1"/>
                    </a:solidFill>
                    <a:effectLst/>
                    <a:latin typeface="+mn-lt"/>
                    <a:ea typeface="+mn-ea"/>
                    <a:cs typeface="+mn-cs"/>
                  </a:rPr>
                  <a:t> used marker </a:t>
                </a:r>
                <a14:m>
                  <m:oMath xmlns:m="http://schemas.openxmlformats.org/officeDocument/2006/math">
                    <m:r>
                      <a:rPr lang="en-US" sz="1200" i="1" kern="1200">
                        <a:solidFill>
                          <a:schemeClr val="tx1"/>
                        </a:solidFill>
                        <a:latin typeface="Cambria Math" panose="02040503050406030204" pitchFamily="18" charset="0"/>
                        <a:ea typeface="+mn-ea"/>
                        <a:cs typeface="+mn-cs"/>
                      </a:rPr>
                      <m:t>𝑚</m:t>
                    </m:r>
                  </m:oMath>
                </a14:m>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14:m>
                  <m:oMath xmlns:m="http://schemas.openxmlformats.org/officeDocument/2006/math">
                    <m:groupChr>
                      <m:groupChrPr>
                        <m:chr m:val="‾"/>
                        <m:pos m:val="top"/>
                        <m:vertJc m:val="bot"/>
                        <m:ctrlPr>
                          <a:rPr lang="ar-AE" sz="1200" b="0" i="1" kern="1200">
                            <a:solidFill>
                              <a:schemeClr val="tx1"/>
                            </a:solidFill>
                            <a:latin typeface="Cambria Math" panose="02040503050406030204" pitchFamily="18" charset="0"/>
                            <a:ea typeface="+mn-ea"/>
                            <a:cs typeface="+mn-cs"/>
                          </a:rPr>
                        </m:ctrlPr>
                      </m:groupChrPr>
                      <m:e>
                        <m:r>
                          <m:rPr>
                            <m:nor/>
                          </m:rPr>
                          <a:rPr lang="en-US" b="0"/>
                          <m:t>prev</m:t>
                        </m:r>
                        <m:d>
                          <m:dPr>
                            <m:sepChr m:val=","/>
                            <m:ctrlPr>
                              <a:rPr lang="ar-AE" sz="1200" b="0" i="1" kern="1200">
                                <a:solidFill>
                                  <a:schemeClr val="tx1"/>
                                </a:solidFill>
                                <a:latin typeface="Cambria Math" panose="02040503050406030204" pitchFamily="18" charset="0"/>
                                <a:ea typeface="+mn-ea"/>
                                <a:cs typeface="+mn-cs"/>
                              </a:rPr>
                            </m:ctrlPr>
                          </m:dPr>
                          <m:e>
                            <m:r>
                              <a:rPr lang="ar-AE" b="0" i="1">
                                <a:latin typeface="Cambria Math" panose="02040503050406030204" pitchFamily="18" charset="0"/>
                              </a:rPr>
                              <m:t>𝑐</m:t>
                            </m:r>
                          </m:e>
                          <m:e>
                            <m:r>
                              <a:rPr lang="ar-AE" b="0" i="1">
                                <a:latin typeface="Cambria Math" panose="02040503050406030204" pitchFamily="18" charset="0"/>
                              </a:rPr>
                              <m:t>𝑑</m:t>
                            </m:r>
                          </m:e>
                          <m:e>
                            <m:r>
                              <a:rPr lang="ar-AE" b="0" i="1">
                                <a:latin typeface="Cambria Math" panose="02040503050406030204" pitchFamily="18" charset="0"/>
                              </a:rPr>
                              <m:t>𝑚</m:t>
                            </m:r>
                          </m:e>
                        </m:d>
                      </m:e>
                    </m:groupChr>
                  </m:oMath>
                </a14:m>
                <a:r>
                  <a:rPr lang="ar-AE"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number of times candidate </a:t>
                </a:r>
                <a14:m>
                  <m:oMath xmlns:m="http://schemas.openxmlformats.org/officeDocument/2006/math">
                    <m:r>
                      <a:rPr lang="en-US" sz="1200" i="1" kern="1200">
                        <a:solidFill>
                          <a:schemeClr val="tx1"/>
                        </a:solidFill>
                        <a:latin typeface="Cambria Math" panose="02040503050406030204" pitchFamily="18" charset="0"/>
                        <a:ea typeface="+mn-ea"/>
                        <a:cs typeface="+mn-cs"/>
                      </a:rPr>
                      <m:t>𝑐</m:t>
                    </m:r>
                    <m:r>
                      <a:rPr lang="en-US" sz="1200" b="0" i="1" kern="1200" smtClean="0">
                        <a:solidFill>
                          <a:schemeClr val="tx1"/>
                        </a:solidFill>
                        <a:latin typeface="Cambria Math" panose="02040503050406030204" pitchFamily="18" charset="0"/>
                        <a:ea typeface="+mn-ea"/>
                        <a:cs typeface="+mn-cs"/>
                      </a:rPr>
                      <m:t> </m:t>
                    </m:r>
                  </m:oMath>
                </a14:m>
                <a:r>
                  <a:rPr lang="en-US" sz="1200" b="0" i="0" kern="1200" dirty="0">
                    <a:solidFill>
                      <a:schemeClr val="tx1"/>
                    </a:solidFill>
                    <a:effectLst/>
                    <a:latin typeface="+mn-lt"/>
                    <a:ea typeface="+mn-ea"/>
                    <a:cs typeface="+mn-cs"/>
                  </a:rPr>
                  <a:t>used marker </a:t>
                </a:r>
                <a14:m>
                  <m:oMath xmlns:m="http://schemas.openxmlformats.org/officeDocument/2006/math">
                    <m:r>
                      <a:rPr lang="en-US" sz="1200" i="1" kern="1200">
                        <a:solidFill>
                          <a:schemeClr val="tx1"/>
                        </a:solidFill>
                        <a:latin typeface="Cambria Math" panose="02040503050406030204" pitchFamily="18" charset="0"/>
                        <a:ea typeface="+mn-ea"/>
                        <a:cs typeface="+mn-cs"/>
                      </a:rPr>
                      <m:t>𝑚</m:t>
                    </m:r>
                    <m:r>
                      <a:rPr lang="en-US" sz="1200" b="0" i="1" kern="1200" smtClean="0">
                        <a:solidFill>
                          <a:schemeClr val="tx1"/>
                        </a:solidFill>
                        <a:latin typeface="Cambria Math" panose="02040503050406030204" pitchFamily="18" charset="0"/>
                        <a:ea typeface="+mn-ea"/>
                        <a:cs typeface="+mn-cs"/>
                      </a:rPr>
                      <m:t> </m:t>
                    </m:r>
                  </m:oMath>
                </a14:m>
                <a:r>
                  <a:rPr lang="en-US" sz="1200" b="1" i="0"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the previous speaker also used that marker.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ratio is only calculated when the denominator is greater than zero.</a:t>
                </a:r>
              </a:p>
              <a:p>
                <a:endParaRPr lang="en-US" dirty="0"/>
              </a:p>
            </p:txBody>
          </p:sp>
        </mc:Choice>
        <mc:Fallback xmlns="">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The Segmentation Procedure</a:t>
                </a:r>
                <a:br>
                  <a:rPr lang="en-US" dirty="0"/>
                </a:br>
                <a:r>
                  <a:rPr lang="en-US" sz="1200" b="0" i="0" kern="1200" dirty="0">
                    <a:solidFill>
                      <a:schemeClr val="tx1"/>
                    </a:solidFill>
                    <a:effectLst/>
                    <a:latin typeface="+mn-lt"/>
                    <a:ea typeface="+mn-ea"/>
                    <a:cs typeface="+mn-cs"/>
                  </a:rPr>
                  <a:t>To operationalize this, the full debate is segmented into </a:t>
                </a:r>
                <a:r>
                  <a:rPr lang="en-US" sz="1200" b="1" i="0" kern="1200" dirty="0">
                    <a:solidFill>
                      <a:schemeClr val="tx1"/>
                    </a:solidFill>
                    <a:effectLst/>
                    <a:latin typeface="+mn-lt"/>
                    <a:ea typeface="+mn-ea"/>
                    <a:cs typeface="+mn-cs"/>
                  </a:rPr>
                  <a:t>sub-segments</a:t>
                </a:r>
                <a:r>
                  <a:rPr lang="en-US" sz="1200" b="0" i="0" kern="1200" dirty="0">
                    <a:solidFill>
                      <a:schemeClr val="tx1"/>
                    </a:solidFill>
                    <a:effectLst/>
                    <a:latin typeface="+mn-lt"/>
                    <a:ea typeface="+mn-ea"/>
                    <a:cs typeface="+mn-cs"/>
                  </a:rPr>
                  <a:t> where there is a lead statement (a question or a statement by a participant). Each lead statement is rated for the linguistic markers, and the response statement by the next candidate is categorized as either containing the marker or not. This is done for all sub-segments across the entire debate</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prev</a:t>
                </a:r>
                <a:r>
                  <a:rPr lang="en-US" sz="1200" b="0" i="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c</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d</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m</a:t>
                </a:r>
                <a:r>
                  <a:rPr lang="en-US" sz="1200" b="0" i="0" kern="1200" dirty="0">
                    <a:solidFill>
                      <a:schemeClr val="tx1"/>
                    </a:solidFill>
                    <a:effectLst/>
                    <a:latin typeface="+mn-lt"/>
                    <a:ea typeface="+mn-ea"/>
                    <a:cs typeface="+mn-cs"/>
                  </a:rPr>
                  <a:t>): The total number of times the person who spoke right before </a:t>
                </a:r>
                <a:r>
                  <a:rPr lang="en-US" sz="1200" i="0" kern="1200">
                    <a:solidFill>
                      <a:schemeClr val="tx1"/>
                    </a:solidFill>
                    <a:latin typeface="+mn-lt"/>
                    <a:ea typeface="+mn-ea"/>
                    <a:cs typeface="+mn-cs"/>
                  </a:rPr>
                  <a:t>𝑐</a:t>
                </a:r>
                <a:r>
                  <a:rPr lang="en-US" sz="1200" b="0" i="0" kern="1200" dirty="0">
                    <a:solidFill>
                      <a:schemeClr val="tx1"/>
                    </a:solidFill>
                    <a:effectLst/>
                    <a:latin typeface="+mn-lt"/>
                    <a:ea typeface="+mn-ea"/>
                    <a:cs typeface="+mn-cs"/>
                  </a:rPr>
                  <a:t> used marker </a:t>
                </a:r>
                <a:r>
                  <a:rPr lang="en-US" sz="1200" i="0" kern="1200">
                    <a:solidFill>
                      <a:schemeClr val="tx1"/>
                    </a:solidFill>
                    <a:latin typeface="+mn-lt"/>
                    <a:ea typeface="+mn-ea"/>
                    <a:cs typeface="+mn-cs"/>
                  </a:rPr>
                  <a:t>𝑚</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ar-AE" sz="1200" b="0" i="0" kern="1200">
                    <a:solidFill>
                      <a:schemeClr val="tx1"/>
                    </a:solidFill>
                    <a:latin typeface="+mn-lt"/>
                    <a:ea typeface="+mn-ea"/>
                    <a:cs typeface="+mn-cs"/>
                  </a:rPr>
                  <a:t>‾(</a:t>
                </a:r>
                <a:r>
                  <a:rPr lang="en-US" sz="1200" b="0" i="0" kern="1200">
                    <a:solidFill>
                      <a:schemeClr val="tx1"/>
                    </a:solidFill>
                    <a:latin typeface="+mn-lt"/>
                    <a:ea typeface="+mn-ea"/>
                    <a:cs typeface="+mn-cs"/>
                  </a:rPr>
                  <a:t>"</a:t>
                </a:r>
                <a:r>
                  <a:rPr lang="en-US" b="0" i="0"/>
                  <a:t>prev</a:t>
                </a:r>
                <a:r>
                  <a:rPr lang="ar-AE" sz="1200" b="0" i="0" kern="1200">
                    <a:solidFill>
                      <a:schemeClr val="tx1"/>
                    </a:solidFill>
                    <a:latin typeface="+mn-lt"/>
                    <a:ea typeface="+mn-ea"/>
                    <a:cs typeface="+mn-cs"/>
                  </a:rPr>
                  <a:t>" (</a:t>
                </a:r>
                <a:r>
                  <a:rPr lang="ar-AE" b="0" i="0"/>
                  <a:t>𝑐</a:t>
                </a:r>
                <a:r>
                  <a:rPr lang="ar-AE" sz="1200" b="0" i="0" kern="1200">
                    <a:solidFill>
                      <a:schemeClr val="tx1"/>
                    </a:solidFill>
                    <a:latin typeface="+mn-lt"/>
                    <a:ea typeface="+mn-ea"/>
                    <a:cs typeface="+mn-cs"/>
                  </a:rPr>
                  <a:t>ⓜ,</a:t>
                </a:r>
                <a:r>
                  <a:rPr lang="ar-AE" b="0" i="0"/>
                  <a:t>𝑑</a:t>
                </a:r>
                <a:r>
                  <a:rPr lang="ar-AE" sz="1200" b="0" i="0" kern="1200">
                    <a:solidFill>
                      <a:schemeClr val="tx1"/>
                    </a:solidFill>
                    <a:latin typeface="+mn-lt"/>
                    <a:ea typeface="+mn-ea"/>
                    <a:cs typeface="+mn-cs"/>
                  </a:rPr>
                  <a:t>ⓜ,</a:t>
                </a:r>
                <a:r>
                  <a:rPr lang="ar-AE" b="0" i="0"/>
                  <a:t>𝑚</a:t>
                </a:r>
                <a:r>
                  <a:rPr lang="ar-AE" sz="1200" b="0" i="0" kern="1200">
                    <a:solidFill>
                      <a:schemeClr val="tx1"/>
                    </a:solidFill>
                    <a:latin typeface="+mn-lt"/>
                    <a:ea typeface="+mn-ea"/>
                    <a:cs typeface="+mn-cs"/>
                  </a:rPr>
                  <a:t>) )</a:t>
                </a:r>
                <a:r>
                  <a:rPr lang="ar-AE"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number of times candidate </a:t>
                </a:r>
                <a:r>
                  <a:rPr lang="en-US" sz="1200" i="0" kern="1200">
                    <a:solidFill>
                      <a:schemeClr val="tx1"/>
                    </a:solidFill>
                    <a:latin typeface="+mn-lt"/>
                    <a:ea typeface="+mn-ea"/>
                    <a:cs typeface="+mn-cs"/>
                  </a:rPr>
                  <a:t>𝑐</a:t>
                </a:r>
                <a:r>
                  <a:rPr lang="en-US" sz="1200" b="0" i="0" kern="1200">
                    <a:solidFill>
                      <a:schemeClr val="tx1"/>
                    </a:solidFill>
                    <a:latin typeface="Cambria Math" panose="02040503050406030204" pitchFamily="18" charset="0"/>
                    <a:ea typeface="+mn-ea"/>
                    <a:cs typeface="+mn-cs"/>
                  </a:rPr>
                  <a:t> </a:t>
                </a:r>
                <a:r>
                  <a:rPr lang="en-US" sz="1200" b="0" i="0" kern="1200" dirty="0">
                    <a:solidFill>
                      <a:schemeClr val="tx1"/>
                    </a:solidFill>
                    <a:effectLst/>
                    <a:latin typeface="+mn-lt"/>
                    <a:ea typeface="+mn-ea"/>
                    <a:cs typeface="+mn-cs"/>
                  </a:rPr>
                  <a:t>used marker </a:t>
                </a:r>
                <a:r>
                  <a:rPr lang="en-US" sz="1200" i="0" kern="1200">
                    <a:solidFill>
                      <a:schemeClr val="tx1"/>
                    </a:solidFill>
                    <a:latin typeface="+mn-lt"/>
                    <a:ea typeface="+mn-ea"/>
                    <a:cs typeface="+mn-cs"/>
                  </a:rPr>
                  <a:t>𝑚</a:t>
                </a:r>
                <a:r>
                  <a:rPr lang="en-US" sz="1200" b="0" i="0" kern="1200">
                    <a:solidFill>
                      <a:schemeClr val="tx1"/>
                    </a:solidFill>
                    <a:latin typeface="Cambria Math" panose="02040503050406030204" pitchFamily="18" charset="0"/>
                    <a:ea typeface="+mn-ea"/>
                    <a:cs typeface="+mn-cs"/>
                  </a:rPr>
                  <a:t> </a:t>
                </a:r>
                <a:r>
                  <a:rPr lang="en-US" sz="1200" b="1" i="0"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the previous speaker also used that marker.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ratio is only calculated when the denominator is greater than zero.</a:t>
                </a:r>
              </a:p>
              <a:p>
                <a:endParaRPr lang="en-US" dirty="0"/>
              </a:p>
            </p:txBody>
          </p:sp>
        </mc:Fallback>
      </mc:AlternateContent>
      <p:sp>
        <p:nvSpPr>
          <p:cNvPr id="4" name="Slide Number Placeholder 3"/>
          <p:cNvSpPr>
            <a:spLocks noGrp="1"/>
          </p:cNvSpPr>
          <p:nvPr>
            <p:ph type="sldNum" sz="quarter" idx="5"/>
          </p:nvPr>
        </p:nvSpPr>
        <p:spPr/>
        <p:txBody>
          <a:bodyPr/>
          <a:lstStyle/>
          <a:p>
            <a:fld id="{BD06C42A-5AA1-B144-8688-E824ABDD91B9}" type="slidenum">
              <a:rPr lang="en-US" smtClean="0"/>
              <a:t>57</a:t>
            </a:fld>
            <a:endParaRPr lang="en-US"/>
          </a:p>
        </p:txBody>
      </p:sp>
    </p:spTree>
    <p:extLst>
      <p:ext uri="{BB962C8B-B14F-4D97-AF65-F5344CB8AC3E}">
        <p14:creationId xmlns:p14="http://schemas.microsoft.com/office/powerpoint/2010/main" val="4055735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i="0">
                <a:latin typeface="LM Sans 12" panose="00000500000000000000" pitchFamily="50" charset="0"/>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LM Sans 12"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98DAEA8D-6C8C-0442-9797-57079677AADC}" type="datetime1">
              <a:rPr lang="en-US" smtClean="0"/>
              <a:t>9/21/26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265915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LM Sans 12" panose="00000500000000000000" pitchFamily="50"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LM Sans 12" panose="00000500000000000000" pitchFamily="50" charset="0"/>
              </a:defRPr>
            </a:lvl1pPr>
            <a:lvl2pPr>
              <a:defRPr>
                <a:latin typeface="LM Sans 12" panose="00000500000000000000" pitchFamily="50" charset="0"/>
              </a:defRPr>
            </a:lvl2pPr>
            <a:lvl3pPr>
              <a:defRPr>
                <a:latin typeface="LM Sans 12" panose="00000500000000000000" pitchFamily="50" charset="0"/>
              </a:defRPr>
            </a:lvl3pPr>
            <a:lvl4pPr>
              <a:defRPr>
                <a:latin typeface="LM Sans 12" panose="00000500000000000000" pitchFamily="50" charset="0"/>
              </a:defRPr>
            </a:lvl4pPr>
            <a:lvl5pPr>
              <a:defRPr>
                <a:latin typeface="LM Sans 12"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EF94BE32-0DC0-2742-80C5-3EBD35EAB51E}" type="datetime1">
              <a:rPr lang="en-US" smtClean="0"/>
              <a:t>9/21/26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660038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FB1CBF-4528-5D40-9617-51509FE61DC8}" type="datetime1">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550750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badi MT Condensed Extra Bold" panose="020B0306030101010103" pitchFamily="34" charset="77"/>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badi MT Condensed Light" panose="020B0306030101010103" pitchFamily="34" charset="77"/>
              </a:defRPr>
            </a:lvl1pPr>
          </a:lstStyle>
          <a:p>
            <a:fld id="{DD014462-FBD9-4F4A-9532-4D6EB7FA8D4C}" type="datetime1">
              <a:rPr lang="en-US" smtClean="0"/>
              <a:t>9/21/26</a:t>
            </a:fld>
            <a:endParaRPr lang="en-US"/>
          </a:p>
        </p:txBody>
      </p:sp>
      <p:sp>
        <p:nvSpPr>
          <p:cNvPr id="6" name="Footer Placeholder 5"/>
          <p:cNvSpPr>
            <a:spLocks noGrp="1"/>
          </p:cNvSpPr>
          <p:nvPr>
            <p:ph type="ftr" sz="quarter" idx="11"/>
          </p:nvPr>
        </p:nvSpPr>
        <p:spPr/>
        <p:txBody>
          <a:bodyPr/>
          <a:lstStyle>
            <a:lvl1pPr>
              <a:defRPr>
                <a:latin typeface="Abadi MT Condensed Light" panose="020B0306030101010103" pitchFamily="34" charset="77"/>
              </a:defRPr>
            </a:lvl1pPr>
          </a:lstStyle>
          <a:p>
            <a:endParaRPr lang="en-US"/>
          </a:p>
        </p:txBody>
      </p:sp>
      <p:sp>
        <p:nvSpPr>
          <p:cNvPr id="7" name="Slide Number Placeholder 6"/>
          <p:cNvSpPr>
            <a:spLocks noGrp="1"/>
          </p:cNvSpPr>
          <p:nvPr>
            <p:ph type="sldNum" sz="quarter" idx="12"/>
          </p:nvPr>
        </p:nvSpPr>
        <p:spPr/>
        <p:txBody>
          <a:bodyPr/>
          <a:lstStyle>
            <a:lvl1pPr>
              <a:defRPr>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4154213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F06D47-D308-9F44-B93B-8101CA546791}" type="datetime1">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436950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335637-B4B4-A444-B80B-FB4089E2B147}" type="datetime1">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380124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86584E-3451-5C45-8C5F-CD6461F130AA}" type="datetime1">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70754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5AA8A4-50D0-8840-8FC0-360B83CC450C}" type="datetime1">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854822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E41AD2-0369-AF48-9D2E-E9BD1BAD84D2}" type="datetime1">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45901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E950D3-40C7-8C48-B7DE-EF08656D2ABB}" type="datetime1">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126405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E1D387-EFCD-8748-9A2D-2CD5B30D1A8B}" type="datetime1">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495215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491133" y="6087296"/>
            <a:ext cx="8161735" cy="324183"/>
          </a:xfrm>
          <a:prstGeom prst="rect">
            <a:avLst/>
          </a:prstGeom>
        </p:spPr>
        <p:txBody>
          <a:bodyPr anchor="b"/>
          <a:lstStyle>
            <a:lvl1pPr marL="0" indent="0" defTabSz="396226">
              <a:lnSpc>
                <a:spcPct val="100000"/>
              </a:lnSpc>
              <a:spcBef>
                <a:spcPts val="0"/>
              </a:spcBef>
              <a:buSzTx/>
              <a:buNone/>
              <a:defRPr sz="1620" b="1"/>
            </a:lvl1pPr>
          </a:lstStyle>
          <a:p>
            <a:r>
              <a:t>Author and Date</a:t>
            </a:r>
          </a:p>
        </p:txBody>
      </p:sp>
      <p:sp>
        <p:nvSpPr>
          <p:cNvPr id="12" name="Presentation Title"/>
          <p:cNvSpPr txBox="1">
            <a:spLocks noGrp="1"/>
          </p:cNvSpPr>
          <p:nvPr>
            <p:ph type="title" hasCustomPrompt="1"/>
          </p:nvPr>
        </p:nvSpPr>
        <p:spPr>
          <a:xfrm>
            <a:off x="491133" y="1303734"/>
            <a:ext cx="8162618" cy="2321719"/>
          </a:xfrm>
          <a:prstGeom prst="rect">
            <a:avLst/>
          </a:prstGeom>
        </p:spPr>
        <p:txBody>
          <a:bodyPr anchor="b"/>
          <a:lstStyle>
            <a:lvl1pPr>
              <a:defRPr sz="5765" spc="-115"/>
            </a:lvl1pPr>
          </a:lstStyle>
          <a:p>
            <a:r>
              <a:t>Presentation Title</a:t>
            </a:r>
          </a:p>
        </p:txBody>
      </p:sp>
      <p:sp>
        <p:nvSpPr>
          <p:cNvPr id="13" name="Body Level One…"/>
          <p:cNvSpPr txBox="1">
            <a:spLocks noGrp="1"/>
          </p:cNvSpPr>
          <p:nvPr>
            <p:ph type="body" sz="quarter" idx="1" hasCustomPrompt="1"/>
          </p:nvPr>
        </p:nvSpPr>
        <p:spPr>
          <a:xfrm>
            <a:off x="491133" y="3589735"/>
            <a:ext cx="8161734" cy="1024031"/>
          </a:xfrm>
          <a:prstGeom prst="rect">
            <a:avLst/>
          </a:prstGeom>
        </p:spPr>
        <p:txBody>
          <a:bodyPr/>
          <a:lstStyle>
            <a:lvl1pPr marL="0" indent="0" defTabSz="412735">
              <a:lnSpc>
                <a:spcPct val="100000"/>
              </a:lnSpc>
              <a:spcBef>
                <a:spcPts val="0"/>
              </a:spcBef>
              <a:buSzTx/>
              <a:buNone/>
              <a:defRPr sz="2672" b="1"/>
            </a:lvl1pPr>
            <a:lvl2pPr marL="0" indent="321457" defTabSz="412735">
              <a:lnSpc>
                <a:spcPct val="100000"/>
              </a:lnSpc>
              <a:spcBef>
                <a:spcPts val="0"/>
              </a:spcBef>
              <a:buSzTx/>
              <a:buNone/>
              <a:defRPr sz="2672" b="1"/>
            </a:lvl2pPr>
            <a:lvl3pPr marL="0" indent="642915" defTabSz="412735">
              <a:lnSpc>
                <a:spcPct val="100000"/>
              </a:lnSpc>
              <a:spcBef>
                <a:spcPts val="0"/>
              </a:spcBef>
              <a:buSzTx/>
              <a:buNone/>
              <a:defRPr sz="2672" b="1"/>
            </a:lvl3pPr>
            <a:lvl4pPr marL="0" indent="964372" defTabSz="412735">
              <a:lnSpc>
                <a:spcPct val="100000"/>
              </a:lnSpc>
              <a:spcBef>
                <a:spcPts val="0"/>
              </a:spcBef>
              <a:buSzTx/>
              <a:buNone/>
              <a:defRPr sz="2672" b="1"/>
            </a:lvl4pPr>
            <a:lvl5pPr marL="0" indent="1285829" defTabSz="412735">
              <a:lnSpc>
                <a:spcPct val="100000"/>
              </a:lnSpc>
              <a:spcBef>
                <a:spcPts val="0"/>
              </a:spcBef>
              <a:buSzTx/>
              <a:buNone/>
              <a:defRPr sz="2672"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4457386" y="6441815"/>
            <a:ext cx="229230" cy="243272"/>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9805423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264914" y="-643987"/>
            <a:ext cx="12540693" cy="7510918"/>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491133" y="3643312"/>
            <a:ext cx="8161734" cy="2321719"/>
          </a:xfrm>
          <a:prstGeom prst="rect">
            <a:avLst/>
          </a:prstGeom>
        </p:spPr>
        <p:txBody>
          <a:bodyPr anchor="b"/>
          <a:lstStyle>
            <a:lvl1pPr>
              <a:defRPr sz="5765" spc="-115"/>
            </a:lvl1pPr>
          </a:lstStyle>
          <a:p>
            <a:r>
              <a:t>Presentation Title</a:t>
            </a:r>
          </a:p>
        </p:txBody>
      </p:sp>
      <p:sp>
        <p:nvSpPr>
          <p:cNvPr id="23" name="Body Level One…"/>
          <p:cNvSpPr txBox="1">
            <a:spLocks noGrp="1"/>
          </p:cNvSpPr>
          <p:nvPr>
            <p:ph type="body" sz="quarter" idx="1" hasCustomPrompt="1"/>
          </p:nvPr>
        </p:nvSpPr>
        <p:spPr>
          <a:xfrm>
            <a:off x="491133" y="5929313"/>
            <a:ext cx="8161734" cy="484994"/>
          </a:xfrm>
          <a:prstGeom prst="rect">
            <a:avLst/>
          </a:prstGeom>
        </p:spPr>
        <p:txBody>
          <a:bodyPr/>
          <a:lstStyle>
            <a:lvl1pPr marL="0" indent="0" defTabSz="412735">
              <a:lnSpc>
                <a:spcPct val="100000"/>
              </a:lnSpc>
              <a:spcBef>
                <a:spcPts val="0"/>
              </a:spcBef>
              <a:buSzTx/>
              <a:buNone/>
              <a:defRPr sz="2672" b="1"/>
            </a:lvl1pPr>
            <a:lvl2pPr marL="0" indent="321457" defTabSz="412735">
              <a:lnSpc>
                <a:spcPct val="100000"/>
              </a:lnSpc>
              <a:spcBef>
                <a:spcPts val="0"/>
              </a:spcBef>
              <a:buSzTx/>
              <a:buNone/>
              <a:defRPr sz="2672" b="1"/>
            </a:lvl2pPr>
            <a:lvl3pPr marL="0" indent="642915" defTabSz="412735">
              <a:lnSpc>
                <a:spcPct val="100000"/>
              </a:lnSpc>
              <a:spcBef>
                <a:spcPts val="0"/>
              </a:spcBef>
              <a:buSzTx/>
              <a:buNone/>
              <a:defRPr sz="2672" b="1"/>
            </a:lvl3pPr>
            <a:lvl4pPr marL="0" indent="964372" defTabSz="412735">
              <a:lnSpc>
                <a:spcPct val="100000"/>
              </a:lnSpc>
              <a:spcBef>
                <a:spcPts val="0"/>
              </a:spcBef>
              <a:buSzTx/>
              <a:buNone/>
              <a:defRPr sz="2672" b="1"/>
            </a:lvl4pPr>
            <a:lvl5pPr marL="0" indent="1285829" defTabSz="412735">
              <a:lnSpc>
                <a:spcPct val="100000"/>
              </a:lnSpc>
              <a:spcBef>
                <a:spcPts val="0"/>
              </a:spcBef>
              <a:buSzTx/>
              <a:buNone/>
              <a:defRPr sz="2672" b="1"/>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491133" y="401836"/>
            <a:ext cx="8161735" cy="324182"/>
          </a:xfrm>
          <a:prstGeom prst="rect">
            <a:avLst/>
          </a:prstGeom>
        </p:spPr>
        <p:txBody>
          <a:bodyPr/>
          <a:lstStyle>
            <a:lvl1pPr marL="0" indent="0" defTabSz="396226">
              <a:lnSpc>
                <a:spcPct val="100000"/>
              </a:lnSpc>
              <a:spcBef>
                <a:spcPts val="0"/>
              </a:spcBef>
              <a:buSzTx/>
              <a:buNone/>
              <a:defRPr sz="1620" b="1"/>
            </a:lvl1pPr>
          </a:lstStyle>
          <a:p>
            <a:r>
              <a:t>Author and Date</a:t>
            </a:r>
          </a:p>
        </p:txBody>
      </p:sp>
      <p:sp>
        <p:nvSpPr>
          <p:cNvPr id="25" name="Slide Number"/>
          <p:cNvSpPr txBox="1">
            <a:spLocks noGrp="1"/>
          </p:cNvSpPr>
          <p:nvPr>
            <p:ph type="sldNum" sz="quarter" idx="2"/>
          </p:nvPr>
        </p:nvSpPr>
        <p:spPr>
          <a:xfrm>
            <a:off x="4454956" y="6441815"/>
            <a:ext cx="229230" cy="243272"/>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6659003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oumous "/>
          <p:cNvSpPr>
            <a:spLocks noGrp="1"/>
          </p:cNvSpPr>
          <p:nvPr>
            <p:ph type="pic" idx="21"/>
          </p:nvPr>
        </p:nvSpPr>
        <p:spPr>
          <a:xfrm>
            <a:off x="3740013" y="348257"/>
            <a:ext cx="5304235"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491133" y="3518297"/>
            <a:ext cx="3589734" cy="2843835"/>
          </a:xfrm>
          <a:prstGeom prst="rect">
            <a:avLst/>
          </a:prstGeom>
        </p:spPr>
        <p:txBody>
          <a:bodyPr/>
          <a:lstStyle>
            <a:lvl1pPr marL="0" indent="0" defTabSz="412735">
              <a:lnSpc>
                <a:spcPct val="100000"/>
              </a:lnSpc>
              <a:spcBef>
                <a:spcPts val="0"/>
              </a:spcBef>
              <a:buSzTx/>
              <a:buNone/>
              <a:defRPr sz="2672" b="1"/>
            </a:lvl1pPr>
            <a:lvl2pPr marL="0" indent="321457" defTabSz="412735">
              <a:lnSpc>
                <a:spcPct val="100000"/>
              </a:lnSpc>
              <a:spcBef>
                <a:spcPts val="0"/>
              </a:spcBef>
              <a:buSzTx/>
              <a:buNone/>
              <a:defRPr sz="2672" b="1"/>
            </a:lvl2pPr>
            <a:lvl3pPr marL="0" indent="642915" defTabSz="412735">
              <a:lnSpc>
                <a:spcPct val="100000"/>
              </a:lnSpc>
              <a:spcBef>
                <a:spcPts val="0"/>
              </a:spcBef>
              <a:buSzTx/>
              <a:buNone/>
              <a:defRPr sz="2672" b="1"/>
            </a:lvl3pPr>
            <a:lvl4pPr marL="0" indent="964372" defTabSz="412735">
              <a:lnSpc>
                <a:spcPct val="100000"/>
              </a:lnSpc>
              <a:spcBef>
                <a:spcPts val="0"/>
              </a:spcBef>
              <a:buSzTx/>
              <a:buNone/>
              <a:defRPr sz="2672" b="1"/>
            </a:lvl4pPr>
            <a:lvl5pPr marL="0" indent="1285829" defTabSz="412735">
              <a:lnSpc>
                <a:spcPct val="100000"/>
              </a:lnSpc>
              <a:spcBef>
                <a:spcPts val="0"/>
              </a:spcBef>
              <a:buSzTx/>
              <a:buNone/>
              <a:defRPr sz="2672"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491133" y="486938"/>
            <a:ext cx="3589734"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9490823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3" name="Slide Subtitle"/>
          <p:cNvSpPr txBox="1">
            <a:spLocks noGrp="1"/>
          </p:cNvSpPr>
          <p:nvPr>
            <p:ph type="body" sz="quarter" idx="21" hasCustomPrompt="1"/>
          </p:nvPr>
        </p:nvSpPr>
        <p:spPr>
          <a:xfrm>
            <a:off x="491133" y="993500"/>
            <a:ext cx="8161735" cy="472361"/>
          </a:xfrm>
          <a:prstGeom prst="rect">
            <a:avLst/>
          </a:prstGeom>
        </p:spPr>
        <p:txBody>
          <a:bodyPr/>
          <a:lstStyle>
            <a:lvl1pPr marL="0" indent="0" defTabSz="412735">
              <a:lnSpc>
                <a:spcPct val="100000"/>
              </a:lnSpc>
              <a:spcBef>
                <a:spcPts val="0"/>
              </a:spcBef>
              <a:buSzTx/>
              <a:buNone/>
              <a:defRPr sz="2672" b="1"/>
            </a:lvl1pPr>
          </a:lstStyle>
          <a:p>
            <a:r>
              <a:t>Slide Subtitle</a:t>
            </a:r>
          </a:p>
        </p:txBody>
      </p:sp>
      <p:sp>
        <p:nvSpPr>
          <p:cNvPr id="44" name="Slide Title"/>
          <p:cNvSpPr txBox="1">
            <a:spLocks noGrp="1"/>
          </p:cNvSpPr>
          <p:nvPr>
            <p:ph type="title" hasCustomPrompt="1"/>
          </p:nvPr>
        </p:nvSpPr>
        <p:spPr>
          <a:prstGeom prst="rect">
            <a:avLst/>
          </a:prstGeom>
        </p:spPr>
        <p:txBody>
          <a:bodyPr/>
          <a:lstStyle/>
          <a:p>
            <a:r>
              <a:t>Slide Title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6373522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589358"/>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8073434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Bowl of pappardelle pasta with parsley butter, roasted hazelnuts and shaved parmesan cheese"/>
          <p:cNvSpPr>
            <a:spLocks noGrp="1"/>
          </p:cNvSpPr>
          <p:nvPr>
            <p:ph type="pic" idx="21"/>
          </p:nvPr>
        </p:nvSpPr>
        <p:spPr>
          <a:xfrm>
            <a:off x="4339828" y="419696"/>
            <a:ext cx="4534049" cy="6045398"/>
          </a:xfrm>
          <a:prstGeom prst="rect">
            <a:avLst/>
          </a:prstGeom>
        </p:spPr>
        <p:txBody>
          <a:bodyPr lIns="91439" tIns="45719" rIns="91439" bIns="45719">
            <a:noAutofit/>
          </a:bodyPr>
          <a:lstStyle/>
          <a:p>
            <a:endParaRPr/>
          </a:p>
        </p:txBody>
      </p:sp>
      <p:sp>
        <p:nvSpPr>
          <p:cNvPr id="61" name="Slide Title"/>
          <p:cNvSpPr txBox="1">
            <a:spLocks noGrp="1"/>
          </p:cNvSpPr>
          <p:nvPr>
            <p:ph type="title" hasCustomPrompt="1"/>
          </p:nvPr>
        </p:nvSpPr>
        <p:spPr>
          <a:xfrm>
            <a:off x="491133" y="312539"/>
            <a:ext cx="3589734" cy="714375"/>
          </a:xfrm>
          <a:prstGeom prst="rect">
            <a:avLst/>
          </a:prstGeom>
        </p:spPr>
        <p:txBody>
          <a:bodyPr/>
          <a:lstStyle/>
          <a:p>
            <a:r>
              <a:t>Slide Title</a:t>
            </a:r>
          </a:p>
        </p:txBody>
      </p:sp>
      <p:sp>
        <p:nvSpPr>
          <p:cNvPr id="62" name="Slide Subtitle"/>
          <p:cNvSpPr txBox="1">
            <a:spLocks noGrp="1"/>
          </p:cNvSpPr>
          <p:nvPr>
            <p:ph type="body" sz="quarter" idx="22" hasCustomPrompt="1"/>
          </p:nvPr>
        </p:nvSpPr>
        <p:spPr>
          <a:xfrm>
            <a:off x="491133" y="993500"/>
            <a:ext cx="3589734" cy="472361"/>
          </a:xfrm>
          <a:prstGeom prst="rect">
            <a:avLst/>
          </a:prstGeom>
        </p:spPr>
        <p:txBody>
          <a:bodyPr/>
          <a:lstStyle>
            <a:lvl1pPr marL="0" indent="0" defTabSz="412735">
              <a:lnSpc>
                <a:spcPct val="100000"/>
              </a:lnSpc>
              <a:spcBef>
                <a:spcPts val="0"/>
              </a:spcBef>
              <a:buSzTx/>
              <a:buNone/>
              <a:defRPr sz="2672" b="1"/>
            </a:lvl1pPr>
          </a:lstStyle>
          <a:p>
            <a:r>
              <a:t>Slide Subtitle</a:t>
            </a:r>
          </a:p>
        </p:txBody>
      </p:sp>
      <p:sp>
        <p:nvSpPr>
          <p:cNvPr id="63" name="Body Level One…"/>
          <p:cNvSpPr txBox="1">
            <a:spLocks noGrp="1"/>
          </p:cNvSpPr>
          <p:nvPr>
            <p:ph type="body" sz="half" idx="1" hasCustomPrompt="1"/>
          </p:nvPr>
        </p:nvSpPr>
        <p:spPr>
          <a:xfrm>
            <a:off x="491133" y="2447013"/>
            <a:ext cx="3589734" cy="3932691"/>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1053834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491133" y="312539"/>
            <a:ext cx="3589734" cy="714375"/>
          </a:xfrm>
          <a:prstGeom prst="rect">
            <a:avLst/>
          </a:prstGeom>
        </p:spPr>
        <p:txBody>
          <a:bodyPr/>
          <a:lstStyle/>
          <a:p>
            <a:r>
              <a:t>Slide Title</a:t>
            </a:r>
          </a:p>
        </p:txBody>
      </p:sp>
      <p:sp>
        <p:nvSpPr>
          <p:cNvPr id="72" name="Slide Subtitle"/>
          <p:cNvSpPr txBox="1">
            <a:spLocks noGrp="1"/>
          </p:cNvSpPr>
          <p:nvPr>
            <p:ph type="body" sz="quarter" idx="21" hasCustomPrompt="1"/>
          </p:nvPr>
        </p:nvSpPr>
        <p:spPr>
          <a:xfrm>
            <a:off x="491133" y="993500"/>
            <a:ext cx="3589734" cy="472361"/>
          </a:xfrm>
          <a:prstGeom prst="rect">
            <a:avLst/>
          </a:prstGeom>
        </p:spPr>
        <p:txBody>
          <a:bodyPr/>
          <a:lstStyle>
            <a:lvl1pPr marL="0" indent="0" defTabSz="412735">
              <a:lnSpc>
                <a:spcPct val="100000"/>
              </a:lnSpc>
              <a:spcBef>
                <a:spcPts val="0"/>
              </a:spcBef>
              <a:buSzTx/>
              <a:buNone/>
              <a:defRPr sz="2672" b="1"/>
            </a:lvl1pPr>
          </a:lstStyle>
          <a:p>
            <a:r>
              <a:t>Slide Subtitle</a:t>
            </a:r>
          </a:p>
        </p:txBody>
      </p:sp>
      <p:sp>
        <p:nvSpPr>
          <p:cNvPr id="73" name="Body Level One…"/>
          <p:cNvSpPr txBox="1">
            <a:spLocks noGrp="1"/>
          </p:cNvSpPr>
          <p:nvPr>
            <p:ph type="body" sz="half" idx="1" hasCustomPrompt="1"/>
          </p:nvPr>
        </p:nvSpPr>
        <p:spPr>
          <a:xfrm>
            <a:off x="491133" y="2447013"/>
            <a:ext cx="3589734" cy="3932691"/>
          </a:xfrm>
          <a:prstGeom prst="rect">
            <a:avLst/>
          </a:prstGeom>
        </p:spPr>
        <p:txBody>
          <a:bodyPr/>
          <a:lstStyle/>
          <a:p>
            <a:r>
              <a:t>Slide bullet text</a:t>
            </a:r>
          </a:p>
          <a:p>
            <a:pPr lvl="1"/>
            <a:endParaRPr/>
          </a:p>
          <a:p>
            <a:pPr lvl="2"/>
            <a:endParaRPr/>
          </a:p>
          <a:p>
            <a:pPr lvl="3"/>
            <a:endParaRPr/>
          </a:p>
          <a:p>
            <a:pPr lvl="4"/>
            <a:endParaRP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67525152"/>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491133" y="312539"/>
            <a:ext cx="3589734" cy="714375"/>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491133" y="993500"/>
            <a:ext cx="3589734" cy="472361"/>
          </a:xfrm>
          <a:prstGeom prst="rect">
            <a:avLst/>
          </a:prstGeom>
        </p:spPr>
        <p:txBody>
          <a:bodyPr/>
          <a:lstStyle>
            <a:lvl1pPr marL="0" indent="0" defTabSz="412735">
              <a:lnSpc>
                <a:spcPct val="100000"/>
              </a:lnSpc>
              <a:spcBef>
                <a:spcPts val="0"/>
              </a:spcBef>
              <a:buSzTx/>
              <a:buNone/>
              <a:defRPr sz="2672" b="1"/>
            </a:lvl1pPr>
          </a:lstStyle>
          <a:p>
            <a:r>
              <a:t>Slide Subtitle</a:t>
            </a:r>
          </a:p>
        </p:txBody>
      </p:sp>
      <p:sp>
        <p:nvSpPr>
          <p:cNvPr id="83" name="Body Level One…"/>
          <p:cNvSpPr txBox="1">
            <a:spLocks noGrp="1"/>
          </p:cNvSpPr>
          <p:nvPr>
            <p:ph type="body" sz="half" idx="1" hasCustomPrompt="1"/>
          </p:nvPr>
        </p:nvSpPr>
        <p:spPr>
          <a:xfrm>
            <a:off x="491133" y="2447013"/>
            <a:ext cx="3589734" cy="3932691"/>
          </a:xfrm>
          <a:prstGeom prst="rect">
            <a:avLst/>
          </a:prstGeom>
        </p:spPr>
        <p:txBody>
          <a:bodyPr/>
          <a:lstStyle/>
          <a:p>
            <a:r>
              <a:t>Slide bullet text</a:t>
            </a:r>
          </a:p>
          <a:p>
            <a:pPr lvl="1"/>
            <a:endParaRPr/>
          </a:p>
          <a:p>
            <a:pPr lvl="2"/>
            <a:endParaRPr/>
          </a:p>
          <a:p>
            <a:pPr lvl="3"/>
            <a:endParaRPr/>
          </a:p>
          <a:p>
            <a:pPr lvl="4"/>
            <a:endParaRP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4168749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491133" y="2268141"/>
            <a:ext cx="8161734" cy="2321719"/>
          </a:xfrm>
          <a:prstGeom prst="rect">
            <a:avLst/>
          </a:prstGeom>
        </p:spPr>
        <p:txBody>
          <a:bodyPr anchor="ctr"/>
          <a:lstStyle>
            <a:lvl1pPr>
              <a:defRPr sz="5765" b="0" spc="-115">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3151290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491133" y="993500"/>
            <a:ext cx="8161735" cy="472361"/>
          </a:xfrm>
          <a:prstGeom prst="rect">
            <a:avLst/>
          </a:prstGeom>
        </p:spPr>
        <p:txBody>
          <a:bodyPr/>
          <a:lstStyle>
            <a:lvl1pPr marL="0" indent="0" defTabSz="412735">
              <a:lnSpc>
                <a:spcPct val="100000"/>
              </a:lnSpc>
              <a:spcBef>
                <a:spcPts val="0"/>
              </a:spcBef>
              <a:buSzTx/>
              <a:buNone/>
              <a:defRPr sz="2672"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6731086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491133" y="312539"/>
            <a:ext cx="8161734" cy="714375"/>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491133" y="991195"/>
            <a:ext cx="8161735" cy="472361"/>
          </a:xfrm>
          <a:prstGeom prst="rect">
            <a:avLst/>
          </a:prstGeom>
        </p:spPr>
        <p:txBody>
          <a:bodyPr/>
          <a:lstStyle>
            <a:lvl1pPr marL="0" indent="0" defTabSz="412735">
              <a:lnSpc>
                <a:spcPct val="100000"/>
              </a:lnSpc>
              <a:spcBef>
                <a:spcPts val="0"/>
              </a:spcBef>
              <a:buSzTx/>
              <a:buNone/>
              <a:defRPr sz="2672"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a:spcBef>
                <a:spcPts val="914"/>
              </a:spcBef>
              <a:buSzTx/>
              <a:buNone/>
              <a:defRPr sz="2672" spc="-27"/>
            </a:lvl1pPr>
            <a:lvl2pPr marL="0" indent="321457">
              <a:spcBef>
                <a:spcPts val="914"/>
              </a:spcBef>
              <a:buSzTx/>
              <a:buNone/>
              <a:defRPr sz="2672" spc="-27"/>
            </a:lvl2pPr>
            <a:lvl3pPr marL="0" indent="642915">
              <a:spcBef>
                <a:spcPts val="914"/>
              </a:spcBef>
              <a:buSzTx/>
              <a:buNone/>
              <a:defRPr sz="2672" spc="-27"/>
            </a:lvl3pPr>
            <a:lvl4pPr marL="0" indent="964372">
              <a:spcBef>
                <a:spcPts val="914"/>
              </a:spcBef>
              <a:buSzTx/>
              <a:buNone/>
              <a:defRPr sz="2672" spc="-27"/>
            </a:lvl4pPr>
            <a:lvl5pPr marL="0" indent="1285829">
              <a:spcBef>
                <a:spcPts val="914"/>
              </a:spcBef>
              <a:buSzTx/>
              <a:buNone/>
              <a:defRPr sz="2672" spc="-27"/>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24266241"/>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491133" y="2509242"/>
            <a:ext cx="8161734" cy="1840632"/>
          </a:xfrm>
          <a:prstGeom prst="rect">
            <a:avLst/>
          </a:prstGeom>
        </p:spPr>
        <p:txBody>
          <a:bodyPr anchor="ctr"/>
          <a:lstStyle>
            <a:lvl1pPr marL="0" indent="0" algn="ctr">
              <a:lnSpc>
                <a:spcPct val="80000"/>
              </a:lnSpc>
              <a:spcBef>
                <a:spcPts val="0"/>
              </a:spcBef>
              <a:buSzTx/>
              <a:buNone/>
              <a:defRPr sz="5765" spc="-115">
                <a:latin typeface="Helvetica Neue Medium"/>
                <a:ea typeface="Helvetica Neue Medium"/>
                <a:cs typeface="Helvetica Neue Medium"/>
                <a:sym typeface="Helvetica Neue Medium"/>
              </a:defRPr>
            </a:lvl1pPr>
            <a:lvl2pPr marL="0" indent="321457" algn="ctr">
              <a:lnSpc>
                <a:spcPct val="80000"/>
              </a:lnSpc>
              <a:spcBef>
                <a:spcPts val="0"/>
              </a:spcBef>
              <a:buSzTx/>
              <a:buNone/>
              <a:defRPr sz="5765" spc="-115">
                <a:latin typeface="Helvetica Neue Medium"/>
                <a:ea typeface="Helvetica Neue Medium"/>
                <a:cs typeface="Helvetica Neue Medium"/>
                <a:sym typeface="Helvetica Neue Medium"/>
              </a:defRPr>
            </a:lvl2pPr>
            <a:lvl3pPr marL="0" indent="642915" algn="ctr">
              <a:lnSpc>
                <a:spcPct val="80000"/>
              </a:lnSpc>
              <a:spcBef>
                <a:spcPts val="0"/>
              </a:spcBef>
              <a:buSzTx/>
              <a:buNone/>
              <a:defRPr sz="5765" spc="-115">
                <a:latin typeface="Helvetica Neue Medium"/>
                <a:ea typeface="Helvetica Neue Medium"/>
                <a:cs typeface="Helvetica Neue Medium"/>
                <a:sym typeface="Helvetica Neue Medium"/>
              </a:defRPr>
            </a:lvl3pPr>
            <a:lvl4pPr marL="0" indent="964372" algn="ctr">
              <a:lnSpc>
                <a:spcPct val="80000"/>
              </a:lnSpc>
              <a:spcBef>
                <a:spcPts val="0"/>
              </a:spcBef>
              <a:buSzTx/>
              <a:buNone/>
              <a:defRPr sz="5765" spc="-115">
                <a:latin typeface="Helvetica Neue Medium"/>
                <a:ea typeface="Helvetica Neue Medium"/>
                <a:cs typeface="Helvetica Neue Medium"/>
                <a:sym typeface="Helvetica Neue Medium"/>
              </a:defRPr>
            </a:lvl4pPr>
            <a:lvl5pPr marL="0" indent="1285829" algn="ctr">
              <a:lnSpc>
                <a:spcPct val="80000"/>
              </a:lnSpc>
              <a:spcBef>
                <a:spcPts val="0"/>
              </a:spcBef>
              <a:buSzTx/>
              <a:buNone/>
              <a:defRPr sz="5765" spc="-115">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16010226"/>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Fact information"/>
          <p:cNvSpPr txBox="1">
            <a:spLocks noGrp="1"/>
          </p:cNvSpPr>
          <p:nvPr>
            <p:ph type="body" sz="quarter" idx="21" hasCustomPrompt="1"/>
          </p:nvPr>
        </p:nvSpPr>
        <p:spPr>
          <a:xfrm>
            <a:off x="491133" y="4366392"/>
            <a:ext cx="8161734" cy="472361"/>
          </a:xfrm>
          <a:prstGeom prst="rect">
            <a:avLst/>
          </a:prstGeom>
        </p:spPr>
        <p:txBody>
          <a:bodyPr/>
          <a:lstStyle>
            <a:lvl1pPr marL="0" indent="0" algn="ctr">
              <a:lnSpc>
                <a:spcPct val="100000"/>
              </a:lnSpc>
              <a:spcBef>
                <a:spcPts val="0"/>
              </a:spcBef>
              <a:buSzTx/>
              <a:buNone/>
              <a:defRPr sz="2672" b="1"/>
            </a:lvl1pPr>
          </a:lstStyle>
          <a:p>
            <a:r>
              <a:t>Fact information</a:t>
            </a:r>
          </a:p>
        </p:txBody>
      </p:sp>
      <p:sp>
        <p:nvSpPr>
          <p:cNvPr id="127" name="Body Level One…"/>
          <p:cNvSpPr txBox="1">
            <a:spLocks noGrp="1"/>
          </p:cNvSpPr>
          <p:nvPr>
            <p:ph type="body" idx="1" hasCustomPrompt="1"/>
          </p:nvPr>
        </p:nvSpPr>
        <p:spPr>
          <a:xfrm>
            <a:off x="491133" y="702468"/>
            <a:ext cx="8161734" cy="3663924"/>
          </a:xfrm>
          <a:prstGeom prst="rect">
            <a:avLst/>
          </a:prstGeom>
        </p:spPr>
        <p:txBody>
          <a:bodyPr anchor="b"/>
          <a:lstStyle>
            <a:lvl1pPr marL="0" indent="0" algn="ctr">
              <a:lnSpc>
                <a:spcPct val="80000"/>
              </a:lnSpc>
              <a:spcBef>
                <a:spcPts val="0"/>
              </a:spcBef>
              <a:buSzTx/>
              <a:buNone/>
              <a:defRPr sz="12375" b="1" spc="-124"/>
            </a:lvl1pPr>
            <a:lvl2pPr marL="0" indent="321457" algn="ctr">
              <a:lnSpc>
                <a:spcPct val="80000"/>
              </a:lnSpc>
              <a:spcBef>
                <a:spcPts val="0"/>
              </a:spcBef>
              <a:buSzTx/>
              <a:buNone/>
              <a:defRPr sz="12375" b="1" spc="-124"/>
            </a:lvl2pPr>
            <a:lvl3pPr marL="0" indent="642915" algn="ctr">
              <a:lnSpc>
                <a:spcPct val="80000"/>
              </a:lnSpc>
              <a:spcBef>
                <a:spcPts val="0"/>
              </a:spcBef>
              <a:buSzTx/>
              <a:buNone/>
              <a:defRPr sz="12375" b="1" spc="-124"/>
            </a:lvl3pPr>
            <a:lvl4pPr marL="0" indent="964372" algn="ctr">
              <a:lnSpc>
                <a:spcPct val="80000"/>
              </a:lnSpc>
              <a:spcBef>
                <a:spcPts val="0"/>
              </a:spcBef>
              <a:buSzTx/>
              <a:buNone/>
              <a:defRPr sz="12375" b="1" spc="-124"/>
            </a:lvl4pPr>
            <a:lvl5pPr marL="0" indent="1285829" algn="ctr">
              <a:lnSpc>
                <a:spcPct val="80000"/>
              </a:lnSpc>
              <a:spcBef>
                <a:spcPts val="0"/>
              </a:spcBef>
              <a:buSzTx/>
              <a:buNone/>
              <a:defRPr sz="12375" b="1" spc="-124"/>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62917708"/>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Body Level One…"/>
          <p:cNvSpPr txBox="1">
            <a:spLocks noGrp="1"/>
          </p:cNvSpPr>
          <p:nvPr>
            <p:ph type="body" sz="half" idx="1" hasCustomPrompt="1"/>
          </p:nvPr>
        </p:nvSpPr>
        <p:spPr>
          <a:xfrm>
            <a:off x="517922" y="2616398"/>
            <a:ext cx="8108156" cy="1634133"/>
          </a:xfrm>
          <a:prstGeom prst="rect">
            <a:avLst/>
          </a:prstGeom>
        </p:spPr>
        <p:txBody>
          <a:bodyPr anchor="ctr"/>
          <a:lstStyle>
            <a:lvl1pPr marL="321457" indent="-241093">
              <a:spcBef>
                <a:spcPts val="0"/>
              </a:spcBef>
              <a:buSzTx/>
              <a:buNone/>
              <a:defRPr sz="4219" spc="-84">
                <a:latin typeface="Helvetica Neue Medium"/>
                <a:ea typeface="Helvetica Neue Medium"/>
                <a:cs typeface="Helvetica Neue Medium"/>
                <a:sym typeface="Helvetica Neue Medium"/>
              </a:defRPr>
            </a:lvl1pPr>
            <a:lvl2pPr marL="321457" indent="80364">
              <a:spcBef>
                <a:spcPts val="0"/>
              </a:spcBef>
              <a:buSzTx/>
              <a:buNone/>
              <a:defRPr sz="4219" spc="-84">
                <a:latin typeface="Helvetica Neue Medium"/>
                <a:ea typeface="Helvetica Neue Medium"/>
                <a:cs typeface="Helvetica Neue Medium"/>
                <a:sym typeface="Helvetica Neue Medium"/>
              </a:defRPr>
            </a:lvl2pPr>
            <a:lvl3pPr marL="321457" indent="401822">
              <a:spcBef>
                <a:spcPts val="0"/>
              </a:spcBef>
              <a:buSzTx/>
              <a:buNone/>
              <a:defRPr sz="4219" spc="-84">
                <a:latin typeface="Helvetica Neue Medium"/>
                <a:ea typeface="Helvetica Neue Medium"/>
                <a:cs typeface="Helvetica Neue Medium"/>
                <a:sym typeface="Helvetica Neue Medium"/>
              </a:defRPr>
            </a:lvl3pPr>
            <a:lvl4pPr marL="321457" indent="723279">
              <a:spcBef>
                <a:spcPts val="0"/>
              </a:spcBef>
              <a:buSzTx/>
              <a:buNone/>
              <a:defRPr sz="4219" spc="-84">
                <a:latin typeface="Helvetica Neue Medium"/>
                <a:ea typeface="Helvetica Neue Medium"/>
                <a:cs typeface="Helvetica Neue Medium"/>
                <a:sym typeface="Helvetica Neue Medium"/>
              </a:defRPr>
            </a:lvl4pPr>
            <a:lvl5pPr marL="321457" indent="1044736">
              <a:spcBef>
                <a:spcPts val="0"/>
              </a:spcBef>
              <a:buSzTx/>
              <a:buNone/>
              <a:defRPr sz="4219" spc="-84">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6" name="Attribution"/>
          <p:cNvSpPr txBox="1">
            <a:spLocks noGrp="1"/>
          </p:cNvSpPr>
          <p:nvPr>
            <p:ph type="body" sz="quarter" idx="21" hasCustomPrompt="1"/>
          </p:nvPr>
        </p:nvSpPr>
        <p:spPr>
          <a:xfrm>
            <a:off x="857250" y="4518422"/>
            <a:ext cx="7768828" cy="324182"/>
          </a:xfrm>
          <a:prstGeom prst="rect">
            <a:avLst/>
          </a:prstGeom>
        </p:spPr>
        <p:txBody>
          <a:bodyPr/>
          <a:lstStyle>
            <a:lvl1pPr marL="0" indent="0" defTabSz="396226">
              <a:lnSpc>
                <a:spcPct val="100000"/>
              </a:lnSpc>
              <a:spcBef>
                <a:spcPts val="0"/>
              </a:spcBef>
              <a:buSzTx/>
              <a:buNone/>
              <a:defRPr sz="1620" b="1"/>
            </a:lvl1pPr>
          </a:lstStyle>
          <a:p>
            <a:r>
              <a:t>Attribution</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41185848"/>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pappardelle pasta with parsley butter, roasted hazelnuts and shaved parmesan cheese"/>
          <p:cNvSpPr>
            <a:spLocks noGrp="1"/>
          </p:cNvSpPr>
          <p:nvPr>
            <p:ph type="pic" idx="21"/>
          </p:nvPr>
        </p:nvSpPr>
        <p:spPr>
          <a:xfrm>
            <a:off x="-1464469" y="483439"/>
            <a:ext cx="7850524" cy="5887893"/>
          </a:xfrm>
          <a:prstGeom prst="rect">
            <a:avLst/>
          </a:prstGeom>
        </p:spPr>
        <p:txBody>
          <a:bodyPr lIns="91439" tIns="45719" rIns="91439" bIns="45719">
            <a:noAutofit/>
          </a:bodyPr>
          <a:lstStyle/>
          <a:p>
            <a:endParaRPr/>
          </a:p>
        </p:txBody>
      </p:sp>
      <p:sp>
        <p:nvSpPr>
          <p:cNvPr id="145" name="Bowl of salad with fried rice, boiled eggs and chopsticks"/>
          <p:cNvSpPr>
            <a:spLocks noGrp="1"/>
          </p:cNvSpPr>
          <p:nvPr>
            <p:ph type="pic" sz="half" idx="22"/>
          </p:nvPr>
        </p:nvSpPr>
        <p:spPr>
          <a:xfrm>
            <a:off x="4638973" y="205383"/>
            <a:ext cx="4036219" cy="3228976"/>
          </a:xfrm>
          <a:prstGeom prst="rect">
            <a:avLst/>
          </a:prstGeom>
        </p:spPr>
        <p:txBody>
          <a:bodyPr lIns="91439" tIns="45719" rIns="91439" bIns="45719">
            <a:noAutofit/>
          </a:bodyPr>
          <a:lstStyle/>
          <a:p>
            <a:endParaRPr/>
          </a:p>
        </p:txBody>
      </p:sp>
      <p:sp>
        <p:nvSpPr>
          <p:cNvPr id="146" name="Bowl with salmon cakes, salad and houmous"/>
          <p:cNvSpPr>
            <a:spLocks noGrp="1"/>
          </p:cNvSpPr>
          <p:nvPr>
            <p:ph type="pic" idx="23"/>
          </p:nvPr>
        </p:nvSpPr>
        <p:spPr>
          <a:xfrm>
            <a:off x="3504902" y="1933181"/>
            <a:ext cx="5581055" cy="6495664"/>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80675419"/>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714375" y="-741164"/>
            <a:ext cx="10144125" cy="81153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4457386" y="6441815"/>
            <a:ext cx="229230" cy="243272"/>
          </a:xfrm>
          <a:prstGeom prst="rect">
            <a:avLst/>
          </a:prstGeom>
        </p:spPr>
        <p:txBody>
          <a:bodyPr/>
          <a:lstStyle>
            <a:lvl1pPr>
              <a:defRPr>
                <a:solidFill>
                  <a:srgbClr val="FFFFFF"/>
                </a:solidFill>
              </a:defRPr>
            </a:lvl1pPr>
          </a:lstStyle>
          <a:p>
            <a:fld id="{86CB4B4D-7CA3-9044-876B-883B54F8677D}" type="slidenum">
              <a:t>‹#›</a:t>
            </a:fld>
            <a:endParaRPr/>
          </a:p>
        </p:txBody>
      </p:sp>
    </p:spTree>
    <p:extLst>
      <p:ext uri="{BB962C8B-B14F-4D97-AF65-F5344CB8AC3E}">
        <p14:creationId xmlns:p14="http://schemas.microsoft.com/office/powerpoint/2010/main" val="1203457442"/>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96152483"/>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169" name="Slide Number"/>
          <p:cNvSpPr txBox="1">
            <a:spLocks noGrp="1"/>
          </p:cNvSpPr>
          <p:nvPr>
            <p:ph type="sldNum" sz="quarter" idx="2"/>
          </p:nvPr>
        </p:nvSpPr>
        <p:spPr>
          <a:xfrm>
            <a:off x="8762315" y="6562959"/>
            <a:ext cx="256481" cy="275717"/>
          </a:xfrm>
          <a:prstGeom prst="rect">
            <a:avLst/>
          </a:prstGeom>
        </p:spPr>
        <p:txBody>
          <a:bodyPr anchor="t"/>
          <a:lstStyle>
            <a:lvl1pPr>
              <a:defRPr sz="1125">
                <a:latin typeface="Helvetica Neue Light"/>
                <a:ea typeface="Helvetica Neue Light"/>
                <a:cs typeface="Helvetica Neue Light"/>
                <a:sym typeface="Helvetica Neue Light"/>
              </a:defRPr>
            </a:lvl1pPr>
          </a:lstStyle>
          <a:p>
            <a:fld id="{86CB4B4D-7CA3-9044-876B-883B54F8677D}" type="slidenum">
              <a:t>‹#›</a:t>
            </a:fld>
            <a:endParaRPr/>
          </a:p>
        </p:txBody>
      </p:sp>
      <p:sp>
        <p:nvSpPr>
          <p:cNvPr id="170" name="Title Text"/>
          <p:cNvSpPr txBox="1">
            <a:spLocks noGrp="1"/>
          </p:cNvSpPr>
          <p:nvPr>
            <p:ph type="title"/>
          </p:nvPr>
        </p:nvSpPr>
        <p:spPr>
          <a:xfrm>
            <a:off x="669727" y="178594"/>
            <a:ext cx="7804547" cy="1518047"/>
          </a:xfrm>
          <a:prstGeom prst="rect">
            <a:avLst/>
          </a:prstGeom>
        </p:spPr>
        <p:txBody>
          <a:bodyPr anchor="ctr"/>
          <a:lstStyle>
            <a:lvl1pPr algn="ctr" defTabSz="410751">
              <a:lnSpc>
                <a:spcPct val="100000"/>
              </a:lnSpc>
              <a:defRPr sz="5625" b="0" spc="0">
                <a:latin typeface="Helvetica Neue Light"/>
                <a:ea typeface="Helvetica Neue Light"/>
                <a:cs typeface="Helvetica Neue Light"/>
                <a:sym typeface="Helvetica Neue Light"/>
              </a:defRPr>
            </a:lvl1pPr>
          </a:lstStyle>
          <a:p>
            <a:r>
              <a:t>Title Text</a:t>
            </a:r>
          </a:p>
        </p:txBody>
      </p:sp>
      <p:sp>
        <p:nvSpPr>
          <p:cNvPr id="171" name="Body Level One…"/>
          <p:cNvSpPr txBox="1">
            <a:spLocks noGrp="1"/>
          </p:cNvSpPr>
          <p:nvPr>
            <p:ph type="body" idx="1"/>
          </p:nvPr>
        </p:nvSpPr>
        <p:spPr>
          <a:xfrm>
            <a:off x="669727" y="1821656"/>
            <a:ext cx="7804547" cy="4420195"/>
          </a:xfrm>
          <a:prstGeom prst="rect">
            <a:avLst/>
          </a:prstGeom>
        </p:spPr>
        <p:txBody>
          <a:bodyPr anchor="ctr"/>
          <a:lstStyle>
            <a:lvl1pPr marL="301366" indent="-301366" defTabSz="410751">
              <a:lnSpc>
                <a:spcPct val="100000"/>
              </a:lnSpc>
              <a:spcBef>
                <a:spcPts val="2953"/>
              </a:spcBef>
              <a:buSzPct val="100000"/>
              <a:defRPr sz="2250">
                <a:latin typeface="Helvetica Neue Light"/>
                <a:ea typeface="Helvetica Neue Light"/>
                <a:cs typeface="Helvetica Neue Light"/>
                <a:sym typeface="Helvetica Neue Light"/>
              </a:defRPr>
            </a:lvl1pPr>
            <a:lvl2pPr marL="625056" indent="-312528" defTabSz="410751">
              <a:lnSpc>
                <a:spcPct val="100000"/>
              </a:lnSpc>
              <a:spcBef>
                <a:spcPts val="2953"/>
              </a:spcBef>
              <a:buSzPct val="100000"/>
              <a:defRPr sz="2250">
                <a:latin typeface="Helvetica Neue Light"/>
                <a:ea typeface="Helvetica Neue Light"/>
                <a:cs typeface="Helvetica Neue Light"/>
                <a:sym typeface="Helvetica Neue Light"/>
              </a:defRPr>
            </a:lvl2pPr>
            <a:lvl3pPr marL="937584" indent="-312528" defTabSz="410751">
              <a:lnSpc>
                <a:spcPct val="100000"/>
              </a:lnSpc>
              <a:spcBef>
                <a:spcPts val="2953"/>
              </a:spcBef>
              <a:buSzPct val="145000"/>
              <a:defRPr sz="2250">
                <a:latin typeface="Helvetica Neue Light"/>
                <a:ea typeface="Helvetica Neue Light"/>
                <a:cs typeface="Helvetica Neue Light"/>
                <a:sym typeface="Helvetica Neue Light"/>
              </a:defRPr>
            </a:lvl3pPr>
            <a:lvl4pPr marL="1250112" indent="-312528" defTabSz="410751">
              <a:lnSpc>
                <a:spcPct val="100000"/>
              </a:lnSpc>
              <a:spcBef>
                <a:spcPts val="2953"/>
              </a:spcBef>
              <a:buSzPct val="145000"/>
              <a:defRPr sz="2250">
                <a:latin typeface="Helvetica Neue Light"/>
                <a:ea typeface="Helvetica Neue Light"/>
                <a:cs typeface="Helvetica Neue Light"/>
                <a:sym typeface="Helvetica Neue Light"/>
              </a:defRPr>
            </a:lvl4pPr>
            <a:lvl5pPr marL="1562640" indent="-312528" defTabSz="410751">
              <a:lnSpc>
                <a:spcPct val="100000"/>
              </a:lnSpc>
              <a:spcBef>
                <a:spcPts val="2953"/>
              </a:spcBef>
              <a:buSzPct val="145000"/>
              <a:defRPr sz="2250">
                <a:latin typeface="Helvetica Neue Light"/>
                <a:ea typeface="Helvetica Neue Light"/>
                <a:cs typeface="Helvetica Neue Light"/>
                <a:sym typeface="Helvetica Neue Light"/>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369856795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i="0">
                <a:latin typeface="LM Sans 12" panose="00000500000000000000" pitchFamily="50" charset="0"/>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LM Sans 12"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4A68FBEC-A6EF-FA40-8A86-1612FAC97143}" type="datetime1">
              <a:rPr lang="en-US" smtClean="0"/>
              <a:t>9/21/26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5298478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LM Sans 12" panose="00000500000000000000" pitchFamily="50"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LM Sans 12" panose="00000500000000000000" pitchFamily="50" charset="0"/>
              </a:defRPr>
            </a:lvl1pPr>
            <a:lvl2pPr>
              <a:defRPr>
                <a:latin typeface="LM Sans 12" panose="00000500000000000000" pitchFamily="50" charset="0"/>
              </a:defRPr>
            </a:lvl2pPr>
            <a:lvl3pPr>
              <a:defRPr>
                <a:latin typeface="LM Sans 12" panose="00000500000000000000" pitchFamily="50" charset="0"/>
              </a:defRPr>
            </a:lvl3pPr>
            <a:lvl4pPr>
              <a:defRPr>
                <a:latin typeface="LM Sans 12" panose="00000500000000000000" pitchFamily="50" charset="0"/>
              </a:defRPr>
            </a:lvl4pPr>
            <a:lvl5pPr>
              <a:defRPr>
                <a:latin typeface="LM Sans 12"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3BFBC8BA-CF92-B84C-AE1C-661E2DC4125F}" type="datetime1">
              <a:rPr lang="en-US" smtClean="0"/>
              <a:t>9/21/26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15608087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6DB23C-C8D4-894D-90A4-7CB6808F52EC}" type="datetime1">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8363381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badi MT Condensed Extra Bold" panose="020B0306030101010103" pitchFamily="34" charset="77"/>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badi MT Condensed Light" panose="020B0306030101010103" pitchFamily="34" charset="77"/>
              </a:defRPr>
            </a:lvl1pPr>
          </a:lstStyle>
          <a:p>
            <a:fld id="{A3EAF066-C4E1-614E-B459-5E3FE30C7A6A}" type="datetime1">
              <a:rPr lang="en-US" smtClean="0"/>
              <a:t>9/21/26</a:t>
            </a:fld>
            <a:endParaRPr lang="en-US"/>
          </a:p>
        </p:txBody>
      </p:sp>
      <p:sp>
        <p:nvSpPr>
          <p:cNvPr id="6" name="Footer Placeholder 5"/>
          <p:cNvSpPr>
            <a:spLocks noGrp="1"/>
          </p:cNvSpPr>
          <p:nvPr>
            <p:ph type="ftr" sz="quarter" idx="11"/>
          </p:nvPr>
        </p:nvSpPr>
        <p:spPr/>
        <p:txBody>
          <a:bodyPr/>
          <a:lstStyle>
            <a:lvl1pPr>
              <a:defRPr>
                <a:latin typeface="Abadi MT Condensed Light" panose="020B0306030101010103" pitchFamily="34" charset="77"/>
              </a:defRPr>
            </a:lvl1pPr>
          </a:lstStyle>
          <a:p>
            <a:endParaRPr lang="en-US"/>
          </a:p>
        </p:txBody>
      </p:sp>
      <p:sp>
        <p:nvSpPr>
          <p:cNvPr id="7" name="Slide Number Placeholder 6"/>
          <p:cNvSpPr>
            <a:spLocks noGrp="1"/>
          </p:cNvSpPr>
          <p:nvPr>
            <p:ph type="sldNum" sz="quarter" idx="12"/>
          </p:nvPr>
        </p:nvSpPr>
        <p:spPr/>
        <p:txBody>
          <a:bodyPr/>
          <a:lstStyle>
            <a:lvl1pPr>
              <a:defRPr>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4991183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53E2C4-587F-4743-9184-A5FE64E401FC}" type="datetime1">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7598850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7F61C-A040-B540-A29D-5F691041E09F}" type="datetime1">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0675907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235EC-E0F4-2D4E-81D7-62B9FB91BA77}" type="datetime1">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4082745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B845725-B6C0-F347-B6BA-7CD40B95D153}" type="datetime1">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6924563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2B68FC-02AC-D747-8049-A88A08799D7F}" type="datetime1">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1450100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FBEF2F-58AE-C545-B12D-68DA2DB49F71}" type="datetime1">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5614588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84B45C-82AA-DD48-9869-C8B62065DA92}" type="datetime1">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6583071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i="0">
                <a:latin typeface="LM Sans 12" panose="00000500000000000000" pitchFamily="50" charset="0"/>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LM Sans 12"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3F61BB81-E92A-AC43-843A-E4F6CBA4F63C}" type="datetimeFigureOut">
              <a:rPr lang="en-US" smtClean="0"/>
              <a:pPr/>
              <a:t>9/21/26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29946507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LM Sans 12" panose="00000500000000000000" pitchFamily="50"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LM Sans 12" panose="00000500000000000000" pitchFamily="50" charset="0"/>
              </a:defRPr>
            </a:lvl1pPr>
            <a:lvl2pPr>
              <a:defRPr>
                <a:latin typeface="LM Sans 12" panose="00000500000000000000" pitchFamily="50" charset="0"/>
              </a:defRPr>
            </a:lvl2pPr>
            <a:lvl3pPr>
              <a:defRPr>
                <a:latin typeface="LM Sans 12" panose="00000500000000000000" pitchFamily="50" charset="0"/>
              </a:defRPr>
            </a:lvl3pPr>
            <a:lvl4pPr>
              <a:defRPr>
                <a:latin typeface="LM Sans 12" panose="00000500000000000000" pitchFamily="50" charset="0"/>
              </a:defRPr>
            </a:lvl4pPr>
            <a:lvl5pPr>
              <a:defRPr>
                <a:latin typeface="LM Sans 12"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3F61BB81-E92A-AC43-843A-E4F6CBA4F63C}" type="datetimeFigureOut">
              <a:rPr lang="en-US" smtClean="0"/>
              <a:pPr/>
              <a:t>9/21/26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18088424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61BB81-E92A-AC43-843A-E4F6CBA4F63C}"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8827562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badi MT Condensed Extra Bold" panose="020B0306030101010103" pitchFamily="34" charset="77"/>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badi MT Condensed Light" panose="020B0306030101010103" pitchFamily="34" charset="77"/>
              </a:defRPr>
            </a:lvl1pPr>
          </a:lstStyle>
          <a:p>
            <a:fld id="{3F61BB81-E92A-AC43-843A-E4F6CBA4F63C}" type="datetimeFigureOut">
              <a:rPr lang="en-US" smtClean="0"/>
              <a:pPr/>
              <a:t>9/21/26</a:t>
            </a:fld>
            <a:endParaRPr lang="en-US"/>
          </a:p>
        </p:txBody>
      </p:sp>
      <p:sp>
        <p:nvSpPr>
          <p:cNvPr id="6" name="Footer Placeholder 5"/>
          <p:cNvSpPr>
            <a:spLocks noGrp="1"/>
          </p:cNvSpPr>
          <p:nvPr>
            <p:ph type="ftr" sz="quarter" idx="11"/>
          </p:nvPr>
        </p:nvSpPr>
        <p:spPr/>
        <p:txBody>
          <a:bodyPr/>
          <a:lstStyle>
            <a:lvl1pPr>
              <a:defRPr>
                <a:latin typeface="Abadi MT Condensed Light" panose="020B0306030101010103" pitchFamily="34" charset="77"/>
              </a:defRPr>
            </a:lvl1pPr>
          </a:lstStyle>
          <a:p>
            <a:endParaRPr lang="en-US"/>
          </a:p>
        </p:txBody>
      </p:sp>
      <p:sp>
        <p:nvSpPr>
          <p:cNvPr id="7" name="Slide Number Placeholder 6"/>
          <p:cNvSpPr>
            <a:spLocks noGrp="1"/>
          </p:cNvSpPr>
          <p:nvPr>
            <p:ph type="sldNum" sz="quarter" idx="12"/>
          </p:nvPr>
        </p:nvSpPr>
        <p:spPr/>
        <p:txBody>
          <a:bodyPr/>
          <a:lstStyle>
            <a:lvl1pPr>
              <a:defRPr>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3653518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61BB81-E92A-AC43-843A-E4F6CBA4F63C}"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32511517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61BB81-E92A-AC43-843A-E4F6CBA4F63C}"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357180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1BB81-E92A-AC43-843A-E4F6CBA4F63C}"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2269853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61BB81-E92A-AC43-843A-E4F6CBA4F63C}"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6656592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61BB81-E92A-AC43-843A-E4F6CBA4F63C}"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2745722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61BB81-E92A-AC43-843A-E4F6CBA4F63C}"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3644598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61BB81-E92A-AC43-843A-E4F6CBA4F63C}"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805345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badi MT Condensed Light" panose="020B0306030101010103" pitchFamily="34" charset="77"/>
              </a:defRPr>
            </a:lvl1pPr>
          </a:lstStyle>
          <a:p>
            <a:fld id="{3A84D108-131E-8A4B-8D03-5C5BAB57FB9F}" type="datetime1">
              <a:rPr lang="en-US" smtClean="0"/>
              <a:t>9/21/26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badi MT Condensed Light" panose="020B0306030101010103" pitchFamily="34" charset="77"/>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29379487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MT Condensed Light" panose="020B03060301010101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MT Condensed Light" panose="020B03060301010101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MT Condensed Light" panose="020B03060301010101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hasCustomPrompt="1"/>
          </p:nvPr>
        </p:nvSpPr>
        <p:spPr>
          <a:xfrm>
            <a:off x="491133" y="2080617"/>
            <a:ext cx="8161734" cy="4286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3" name="Slide Title"/>
          <p:cNvSpPr txBox="1">
            <a:spLocks noGrp="1"/>
          </p:cNvSpPr>
          <p:nvPr>
            <p:ph type="title" hasCustomPrompt="1"/>
          </p:nvPr>
        </p:nvSpPr>
        <p:spPr>
          <a:xfrm>
            <a:off x="491133" y="309562"/>
            <a:ext cx="8161734" cy="7143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4" name="Slide Number"/>
          <p:cNvSpPr txBox="1">
            <a:spLocks noGrp="1"/>
          </p:cNvSpPr>
          <p:nvPr>
            <p:ph type="sldNum" sz="quarter" idx="2"/>
          </p:nvPr>
        </p:nvSpPr>
        <p:spPr>
          <a:xfrm>
            <a:off x="4455004" y="6441815"/>
            <a:ext cx="229230" cy="243272"/>
          </a:xfrm>
          <a:prstGeom prst="rect">
            <a:avLst/>
          </a:prstGeom>
          <a:ln w="12700">
            <a:miter lim="400000"/>
          </a:ln>
        </p:spPr>
        <p:txBody>
          <a:bodyPr wrap="none" lIns="50800" tIns="50800" rIns="50800" bIns="50800" anchor="b">
            <a:spAutoFit/>
          </a:bodyPr>
          <a:lstStyle>
            <a:lvl1pPr algn="ctr" defTabSz="410751">
              <a:lnSpc>
                <a:spcPct val="100000"/>
              </a:lnSpc>
              <a:spcBef>
                <a:spcPts val="0"/>
              </a:spcBef>
              <a:defRPr sz="914"/>
            </a:lvl1pPr>
          </a:lstStyle>
          <a:p>
            <a:fld id="{86CB4B4D-7CA3-9044-876B-883B54F8677D}" type="slidenum">
              <a:t>‹#›</a:t>
            </a:fld>
            <a:endParaRPr/>
          </a:p>
        </p:txBody>
      </p:sp>
    </p:spTree>
    <p:extLst>
      <p:ext uri="{BB962C8B-B14F-4D97-AF65-F5344CB8AC3E}">
        <p14:creationId xmlns:p14="http://schemas.microsoft.com/office/powerpoint/2010/main" val="18038686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transition spd="med"/>
  <p:txStyles>
    <p:titleStyle>
      <a:lvl1pPr marL="0" marR="0" indent="0"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1pPr>
      <a:lvl2pPr marL="0" marR="0" indent="321457"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2pPr>
      <a:lvl3pPr marL="0" marR="0" indent="642915"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3pPr>
      <a:lvl4pPr marL="0" marR="0" indent="964372"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4pPr>
      <a:lvl5pPr marL="0" marR="0" indent="1285829"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5pPr>
      <a:lvl6pPr marL="0" marR="0" indent="1607287"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6pPr>
      <a:lvl7pPr marL="0" marR="0" indent="1928744"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7pPr>
      <a:lvl8pPr marL="0" marR="0" indent="2250201"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8pPr>
      <a:lvl9pPr marL="0" marR="0" indent="2571659" algn="l" defTabSz="1219126" rtl="0" latinLnBrk="0">
        <a:lnSpc>
          <a:spcPct val="80000"/>
        </a:lnSpc>
        <a:spcBef>
          <a:spcPts val="0"/>
        </a:spcBef>
        <a:spcAft>
          <a:spcPts val="0"/>
        </a:spcAft>
        <a:buClrTx/>
        <a:buSzTx/>
        <a:buFontTx/>
        <a:buNone/>
        <a:tabLst/>
        <a:defRPr sz="4219" b="1" i="0" u="none" strike="noStrike" cap="none" spc="-84" baseline="0">
          <a:solidFill>
            <a:srgbClr val="000000"/>
          </a:solidFill>
          <a:uFillTx/>
          <a:latin typeface="+mn-lt"/>
          <a:ea typeface="+mn-ea"/>
          <a:cs typeface="+mn-cs"/>
          <a:sym typeface="Helvetica Neue"/>
        </a:defRPr>
      </a:lvl9pPr>
    </p:titleStyle>
    <p:bodyStyle>
      <a:lvl1pPr marL="267881"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1pPr>
      <a:lvl2pPr marL="535762"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2pPr>
      <a:lvl3pPr marL="803643"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3pPr>
      <a:lvl4pPr marL="1071524"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4pPr>
      <a:lvl5pPr marL="1339406"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5pPr>
      <a:lvl6pPr marL="1607287"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6pPr>
      <a:lvl7pPr marL="1875168"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7pPr>
      <a:lvl8pPr marL="2143049"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8pPr>
      <a:lvl9pPr marL="2410930" marR="0" indent="-267881" algn="l" defTabSz="1219126" rtl="0" latinLnBrk="0">
        <a:lnSpc>
          <a:spcPct val="90000"/>
        </a:lnSpc>
        <a:spcBef>
          <a:spcPts val="2250"/>
        </a:spcBef>
        <a:spcAft>
          <a:spcPts val="0"/>
        </a:spcAft>
        <a:buClrTx/>
        <a:buSzPct val="123000"/>
        <a:buFontTx/>
        <a:buChar char="•"/>
        <a:tabLst/>
        <a:defRPr sz="2109" b="0" i="0" u="none" strike="noStrike" cap="none" spc="0" baseline="0">
          <a:solidFill>
            <a:srgbClr val="000000"/>
          </a:solidFill>
          <a:uFillTx/>
          <a:latin typeface="+mn-lt"/>
          <a:ea typeface="+mn-ea"/>
          <a:cs typeface="+mn-cs"/>
          <a:sym typeface="Helvetica Neue"/>
        </a:defRPr>
      </a:lvl9pPr>
    </p:bodyStyle>
    <p:otherStyle>
      <a:lvl1pPr marL="0" marR="0" indent="0"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1pPr>
      <a:lvl2pPr marL="0" marR="0" indent="321457"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2pPr>
      <a:lvl3pPr marL="0" marR="0" indent="642915"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3pPr>
      <a:lvl4pPr marL="0" marR="0" indent="964372"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4pPr>
      <a:lvl5pPr marL="0" marR="0" indent="1285829"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5pPr>
      <a:lvl6pPr marL="0" marR="0" indent="1607287"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6pPr>
      <a:lvl7pPr marL="0" marR="0" indent="1928744"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7pPr>
      <a:lvl8pPr marL="0" marR="0" indent="2250201"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8pPr>
      <a:lvl9pPr marL="0" marR="0" indent="2571659" algn="ctr" defTabSz="410751" rtl="0" latinLnBrk="0">
        <a:lnSpc>
          <a:spcPct val="100000"/>
        </a:lnSpc>
        <a:spcBef>
          <a:spcPts val="0"/>
        </a:spcBef>
        <a:spcAft>
          <a:spcPts val="0"/>
        </a:spcAft>
        <a:buClrTx/>
        <a:buSzTx/>
        <a:buFontTx/>
        <a:buNone/>
        <a:tabLst/>
        <a:defRPr sz="914" b="0" i="0" u="none" strike="noStrike" cap="none" spc="0" baseline="0">
          <a:solidFill>
            <a:schemeClr val="tx1"/>
          </a:solidFill>
          <a:uFillTx/>
          <a:latin typeface="+mn-lt"/>
          <a:ea typeface="+mn-ea"/>
          <a:cs typeface="+mn-cs"/>
          <a:sym typeface="Helvetica Neue"/>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badi MT Condensed Light" panose="020B0306030101010103" pitchFamily="34" charset="77"/>
              </a:defRPr>
            </a:lvl1pPr>
          </a:lstStyle>
          <a:p>
            <a:fld id="{6DFF4D67-CE94-F344-A02E-7A8F939F7A83}" type="datetime1">
              <a:rPr lang="en-US" smtClean="0"/>
              <a:t>9/21/26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badi MT Condensed Light" panose="020B0306030101010103" pitchFamily="34" charset="77"/>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36502688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MT Condensed Light" panose="020B03060301010101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MT Condensed Light" panose="020B03060301010101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MT Condensed Light" panose="020B03060301010101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badi MT Condensed Light" panose="020B0306030101010103" pitchFamily="34" charset="77"/>
              </a:defRPr>
            </a:lvl1pPr>
          </a:lstStyle>
          <a:p>
            <a:fld id="{3F61BB81-E92A-AC43-843A-E4F6CBA4F63C}" type="datetimeFigureOut">
              <a:rPr lang="en-US" smtClean="0"/>
              <a:pPr/>
              <a:t>9/21/26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badi MT Condensed Light" panose="020B0306030101010103" pitchFamily="34" charset="77"/>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146281744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MT Condensed Light" panose="020B03060301010101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MT Condensed Light" panose="020B03060301010101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MT Condensed Light" panose="020B03060301010101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evelopers.google.com/edu/python/regular-expression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www.debuggex.com/"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8.xml"/><Relationship Id="rId5" Type="http://schemas.openxmlformats.org/officeDocument/2006/relationships/image" Target="../media/image13.png"/><Relationship Id="rId4" Type="http://schemas.openxmlformats.org/officeDocument/2006/relationships/image" Target="../media/image12.jpeg"/></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reddit.com/r/changemyview/"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hyperlink" Target="https://www.liwc.app/help/lsm" TargetMode="External"/><Relationship Id="rId4" Type="http://schemas.openxmlformats.org/officeDocument/2006/relationships/hyperlink" Target="https://www.liwc.app/" TargetMode="Externa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hedonometer.org/timeseries/en_all/?from=2022-12-03&amp;to=2023-05-26&amp;viz=wordshift"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B6359-AFC8-5749-ABD8-D22C31534A8C}"/>
              </a:ext>
            </a:extLst>
          </p:cNvPr>
          <p:cNvSpPr>
            <a:spLocks noGrp="1"/>
          </p:cNvSpPr>
          <p:nvPr>
            <p:ph type="ctrTitle"/>
          </p:nvPr>
        </p:nvSpPr>
        <p:spPr>
          <a:xfrm>
            <a:off x="698602" y="1413845"/>
            <a:ext cx="7746794" cy="1729289"/>
          </a:xfrm>
        </p:spPr>
        <p:txBody>
          <a:bodyPr>
            <a:normAutofit fontScale="90000"/>
          </a:bodyPr>
          <a:lstStyle/>
          <a:p>
            <a:r>
              <a:rPr lang="en-US" dirty="0"/>
              <a:t>DSC3013 Intro. to Social</a:t>
            </a:r>
            <a:br>
              <a:rPr lang="en-US" dirty="0"/>
            </a:br>
            <a:r>
              <a:rPr lang="en-US" dirty="0"/>
              <a:t>Media Analytics (</a:t>
            </a:r>
            <a:r>
              <a:rPr lang="en-US" dirty="0" err="1"/>
              <a:t>Lec</a:t>
            </a:r>
            <a:r>
              <a:rPr lang="en-US" dirty="0"/>
              <a:t>. 4)</a:t>
            </a:r>
          </a:p>
        </p:txBody>
      </p:sp>
      <p:sp>
        <p:nvSpPr>
          <p:cNvPr id="3" name="Subtitle 2">
            <a:extLst>
              <a:ext uri="{FF2B5EF4-FFF2-40B4-BE49-F238E27FC236}">
                <a16:creationId xmlns:a16="http://schemas.microsoft.com/office/drawing/2014/main" id="{03BB8D86-7309-C04C-901B-36514C38109C}"/>
              </a:ext>
            </a:extLst>
          </p:cNvPr>
          <p:cNvSpPr>
            <a:spLocks noGrp="1"/>
          </p:cNvSpPr>
          <p:nvPr>
            <p:ph type="subTitle" idx="1"/>
          </p:nvPr>
        </p:nvSpPr>
        <p:spPr>
          <a:xfrm>
            <a:off x="1142999" y="3230220"/>
            <a:ext cx="6858000" cy="2653748"/>
          </a:xfrm>
        </p:spPr>
        <p:txBody>
          <a:bodyPr>
            <a:normAutofit/>
          </a:bodyPr>
          <a:lstStyle/>
          <a:p>
            <a:endParaRPr lang="en-US" dirty="0">
              <a:latin typeface="LM Sans 12" panose="00000500000000000000" pitchFamily="50" charset="0"/>
              <a:ea typeface="Apple Symbols" panose="02000000000000000000" pitchFamily="2" charset="-79"/>
              <a:cs typeface="Apple Symbols" panose="02000000000000000000" pitchFamily="2" charset="-79"/>
            </a:endParaRPr>
          </a:p>
          <a:p>
            <a:r>
              <a:rPr lang="en-US" dirty="0">
                <a:latin typeface="LM Sans 12" panose="00000500000000000000" pitchFamily="50" charset="0"/>
                <a:ea typeface="Apple Symbols" panose="02000000000000000000" pitchFamily="2" charset="-79"/>
                <a:cs typeface="Apple Symbols" panose="02000000000000000000" pitchFamily="2" charset="-79"/>
              </a:rPr>
              <a:t>Hao PENG</a:t>
            </a:r>
          </a:p>
          <a:p>
            <a:r>
              <a:rPr lang="en-US" dirty="0">
                <a:latin typeface="LM Sans 12" panose="00000500000000000000" pitchFamily="50" charset="0"/>
                <a:ea typeface="Apple Symbols" panose="02000000000000000000" pitchFamily="2" charset="-79"/>
                <a:cs typeface="Apple Symbols" panose="02000000000000000000" pitchFamily="2" charset="-79"/>
              </a:rPr>
              <a:t>Department of Data Science</a:t>
            </a:r>
          </a:p>
          <a:p>
            <a:r>
              <a:rPr lang="en-US" dirty="0">
                <a:latin typeface="LM Sans 12" panose="00000500000000000000" pitchFamily="50" charset="0"/>
                <a:ea typeface="Apple Symbols" panose="02000000000000000000" pitchFamily="2" charset="-79"/>
                <a:cs typeface="Apple Symbols" panose="02000000000000000000" pitchFamily="2" charset="-79"/>
              </a:rPr>
              <a:t>City University of Hong Kong</a:t>
            </a:r>
          </a:p>
          <a:p>
            <a:r>
              <a:rPr lang="en-US" dirty="0">
                <a:solidFill>
                  <a:srgbClr val="0019FF"/>
                </a:solidFill>
                <a:latin typeface="LM Sans 12" panose="00000500000000000000" pitchFamily="50" charset="0"/>
                <a:ea typeface="Apple Symbols" panose="02000000000000000000" pitchFamily="2" charset="-79"/>
                <a:cs typeface="Apple Symbols" panose="02000000000000000000" pitchFamily="2" charset="-79"/>
              </a:rPr>
              <a:t>https://</a:t>
            </a:r>
            <a:r>
              <a:rPr lang="en-US" dirty="0" err="1">
                <a:solidFill>
                  <a:srgbClr val="0019FF"/>
                </a:solidFill>
                <a:latin typeface="LM Sans 12" panose="00000500000000000000" pitchFamily="50" charset="0"/>
                <a:ea typeface="Apple Symbols" panose="02000000000000000000" pitchFamily="2" charset="-79"/>
                <a:cs typeface="Apple Symbols" panose="02000000000000000000" pitchFamily="2" charset="-79"/>
              </a:rPr>
              <a:t>haoopeng.github.io</a:t>
            </a:r>
            <a:r>
              <a:rPr lang="en-US" dirty="0">
                <a:solidFill>
                  <a:srgbClr val="0019FF"/>
                </a:solidFill>
                <a:latin typeface="LM Sans 12" panose="00000500000000000000" pitchFamily="50" charset="0"/>
                <a:ea typeface="Apple Symbols" panose="02000000000000000000" pitchFamily="2" charset="-79"/>
                <a:cs typeface="Apple Symbols" panose="02000000000000000000" pitchFamily="2" charset="-79"/>
              </a:rPr>
              <a:t>/</a:t>
            </a:r>
          </a:p>
        </p:txBody>
      </p:sp>
      <p:sp>
        <p:nvSpPr>
          <p:cNvPr id="6" name="Slide Number Placeholder 3">
            <a:extLst>
              <a:ext uri="{FF2B5EF4-FFF2-40B4-BE49-F238E27FC236}">
                <a16:creationId xmlns:a16="http://schemas.microsoft.com/office/drawing/2014/main" id="{DB812824-44BF-91DE-43CE-423EF8E9686E}"/>
              </a:ext>
            </a:extLst>
          </p:cNvPr>
          <p:cNvSpPr>
            <a:spLocks noGrp="1"/>
          </p:cNvSpPr>
          <p:nvPr>
            <p:ph type="sldNum" sz="quarter" idx="12"/>
          </p:nvPr>
        </p:nvSpPr>
        <p:spPr>
          <a:xfrm>
            <a:off x="6553200" y="6356350"/>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LM Sans 12" panose="00000500000000000000" pitchFamily="50"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LM Sans 12" panose="00000500000000000000" pitchFamily="50" charset="0"/>
              <a:ea typeface="+mn-ea"/>
              <a:cs typeface="+mn-cs"/>
            </a:endParaRPr>
          </a:p>
        </p:txBody>
      </p:sp>
    </p:spTree>
    <p:extLst>
      <p:ext uri="{BB962C8B-B14F-4D97-AF65-F5344CB8AC3E}">
        <p14:creationId xmlns:p14="http://schemas.microsoft.com/office/powerpoint/2010/main" val="1965198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Agenda</a:t>
            </a:r>
          </a:p>
        </p:txBody>
      </p:sp>
      <p:sp>
        <p:nvSpPr>
          <p:cNvPr id="3" name="TextBox 2"/>
          <p:cNvSpPr txBox="1"/>
          <p:nvPr/>
        </p:nvSpPr>
        <p:spPr>
          <a:xfrm>
            <a:off x="548640" y="1280160"/>
            <a:ext cx="8046720" cy="2949525"/>
          </a:xfrm>
          <a:prstGeom prst="rect">
            <a:avLst/>
          </a:prstGeom>
          <a:noFill/>
        </p:spPr>
        <p:txBody>
          <a:bodyPr wrap="square">
            <a:spAutoFit/>
          </a:bodyPr>
          <a:lstStyle/>
          <a:p>
            <a:pPr algn="l">
              <a:spcAft>
                <a:spcPts val="1000"/>
              </a:spcAft>
              <a:defRPr sz="2400" b="0">
                <a:solidFill>
                  <a:srgbClr val="1A1A2E"/>
                </a:solidFill>
                <a:latin typeface="Latin Modern Sans"/>
              </a:defRPr>
            </a:pPr>
            <a:r>
              <a:rPr dirty="0"/>
              <a:t>1.  </a:t>
            </a:r>
            <a:r>
              <a:rPr lang="en-US" dirty="0"/>
              <a:t>The importance of</a:t>
            </a:r>
            <a:r>
              <a:rPr dirty="0"/>
              <a:t> text mining in SMA</a:t>
            </a:r>
          </a:p>
          <a:p>
            <a:pPr algn="l">
              <a:spcAft>
                <a:spcPts val="1000"/>
              </a:spcAft>
              <a:defRPr sz="2400" b="0">
                <a:solidFill>
                  <a:srgbClr val="1A1A2E"/>
                </a:solidFill>
                <a:latin typeface="Latin Modern Sans"/>
              </a:defRPr>
            </a:pPr>
            <a:r>
              <a:rPr dirty="0"/>
              <a:t>2.  Regex fundamentals and Python's re package</a:t>
            </a:r>
          </a:p>
          <a:p>
            <a:pPr algn="l">
              <a:spcAft>
                <a:spcPts val="1000"/>
              </a:spcAft>
              <a:defRPr sz="2400" b="0">
                <a:solidFill>
                  <a:srgbClr val="1A1A2E"/>
                </a:solidFill>
                <a:latin typeface="Latin Modern Sans"/>
              </a:defRPr>
            </a:pPr>
            <a:r>
              <a:rPr dirty="0"/>
              <a:t>3.  </a:t>
            </a:r>
            <a:r>
              <a:rPr lang="en-US" dirty="0"/>
              <a:t>Some good</a:t>
            </a:r>
            <a:r>
              <a:rPr dirty="0"/>
              <a:t> example</a:t>
            </a:r>
            <a:r>
              <a:rPr lang="en-US" dirty="0"/>
              <a:t>s – Mining news articles</a:t>
            </a:r>
          </a:p>
          <a:p>
            <a:pPr algn="l">
              <a:spcAft>
                <a:spcPts val="1000"/>
              </a:spcAft>
              <a:defRPr sz="2400" b="0">
                <a:solidFill>
                  <a:srgbClr val="1A1A2E"/>
                </a:solidFill>
                <a:latin typeface="Latin Modern Sans"/>
              </a:defRPr>
            </a:pPr>
            <a:r>
              <a:rPr lang="en-US" dirty="0"/>
              <a:t>4.  Beyond regex: Language Style Matching</a:t>
            </a:r>
          </a:p>
          <a:p>
            <a:pPr>
              <a:spcAft>
                <a:spcPts val="1000"/>
              </a:spcAft>
              <a:defRPr sz="2400" b="0">
                <a:solidFill>
                  <a:srgbClr val="1A1A2E"/>
                </a:solidFill>
                <a:latin typeface="Latin Modern Sans"/>
              </a:defRPr>
            </a:pPr>
            <a:r>
              <a:rPr lang="en-US" dirty="0"/>
              <a:t>5</a:t>
            </a:r>
            <a:r>
              <a:rPr dirty="0"/>
              <a:t>. </a:t>
            </a:r>
            <a:r>
              <a:rPr lang="en-US" dirty="0"/>
              <a:t> Beyond regex: Sentiment Analysis (Recap 2005)</a:t>
            </a:r>
            <a:endParaRPr dirty="0"/>
          </a:p>
          <a:p>
            <a:pPr algn="l">
              <a:spcAft>
                <a:spcPts val="1000"/>
              </a:spcAft>
              <a:defRPr sz="2400" b="0">
                <a:solidFill>
                  <a:srgbClr val="1A1A2E"/>
                </a:solidFill>
                <a:latin typeface="Latin Modern Sans"/>
              </a:defRPr>
            </a:pPr>
            <a:r>
              <a:rPr lang="en-US" dirty="0"/>
              <a:t>6</a:t>
            </a:r>
            <a:r>
              <a:rPr dirty="0"/>
              <a:t>.  In-class exercises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rPr dirty="0"/>
              <a:t>Why Text Mining in Social Media?</a:t>
            </a:r>
          </a:p>
        </p:txBody>
      </p:sp>
      <p:sp>
        <p:nvSpPr>
          <p:cNvPr id="3" name="TextBox 2"/>
          <p:cNvSpPr txBox="1"/>
          <p:nvPr/>
        </p:nvSpPr>
        <p:spPr>
          <a:xfrm>
            <a:off x="548640" y="1280160"/>
            <a:ext cx="8046720" cy="3195747"/>
          </a:xfrm>
          <a:prstGeom prst="rect">
            <a:avLst/>
          </a:prstGeom>
          <a:noFill/>
        </p:spPr>
        <p:txBody>
          <a:bodyPr wrap="square">
            <a:spAutoFit/>
          </a:bodyPr>
          <a:lstStyle/>
          <a:p>
            <a:pPr algn="l">
              <a:spcAft>
                <a:spcPts val="600"/>
              </a:spcAft>
              <a:defRPr sz="2400" b="0">
                <a:solidFill>
                  <a:srgbClr val="1A1A2E"/>
                </a:solidFill>
                <a:latin typeface="Latin Modern Sans"/>
              </a:defRPr>
            </a:pPr>
            <a:r>
              <a:rPr dirty="0"/>
              <a:t>- Most social media data is unstructured text</a:t>
            </a:r>
          </a:p>
          <a:p>
            <a:pPr algn="l">
              <a:spcAft>
                <a:spcPts val="600"/>
              </a:spcAft>
              <a:defRPr sz="2400" b="0">
                <a:solidFill>
                  <a:srgbClr val="1A1A2E"/>
                </a:solidFill>
                <a:latin typeface="Latin Modern Sans"/>
              </a:defRPr>
            </a:pPr>
            <a:r>
              <a:rPr lang="en-US" dirty="0"/>
              <a:t>- </a:t>
            </a:r>
            <a:r>
              <a:rPr dirty="0"/>
              <a:t>Manual reading does not scale to millions of posts</a:t>
            </a:r>
          </a:p>
          <a:p>
            <a:pPr algn="l">
              <a:spcAft>
                <a:spcPts val="400"/>
              </a:spcAft>
              <a:defRPr sz="2400" b="1">
                <a:solidFill>
                  <a:srgbClr val="4C72B0"/>
                </a:solidFill>
                <a:latin typeface="Latin Modern Sans"/>
              </a:defRPr>
            </a:pPr>
            <a:r>
              <a:rPr dirty="0"/>
              <a:t>Text mining enables:</a:t>
            </a:r>
          </a:p>
          <a:p>
            <a:pPr>
              <a:spcAft>
                <a:spcPts val="200"/>
              </a:spcAft>
              <a:defRPr sz="1800" b="0">
                <a:solidFill>
                  <a:srgbClr val="1A1A2E"/>
                </a:solidFill>
                <a:latin typeface="Latin Modern Sans"/>
              </a:defRPr>
            </a:pPr>
            <a:r>
              <a:rPr lang="en-US" dirty="0"/>
              <a:t>- Named entity recognition</a:t>
            </a:r>
          </a:p>
          <a:p>
            <a:pPr algn="l">
              <a:spcAft>
                <a:spcPts val="200"/>
              </a:spcAft>
              <a:defRPr sz="1800" b="0">
                <a:solidFill>
                  <a:srgbClr val="1A1A2E"/>
                </a:solidFill>
                <a:latin typeface="Latin Modern Sans"/>
              </a:defRPr>
            </a:pPr>
            <a:r>
              <a:rPr dirty="0"/>
              <a:t>- </a:t>
            </a:r>
            <a:r>
              <a:rPr lang="en-US" dirty="0"/>
              <a:t>Keyword extraction / filter data</a:t>
            </a:r>
            <a:endParaRPr dirty="0"/>
          </a:p>
          <a:p>
            <a:pPr algn="l">
              <a:spcAft>
                <a:spcPts val="200"/>
              </a:spcAft>
              <a:defRPr sz="1800" b="0">
                <a:solidFill>
                  <a:srgbClr val="1A1A2E"/>
                </a:solidFill>
                <a:latin typeface="Latin Modern Sans"/>
              </a:defRPr>
            </a:pPr>
            <a:r>
              <a:rPr dirty="0"/>
              <a:t>- </a:t>
            </a:r>
            <a:r>
              <a:rPr lang="en-US" dirty="0"/>
              <a:t>Text cleaning, t</a:t>
            </a:r>
            <a:r>
              <a:rPr dirty="0"/>
              <a:t>opic detection</a:t>
            </a:r>
          </a:p>
          <a:p>
            <a:pPr algn="l">
              <a:spcAft>
                <a:spcPts val="200"/>
              </a:spcAft>
              <a:defRPr sz="1800" b="0">
                <a:solidFill>
                  <a:srgbClr val="1A1A2E"/>
                </a:solidFill>
                <a:latin typeface="Latin Modern Sans"/>
              </a:defRPr>
            </a:pPr>
            <a:r>
              <a:rPr dirty="0"/>
              <a:t>- Quote attribution</a:t>
            </a:r>
            <a:r>
              <a:rPr lang="en-US" dirty="0"/>
              <a:t>, mention</a:t>
            </a:r>
            <a:endParaRPr dirty="0"/>
          </a:p>
          <a:p>
            <a:pPr algn="l">
              <a:spcAft>
                <a:spcPts val="200"/>
              </a:spcAft>
              <a:defRPr sz="1800" b="0">
                <a:solidFill>
                  <a:srgbClr val="1A1A2E"/>
                </a:solidFill>
                <a:latin typeface="Latin Modern Sans"/>
              </a:defRPr>
            </a:pPr>
            <a:r>
              <a:rPr dirty="0"/>
              <a:t>- </a:t>
            </a:r>
            <a:r>
              <a:rPr lang="en-US" dirty="0"/>
              <a:t>Linguistic</a:t>
            </a:r>
            <a:r>
              <a:rPr dirty="0"/>
              <a:t> style analysis</a:t>
            </a:r>
            <a:endParaRPr lang="en-US" dirty="0"/>
          </a:p>
          <a:p>
            <a:pPr algn="l">
              <a:spcAft>
                <a:spcPts val="200"/>
              </a:spcAft>
              <a:defRPr sz="1800" b="0">
                <a:solidFill>
                  <a:srgbClr val="1A1A2E"/>
                </a:solidFill>
                <a:latin typeface="Latin Modern Sans"/>
              </a:defRPr>
            </a:pPr>
            <a:r>
              <a:rPr lang="en-US" dirty="0"/>
              <a:t>- Sentiment analysis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Image" descr="Image"/>
          <p:cNvPicPr>
            <a:picLocks noChangeAspect="1"/>
          </p:cNvPicPr>
          <p:nvPr/>
        </p:nvPicPr>
        <p:blipFill>
          <a:blip r:embed="rId3"/>
          <a:stretch>
            <a:fillRect/>
          </a:stretch>
        </p:blipFill>
        <p:spPr>
          <a:xfrm>
            <a:off x="673027" y="2690445"/>
            <a:ext cx="7785268" cy="3551302"/>
          </a:xfrm>
          <a:prstGeom prst="rect">
            <a:avLst/>
          </a:prstGeom>
          <a:ln w="25400">
            <a:solidFill>
              <a:srgbClr val="000000"/>
            </a:solidFill>
            <a:miter lim="400000"/>
          </a:ln>
        </p:spPr>
      </p:pic>
      <p:sp>
        <p:nvSpPr>
          <p:cNvPr id="174" name="Rectangle"/>
          <p:cNvSpPr/>
          <p:nvPr/>
        </p:nvSpPr>
        <p:spPr>
          <a:xfrm>
            <a:off x="5433717" y="3333611"/>
            <a:ext cx="919149" cy="380215"/>
          </a:xfrm>
          <a:prstGeom prst="rect">
            <a:avLst/>
          </a:prstGeom>
          <a:ln w="50800">
            <a:solidFill>
              <a:srgbClr val="941751"/>
            </a:solidFill>
            <a:miter lim="400000"/>
          </a:ln>
        </p:spPr>
        <p:txBody>
          <a:bodyPr lIns="26789" tIns="26789" rIns="26789" bIns="26789" anchor="ctr"/>
          <a:lstStyle/>
          <a:p>
            <a:pPr algn="ctr" defTabSz="308074">
              <a:defRPr sz="3000">
                <a:solidFill>
                  <a:srgbClr val="FFFFFF"/>
                </a:solidFill>
                <a:latin typeface="Helvetica Neue Medium"/>
                <a:ea typeface="Helvetica Neue Medium"/>
                <a:cs typeface="Helvetica Neue Medium"/>
                <a:sym typeface="Helvetica Neue Medium"/>
              </a:defRPr>
            </a:pPr>
            <a:endParaRPr sz="1125"/>
          </a:p>
        </p:txBody>
      </p:sp>
      <p:sp>
        <p:nvSpPr>
          <p:cNvPr id="175" name="Rectangle"/>
          <p:cNvSpPr/>
          <p:nvPr/>
        </p:nvSpPr>
        <p:spPr>
          <a:xfrm>
            <a:off x="4742481" y="3945358"/>
            <a:ext cx="1543694" cy="291297"/>
          </a:xfrm>
          <a:prstGeom prst="rect">
            <a:avLst/>
          </a:prstGeom>
          <a:ln w="50800">
            <a:solidFill>
              <a:srgbClr val="941751"/>
            </a:solidFill>
            <a:miter lim="400000"/>
          </a:ln>
        </p:spPr>
        <p:txBody>
          <a:bodyPr lIns="26789" tIns="26789" rIns="26789" bIns="26789" anchor="ctr"/>
          <a:lstStyle/>
          <a:p>
            <a:pPr algn="ctr" defTabSz="308074">
              <a:defRPr sz="3000">
                <a:solidFill>
                  <a:srgbClr val="FFFFFF"/>
                </a:solidFill>
                <a:latin typeface="Helvetica Neue Medium"/>
                <a:ea typeface="Helvetica Neue Medium"/>
                <a:cs typeface="Helvetica Neue Medium"/>
                <a:sym typeface="Helvetica Neue Medium"/>
              </a:defRPr>
            </a:pPr>
            <a:endParaRPr sz="1125"/>
          </a:p>
        </p:txBody>
      </p:sp>
      <p:pic>
        <p:nvPicPr>
          <p:cNvPr id="177" name="Image" descr="Image"/>
          <p:cNvPicPr>
            <a:picLocks noChangeAspect="1"/>
          </p:cNvPicPr>
          <p:nvPr/>
        </p:nvPicPr>
        <p:blipFill>
          <a:blip r:embed="rId4"/>
          <a:stretch>
            <a:fillRect/>
          </a:stretch>
        </p:blipFill>
        <p:spPr>
          <a:xfrm>
            <a:off x="658039" y="1106154"/>
            <a:ext cx="6986945" cy="1482525"/>
          </a:xfrm>
          <a:prstGeom prst="rect">
            <a:avLst/>
          </a:prstGeom>
          <a:ln w="25400">
            <a:solidFill>
              <a:srgbClr val="000000"/>
            </a:solidFill>
            <a:miter lim="400000"/>
          </a:ln>
        </p:spPr>
      </p:pic>
      <p:pic>
        <p:nvPicPr>
          <p:cNvPr id="178" name="Image" descr="Image"/>
          <p:cNvPicPr>
            <a:picLocks noChangeAspect="1"/>
          </p:cNvPicPr>
          <p:nvPr/>
        </p:nvPicPr>
        <p:blipFill>
          <a:blip r:embed="rId5"/>
          <a:stretch>
            <a:fillRect/>
          </a:stretch>
        </p:blipFill>
        <p:spPr>
          <a:xfrm>
            <a:off x="2688400" y="4671501"/>
            <a:ext cx="5685246" cy="1506167"/>
          </a:xfrm>
          <a:prstGeom prst="rect">
            <a:avLst/>
          </a:prstGeom>
          <a:ln w="12700">
            <a:miter lim="400000"/>
          </a:ln>
        </p:spPr>
      </p:pic>
      <p:sp>
        <p:nvSpPr>
          <p:cNvPr id="5" name="Title 1">
            <a:extLst>
              <a:ext uri="{FF2B5EF4-FFF2-40B4-BE49-F238E27FC236}">
                <a16:creationId xmlns:a16="http://schemas.microsoft.com/office/drawing/2014/main" id="{37780EEA-A2DC-861A-DE17-98417AC1B330}"/>
              </a:ext>
            </a:extLst>
          </p:cNvPr>
          <p:cNvSpPr txBox="1">
            <a:spLocks/>
          </p:cNvSpPr>
          <p:nvPr/>
        </p:nvSpPr>
        <p:spPr>
          <a:xfrm>
            <a:off x="628650" y="365126"/>
            <a:ext cx="8401050" cy="1325563"/>
          </a:xfrm>
          <a:prstGeom prst="rect">
            <a:avLst/>
          </a:prstGeom>
        </p:spPr>
        <p:txBody>
          <a:bodyPr/>
          <a:lst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a:lstStyle>
          <a:p>
            <a:r>
              <a:rPr lang="en-US" b="0" dirty="0">
                <a:latin typeface="LM Sans 12" panose="00000500000000000000" pitchFamily="50" charset="0"/>
              </a:rPr>
              <a:t>Detect self-promotion on Twitter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C15-ABDC-651D-9176-CD49648A1024}"/>
            </a:ext>
          </a:extLst>
        </p:cNvPr>
        <p:cNvGrpSpPr/>
        <p:nvPr/>
      </p:nvGrpSpPr>
      <p:grpSpPr>
        <a:xfrm>
          <a:off x="0" y="0"/>
          <a:ext cx="0" cy="0"/>
          <a:chOff x="0" y="0"/>
          <a:chExt cx="0" cy="0"/>
        </a:xfrm>
      </p:grpSpPr>
      <p:pic>
        <p:nvPicPr>
          <p:cNvPr id="171" name="Image" descr="Image">
            <a:extLst>
              <a:ext uri="{FF2B5EF4-FFF2-40B4-BE49-F238E27FC236}">
                <a16:creationId xmlns:a16="http://schemas.microsoft.com/office/drawing/2014/main" id="{655E7A2F-1D2F-1F17-3919-B76FD310FD84}"/>
              </a:ext>
            </a:extLst>
          </p:cNvPr>
          <p:cNvPicPr>
            <a:picLocks noChangeAspect="1"/>
          </p:cNvPicPr>
          <p:nvPr/>
        </p:nvPicPr>
        <p:blipFill>
          <a:blip r:embed="rId3"/>
          <a:stretch>
            <a:fillRect/>
          </a:stretch>
        </p:blipFill>
        <p:spPr>
          <a:xfrm>
            <a:off x="673027" y="2690445"/>
            <a:ext cx="7785268" cy="3551302"/>
          </a:xfrm>
          <a:prstGeom prst="rect">
            <a:avLst/>
          </a:prstGeom>
          <a:ln w="25400">
            <a:solidFill>
              <a:srgbClr val="000000"/>
            </a:solidFill>
            <a:miter lim="400000"/>
          </a:ln>
        </p:spPr>
      </p:pic>
      <p:pic>
        <p:nvPicPr>
          <p:cNvPr id="177" name="Image" descr="Image">
            <a:extLst>
              <a:ext uri="{FF2B5EF4-FFF2-40B4-BE49-F238E27FC236}">
                <a16:creationId xmlns:a16="http://schemas.microsoft.com/office/drawing/2014/main" id="{AD161191-DF4E-542A-A793-CD29F132C751}"/>
              </a:ext>
            </a:extLst>
          </p:cNvPr>
          <p:cNvPicPr>
            <a:picLocks noChangeAspect="1"/>
          </p:cNvPicPr>
          <p:nvPr/>
        </p:nvPicPr>
        <p:blipFill>
          <a:blip r:embed="rId4"/>
          <a:stretch>
            <a:fillRect/>
          </a:stretch>
        </p:blipFill>
        <p:spPr>
          <a:xfrm>
            <a:off x="658039" y="1106154"/>
            <a:ext cx="6986945" cy="1482525"/>
          </a:xfrm>
          <a:prstGeom prst="rect">
            <a:avLst/>
          </a:prstGeom>
          <a:ln w="25400">
            <a:solidFill>
              <a:srgbClr val="000000"/>
            </a:solidFill>
            <a:miter lim="400000"/>
          </a:ln>
        </p:spPr>
      </p:pic>
      <p:pic>
        <p:nvPicPr>
          <p:cNvPr id="178" name="Image" descr="Image">
            <a:extLst>
              <a:ext uri="{FF2B5EF4-FFF2-40B4-BE49-F238E27FC236}">
                <a16:creationId xmlns:a16="http://schemas.microsoft.com/office/drawing/2014/main" id="{68356642-4AD1-4EB0-6E81-D6141E102FEB}"/>
              </a:ext>
            </a:extLst>
          </p:cNvPr>
          <p:cNvPicPr>
            <a:picLocks noChangeAspect="1"/>
          </p:cNvPicPr>
          <p:nvPr/>
        </p:nvPicPr>
        <p:blipFill>
          <a:blip r:embed="rId5"/>
          <a:stretch>
            <a:fillRect/>
          </a:stretch>
        </p:blipFill>
        <p:spPr>
          <a:xfrm>
            <a:off x="2688400" y="4671501"/>
            <a:ext cx="5685246" cy="1506167"/>
          </a:xfrm>
          <a:prstGeom prst="rect">
            <a:avLst/>
          </a:prstGeom>
          <a:ln w="12700">
            <a:miter lim="400000"/>
          </a:ln>
        </p:spPr>
      </p:pic>
      <p:sp>
        <p:nvSpPr>
          <p:cNvPr id="2" name="Rectangle">
            <a:extLst>
              <a:ext uri="{FF2B5EF4-FFF2-40B4-BE49-F238E27FC236}">
                <a16:creationId xmlns:a16="http://schemas.microsoft.com/office/drawing/2014/main" id="{56098972-085B-C66B-EA9B-DF580BA85565}"/>
              </a:ext>
            </a:extLst>
          </p:cNvPr>
          <p:cNvSpPr/>
          <p:nvPr/>
        </p:nvSpPr>
        <p:spPr>
          <a:xfrm>
            <a:off x="658040" y="2048787"/>
            <a:ext cx="3794040" cy="259698"/>
          </a:xfrm>
          <a:prstGeom prst="rect">
            <a:avLst/>
          </a:prstGeom>
          <a:ln w="50800">
            <a:solidFill>
              <a:srgbClr val="941751"/>
            </a:solidFill>
            <a:miter lim="400000"/>
          </a:ln>
        </p:spPr>
        <p:txBody>
          <a:bodyPr lIns="35719" tIns="35719" rIns="35719" bIns="35719" anchor="ctr"/>
          <a:lstStyle/>
          <a:p>
            <a:pPr algn="ct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3" name="Rectangle">
            <a:extLst>
              <a:ext uri="{FF2B5EF4-FFF2-40B4-BE49-F238E27FC236}">
                <a16:creationId xmlns:a16="http://schemas.microsoft.com/office/drawing/2014/main" id="{BB93F22C-F4C7-245B-8B29-418E31D87005}"/>
              </a:ext>
            </a:extLst>
          </p:cNvPr>
          <p:cNvSpPr/>
          <p:nvPr/>
        </p:nvSpPr>
        <p:spPr>
          <a:xfrm>
            <a:off x="2809560" y="4761441"/>
            <a:ext cx="1642520" cy="635017"/>
          </a:xfrm>
          <a:prstGeom prst="rect">
            <a:avLst/>
          </a:prstGeom>
          <a:ln w="50800">
            <a:solidFill>
              <a:srgbClr val="941751"/>
            </a:solidFill>
            <a:miter lim="400000"/>
          </a:ln>
        </p:spPr>
        <p:txBody>
          <a:bodyPr lIns="35719" tIns="35719" rIns="35719" bIns="35719" anchor="ctr"/>
          <a:lstStyle/>
          <a:p>
            <a:pPr algn="ct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4" name="Line">
            <a:extLst>
              <a:ext uri="{FF2B5EF4-FFF2-40B4-BE49-F238E27FC236}">
                <a16:creationId xmlns:a16="http://schemas.microsoft.com/office/drawing/2014/main" id="{6EF05DC1-B308-C58F-D931-03360FF499FA}"/>
              </a:ext>
            </a:extLst>
          </p:cNvPr>
          <p:cNvSpPr/>
          <p:nvPr/>
        </p:nvSpPr>
        <p:spPr>
          <a:xfrm>
            <a:off x="1112223" y="2231469"/>
            <a:ext cx="2020721" cy="2529972"/>
          </a:xfrm>
          <a:prstGeom prst="line">
            <a:avLst/>
          </a:prstGeom>
          <a:ln w="25400">
            <a:solidFill>
              <a:srgbClr val="000000"/>
            </a:solidFill>
            <a:miter lim="400000"/>
            <a:tailEnd type="triangle"/>
          </a:ln>
        </p:spPr>
        <p:txBody>
          <a:bodyPr lIns="35719" tIns="35719" rIns="35719" bIns="35719" anchor="ctr"/>
          <a:lstStyle/>
          <a:p>
            <a:pPr algn="ct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7" name="Title 1">
            <a:extLst>
              <a:ext uri="{FF2B5EF4-FFF2-40B4-BE49-F238E27FC236}">
                <a16:creationId xmlns:a16="http://schemas.microsoft.com/office/drawing/2014/main" id="{DB7B0A1A-5435-EE33-67C5-8A09CDA9304F}"/>
              </a:ext>
            </a:extLst>
          </p:cNvPr>
          <p:cNvSpPr txBox="1">
            <a:spLocks/>
          </p:cNvSpPr>
          <p:nvPr/>
        </p:nvSpPr>
        <p:spPr>
          <a:xfrm>
            <a:off x="628650" y="365126"/>
            <a:ext cx="8401050" cy="1325563"/>
          </a:xfrm>
          <a:prstGeom prst="rect">
            <a:avLst/>
          </a:prstGeom>
        </p:spPr>
        <p:txBody>
          <a:bodyPr/>
          <a:lst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a:lstStyle>
          <a:p>
            <a:r>
              <a:rPr lang="en-US" b="0" dirty="0">
                <a:latin typeface="LM Sans 12" panose="00000500000000000000" pitchFamily="50" charset="0"/>
              </a:rPr>
              <a:t>Matching names to usernames</a:t>
            </a:r>
          </a:p>
        </p:txBody>
      </p:sp>
    </p:spTree>
    <p:extLst>
      <p:ext uri="{BB962C8B-B14F-4D97-AF65-F5344CB8AC3E}">
        <p14:creationId xmlns:p14="http://schemas.microsoft.com/office/powerpoint/2010/main" val="4152325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78D63-6008-BE19-097C-9DA0DDCD9AA2}"/>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D27E29C-852B-AFAA-959C-2DC277B56D1D}"/>
              </a:ext>
            </a:extLst>
          </p:cNvPr>
          <p:cNvSpPr txBox="1">
            <a:spLocks/>
          </p:cNvSpPr>
          <p:nvPr/>
        </p:nvSpPr>
        <p:spPr>
          <a:xfrm>
            <a:off x="640282" y="1452221"/>
            <a:ext cx="8342353" cy="50406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M Sans 12" panose="000005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M Sans 12" panose="000005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M Sans 12" panose="000005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M Sans 12" panose="000005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M Sans 12"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altLang="zh-CN" sz="2400" b="0" i="0" u="none" strike="noStrike" kern="1200" cap="none" spc="0" normalizeH="0" baseline="0" noProof="0" dirty="0">
                <a:ln>
                  <a:noFill/>
                </a:ln>
                <a:solidFill>
                  <a:srgbClr val="0078B9"/>
                </a:solidFill>
                <a:effectLst/>
                <a:uLnTx/>
                <a:uFillTx/>
                <a:latin typeface="LM Sans 12" panose="00000500000000000000" pitchFamily="50" charset="0"/>
                <a:ea typeface="等线" panose="02010600030101010101" pitchFamily="2" charset="-122"/>
                <a:cs typeface="+mn-cs"/>
              </a:rPr>
              <a:t>How to detect if an author self-promoted their paper?</a:t>
            </a:r>
            <a:endParaRPr kumimoji="0" lang="en-US" altLang="zh-CN" sz="2400" b="0" i="0" u="sng" strike="noStrike" kern="1200" cap="none" spc="0" normalizeH="0" baseline="0" noProof="0" dirty="0">
              <a:ln>
                <a:noFill/>
              </a:ln>
              <a:solidFill>
                <a:srgbClr val="0078B9"/>
              </a:solidFill>
              <a:effectLst/>
              <a:uLnTx/>
              <a:uFillTx/>
              <a:latin typeface="LM Sans 12" panose="00000500000000000000" pitchFamily="50" charset="0"/>
              <a:ea typeface="等线" panose="02010600030101010101" pitchFamily="2" charset="-122"/>
              <a:cs typeface="+mn-cs"/>
            </a:endParaRPr>
          </a:p>
          <a:p>
            <a:pPr marL="401638" marR="0" lvl="1" indent="-24765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en-US" altLang="zh-CN" sz="2400" b="0" i="0" u="sng" strike="noStrike" kern="1200" cap="none" spc="0" normalizeH="0" baseline="0" noProof="0" dirty="0">
                <a:ln>
                  <a:noFill/>
                </a:ln>
                <a:solidFill>
                  <a:prstClr val="black"/>
                </a:solidFill>
                <a:effectLst/>
                <a:uLnTx/>
                <a:uFillTx/>
                <a:latin typeface="LM Sans 12" panose="00000500000000000000" pitchFamily="50" charset="0"/>
                <a:ea typeface="等线" panose="02010600030101010101" pitchFamily="2" charset="-122"/>
                <a:cs typeface="+mn-cs"/>
              </a:rPr>
              <a:t>Token-matching</a:t>
            </a:r>
            <a:r>
              <a:rPr kumimoji="0" lang="en-US" altLang="zh-CN" sz="2400" b="0" i="0" u="none" strike="noStrike" kern="1200" cap="none" spc="0" normalizeH="0" baseline="0" noProof="0" dirty="0">
                <a:ln>
                  <a:noFill/>
                </a:ln>
                <a:solidFill>
                  <a:prstClr val="black"/>
                </a:solidFill>
                <a:effectLst/>
                <a:uLnTx/>
                <a:uFillTx/>
                <a:latin typeface="LM Sans 12" panose="00000500000000000000" pitchFamily="50" charset="0"/>
                <a:ea typeface="等线" panose="02010600030101010101" pitchFamily="2" charset="-122"/>
                <a:cs typeface="+mn-cs"/>
              </a:rPr>
              <a:t>: ﬁrst or last name of author should be matched to tokens of usernames (split by space, underscore).</a:t>
            </a:r>
            <a:endParaRPr kumimoji="0" lang="en-US" altLang="zh-CN" sz="2400" b="0" i="0" u="sng" strike="noStrike" kern="1200" cap="none" spc="0" normalizeH="0" baseline="0" noProof="0" dirty="0">
              <a:ln>
                <a:noFill/>
              </a:ln>
              <a:solidFill>
                <a:prstClr val="black"/>
              </a:solidFill>
              <a:effectLst/>
              <a:uLnTx/>
              <a:uFillTx/>
              <a:latin typeface="LM Sans 12" panose="00000500000000000000" pitchFamily="50" charset="0"/>
              <a:ea typeface="等线" panose="02010600030101010101" pitchFamily="2" charset="-122"/>
              <a:cs typeface="+mn-cs"/>
            </a:endParaRPr>
          </a:p>
          <a:p>
            <a:pPr marL="401638" marR="0" lvl="1" indent="-24765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en-US" altLang="zh-CN" sz="2400" b="0" i="0" u="sng" strike="noStrike" kern="1200" cap="none" spc="0" normalizeH="0" baseline="0" noProof="0" dirty="0">
                <a:ln>
                  <a:noFill/>
                </a:ln>
                <a:solidFill>
                  <a:prstClr val="black"/>
                </a:solidFill>
                <a:effectLst/>
                <a:uLnTx/>
                <a:uFillTx/>
                <a:latin typeface="LM Sans 12" panose="00000500000000000000" pitchFamily="50" charset="0"/>
                <a:ea typeface="等线" panose="02010600030101010101" pitchFamily="2" charset="-122"/>
                <a:cs typeface="+mn-cs"/>
              </a:rPr>
              <a:t>Containment-matching</a:t>
            </a:r>
            <a:r>
              <a:rPr kumimoji="0" lang="en-US" altLang="zh-CN" sz="2400" b="0" i="0" u="none" strike="noStrike" kern="1200" cap="none" spc="0" normalizeH="0" baseline="0" noProof="0" dirty="0">
                <a:ln>
                  <a:noFill/>
                </a:ln>
                <a:solidFill>
                  <a:prstClr val="black"/>
                </a:solidFill>
                <a:effectLst/>
                <a:uLnTx/>
                <a:uFillTx/>
                <a:latin typeface="LM Sans 12" panose="00000500000000000000" pitchFamily="50" charset="0"/>
                <a:ea typeface="等线" panose="02010600030101010101" pitchFamily="2" charset="-122"/>
                <a:cs typeface="+mn-cs"/>
              </a:rPr>
              <a:t>: only if the tweet names are single-token strings and the ﬁrst/last name has &gt;= four characters.</a:t>
            </a:r>
          </a:p>
        </p:txBody>
      </p:sp>
      <p:sp>
        <p:nvSpPr>
          <p:cNvPr id="3" name="TextBox 2">
            <a:extLst>
              <a:ext uri="{FF2B5EF4-FFF2-40B4-BE49-F238E27FC236}">
                <a16:creationId xmlns:a16="http://schemas.microsoft.com/office/drawing/2014/main" id="{62D23136-43AC-4F5B-2D0B-1FEA788F5849}"/>
              </a:ext>
            </a:extLst>
          </p:cNvPr>
          <p:cNvSpPr txBox="1"/>
          <p:nvPr/>
        </p:nvSpPr>
        <p:spPr>
          <a:xfrm>
            <a:off x="817450" y="4252285"/>
            <a:ext cx="7023461" cy="461665"/>
          </a:xfrm>
          <a:prstGeom prst="rect">
            <a:avLst/>
          </a:prstGeom>
          <a:noFill/>
          <a:ln w="25400">
            <a:solidFill>
              <a:schemeClr val="tx1"/>
            </a:solidFill>
          </a:ln>
        </p:spPr>
        <p:txBody>
          <a:bodyPr wrap="none" rtlCol="0">
            <a:spAutoFit/>
          </a:bodyPr>
          <a:lstStyle/>
          <a:p>
            <a:r>
              <a:rPr lang="en-US" sz="2400" dirty="0">
                <a:solidFill>
                  <a:srgbClr val="0078B9"/>
                </a:solidFill>
              </a:rPr>
              <a:t>In what prediction tasks, would this variable be useful?</a:t>
            </a:r>
          </a:p>
        </p:txBody>
      </p:sp>
      <p:sp>
        <p:nvSpPr>
          <p:cNvPr id="6" name="Title 1">
            <a:extLst>
              <a:ext uri="{FF2B5EF4-FFF2-40B4-BE49-F238E27FC236}">
                <a16:creationId xmlns:a16="http://schemas.microsoft.com/office/drawing/2014/main" id="{F37DAF19-C075-4A3A-438A-09897377C547}"/>
              </a:ext>
            </a:extLst>
          </p:cNvPr>
          <p:cNvSpPr txBox="1">
            <a:spLocks/>
          </p:cNvSpPr>
          <p:nvPr/>
        </p:nvSpPr>
        <p:spPr>
          <a:xfrm>
            <a:off x="597654" y="458114"/>
            <a:ext cx="8401050" cy="1325563"/>
          </a:xfrm>
          <a:prstGeom prst="rect">
            <a:avLst/>
          </a:prstGeom>
        </p:spPr>
        <p:txBody>
          <a:bodyPr/>
          <a:lst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a:lstStyle>
          <a:p>
            <a:r>
              <a:rPr lang="en-US" b="0" dirty="0">
                <a:latin typeface="LM Sans 12" panose="00000500000000000000" pitchFamily="50" charset="0"/>
              </a:rPr>
              <a:t>Pure string matching</a:t>
            </a:r>
          </a:p>
        </p:txBody>
      </p:sp>
      <p:sp>
        <p:nvSpPr>
          <p:cNvPr id="4" name="TextBox 3">
            <a:extLst>
              <a:ext uri="{FF2B5EF4-FFF2-40B4-BE49-F238E27FC236}">
                <a16:creationId xmlns:a16="http://schemas.microsoft.com/office/drawing/2014/main" id="{9976F15D-A43F-D735-714C-442EE1111655}"/>
              </a:ext>
            </a:extLst>
          </p:cNvPr>
          <p:cNvSpPr txBox="1"/>
          <p:nvPr/>
        </p:nvSpPr>
        <p:spPr>
          <a:xfrm>
            <a:off x="817449" y="5246392"/>
            <a:ext cx="8001293" cy="461665"/>
          </a:xfrm>
          <a:prstGeom prst="rect">
            <a:avLst/>
          </a:prstGeom>
          <a:noFill/>
          <a:ln w="25400">
            <a:solidFill>
              <a:schemeClr val="tx1"/>
            </a:solidFill>
          </a:ln>
        </p:spPr>
        <p:txBody>
          <a:bodyPr wrap="none" rtlCol="0">
            <a:spAutoFit/>
          </a:bodyPr>
          <a:lstStyle/>
          <a:p>
            <a:r>
              <a:rPr lang="en-US" sz="2400" dirty="0">
                <a:solidFill>
                  <a:srgbClr val="C00000"/>
                </a:solidFill>
              </a:rPr>
              <a:t>How to deal with complex cases like detecting quotes in news?</a:t>
            </a:r>
          </a:p>
        </p:txBody>
      </p:sp>
    </p:spTree>
    <p:extLst>
      <p:ext uri="{BB962C8B-B14F-4D97-AF65-F5344CB8AC3E}">
        <p14:creationId xmlns:p14="http://schemas.microsoft.com/office/powerpoint/2010/main" val="23250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What Are Regular Expressions?</a:t>
            </a:r>
          </a:p>
        </p:txBody>
      </p:sp>
      <p:sp>
        <p:nvSpPr>
          <p:cNvPr id="3" name="Rectangle 2"/>
          <p:cNvSpPr/>
          <p:nvPr/>
        </p:nvSpPr>
        <p:spPr>
          <a:xfrm>
            <a:off x="548640" y="1280160"/>
            <a:ext cx="8046720" cy="1280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25880"/>
            <a:ext cx="7498079" cy="457200"/>
          </a:xfrm>
          <a:prstGeom prst="rect">
            <a:avLst/>
          </a:prstGeom>
          <a:noFill/>
        </p:spPr>
        <p:txBody>
          <a:bodyPr wrap="square">
            <a:spAutoFit/>
          </a:bodyPr>
          <a:lstStyle/>
          <a:p>
            <a:pPr algn="l">
              <a:defRPr sz="2000" b="1">
                <a:solidFill>
                  <a:srgbClr val="4C72B0"/>
                </a:solidFill>
                <a:latin typeface="Latin Modern Sans"/>
              </a:defRPr>
            </a:pPr>
            <a:r>
              <a:rPr sz="2400" dirty="0"/>
              <a:t>Definition:</a:t>
            </a:r>
          </a:p>
        </p:txBody>
      </p:sp>
      <p:sp>
        <p:nvSpPr>
          <p:cNvPr id="5" name="TextBox 4"/>
          <p:cNvSpPr txBox="1"/>
          <p:nvPr/>
        </p:nvSpPr>
        <p:spPr>
          <a:xfrm>
            <a:off x="822960" y="1691640"/>
            <a:ext cx="7498079" cy="707886"/>
          </a:xfrm>
          <a:prstGeom prst="rect">
            <a:avLst/>
          </a:prstGeom>
          <a:noFill/>
        </p:spPr>
        <p:txBody>
          <a:bodyPr wrap="square">
            <a:spAutoFit/>
          </a:bodyPr>
          <a:lstStyle/>
          <a:p>
            <a:pPr algn="l">
              <a:defRPr sz="1800" b="0">
                <a:solidFill>
                  <a:srgbClr val="1A1A2E"/>
                </a:solidFill>
                <a:latin typeface="Latin Modern Sans"/>
              </a:defRPr>
            </a:pPr>
            <a:r>
              <a:rPr sz="2000" dirty="0"/>
              <a:t>A regular expression (regex) is a sequence of characters that defines a search pattern. Used to match, search, extract, or replace text.</a:t>
            </a:r>
          </a:p>
        </p:txBody>
      </p:sp>
      <p:sp>
        <p:nvSpPr>
          <p:cNvPr id="6" name="TextBox 5"/>
          <p:cNvSpPr txBox="1"/>
          <p:nvPr/>
        </p:nvSpPr>
        <p:spPr>
          <a:xfrm>
            <a:off x="548640" y="2834640"/>
            <a:ext cx="8046720" cy="2985433"/>
          </a:xfrm>
          <a:prstGeom prst="rect">
            <a:avLst/>
          </a:prstGeom>
          <a:noFill/>
        </p:spPr>
        <p:txBody>
          <a:bodyPr wrap="square">
            <a:spAutoFit/>
          </a:bodyPr>
          <a:lstStyle/>
          <a:p>
            <a:pPr algn="l">
              <a:defRPr sz="2400" b="1">
                <a:solidFill>
                  <a:srgbClr val="4C72B0"/>
                </a:solidFill>
                <a:latin typeface="Latin Modern Sans"/>
              </a:defRPr>
            </a:pPr>
            <a:r>
              <a:rPr lang="en-US" dirty="0"/>
              <a:t>R</a:t>
            </a:r>
            <a:r>
              <a:rPr dirty="0"/>
              <a:t>egex</a:t>
            </a:r>
            <a:r>
              <a:rPr lang="en-US" dirty="0"/>
              <a:t> benefits:</a:t>
            </a:r>
          </a:p>
          <a:p>
            <a:pPr algn="l">
              <a:defRPr sz="2400" b="1">
                <a:solidFill>
                  <a:srgbClr val="4C72B0"/>
                </a:solidFill>
                <a:latin typeface="Latin Modern Sans"/>
              </a:defRPr>
            </a:pPr>
            <a:endParaRPr dirty="0"/>
          </a:p>
          <a:p>
            <a:pPr algn="l">
              <a:spcAft>
                <a:spcPts val="600"/>
              </a:spcAft>
              <a:defRPr sz="1800" b="0">
                <a:solidFill>
                  <a:srgbClr val="1A1A2E"/>
                </a:solidFill>
                <a:latin typeface="Latin Modern Sans"/>
              </a:defRPr>
            </a:pPr>
            <a:r>
              <a:rPr sz="2000" dirty="0"/>
              <a:t>- Precise pattern matching (emails, URLs, hashtags, mentions)</a:t>
            </a:r>
          </a:p>
          <a:p>
            <a:pPr algn="l">
              <a:spcAft>
                <a:spcPts val="600"/>
              </a:spcAft>
              <a:defRPr sz="1800" b="0">
                <a:solidFill>
                  <a:srgbClr val="1A1A2E"/>
                </a:solidFill>
                <a:latin typeface="Latin Modern Sans"/>
              </a:defRPr>
            </a:pPr>
            <a:r>
              <a:rPr sz="2000" dirty="0"/>
              <a:t>- Fast pre-processing before NLP models</a:t>
            </a:r>
          </a:p>
          <a:p>
            <a:pPr algn="l">
              <a:spcAft>
                <a:spcPts val="600"/>
              </a:spcAft>
              <a:defRPr sz="1800" b="0">
                <a:solidFill>
                  <a:srgbClr val="1A1A2E"/>
                </a:solidFill>
                <a:latin typeface="Latin Modern Sans"/>
              </a:defRPr>
            </a:pPr>
            <a:r>
              <a:rPr sz="2000" dirty="0"/>
              <a:t>- Lightweight alternative to full NLP pipelines</a:t>
            </a:r>
            <a:endParaRPr lang="en-US" sz="2000" dirty="0"/>
          </a:p>
          <a:p>
            <a:pPr algn="l">
              <a:spcAft>
                <a:spcPts val="600"/>
              </a:spcAft>
              <a:defRPr sz="1800" b="0">
                <a:solidFill>
                  <a:srgbClr val="1A1A2E"/>
                </a:solidFill>
                <a:latin typeface="Latin Modern Sans"/>
              </a:defRPr>
            </a:pPr>
            <a:r>
              <a:rPr lang="en-US" sz="2000" dirty="0">
                <a:solidFill>
                  <a:schemeClr val="accent3"/>
                </a:solidFill>
              </a:rPr>
              <a:t> e.g., we don’t need to use </a:t>
            </a:r>
            <a:r>
              <a:rPr lang="en-US" sz="2000" i="1" dirty="0">
                <a:solidFill>
                  <a:schemeClr val="accent3"/>
                </a:solidFill>
              </a:rPr>
              <a:t>Newspaper </a:t>
            </a:r>
            <a:r>
              <a:rPr lang="en-US" sz="2000" dirty="0">
                <a:solidFill>
                  <a:schemeClr val="accent3"/>
                </a:solidFill>
              </a:rPr>
              <a:t>package to process the whole document if we only want to detect author mentions in news articles.</a:t>
            </a:r>
            <a:endParaRPr sz="2000" dirty="0">
              <a:solidFill>
                <a:schemeClr val="accent3"/>
              </a:solidFill>
            </a:endParaRPr>
          </a:p>
          <a:p>
            <a:pPr algn="l">
              <a:spcAft>
                <a:spcPts val="600"/>
              </a:spcAft>
              <a:defRPr sz="1800" b="0">
                <a:solidFill>
                  <a:srgbClr val="1A1A2E"/>
                </a:solidFill>
                <a:latin typeface="Latin Modern Sans"/>
              </a:defRPr>
            </a:pPr>
            <a:r>
              <a:rPr sz="2000" dirty="0"/>
              <a:t>- Works across any language and platform</a:t>
            </a:r>
          </a:p>
        </p:txBody>
      </p:sp>
    </p:spTree>
    <p:extLst>
      <p:ext uri="{BB962C8B-B14F-4D97-AF65-F5344CB8AC3E}">
        <p14:creationId xmlns:p14="http://schemas.microsoft.com/office/powerpoint/2010/main" val="213210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Regular Expressions (or 'regex')</a:t>
            </a:r>
          </a:p>
        </p:txBody>
      </p:sp>
      <p:sp>
        <p:nvSpPr>
          <p:cNvPr id="4" name="Content Placeholder 3"/>
          <p:cNvSpPr>
            <a:spLocks noGrp="1"/>
          </p:cNvSpPr>
          <p:nvPr>
            <p:ph idx="1"/>
          </p:nvPr>
        </p:nvSpPr>
        <p:spPr>
          <a:xfrm>
            <a:off x="-193183" y="1690689"/>
            <a:ext cx="10047936" cy="4351338"/>
          </a:xfrm>
        </p:spPr>
        <p:txBody>
          <a:bodyPr>
            <a:normAutofit/>
          </a:bodyPr>
          <a:lstStyle/>
          <a:p>
            <a:pPr marL="0" indent="0">
              <a:buNone/>
            </a:pPr>
            <a:r>
              <a:rPr lang="en-US" dirty="0"/>
              <a:t>	Concise, flexible </a:t>
            </a:r>
            <a:r>
              <a:rPr lang="en-US" b="1" dirty="0">
                <a:solidFill>
                  <a:srgbClr val="00B050"/>
                </a:solidFill>
              </a:rPr>
              <a:t>pattern matching</a:t>
            </a:r>
            <a:r>
              <a:rPr lang="en-US" dirty="0"/>
              <a:t> expressions </a:t>
            </a:r>
          </a:p>
          <a:p>
            <a:pPr marL="0" indent="0">
              <a:buNone/>
            </a:pPr>
            <a:r>
              <a:rPr lang="en-US" dirty="0"/>
              <a:t>	</a:t>
            </a:r>
          </a:p>
          <a:p>
            <a:pPr marL="0" indent="0">
              <a:buNone/>
            </a:pPr>
            <a:r>
              <a:rPr lang="en-US" b="1" dirty="0">
                <a:solidFill>
                  <a:srgbClr val="00B050"/>
                </a:solidFill>
              </a:rPr>
              <a:t>	Match </a:t>
            </a:r>
            <a:r>
              <a:rPr lang="en-US" dirty="0"/>
              <a:t>substrings of text (words or complex patterns)</a:t>
            </a:r>
          </a:p>
          <a:p>
            <a:endParaRPr lang="en-US" dirty="0"/>
          </a:p>
          <a:p>
            <a:pPr marL="0" indent="0">
              <a:buNone/>
            </a:pPr>
            <a:r>
              <a:rPr lang="en-US" dirty="0"/>
              <a:t>	Appear in </a:t>
            </a:r>
            <a:r>
              <a:rPr lang="en-US" b="1" dirty="0">
                <a:solidFill>
                  <a:srgbClr val="0070C0"/>
                </a:solidFill>
              </a:rPr>
              <a:t>many tools</a:t>
            </a:r>
          </a:p>
          <a:p>
            <a:pPr lvl="2"/>
            <a:r>
              <a:rPr lang="en-US" dirty="0"/>
              <a:t>grep (command line), text editors, ….</a:t>
            </a:r>
          </a:p>
          <a:p>
            <a:pPr marL="0" indent="0">
              <a:buNone/>
            </a:pPr>
            <a:r>
              <a:rPr lang="en-US" dirty="0"/>
              <a:t>	</a:t>
            </a:r>
          </a:p>
          <a:p>
            <a:pPr marL="0" indent="0">
              <a:buNone/>
            </a:pPr>
            <a:r>
              <a:rPr lang="en-US" dirty="0"/>
              <a:t>	Therefore, useful to learn!</a:t>
            </a:r>
          </a:p>
          <a:p>
            <a:endParaRPr lang="en-US" dirty="0"/>
          </a:p>
        </p:txBody>
      </p:sp>
    </p:spTree>
    <p:extLst>
      <p:ext uri="{BB962C8B-B14F-4D97-AF65-F5344CB8AC3E}">
        <p14:creationId xmlns:p14="http://schemas.microsoft.com/office/powerpoint/2010/main" val="268813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The Python re module</a:t>
            </a:r>
          </a:p>
        </p:txBody>
      </p:sp>
      <p:sp>
        <p:nvSpPr>
          <p:cNvPr id="4" name="Content Placeholder 3"/>
          <p:cNvSpPr>
            <a:spLocks noGrp="1"/>
          </p:cNvSpPr>
          <p:nvPr>
            <p:ph idx="1"/>
          </p:nvPr>
        </p:nvSpPr>
        <p:spPr>
          <a:xfrm>
            <a:off x="-208344" y="1690689"/>
            <a:ext cx="9560688" cy="4351338"/>
          </a:xfrm>
        </p:spPr>
        <p:txBody>
          <a:bodyPr>
            <a:normAutofit/>
          </a:bodyPr>
          <a:lstStyle/>
          <a:p>
            <a:pPr marL="0" indent="0">
              <a:buNone/>
            </a:pPr>
            <a:r>
              <a:rPr lang="en-US" dirty="0">
                <a:latin typeface="Consolas" panose="020B0609020204030204" pitchFamily="49" charset="0"/>
              </a:rPr>
              <a:t>	</a:t>
            </a:r>
            <a:r>
              <a:rPr lang="en-US" dirty="0">
                <a:latin typeface="+mj-lt"/>
              </a:rPr>
              <a:t>Search/match operations</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sz="1575" dirty="0" err="1">
                <a:latin typeface="Consolas" panose="020B0609020204030204" pitchFamily="49" charset="0"/>
                <a:cs typeface="Courier New" panose="02070309020205020404" pitchFamily="49" charset="0"/>
              </a:rPr>
              <a:t>re.</a:t>
            </a:r>
            <a:r>
              <a:rPr lang="en-US" sz="1575" b="1" dirty="0" err="1">
                <a:solidFill>
                  <a:srgbClr val="00B050"/>
                </a:solidFill>
                <a:latin typeface="Consolas" panose="020B0609020204030204" pitchFamily="49" charset="0"/>
                <a:cs typeface="Courier New" panose="02070309020205020404" pitchFamily="49" charset="0"/>
              </a:rPr>
              <a:t>search</a:t>
            </a:r>
            <a:r>
              <a:rPr lang="en-US" sz="1575" dirty="0">
                <a:latin typeface="Consolas" panose="020B0609020204030204" pitchFamily="49" charset="0"/>
                <a:cs typeface="Courier New" panose="02070309020205020404" pitchFamily="49" charset="0"/>
              </a:rPr>
              <a:t>() 	</a:t>
            </a:r>
            <a:r>
              <a:rPr lang="en-US" sz="1575" dirty="0"/>
              <a:t>finds </a:t>
            </a:r>
            <a:r>
              <a:rPr lang="en-US" sz="1575" b="1" dirty="0">
                <a:solidFill>
                  <a:srgbClr val="00B050"/>
                </a:solidFill>
              </a:rPr>
              <a:t>first match </a:t>
            </a:r>
            <a:r>
              <a:rPr lang="en-US" sz="1575" b="1" dirty="0">
                <a:solidFill>
                  <a:schemeClr val="accent6"/>
                </a:solidFill>
              </a:rPr>
              <a:t>anywhere</a:t>
            </a:r>
            <a:r>
              <a:rPr lang="en-US" sz="1575" dirty="0"/>
              <a:t> in string 	(</a:t>
            </a:r>
            <a:r>
              <a:rPr lang="en-US" sz="1575" dirty="0">
                <a:latin typeface="Consolas" panose="020B0609020204030204" pitchFamily="49" charset="0"/>
              </a:rPr>
              <a:t>match</a:t>
            </a:r>
            <a:r>
              <a:rPr lang="en-US" sz="1575" dirty="0"/>
              <a:t> object)</a:t>
            </a:r>
            <a:endParaRPr lang="en-US" sz="1575" dirty="0">
              <a:latin typeface="Consolas" panose="020B0609020204030204" pitchFamily="49" charset="0"/>
              <a:cs typeface="Courier New" panose="02070309020205020404" pitchFamily="49" charset="0"/>
            </a:endParaRPr>
          </a:p>
          <a:p>
            <a:pPr marL="0" indent="0">
              <a:buNone/>
            </a:pPr>
            <a:r>
              <a:rPr lang="en-US" sz="1575" dirty="0">
                <a:latin typeface="Consolas" panose="020B0609020204030204" pitchFamily="49" charset="0"/>
                <a:cs typeface="Courier New" panose="02070309020205020404" pitchFamily="49" charset="0"/>
              </a:rPr>
              <a:t>	</a:t>
            </a:r>
            <a:r>
              <a:rPr lang="en-US" sz="1575" dirty="0" err="1">
                <a:latin typeface="Consolas" panose="020B0609020204030204" pitchFamily="49" charset="0"/>
                <a:cs typeface="Courier New" panose="02070309020205020404" pitchFamily="49" charset="0"/>
              </a:rPr>
              <a:t>re.</a:t>
            </a:r>
            <a:r>
              <a:rPr lang="en-US" sz="1575" b="1" dirty="0" err="1">
                <a:solidFill>
                  <a:srgbClr val="00B050"/>
                </a:solidFill>
                <a:latin typeface="Consolas" panose="020B0609020204030204" pitchFamily="49" charset="0"/>
                <a:cs typeface="Courier New" panose="02070309020205020404" pitchFamily="49" charset="0"/>
              </a:rPr>
              <a:t>match</a:t>
            </a:r>
            <a:r>
              <a:rPr lang="en-US" sz="1575" dirty="0">
                <a:latin typeface="Consolas" panose="020B0609020204030204" pitchFamily="49" charset="0"/>
                <a:cs typeface="Courier New" panose="02070309020205020404" pitchFamily="49" charset="0"/>
              </a:rPr>
              <a:t>() 	</a:t>
            </a:r>
            <a:r>
              <a:rPr lang="en-US" sz="1575" dirty="0"/>
              <a:t>finds </a:t>
            </a:r>
            <a:r>
              <a:rPr lang="en-US" sz="1575" b="1" dirty="0">
                <a:solidFill>
                  <a:srgbClr val="00B050"/>
                </a:solidFill>
              </a:rPr>
              <a:t>first match</a:t>
            </a:r>
            <a:r>
              <a:rPr lang="en-US" sz="1575" dirty="0"/>
              <a:t> </a:t>
            </a:r>
            <a:r>
              <a:rPr lang="en-US" sz="1575" b="1" dirty="0">
                <a:solidFill>
                  <a:schemeClr val="accent6"/>
                </a:solidFill>
              </a:rPr>
              <a:t>at beginning</a:t>
            </a:r>
            <a:r>
              <a:rPr lang="en-US" sz="1575" dirty="0"/>
              <a:t> of string 	(</a:t>
            </a:r>
            <a:r>
              <a:rPr lang="en-US" sz="1575" dirty="0">
                <a:latin typeface="Consolas" panose="020B0609020204030204" pitchFamily="49" charset="0"/>
              </a:rPr>
              <a:t>match</a:t>
            </a:r>
            <a:r>
              <a:rPr lang="en-US" sz="1575" dirty="0"/>
              <a:t> object)</a:t>
            </a:r>
          </a:p>
          <a:p>
            <a:pPr marL="0" indent="0">
              <a:buNone/>
            </a:pPr>
            <a:r>
              <a:rPr lang="en-US" sz="1575" dirty="0">
                <a:latin typeface="Consolas" panose="020B0609020204030204" pitchFamily="49" charset="0"/>
                <a:cs typeface="Courier New" panose="02070309020205020404" pitchFamily="49" charset="0"/>
              </a:rPr>
              <a:t>	</a:t>
            </a:r>
            <a:r>
              <a:rPr lang="en-US" sz="1575" dirty="0" err="1">
                <a:latin typeface="Consolas" panose="020B0609020204030204" pitchFamily="49" charset="0"/>
                <a:cs typeface="Courier New" panose="02070309020205020404" pitchFamily="49" charset="0"/>
              </a:rPr>
              <a:t>re.</a:t>
            </a:r>
            <a:r>
              <a:rPr lang="en-US" sz="1575" b="1" dirty="0" err="1">
                <a:solidFill>
                  <a:srgbClr val="00B050"/>
                </a:solidFill>
                <a:latin typeface="Consolas" panose="020B0609020204030204" pitchFamily="49" charset="0"/>
                <a:cs typeface="Courier New" panose="02070309020205020404" pitchFamily="49" charset="0"/>
              </a:rPr>
              <a:t>findall</a:t>
            </a:r>
            <a:r>
              <a:rPr lang="en-US" sz="1575" dirty="0">
                <a:latin typeface="Consolas" panose="020B0609020204030204" pitchFamily="49" charset="0"/>
                <a:cs typeface="Courier New" panose="02070309020205020404" pitchFamily="49" charset="0"/>
              </a:rPr>
              <a:t>()	</a:t>
            </a:r>
            <a:r>
              <a:rPr lang="en-US" sz="1575" dirty="0"/>
              <a:t>finds</a:t>
            </a:r>
            <a:r>
              <a:rPr lang="en-US" sz="1575" b="1" dirty="0">
                <a:solidFill>
                  <a:srgbClr val="00B050"/>
                </a:solidFill>
              </a:rPr>
              <a:t> all matches </a:t>
            </a:r>
            <a:r>
              <a:rPr lang="en-US" sz="1575" b="1" dirty="0">
                <a:solidFill>
                  <a:schemeClr val="accent6"/>
                </a:solidFill>
              </a:rPr>
              <a:t>anywhere</a:t>
            </a:r>
            <a:r>
              <a:rPr lang="en-US" sz="1575" dirty="0"/>
              <a:t> in a string 	(</a:t>
            </a:r>
            <a:r>
              <a:rPr lang="en-US" sz="1575" dirty="0">
                <a:latin typeface="Consolas" panose="020B0609020204030204" pitchFamily="49" charset="0"/>
              </a:rPr>
              <a:t>list</a:t>
            </a:r>
            <a:r>
              <a:rPr lang="en-US" sz="1575" dirty="0"/>
              <a:t> of </a:t>
            </a:r>
            <a:r>
              <a:rPr lang="en-US" sz="1575" dirty="0">
                <a:latin typeface="Consolas" panose="020B0609020204030204" pitchFamily="49" charset="0"/>
              </a:rPr>
              <a:t>strings)</a:t>
            </a:r>
          </a:p>
          <a:p>
            <a:pPr marL="0" indent="0">
              <a:buNone/>
            </a:pPr>
            <a:r>
              <a:rPr lang="en-US" sz="1575" dirty="0">
                <a:latin typeface="Consolas" panose="020B0609020204030204" pitchFamily="49" charset="0"/>
                <a:cs typeface="Courier New" panose="02070309020205020404" pitchFamily="49" charset="0"/>
              </a:rPr>
              <a:t>	</a:t>
            </a:r>
            <a:r>
              <a:rPr lang="en-US" sz="1575" dirty="0" err="1">
                <a:latin typeface="Consolas" panose="020B0609020204030204" pitchFamily="49" charset="0"/>
                <a:cs typeface="Courier New" panose="02070309020205020404" pitchFamily="49" charset="0"/>
              </a:rPr>
              <a:t>re.</a:t>
            </a:r>
            <a:r>
              <a:rPr lang="en-US" sz="1575" b="1" dirty="0" err="1">
                <a:solidFill>
                  <a:srgbClr val="00B050"/>
                </a:solidFill>
                <a:latin typeface="Consolas" panose="020B0609020204030204" pitchFamily="49" charset="0"/>
                <a:cs typeface="Courier New" panose="02070309020205020404" pitchFamily="49" charset="0"/>
              </a:rPr>
              <a:t>finditer</a:t>
            </a:r>
            <a:r>
              <a:rPr lang="en-US" sz="1575" dirty="0">
                <a:latin typeface="Consolas" panose="020B0609020204030204" pitchFamily="49" charset="0"/>
                <a:cs typeface="Courier New" panose="02070309020205020404" pitchFamily="49" charset="0"/>
              </a:rPr>
              <a:t>()	</a:t>
            </a:r>
            <a:r>
              <a:rPr lang="en-US" sz="1575" dirty="0"/>
              <a:t>finds</a:t>
            </a:r>
            <a:r>
              <a:rPr lang="en-US" sz="1575" b="1" dirty="0">
                <a:solidFill>
                  <a:srgbClr val="00B050"/>
                </a:solidFill>
              </a:rPr>
              <a:t> all matches </a:t>
            </a:r>
            <a:r>
              <a:rPr lang="en-US" sz="1575" b="1" dirty="0">
                <a:solidFill>
                  <a:schemeClr val="accent6"/>
                </a:solidFill>
              </a:rPr>
              <a:t>anywhere</a:t>
            </a:r>
            <a:r>
              <a:rPr lang="en-US" sz="1575" dirty="0"/>
              <a:t> in a string 	(</a:t>
            </a:r>
            <a:r>
              <a:rPr lang="en-US" sz="1575" dirty="0">
                <a:latin typeface="Consolas" panose="020B0609020204030204" pitchFamily="49" charset="0"/>
              </a:rPr>
              <a:t>iterator</a:t>
            </a:r>
            <a:r>
              <a:rPr lang="en-US" sz="1575" dirty="0"/>
              <a:t> of </a:t>
            </a:r>
            <a:r>
              <a:rPr lang="en-US" sz="1575" dirty="0">
                <a:latin typeface="Consolas" panose="020B0609020204030204" pitchFamily="49" charset="0"/>
              </a:rPr>
              <a:t>match</a:t>
            </a:r>
            <a:r>
              <a:rPr lang="en-US" sz="1575" dirty="0">
                <a:latin typeface="+mj-lt"/>
              </a:rPr>
              <a:t> objects</a:t>
            </a:r>
            <a:r>
              <a:rPr lang="en-US" sz="1575" dirty="0">
                <a:latin typeface="Consolas" panose="020B0609020204030204" pitchFamily="49" charset="0"/>
              </a:rPr>
              <a:t>)</a:t>
            </a:r>
          </a:p>
          <a:p>
            <a:pPr marL="0" indent="0">
              <a:buNone/>
            </a:pPr>
            <a:endParaRPr lang="en-US" sz="1575" dirty="0">
              <a:latin typeface="Consolas" panose="020B0609020204030204" pitchFamily="49" charset="0"/>
            </a:endParaRPr>
          </a:p>
          <a:p>
            <a:pPr marL="0" indent="0">
              <a:buNone/>
            </a:pPr>
            <a:r>
              <a:rPr lang="en-US" sz="1575" dirty="0"/>
              <a:t>	</a:t>
            </a:r>
            <a:r>
              <a:rPr lang="en-US" dirty="0"/>
              <a:t>Regex-enabled string operations:</a:t>
            </a:r>
          </a:p>
          <a:p>
            <a:pPr marL="0" indent="0">
              <a:buNone/>
            </a:pPr>
            <a:r>
              <a:rPr lang="en-US" sz="1575" dirty="0">
                <a:latin typeface="Consolas" panose="020B0609020204030204" pitchFamily="49" charset="0"/>
                <a:cs typeface="Courier New" panose="02070309020205020404" pitchFamily="49" charset="0"/>
              </a:rPr>
              <a:t>	</a:t>
            </a:r>
            <a:r>
              <a:rPr lang="en-US" sz="1575" dirty="0" err="1">
                <a:latin typeface="Consolas" panose="020B0609020204030204" pitchFamily="49" charset="0"/>
                <a:cs typeface="Courier New" panose="02070309020205020404" pitchFamily="49" charset="0"/>
              </a:rPr>
              <a:t>re.</a:t>
            </a:r>
            <a:r>
              <a:rPr lang="en-US" sz="1575" b="1" dirty="0" err="1">
                <a:solidFill>
                  <a:srgbClr val="00B050"/>
                </a:solidFill>
                <a:latin typeface="Consolas" panose="020B0609020204030204" pitchFamily="49" charset="0"/>
                <a:cs typeface="Courier New" panose="02070309020205020404" pitchFamily="49" charset="0"/>
              </a:rPr>
              <a:t>split</a:t>
            </a:r>
            <a:r>
              <a:rPr lang="en-US" sz="1575" dirty="0">
                <a:latin typeface="Consolas" panose="020B0609020204030204" pitchFamily="49" charset="0"/>
                <a:cs typeface="Courier New" panose="02070309020205020404" pitchFamily="49" charset="0"/>
              </a:rPr>
              <a:t>() 	</a:t>
            </a:r>
            <a:r>
              <a:rPr lang="en-US" sz="1575" b="1" dirty="0">
                <a:solidFill>
                  <a:srgbClr val="00B050"/>
                </a:solidFill>
                <a:latin typeface="+mj-lt"/>
                <a:cs typeface="Courier New" panose="02070309020205020404" pitchFamily="49" charset="0"/>
              </a:rPr>
              <a:t>splits</a:t>
            </a:r>
            <a:r>
              <a:rPr lang="en-US" sz="1575" dirty="0">
                <a:latin typeface="+mj-lt"/>
                <a:cs typeface="Courier New" panose="02070309020205020404" pitchFamily="49" charset="0"/>
              </a:rPr>
              <a:t> strings at all occurrences of a pattern</a:t>
            </a:r>
          </a:p>
          <a:p>
            <a:pPr marL="0" indent="0">
              <a:buNone/>
            </a:pPr>
            <a:r>
              <a:rPr lang="en-US" sz="1575" dirty="0">
                <a:latin typeface="+mj-lt"/>
                <a:cs typeface="Courier New" panose="02070309020205020404" pitchFamily="49" charset="0"/>
              </a:rPr>
              <a:t>	</a:t>
            </a:r>
            <a:r>
              <a:rPr lang="en-US" sz="1575" dirty="0" err="1">
                <a:latin typeface="Consolas" panose="020B0609020204030204" pitchFamily="49" charset="0"/>
                <a:cs typeface="Courier New" panose="02070309020205020404" pitchFamily="49" charset="0"/>
              </a:rPr>
              <a:t>re.</a:t>
            </a:r>
            <a:r>
              <a:rPr lang="en-US" sz="1575" b="1" dirty="0" err="1">
                <a:solidFill>
                  <a:srgbClr val="00B050"/>
                </a:solidFill>
                <a:latin typeface="Consolas" panose="020B0609020204030204" pitchFamily="49" charset="0"/>
                <a:cs typeface="Courier New" panose="02070309020205020404" pitchFamily="49" charset="0"/>
              </a:rPr>
              <a:t>sub</a:t>
            </a:r>
            <a:r>
              <a:rPr lang="en-US" sz="1575" dirty="0">
                <a:latin typeface="Consolas" panose="020B0609020204030204" pitchFamily="49" charset="0"/>
                <a:cs typeface="Courier New" panose="02070309020205020404" pitchFamily="49" charset="0"/>
              </a:rPr>
              <a:t>()   	</a:t>
            </a:r>
            <a:r>
              <a:rPr lang="en-US" sz="1575" dirty="0">
                <a:latin typeface="+mj-lt"/>
                <a:cs typeface="Courier New" panose="02070309020205020404" pitchFamily="49" charset="0"/>
              </a:rPr>
              <a:t>replaces (</a:t>
            </a:r>
            <a:r>
              <a:rPr lang="en-US" sz="1575" b="1" dirty="0">
                <a:solidFill>
                  <a:srgbClr val="00B050"/>
                </a:solidFill>
                <a:latin typeface="+mj-lt"/>
                <a:cs typeface="Courier New" panose="02070309020205020404" pitchFamily="49" charset="0"/>
              </a:rPr>
              <a:t>substitutes</a:t>
            </a:r>
            <a:r>
              <a:rPr lang="en-US" sz="1575" dirty="0">
                <a:latin typeface="+mj-lt"/>
                <a:cs typeface="Courier New" panose="02070309020205020404" pitchFamily="49" charset="0"/>
              </a:rPr>
              <a:t>) all occurrences of a pattern</a:t>
            </a:r>
          </a:p>
        </p:txBody>
      </p:sp>
    </p:spTree>
    <p:extLst>
      <p:ext uri="{BB962C8B-B14F-4D97-AF65-F5344CB8AC3E}">
        <p14:creationId xmlns:p14="http://schemas.microsoft.com/office/powerpoint/2010/main" val="111118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err="1"/>
              <a:t>re.search</a:t>
            </a:r>
            <a:endParaRPr lang="en-US" b="0" dirty="0"/>
          </a:p>
        </p:txBody>
      </p:sp>
      <p:sp>
        <p:nvSpPr>
          <p:cNvPr id="4" name="Content Placeholder 3"/>
          <p:cNvSpPr>
            <a:spLocks noGrp="1"/>
          </p:cNvSpPr>
          <p:nvPr>
            <p:ph idx="1"/>
          </p:nvPr>
        </p:nvSpPr>
        <p:spPr>
          <a:xfrm>
            <a:off x="628650" y="1825625"/>
            <a:ext cx="8955188" cy="4351338"/>
          </a:xfrm>
        </p:spPr>
        <p:txBody>
          <a:bodyPr/>
          <a:lstStyle/>
          <a:p>
            <a:pPr marL="600075" indent="-600075">
              <a:buNone/>
            </a:pPr>
            <a:r>
              <a:rPr lang="en-US" b="1" dirty="0">
                <a:solidFill>
                  <a:srgbClr val="00B050"/>
                </a:solidFill>
                <a:latin typeface="Consolas" panose="020B0609020204030204" pitchFamily="49" charset="0"/>
                <a:cs typeface="Courier New" panose="02070309020205020404" pitchFamily="49" charset="0"/>
              </a:rPr>
              <a:t>search</a:t>
            </a:r>
            <a:r>
              <a:rPr lang="en-US" dirty="0">
                <a:latin typeface="Consolas" panose="020B0609020204030204" pitchFamily="49" charset="0"/>
              </a:rPr>
              <a:t>(</a:t>
            </a:r>
            <a:r>
              <a:rPr lang="en-US" b="1" dirty="0">
                <a:solidFill>
                  <a:schemeClr val="accent5"/>
                </a:solidFill>
                <a:latin typeface="Consolas" panose="020B0609020204030204" pitchFamily="49" charset="0"/>
                <a:cs typeface="Courier New" panose="02070309020205020404" pitchFamily="49" charset="0"/>
              </a:rPr>
              <a:t>pattern</a:t>
            </a:r>
            <a:r>
              <a:rPr lang="en-US" dirty="0">
                <a:latin typeface="Consolas" panose="020B0609020204030204" pitchFamily="49" charset="0"/>
              </a:rPr>
              <a:t>, </a:t>
            </a:r>
            <a:r>
              <a:rPr lang="en-US" b="1" dirty="0">
                <a:solidFill>
                  <a:schemeClr val="accent6"/>
                </a:solidFill>
                <a:latin typeface="Consolas" panose="020B0609020204030204" pitchFamily="49" charset="0"/>
                <a:cs typeface="Courier New" panose="02070309020205020404" pitchFamily="49" charset="0"/>
              </a:rPr>
              <a:t>string</a:t>
            </a:r>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cs typeface="Courier New" panose="02070309020205020404" pitchFamily="49" charset="0"/>
              </a:rPr>
              <a:t>flags=0</a:t>
            </a:r>
            <a:r>
              <a:rPr lang="en-US" dirty="0">
                <a:latin typeface="Consolas" panose="020B0609020204030204" pitchFamily="49" charset="0"/>
              </a:rPr>
              <a:t>)</a:t>
            </a:r>
          </a:p>
          <a:p>
            <a:pPr>
              <a:buNone/>
            </a:pPr>
            <a:endParaRPr lang="en-US" dirty="0"/>
          </a:p>
          <a:p>
            <a:pPr>
              <a:buNone/>
            </a:pPr>
            <a:r>
              <a:rPr lang="en-US" dirty="0"/>
              <a:t>Scan through </a:t>
            </a:r>
            <a:r>
              <a:rPr lang="en-US" b="1" dirty="0">
                <a:solidFill>
                  <a:schemeClr val="accent6"/>
                </a:solidFill>
              </a:rPr>
              <a:t>string</a:t>
            </a:r>
            <a:r>
              <a:rPr lang="en-US" dirty="0"/>
              <a:t> looking for the first match to </a:t>
            </a:r>
            <a:r>
              <a:rPr lang="en-US" b="1" dirty="0">
                <a:solidFill>
                  <a:schemeClr val="accent5"/>
                </a:solidFill>
              </a:rPr>
              <a:t>pattern</a:t>
            </a:r>
            <a:endParaRPr lang="en-US" dirty="0"/>
          </a:p>
          <a:p>
            <a:pPr marL="600075" indent="-600075">
              <a:buNone/>
            </a:pPr>
            <a:endParaRPr lang="en-US" u="sng" dirty="0"/>
          </a:p>
          <a:p>
            <a:pPr marL="600075" indent="-600075">
              <a:buNone/>
            </a:pPr>
            <a:r>
              <a:rPr lang="en-US" u="sng" dirty="0"/>
              <a:t>Return</a:t>
            </a:r>
            <a:r>
              <a:rPr lang="en-US" dirty="0"/>
              <a:t>:</a:t>
            </a:r>
          </a:p>
          <a:p>
            <a:pPr marL="0" indent="0">
              <a:buNone/>
            </a:pPr>
            <a:r>
              <a:rPr lang="en-US" dirty="0"/>
              <a:t>- If something is found: 	a </a:t>
            </a:r>
            <a:r>
              <a:rPr lang="en-US" dirty="0">
                <a:latin typeface="Consolas" panose="020B0609020204030204" pitchFamily="49" charset="0"/>
              </a:rPr>
              <a:t>Match</a:t>
            </a:r>
            <a:r>
              <a:rPr lang="en-US" dirty="0"/>
              <a:t> object</a:t>
            </a:r>
          </a:p>
          <a:p>
            <a:pPr marL="0" indent="0">
              <a:buNone/>
            </a:pPr>
            <a:r>
              <a:rPr lang="en-US" dirty="0"/>
              <a:t>- If nothing is found: 	</a:t>
            </a:r>
            <a:r>
              <a:rPr lang="en-US" dirty="0">
                <a:latin typeface="Consolas" panose="020B0609020204030204" pitchFamily="49" charset="0"/>
              </a:rPr>
              <a:t>None</a:t>
            </a:r>
          </a:p>
        </p:txBody>
      </p:sp>
    </p:spTree>
    <p:extLst>
      <p:ext uri="{BB962C8B-B14F-4D97-AF65-F5344CB8AC3E}">
        <p14:creationId xmlns:p14="http://schemas.microsoft.com/office/powerpoint/2010/main" val="1942621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err="1"/>
              <a:t>re.match</a:t>
            </a:r>
            <a:endParaRPr lang="en-US" b="0" dirty="0"/>
          </a:p>
        </p:txBody>
      </p:sp>
      <p:sp>
        <p:nvSpPr>
          <p:cNvPr id="4" name="Content Placeholder 3"/>
          <p:cNvSpPr>
            <a:spLocks noGrp="1"/>
          </p:cNvSpPr>
          <p:nvPr>
            <p:ph idx="1"/>
          </p:nvPr>
        </p:nvSpPr>
        <p:spPr/>
        <p:txBody>
          <a:bodyPr/>
          <a:lstStyle/>
          <a:p>
            <a:pPr marL="0" indent="0">
              <a:buNone/>
            </a:pPr>
            <a:r>
              <a:rPr lang="en-US" b="1" dirty="0">
                <a:solidFill>
                  <a:srgbClr val="00B050"/>
                </a:solidFill>
                <a:latin typeface="Consolas" panose="020B0609020204030204" pitchFamily="49" charset="0"/>
                <a:cs typeface="Courier New" panose="02070309020205020404" pitchFamily="49" charset="0"/>
              </a:rPr>
              <a:t>match</a:t>
            </a:r>
            <a:r>
              <a:rPr lang="en-US" dirty="0">
                <a:latin typeface="Consolas" panose="020B0609020204030204" pitchFamily="49" charset="0"/>
              </a:rPr>
              <a:t>(</a:t>
            </a:r>
            <a:r>
              <a:rPr lang="en-US" b="1" dirty="0">
                <a:solidFill>
                  <a:schemeClr val="accent5"/>
                </a:solidFill>
                <a:latin typeface="Consolas" panose="020B0609020204030204" pitchFamily="49" charset="0"/>
                <a:cs typeface="Courier New" panose="02070309020205020404" pitchFamily="49" charset="0"/>
              </a:rPr>
              <a:t>pattern</a:t>
            </a:r>
            <a:r>
              <a:rPr lang="en-US" dirty="0">
                <a:latin typeface="Consolas" panose="020B0609020204030204" pitchFamily="49" charset="0"/>
              </a:rPr>
              <a:t>, </a:t>
            </a:r>
            <a:r>
              <a:rPr lang="en-US" b="1" dirty="0">
                <a:solidFill>
                  <a:schemeClr val="accent6"/>
                </a:solidFill>
                <a:latin typeface="Consolas" panose="020B0609020204030204" pitchFamily="49" charset="0"/>
                <a:cs typeface="Courier New" panose="02070309020205020404" pitchFamily="49" charset="0"/>
              </a:rPr>
              <a:t>string</a:t>
            </a:r>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cs typeface="Courier New" panose="02070309020205020404" pitchFamily="49" charset="0"/>
              </a:rPr>
              <a:t>flags=0</a:t>
            </a:r>
            <a:r>
              <a:rPr lang="en-US" dirty="0">
                <a:latin typeface="Consolas" panose="020B0609020204030204" pitchFamily="49" charset="0"/>
              </a:rPr>
              <a:t>)</a:t>
            </a:r>
          </a:p>
          <a:p>
            <a:pPr marL="0" indent="0">
              <a:buNone/>
            </a:pPr>
            <a:endParaRPr lang="en-US" dirty="0">
              <a:latin typeface="Consolas" panose="020B0609020204030204" pitchFamily="49" charset="0"/>
              <a:cs typeface="Courier New" panose="02070309020205020404" pitchFamily="49" charset="0"/>
            </a:endParaRPr>
          </a:p>
          <a:p>
            <a:pPr marL="600075" indent="-600075">
              <a:buNone/>
            </a:pPr>
            <a:r>
              <a:rPr lang="en-US" dirty="0"/>
              <a:t>Check if </a:t>
            </a:r>
            <a:r>
              <a:rPr lang="en-US" b="1" dirty="0">
                <a:solidFill>
                  <a:schemeClr val="accent5"/>
                </a:solidFill>
              </a:rPr>
              <a:t>pattern</a:t>
            </a:r>
            <a:r>
              <a:rPr lang="en-US" dirty="0"/>
              <a:t> matches at the </a:t>
            </a:r>
            <a:r>
              <a:rPr lang="en-US" b="1" u="sng" dirty="0"/>
              <a:t>beginning</a:t>
            </a:r>
            <a:r>
              <a:rPr lang="en-US" dirty="0"/>
              <a:t> of </a:t>
            </a:r>
            <a:r>
              <a:rPr lang="en-US" b="1" dirty="0">
                <a:solidFill>
                  <a:schemeClr val="accent6"/>
                </a:solidFill>
              </a:rPr>
              <a:t>string</a:t>
            </a:r>
            <a:br>
              <a:rPr lang="en-US" b="1" u="sng" dirty="0">
                <a:solidFill>
                  <a:schemeClr val="accent6"/>
                </a:solidFill>
              </a:rPr>
            </a:br>
            <a:endParaRPr lang="en-US" u="sng" dirty="0"/>
          </a:p>
          <a:p>
            <a:pPr marL="0" indent="0">
              <a:buNone/>
            </a:pPr>
            <a:endParaRPr lang="en-US" u="sng" dirty="0"/>
          </a:p>
          <a:p>
            <a:pPr marL="0" indent="0">
              <a:buNone/>
            </a:pPr>
            <a:r>
              <a:rPr lang="en-US" u="sng" dirty="0"/>
              <a:t>Return</a:t>
            </a:r>
            <a:r>
              <a:rPr lang="en-US" dirty="0"/>
              <a:t>:</a:t>
            </a:r>
          </a:p>
          <a:p>
            <a:pPr marL="0" indent="0">
              <a:buNone/>
            </a:pPr>
            <a:r>
              <a:rPr lang="en-US" dirty="0"/>
              <a:t>- If something is found: 	a </a:t>
            </a:r>
            <a:r>
              <a:rPr lang="en-US" dirty="0">
                <a:latin typeface="Consolas" panose="020B0609020204030204" pitchFamily="49" charset="0"/>
              </a:rPr>
              <a:t>Match</a:t>
            </a:r>
            <a:r>
              <a:rPr lang="en-US" dirty="0"/>
              <a:t> object</a:t>
            </a:r>
          </a:p>
          <a:p>
            <a:pPr marL="0" indent="0">
              <a:buNone/>
            </a:pPr>
            <a:r>
              <a:rPr lang="en-US" dirty="0"/>
              <a:t>- If nothing is found: 	</a:t>
            </a:r>
            <a:r>
              <a:rPr lang="en-US" dirty="0">
                <a:latin typeface="Consolas" panose="020B0609020204030204" pitchFamily="49" charset="0"/>
              </a:rPr>
              <a:t>None</a:t>
            </a:r>
          </a:p>
        </p:txBody>
      </p:sp>
    </p:spTree>
    <p:extLst>
      <p:ext uri="{BB962C8B-B14F-4D97-AF65-F5344CB8AC3E}">
        <p14:creationId xmlns:p14="http://schemas.microsoft.com/office/powerpoint/2010/main" val="369609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76832" y="364373"/>
            <a:ext cx="8390335" cy="1325563"/>
          </a:xfrm>
        </p:spPr>
        <p:txBody>
          <a:bodyPr vert="horz" lIns="91440" tIns="45720" rIns="91440" bIns="45720" rtlCol="0" anchor="ctr">
            <a:normAutofit/>
          </a:bodyPr>
          <a:lstStyle/>
          <a:p>
            <a:r>
              <a:rPr lang="en-US" b="0" dirty="0"/>
              <a:t>Most methods return match objects</a:t>
            </a:r>
          </a:p>
        </p:txBody>
      </p:sp>
      <p:sp>
        <p:nvSpPr>
          <p:cNvPr id="6" name="TextBox 5"/>
          <p:cNvSpPr txBox="1"/>
          <p:nvPr/>
        </p:nvSpPr>
        <p:spPr>
          <a:xfrm>
            <a:off x="704850" y="1860754"/>
            <a:ext cx="4800600" cy="2785378"/>
          </a:xfrm>
          <a:prstGeom prst="rect">
            <a:avLst/>
          </a:prstGeom>
          <a:noFill/>
        </p:spPr>
        <p:txBody>
          <a:bodyPr wrap="square" rtlCol="0">
            <a:spAutoFit/>
          </a:bodyPr>
          <a:lstStyle/>
          <a:p>
            <a:r>
              <a:rPr lang="en-US" sz="1600" b="1" dirty="0">
                <a:latin typeface="Consolas" panose="020B0609020204030204" pitchFamily="49" charset="0"/>
                <a:cs typeface="Courier New"/>
              </a:rPr>
              <a:t>import re</a:t>
            </a:r>
          </a:p>
          <a:p>
            <a:endParaRPr lang="en-US" sz="1600" dirty="0">
              <a:latin typeface="Consolas" panose="020B0609020204030204" pitchFamily="49" charset="0"/>
              <a:cs typeface="Courier New"/>
            </a:endParaRPr>
          </a:p>
          <a:p>
            <a:r>
              <a:rPr lang="en-US" sz="1600" b="1" dirty="0">
                <a:solidFill>
                  <a:schemeClr val="accent6"/>
                </a:solidFill>
                <a:latin typeface="Consolas" panose="020B0609020204030204" pitchFamily="49" charset="0"/>
                <a:cs typeface="Courier New"/>
              </a:rPr>
              <a:t>lazy</a:t>
            </a:r>
            <a:r>
              <a:rPr lang="en-US" sz="1600" dirty="0">
                <a:latin typeface="Consolas" panose="020B0609020204030204" pitchFamily="49" charset="0"/>
                <a:cs typeface="Courier New"/>
              </a:rPr>
              <a:t> = </a:t>
            </a:r>
            <a:r>
              <a:rPr lang="en-US" sz="1600" b="1" dirty="0">
                <a:solidFill>
                  <a:schemeClr val="accent6"/>
                </a:solidFill>
                <a:latin typeface="Consolas" panose="020B0609020204030204" pitchFamily="49" charset="0"/>
                <a:cs typeface="Courier New"/>
              </a:rPr>
              <a:t>'</a:t>
            </a:r>
            <a:r>
              <a:rPr lang="en-US" sz="1600" b="1" dirty="0">
                <a:solidFill>
                  <a:schemeClr val="accent6"/>
                </a:solidFill>
                <a:latin typeface="Consolas" panose="020B0609020204030204" pitchFamily="49" charset="0"/>
                <a:cs typeface="Courier New" panose="02070309020205020404" pitchFamily="49" charset="0"/>
              </a:rPr>
              <a:t>The lazy dog went to sleep</a:t>
            </a:r>
            <a:r>
              <a:rPr lang="en-US" sz="1600" b="1" dirty="0">
                <a:solidFill>
                  <a:schemeClr val="accent6"/>
                </a:solidFill>
                <a:latin typeface="Consolas" panose="020B0609020204030204" pitchFamily="49" charset="0"/>
                <a:cs typeface="Courier New"/>
              </a:rPr>
              <a:t>'</a:t>
            </a:r>
          </a:p>
          <a:p>
            <a:br>
              <a:rPr lang="en-US" sz="1600" dirty="0">
                <a:latin typeface="Consolas" panose="020B0609020204030204" pitchFamily="49" charset="0"/>
                <a:cs typeface="Courier New"/>
              </a:rPr>
            </a:br>
            <a:r>
              <a:rPr lang="en-US" sz="1600" u="sng" dirty="0">
                <a:latin typeface="Consolas" panose="020B0609020204030204" pitchFamily="49" charset="0"/>
                <a:cs typeface="Courier New"/>
              </a:rPr>
              <a:t>result</a:t>
            </a:r>
            <a:r>
              <a:rPr lang="en-US" sz="1600" dirty="0">
                <a:latin typeface="Consolas" panose="020B0609020204030204" pitchFamily="49" charset="0"/>
                <a:cs typeface="Courier New"/>
              </a:rPr>
              <a:t> = </a:t>
            </a:r>
            <a:r>
              <a:rPr lang="en-US" sz="1600" dirty="0" err="1">
                <a:latin typeface="Consolas" panose="020B0609020204030204" pitchFamily="49" charset="0"/>
                <a:cs typeface="Courier New"/>
              </a:rPr>
              <a:t>re.</a:t>
            </a:r>
            <a:r>
              <a:rPr lang="en-US" sz="1600" b="1" dirty="0" err="1">
                <a:solidFill>
                  <a:srgbClr val="00B050"/>
                </a:solidFill>
                <a:latin typeface="Consolas" panose="020B0609020204030204" pitchFamily="49" charset="0"/>
                <a:cs typeface="Courier New"/>
              </a:rPr>
              <a:t>search</a:t>
            </a:r>
            <a:r>
              <a:rPr lang="en-US" sz="1600" dirty="0">
                <a:latin typeface="Consolas" panose="020B0609020204030204" pitchFamily="49" charset="0"/>
                <a:cs typeface="Courier New"/>
              </a:rPr>
              <a:t>(</a:t>
            </a:r>
            <a:r>
              <a:rPr lang="en-US" sz="1600" b="1" dirty="0">
                <a:solidFill>
                  <a:schemeClr val="accent5"/>
                </a:solidFill>
                <a:latin typeface="Consolas" panose="020B0609020204030204" pitchFamily="49" charset="0"/>
                <a:cs typeface="Courier New"/>
              </a:rPr>
              <a:t>'dog'</a:t>
            </a:r>
            <a:r>
              <a:rPr lang="en-US" sz="1600" dirty="0">
                <a:latin typeface="Consolas" panose="020B0609020204030204" pitchFamily="49" charset="0"/>
                <a:cs typeface="Courier New"/>
              </a:rPr>
              <a:t>, </a:t>
            </a:r>
            <a:r>
              <a:rPr lang="en-US" sz="1600" b="1" dirty="0">
                <a:solidFill>
                  <a:schemeClr val="accent6"/>
                </a:solidFill>
                <a:latin typeface="Consolas" panose="020B0609020204030204" pitchFamily="49" charset="0"/>
                <a:cs typeface="Courier New"/>
              </a:rPr>
              <a:t>lazy</a:t>
            </a:r>
            <a:r>
              <a:rPr lang="en-US" sz="1600" dirty="0">
                <a:latin typeface="Consolas" panose="020B0609020204030204" pitchFamily="49" charset="0"/>
                <a:cs typeface="Courier New"/>
              </a:rPr>
              <a:t>)</a:t>
            </a:r>
          </a:p>
          <a:p>
            <a:endParaRPr lang="en-US" sz="1600" dirty="0">
              <a:latin typeface="Consolas" panose="020B0609020204030204" pitchFamily="49" charset="0"/>
              <a:cs typeface="Courier New"/>
            </a:endParaRPr>
          </a:p>
          <a:p>
            <a:r>
              <a:rPr lang="en-US" sz="1600" dirty="0">
                <a:latin typeface="Consolas" panose="020B0609020204030204" pitchFamily="49" charset="0"/>
                <a:cs typeface="Courier New"/>
              </a:rPr>
              <a:t>if </a:t>
            </a:r>
            <a:r>
              <a:rPr lang="en-US" sz="1600" u="sng" dirty="0">
                <a:latin typeface="Consolas" panose="020B0609020204030204" pitchFamily="49" charset="0"/>
                <a:cs typeface="Courier New"/>
              </a:rPr>
              <a:t>result</a:t>
            </a:r>
            <a:r>
              <a:rPr lang="en-US" sz="1600" dirty="0">
                <a:latin typeface="Consolas" panose="020B0609020204030204" pitchFamily="49" charset="0"/>
                <a:cs typeface="Courier New"/>
              </a:rPr>
              <a:t> is not None:         </a:t>
            </a:r>
            <a:br>
              <a:rPr lang="en-US" sz="1600" dirty="0">
                <a:latin typeface="Consolas" panose="020B0609020204030204" pitchFamily="49" charset="0"/>
                <a:cs typeface="Courier New"/>
              </a:rPr>
            </a:br>
            <a:r>
              <a:rPr lang="en-US" sz="1600" dirty="0">
                <a:latin typeface="Consolas" panose="020B0609020204030204" pitchFamily="49" charset="0"/>
                <a:cs typeface="Courier New"/>
              </a:rPr>
              <a:t>    print('found', </a:t>
            </a:r>
            <a:r>
              <a:rPr lang="en-US" sz="1600" u="sng" dirty="0" err="1">
                <a:latin typeface="Consolas" panose="020B0609020204030204" pitchFamily="49" charset="0"/>
                <a:cs typeface="Courier New"/>
              </a:rPr>
              <a:t>result</a:t>
            </a:r>
            <a:r>
              <a:rPr lang="en-US" sz="1600" dirty="0" err="1">
                <a:latin typeface="Consolas" panose="020B0609020204030204" pitchFamily="49" charset="0"/>
                <a:cs typeface="Courier New"/>
              </a:rPr>
              <a:t>.group</a:t>
            </a:r>
            <a:r>
              <a:rPr lang="en-US" sz="1600" dirty="0">
                <a:latin typeface="Consolas" panose="020B0609020204030204" pitchFamily="49" charset="0"/>
                <a:cs typeface="Courier New"/>
              </a:rPr>
              <a:t>() )</a:t>
            </a:r>
          </a:p>
          <a:p>
            <a:r>
              <a:rPr lang="en-US" sz="1600" dirty="0">
                <a:latin typeface="Consolas" panose="020B0609020204030204" pitchFamily="49" charset="0"/>
                <a:cs typeface="Courier New"/>
              </a:rPr>
              <a:t>else:</a:t>
            </a:r>
            <a:br>
              <a:rPr lang="en-US" sz="1600" dirty="0">
                <a:latin typeface="Consolas" panose="020B0609020204030204" pitchFamily="49" charset="0"/>
                <a:cs typeface="Courier New"/>
              </a:rPr>
            </a:br>
            <a:r>
              <a:rPr lang="en-US" sz="1600" dirty="0">
                <a:latin typeface="Consolas" panose="020B0609020204030204" pitchFamily="49" charset="0"/>
                <a:cs typeface="Courier New"/>
              </a:rPr>
              <a:t>    print('did not find')</a:t>
            </a:r>
          </a:p>
          <a:p>
            <a:endParaRPr lang="en-US" sz="1500" dirty="0">
              <a:latin typeface="Consolas" panose="020B0609020204030204" pitchFamily="49" charset="0"/>
              <a:cs typeface="Courier New"/>
            </a:endParaRPr>
          </a:p>
        </p:txBody>
      </p:sp>
      <p:sp>
        <p:nvSpPr>
          <p:cNvPr id="5" name="TextBox 4">
            <a:extLst>
              <a:ext uri="{FF2B5EF4-FFF2-40B4-BE49-F238E27FC236}">
                <a16:creationId xmlns:a16="http://schemas.microsoft.com/office/drawing/2014/main" id="{46DC1D20-0030-4C16-B38B-645EA8A699FB}"/>
              </a:ext>
            </a:extLst>
          </p:cNvPr>
          <p:cNvSpPr txBox="1"/>
          <p:nvPr/>
        </p:nvSpPr>
        <p:spPr>
          <a:xfrm>
            <a:off x="5069818" y="2198387"/>
            <a:ext cx="3902869" cy="1477328"/>
          </a:xfrm>
          <a:prstGeom prst="rect">
            <a:avLst/>
          </a:prstGeom>
          <a:noFill/>
          <a:ln w="12700">
            <a:solidFill>
              <a:schemeClr val="tx1"/>
            </a:solidFill>
          </a:ln>
        </p:spPr>
        <p:txBody>
          <a:bodyPr wrap="square" rtlCol="0">
            <a:spAutoFit/>
          </a:bodyPr>
          <a:lstStyle/>
          <a:p>
            <a:r>
              <a:rPr lang="en-US" sz="1500" b="1" dirty="0">
                <a:latin typeface="Consolas" panose="020B0609020204030204" pitchFamily="49" charset="0"/>
                <a:cs typeface="Courier New"/>
              </a:rPr>
              <a:t>match </a:t>
            </a:r>
            <a:r>
              <a:rPr lang="en-US" sz="1500" b="1" dirty="0">
                <a:latin typeface="+mj-lt"/>
                <a:cs typeface="Courier New"/>
              </a:rPr>
              <a:t>objects:</a:t>
            </a:r>
          </a:p>
          <a:p>
            <a:endParaRPr lang="en-US" sz="1500" dirty="0">
              <a:latin typeface="Consolas" panose="020B0609020204030204" pitchFamily="49" charset="0"/>
              <a:cs typeface="Courier New"/>
            </a:endParaRPr>
          </a:p>
          <a:p>
            <a:r>
              <a:rPr lang="en-US" sz="1500" b="1" dirty="0">
                <a:latin typeface="Consolas" panose="020B0609020204030204" pitchFamily="49" charset="0"/>
                <a:cs typeface="Courier New" panose="02070309020205020404" pitchFamily="49" charset="0"/>
              </a:rPr>
              <a:t>group()	</a:t>
            </a:r>
            <a:r>
              <a:rPr lang="en-US" sz="1500" b="1" dirty="0">
                <a:latin typeface="+mj-lt"/>
                <a:cs typeface="Courier New" panose="02070309020205020404" pitchFamily="49" charset="0"/>
              </a:rPr>
              <a:t>Contents of the match</a:t>
            </a:r>
          </a:p>
          <a:p>
            <a:r>
              <a:rPr lang="en-US" sz="1500" b="1" dirty="0">
                <a:latin typeface="Consolas" panose="020B0609020204030204" pitchFamily="49" charset="0"/>
                <a:cs typeface="Courier New" panose="02070309020205020404" pitchFamily="49" charset="0"/>
              </a:rPr>
              <a:t>start()	</a:t>
            </a:r>
            <a:r>
              <a:rPr lang="en-US" sz="1500" b="1" dirty="0">
                <a:latin typeface="+mj-lt"/>
                <a:cs typeface="Courier New" panose="02070309020205020404" pitchFamily="49" charset="0"/>
              </a:rPr>
              <a:t>Start position of match</a:t>
            </a:r>
          </a:p>
          <a:p>
            <a:r>
              <a:rPr lang="en-US" sz="1500" b="1" dirty="0">
                <a:latin typeface="Consolas" panose="020B0609020204030204" pitchFamily="49" charset="0"/>
                <a:cs typeface="Courier New" panose="02070309020205020404" pitchFamily="49" charset="0"/>
              </a:rPr>
              <a:t>end()	</a:t>
            </a:r>
            <a:r>
              <a:rPr lang="en-US" sz="1500" b="1" dirty="0">
                <a:latin typeface="+mj-lt"/>
                <a:cs typeface="Courier New" panose="02070309020205020404" pitchFamily="49" charset="0"/>
              </a:rPr>
              <a:t>End position of match</a:t>
            </a:r>
            <a:endParaRPr lang="en-US" sz="1500" dirty="0">
              <a:latin typeface="Consolas" panose="020B0609020204030204" pitchFamily="49" charset="0"/>
              <a:cs typeface="Courier New"/>
            </a:endParaRPr>
          </a:p>
          <a:p>
            <a:endParaRPr lang="en-US" sz="1500" dirty="0">
              <a:latin typeface="Consolas" panose="020B0609020204030204" pitchFamily="49" charset="0"/>
              <a:cs typeface="Courier New"/>
            </a:endParaRPr>
          </a:p>
        </p:txBody>
      </p:sp>
      <p:cxnSp>
        <p:nvCxnSpPr>
          <p:cNvPr id="7" name="Straight Arrow Connector 6">
            <a:extLst>
              <a:ext uri="{FF2B5EF4-FFF2-40B4-BE49-F238E27FC236}">
                <a16:creationId xmlns:a16="http://schemas.microsoft.com/office/drawing/2014/main" id="{3719C4FA-49BB-4F75-BBDE-AEF45C7260EF}"/>
              </a:ext>
            </a:extLst>
          </p:cNvPr>
          <p:cNvCxnSpPr>
            <a:cxnSpLocks/>
            <a:stCxn id="5" idx="1"/>
          </p:cNvCxnSpPr>
          <p:nvPr/>
        </p:nvCxnSpPr>
        <p:spPr>
          <a:xfrm flipH="1">
            <a:off x="3900668" y="2937051"/>
            <a:ext cx="1169150" cy="651101"/>
          </a:xfrm>
          <a:prstGeom prst="straightConnector1">
            <a:avLst/>
          </a:prstGeom>
          <a:ln w="28575">
            <a:prstDash val="sysDot"/>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68DB7DB9-AB10-4C7A-80DC-ACDDA44955A4}"/>
              </a:ext>
            </a:extLst>
          </p:cNvPr>
          <p:cNvSpPr txBox="1"/>
          <p:nvPr/>
        </p:nvSpPr>
        <p:spPr>
          <a:xfrm>
            <a:off x="704850" y="4663062"/>
            <a:ext cx="4800600" cy="584775"/>
          </a:xfrm>
          <a:prstGeom prst="rect">
            <a:avLst/>
          </a:prstGeom>
          <a:noFill/>
        </p:spPr>
        <p:txBody>
          <a:bodyPr wrap="square" rtlCol="0">
            <a:spAutoFit/>
          </a:bodyPr>
          <a:lstStyle/>
          <a:p>
            <a:r>
              <a:rPr lang="en-US" sz="1600" b="1" dirty="0">
                <a:solidFill>
                  <a:srgbClr val="FF0000"/>
                </a:solidFill>
                <a:latin typeface="Consolas" panose="020B0609020204030204" pitchFamily="49" charset="0"/>
                <a:cs typeface="Courier New"/>
              </a:rPr>
              <a:t>found dog</a:t>
            </a:r>
            <a:endParaRPr lang="en-US" sz="1600" dirty="0">
              <a:solidFill>
                <a:srgbClr val="FF0000"/>
              </a:solidFill>
              <a:latin typeface="Consolas" panose="020B0609020204030204" pitchFamily="49" charset="0"/>
              <a:cs typeface="Courier New"/>
            </a:endParaRPr>
          </a:p>
          <a:p>
            <a:endParaRPr lang="en-US" sz="1600" dirty="0">
              <a:latin typeface="Consolas" panose="020B0609020204030204" pitchFamily="49" charset="0"/>
              <a:cs typeface="Courier New"/>
            </a:endParaRPr>
          </a:p>
        </p:txBody>
      </p:sp>
    </p:spTree>
    <p:extLst>
      <p:ext uri="{BB962C8B-B14F-4D97-AF65-F5344CB8AC3E}">
        <p14:creationId xmlns:p14="http://schemas.microsoft.com/office/powerpoint/2010/main" val="153191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Basic matching patterns</a:t>
            </a:r>
          </a:p>
        </p:txBody>
      </p:sp>
      <p:sp>
        <p:nvSpPr>
          <p:cNvPr id="4" name="Content Placeholder 3"/>
          <p:cNvSpPr>
            <a:spLocks noGrp="1"/>
          </p:cNvSpPr>
          <p:nvPr>
            <p:ph idx="1"/>
          </p:nvPr>
        </p:nvSpPr>
        <p:spPr/>
        <p:txBody>
          <a:bodyPr>
            <a:normAutofit lnSpcReduction="10000"/>
          </a:bodyPr>
          <a:lstStyle/>
          <a:p>
            <a:pPr marL="0" indent="0">
              <a:buNone/>
            </a:pPr>
            <a:r>
              <a:rPr lang="en-US" b="1" dirty="0"/>
              <a:t>Ordinary characters</a:t>
            </a:r>
            <a:r>
              <a:rPr lang="en-US" dirty="0"/>
              <a:t> just match themselves</a:t>
            </a:r>
          </a:p>
          <a:p>
            <a:pPr marL="0" indent="0">
              <a:buNone/>
            </a:pPr>
            <a:r>
              <a:rPr lang="en-US" sz="1800" u="sng" dirty="0">
                <a:latin typeface="Consolas" panose="020B0609020204030204" pitchFamily="49" charset="0"/>
                <a:cs typeface="Courier New"/>
              </a:rPr>
              <a:t>result</a:t>
            </a:r>
            <a:r>
              <a:rPr lang="en-US" sz="1800" dirty="0">
                <a:latin typeface="Consolas" panose="020B0609020204030204" pitchFamily="49" charset="0"/>
                <a:cs typeface="Courier New"/>
              </a:rPr>
              <a:t> = </a:t>
            </a:r>
            <a:r>
              <a:rPr lang="en-US" sz="1800" dirty="0" err="1">
                <a:latin typeface="Consolas" panose="020B0609020204030204" pitchFamily="49" charset="0"/>
                <a:cs typeface="Courier New"/>
              </a:rPr>
              <a:t>re.</a:t>
            </a:r>
            <a:r>
              <a:rPr lang="en-US" sz="1800" b="1" dirty="0" err="1">
                <a:solidFill>
                  <a:srgbClr val="00B050"/>
                </a:solidFill>
                <a:latin typeface="Consolas" panose="020B0609020204030204" pitchFamily="49" charset="0"/>
                <a:cs typeface="Courier New"/>
              </a:rPr>
              <a:t>search</a:t>
            </a:r>
            <a:r>
              <a:rPr lang="en-US" sz="1800" dirty="0">
                <a:latin typeface="Consolas" panose="020B0609020204030204" pitchFamily="49" charset="0"/>
                <a:cs typeface="Courier New"/>
              </a:rPr>
              <a:t>(</a:t>
            </a:r>
            <a:r>
              <a:rPr lang="en-US" sz="1800" b="1" dirty="0">
                <a:solidFill>
                  <a:schemeClr val="accent5"/>
                </a:solidFill>
                <a:latin typeface="Consolas" panose="020B0609020204030204" pitchFamily="49" charset="0"/>
                <a:cs typeface="Courier New"/>
              </a:rPr>
              <a:t>'dog'</a:t>
            </a:r>
            <a:r>
              <a:rPr lang="en-US" sz="1800" dirty="0">
                <a:latin typeface="Consolas" panose="020B0609020204030204" pitchFamily="49" charset="0"/>
                <a:cs typeface="Courier New"/>
              </a:rPr>
              <a:t>, </a:t>
            </a:r>
            <a:r>
              <a:rPr lang="en-US" sz="1800" b="1" dirty="0">
                <a:solidFill>
                  <a:schemeClr val="accent6"/>
                </a:solidFill>
                <a:latin typeface="Consolas" panose="020B0609020204030204" pitchFamily="49" charset="0"/>
                <a:cs typeface="Courier New"/>
              </a:rPr>
              <a:t>'</a:t>
            </a:r>
            <a:r>
              <a:rPr lang="en-US" sz="1800" b="1" dirty="0">
                <a:solidFill>
                  <a:schemeClr val="accent6"/>
                </a:solidFill>
                <a:latin typeface="Consolas" panose="020B0609020204030204" pitchFamily="49" charset="0"/>
                <a:cs typeface="Courier New" panose="02070309020205020404" pitchFamily="49" charset="0"/>
              </a:rPr>
              <a:t>The lazy dog went to sleep</a:t>
            </a:r>
            <a:r>
              <a:rPr lang="en-US" sz="1800" b="1" dirty="0">
                <a:solidFill>
                  <a:schemeClr val="accent6"/>
                </a:solidFill>
                <a:latin typeface="Consolas" panose="020B0609020204030204" pitchFamily="49" charset="0"/>
                <a:cs typeface="Courier New"/>
              </a:rPr>
              <a:t>’</a:t>
            </a:r>
            <a:r>
              <a:rPr lang="en-US" sz="1800" dirty="0">
                <a:latin typeface="Consolas" panose="020B0609020204030204" pitchFamily="49" charset="0"/>
                <a:cs typeface="Courier New"/>
              </a:rPr>
              <a:t>)</a:t>
            </a:r>
          </a:p>
          <a:p>
            <a:endParaRPr lang="en-US" dirty="0">
              <a:cs typeface="Courier New" panose="02070309020205020404" pitchFamily="49" charset="0"/>
            </a:endParaRPr>
          </a:p>
          <a:p>
            <a:pPr marL="0" indent="0">
              <a:buNone/>
            </a:pPr>
            <a:r>
              <a:rPr lang="en-US" dirty="0">
                <a:cs typeface="Courier New" panose="02070309020205020404" pitchFamily="49" charset="0"/>
              </a:rPr>
              <a:t>Many reserved </a:t>
            </a:r>
            <a:r>
              <a:rPr lang="en-US" b="1" dirty="0">
                <a:cs typeface="Courier New" panose="02070309020205020404" pitchFamily="49" charset="0"/>
              </a:rPr>
              <a:t>special characters</a:t>
            </a:r>
            <a:r>
              <a:rPr lang="en-US" dirty="0">
                <a:cs typeface="Courier New" panose="02070309020205020404" pitchFamily="49" charset="0"/>
              </a:rPr>
              <a:t>, including:</a:t>
            </a:r>
          </a:p>
          <a:p>
            <a:pPr marL="0" indent="0">
              <a:buNone/>
            </a:pPr>
            <a:r>
              <a:rPr lang="en-US" dirty="0">
                <a:latin typeface="Consolas" panose="020B0609020204030204" pitchFamily="49" charset="0"/>
                <a:cs typeface="Courier New" panose="02070309020205020404" pitchFamily="49" charset="0"/>
              </a:rPr>
              <a:t>	. ^ $ * + ? { }[ ] | ( ) \</a:t>
            </a:r>
          </a:p>
          <a:p>
            <a:pPr marL="0" indent="0">
              <a:buNone/>
            </a:pPr>
            <a:endParaRPr lang="en-US" dirty="0">
              <a:cs typeface="Courier New" panose="02070309020205020404" pitchFamily="49" charset="0"/>
            </a:endParaRPr>
          </a:p>
          <a:p>
            <a:pPr marL="0" indent="0">
              <a:buNone/>
            </a:pPr>
            <a:r>
              <a:rPr lang="en-US" dirty="0">
                <a:cs typeface="Courier New" panose="02070309020205020404" pitchFamily="49" charset="0"/>
              </a:rPr>
              <a:t>And escape sequences that begin with “\”:</a:t>
            </a:r>
          </a:p>
          <a:p>
            <a:pPr marL="342900" lvl="1" indent="0">
              <a:buNone/>
            </a:pPr>
            <a:r>
              <a:rPr lang="en-US" dirty="0">
                <a:latin typeface="Consolas" panose="020B0609020204030204" pitchFamily="49" charset="0"/>
                <a:cs typeface="Courier New" panose="02070309020205020404" pitchFamily="49" charset="0"/>
              </a:rPr>
              <a:t>	\t	</a:t>
            </a:r>
            <a:r>
              <a:rPr lang="en-US" b="1" dirty="0">
                <a:latin typeface="+mj-lt"/>
                <a:cs typeface="Courier New" panose="02070309020205020404" pitchFamily="49" charset="0"/>
              </a:rPr>
              <a:t>tab</a:t>
            </a:r>
          </a:p>
          <a:p>
            <a:pPr marL="342900" lvl="1" indent="0">
              <a:buNone/>
            </a:pPr>
            <a:r>
              <a:rPr lang="en-US" dirty="0">
                <a:latin typeface="Consolas" panose="020B0609020204030204" pitchFamily="49" charset="0"/>
                <a:cs typeface="Courier New" panose="02070309020205020404" pitchFamily="49" charset="0"/>
              </a:rPr>
              <a:t>	\n	</a:t>
            </a:r>
            <a:r>
              <a:rPr lang="en-US" dirty="0">
                <a:cs typeface="Courier New" panose="02070309020205020404" pitchFamily="49" charset="0"/>
              </a:rPr>
              <a:t>newline</a:t>
            </a:r>
          </a:p>
          <a:p>
            <a:pPr marL="342900" lvl="1" indent="0">
              <a:buNone/>
            </a:pPr>
            <a:r>
              <a:rPr lang="en-US" dirty="0">
                <a:latin typeface="Consolas" panose="020B0609020204030204" pitchFamily="49" charset="0"/>
                <a:cs typeface="Courier New" panose="02070309020205020404" pitchFamily="49" charset="0"/>
              </a:rPr>
              <a:t>	\r	return</a:t>
            </a:r>
          </a:p>
        </p:txBody>
      </p:sp>
      <p:sp>
        <p:nvSpPr>
          <p:cNvPr id="5" name="Rectangle 4"/>
          <p:cNvSpPr/>
          <p:nvPr/>
        </p:nvSpPr>
        <p:spPr>
          <a:xfrm>
            <a:off x="3123959" y="6161858"/>
            <a:ext cx="5086350" cy="300082"/>
          </a:xfrm>
          <a:prstGeom prst="rect">
            <a:avLst/>
          </a:prstGeom>
        </p:spPr>
        <p:txBody>
          <a:bodyPr wrap="square">
            <a:spAutoFit/>
          </a:bodyPr>
          <a:lstStyle/>
          <a:p>
            <a:r>
              <a:rPr lang="en-US" sz="1350" dirty="0">
                <a:hlinkClick r:id="rId3"/>
              </a:rPr>
              <a:t>https://developers.google.com/edu/python/regular-expressions</a:t>
            </a:r>
            <a:r>
              <a:rPr lang="en-US" sz="1350" dirty="0"/>
              <a:t> </a:t>
            </a:r>
          </a:p>
        </p:txBody>
      </p:sp>
    </p:spTree>
    <p:extLst>
      <p:ext uri="{BB962C8B-B14F-4D97-AF65-F5344CB8AC3E}">
        <p14:creationId xmlns:p14="http://schemas.microsoft.com/office/powerpoint/2010/main" val="338183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Symbols for matching single char</a:t>
            </a:r>
          </a:p>
        </p:txBody>
      </p:sp>
      <p:sp>
        <p:nvSpPr>
          <p:cNvPr id="3" name="Content Placeholder 2"/>
          <p:cNvSpPr>
            <a:spLocks noGrp="1"/>
          </p:cNvSpPr>
          <p:nvPr>
            <p:ph idx="1"/>
          </p:nvPr>
        </p:nvSpPr>
        <p:spPr>
          <a:xfrm>
            <a:off x="405476" y="1964804"/>
            <a:ext cx="6099497" cy="3394472"/>
          </a:xfrm>
        </p:spPr>
        <p:txBody>
          <a:bodyPr>
            <a:noAutofit/>
          </a:bodyPr>
          <a:lstStyle/>
          <a:p>
            <a:pPr marL="0" indent="0">
              <a:buNone/>
            </a:pPr>
            <a:r>
              <a:rPr lang="en-US" sz="2400" dirty="0">
                <a:latin typeface="Consolas" panose="020B0609020204030204" pitchFamily="49" charset="0"/>
                <a:cs typeface="Courier New" panose="02070309020205020404" pitchFamily="49" charset="0"/>
              </a:rPr>
              <a:t>	</a:t>
            </a:r>
            <a:r>
              <a:rPr lang="en-US" sz="2400" b="1" dirty="0">
                <a:solidFill>
                  <a:schemeClr val="accent1"/>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dirty="0"/>
              <a:t>Any char (except newline = </a:t>
            </a:r>
            <a:r>
              <a:rPr lang="en-US" sz="2400" dirty="0">
                <a:latin typeface="Consolas" panose="020B0609020204030204" pitchFamily="49" charset="0"/>
                <a:cs typeface="Courier New" panose="02070309020205020404" pitchFamily="49" charset="0"/>
              </a:rPr>
              <a:t>\n)</a:t>
            </a:r>
          </a:p>
          <a:p>
            <a:pPr marL="0" indent="0">
              <a:buNone/>
            </a:pPr>
            <a:r>
              <a:rPr lang="en-US" sz="2400" dirty="0">
                <a:latin typeface="Consolas" panose="020B0609020204030204" pitchFamily="49" charset="0"/>
                <a:cs typeface="Courier New" panose="02070309020205020404" pitchFamily="49" charset="0"/>
              </a:rPr>
              <a:t>		'</a:t>
            </a:r>
            <a:r>
              <a:rPr lang="en-US" sz="2400" dirty="0" err="1">
                <a:latin typeface="Consolas" panose="020B0609020204030204" pitchFamily="49" charset="0"/>
                <a:cs typeface="Courier New" panose="02070309020205020404" pitchFamily="49" charset="0"/>
              </a:rPr>
              <a:t>F</a:t>
            </a:r>
            <a:r>
              <a:rPr lang="en-US" sz="2400" b="1" dirty="0" err="1">
                <a:solidFill>
                  <a:schemeClr val="accent1"/>
                </a:solidFill>
                <a:latin typeface="Consolas" panose="020B0609020204030204" pitchFamily="49" charset="0"/>
                <a:cs typeface="Courier New" panose="02070309020205020404" pitchFamily="49" charset="0"/>
              </a:rPr>
              <a:t>..</a:t>
            </a:r>
            <a:r>
              <a:rPr lang="en-US" sz="2400" dirty="0" err="1">
                <a:latin typeface="Consolas" panose="020B0609020204030204" pitchFamily="49" charset="0"/>
                <a:cs typeface="Courier New" panose="02070309020205020404" pitchFamily="49" charset="0"/>
              </a:rPr>
              <a:t>m</a:t>
            </a:r>
            <a:r>
              <a:rPr lang="en-US" sz="2400" dirty="0">
                <a:latin typeface="Consolas" panose="020B0609020204030204" pitchFamily="49" charset="0"/>
                <a:cs typeface="Courier New" panose="02070309020205020404" pitchFamily="49" charset="0"/>
              </a:rPr>
              <a:t>:'</a:t>
            </a:r>
          </a:p>
          <a:p>
            <a:pPr marL="0" indent="0">
              <a:buNone/>
            </a:pPr>
            <a:r>
              <a:rPr lang="en-US" sz="2400" dirty="0">
                <a:solidFill>
                  <a:schemeClr val="accent1"/>
                </a:solidFill>
                <a:latin typeface="Consolas" panose="020B0609020204030204" pitchFamily="49" charset="0"/>
                <a:cs typeface="Courier New" panose="02070309020205020404" pitchFamily="49" charset="0"/>
              </a:rPr>
              <a:t>		</a:t>
            </a:r>
            <a:r>
              <a:rPr lang="en-US" sz="2400" b="1" dirty="0">
                <a:solidFill>
                  <a:schemeClr val="accent6"/>
                </a:solidFill>
                <a:latin typeface="Consolas" panose="020B0609020204030204" pitchFamily="49" charset="0"/>
                <a:cs typeface="Courier New" panose="02070309020205020404" pitchFamily="49" charset="0"/>
              </a:rPr>
              <a:t>'</a:t>
            </a:r>
            <a:r>
              <a:rPr lang="en-US" sz="2400" dirty="0">
                <a:solidFill>
                  <a:schemeClr val="accent6"/>
                </a:solidFill>
                <a:latin typeface="Consolas" panose="020B0609020204030204" pitchFamily="49" charset="0"/>
                <a:cs typeface="Courier New" panose="02070309020205020404" pitchFamily="49" charset="0"/>
              </a:rPr>
              <a:t>Farm:'</a:t>
            </a:r>
            <a:r>
              <a:rPr lang="en-US" sz="2400" dirty="0">
                <a:latin typeface="Consolas" panose="020B0609020204030204" pitchFamily="49" charset="0"/>
                <a:cs typeface="Courier New" panose="02070309020205020404" pitchFamily="49" charset="0"/>
              </a:rPr>
              <a:t> -&gt; Yes</a:t>
            </a:r>
          </a:p>
          <a:p>
            <a:pPr marL="0" indent="0">
              <a:buNone/>
            </a:pPr>
            <a:r>
              <a:rPr lang="en-US" sz="2400" dirty="0">
                <a:solidFill>
                  <a:schemeClr val="accent1"/>
                </a:solidFill>
                <a:latin typeface="Consolas" panose="020B0609020204030204" pitchFamily="49" charset="0"/>
                <a:cs typeface="Courier New" panose="02070309020205020404" pitchFamily="49" charset="0"/>
              </a:rPr>
              <a:t>		</a:t>
            </a:r>
            <a:r>
              <a:rPr lang="en-US" sz="2400" b="1" dirty="0">
                <a:solidFill>
                  <a:schemeClr val="accent6"/>
                </a:solidFill>
                <a:latin typeface="Consolas" panose="020B0609020204030204" pitchFamily="49" charset="0"/>
                <a:cs typeface="Courier New" panose="02070309020205020404" pitchFamily="49" charset="0"/>
              </a:rPr>
              <a:t>'</a:t>
            </a:r>
            <a:r>
              <a:rPr lang="en-US" sz="2400" dirty="0" err="1">
                <a:solidFill>
                  <a:schemeClr val="accent6"/>
                </a:solidFill>
                <a:latin typeface="Consolas" panose="020B0609020204030204" pitchFamily="49" charset="0"/>
                <a:cs typeface="Courier New" panose="02070309020205020404" pitchFamily="49" charset="0"/>
              </a:rPr>
              <a:t>Foom</a:t>
            </a:r>
            <a:r>
              <a:rPr lang="en-US" sz="2400" dirty="0">
                <a:solidFill>
                  <a:schemeClr val="accent6"/>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-&gt; Yes</a:t>
            </a:r>
          </a:p>
          <a:p>
            <a:pPr marL="0" indent="0">
              <a:buNone/>
            </a:pPr>
            <a:r>
              <a:rPr lang="en-US" sz="2400" dirty="0">
                <a:solidFill>
                  <a:schemeClr val="accent1"/>
                </a:solidFill>
                <a:latin typeface="Consolas" panose="020B0609020204030204" pitchFamily="49" charset="0"/>
                <a:cs typeface="Courier New" panose="02070309020205020404" pitchFamily="49" charset="0"/>
              </a:rPr>
              <a:t>		</a:t>
            </a:r>
            <a:r>
              <a:rPr lang="en-US" sz="2400" b="1" dirty="0">
                <a:solidFill>
                  <a:schemeClr val="accent6"/>
                </a:solidFill>
                <a:latin typeface="Consolas" panose="020B0609020204030204" pitchFamily="49" charset="0"/>
                <a:cs typeface="Courier New" panose="02070309020205020404" pitchFamily="49" charset="0"/>
              </a:rPr>
              <a:t>'</a:t>
            </a:r>
            <a:r>
              <a:rPr lang="en-US" sz="2400" dirty="0">
                <a:solidFill>
                  <a:schemeClr val="accent6"/>
                </a:solidFill>
                <a:latin typeface="Consolas" panose="020B0609020204030204" pitchFamily="49" charset="0"/>
                <a:cs typeface="Courier New" panose="02070309020205020404" pitchFamily="49" charset="0"/>
              </a:rPr>
              <a:t>Firm!'</a:t>
            </a:r>
            <a:r>
              <a:rPr lang="en-US" sz="2400" dirty="0">
                <a:latin typeface="Consolas" panose="020B0609020204030204" pitchFamily="49" charset="0"/>
                <a:cs typeface="Courier New" panose="02070309020205020404" pitchFamily="49" charset="0"/>
              </a:rPr>
              <a:t> -&gt; No</a:t>
            </a:r>
            <a:endParaRPr lang="en-US" sz="2400" dirty="0"/>
          </a:p>
        </p:txBody>
      </p:sp>
    </p:spTree>
    <p:extLst>
      <p:ext uri="{BB962C8B-B14F-4D97-AF65-F5344CB8AC3E}">
        <p14:creationId xmlns:p14="http://schemas.microsoft.com/office/powerpoint/2010/main" val="3714248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494" y="2057401"/>
            <a:ext cx="5438926" cy="3394472"/>
          </a:xfrm>
        </p:spPr>
        <p:txBody>
          <a:bodyPr>
            <a:noAutofit/>
          </a:bodyPr>
          <a:lstStyle/>
          <a:p>
            <a:pPr marL="0" indent="0">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\s</a:t>
            </a:r>
            <a:r>
              <a:rPr lang="en-US" sz="1800" dirty="0">
                <a:latin typeface="Consolas" panose="020B0609020204030204" pitchFamily="49" charset="0"/>
                <a:cs typeface="Courier New" panose="02070309020205020404" pitchFamily="49" charset="0"/>
              </a:rPr>
              <a:t>	</a:t>
            </a:r>
            <a:r>
              <a:rPr lang="en-US" sz="1800" dirty="0"/>
              <a:t>Whitespace   </a:t>
            </a:r>
          </a:p>
          <a:p>
            <a:pPr marL="0" indent="0">
              <a:buNone/>
            </a:pPr>
            <a:r>
              <a:rPr lang="en-US" sz="1800" dirty="0">
                <a:latin typeface="Consolas" panose="020B0609020204030204" pitchFamily="49" charset="0"/>
                <a:cs typeface="Courier New" panose="02070309020205020404" pitchFamily="49" charset="0"/>
              </a:rPr>
              <a:t>		'Pine</a:t>
            </a:r>
            <a:r>
              <a:rPr lang="en-US" sz="1800" b="1" dirty="0">
                <a:solidFill>
                  <a:schemeClr val="accent1"/>
                </a:solidFill>
                <a:latin typeface="Consolas" panose="020B0609020204030204" pitchFamily="49" charset="0"/>
                <a:cs typeface="Courier New" panose="02070309020205020404" pitchFamily="49" charset="0"/>
              </a:rPr>
              <a:t>\</a:t>
            </a:r>
            <a:r>
              <a:rPr lang="en-US" sz="1800" b="1" dirty="0" err="1">
                <a:solidFill>
                  <a:schemeClr val="accent1"/>
                </a:solidFill>
                <a:latin typeface="Consolas" panose="020B0609020204030204" pitchFamily="49" charset="0"/>
                <a:cs typeface="Courier New" panose="02070309020205020404" pitchFamily="49" charset="0"/>
              </a:rPr>
              <a:t>s</a:t>
            </a:r>
            <a:r>
              <a:rPr lang="en-US" sz="1800" dirty="0" err="1">
                <a:latin typeface="Consolas" panose="020B0609020204030204" pitchFamily="49" charset="0"/>
                <a:cs typeface="Courier New" panose="02070309020205020404" pitchFamily="49" charset="0"/>
              </a:rPr>
              <a:t>apple</a:t>
            </a:r>
            <a:r>
              <a:rPr lang="en-US" sz="1800" dirty="0">
                <a:latin typeface="Consolas" panose="020B0609020204030204" pitchFamily="49" charset="0"/>
                <a:cs typeface="Courier New" panose="02070309020205020404" pitchFamily="49" charset="0"/>
              </a:rPr>
              <a:t>'</a:t>
            </a:r>
            <a:endParaRPr lang="en-US" sz="1800" b="1" dirty="0">
              <a:latin typeface="Consolas" panose="020B0609020204030204" pitchFamily="49" charset="0"/>
              <a:cs typeface="Courier New" panose="02070309020205020404" pitchFamily="49" charset="0"/>
            </a:endParaRP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Pine apple'</a:t>
            </a:r>
            <a:r>
              <a:rPr lang="en-US" sz="1800" dirty="0">
                <a:latin typeface="Consolas" panose="020B0609020204030204" pitchFamily="49" charset="0"/>
                <a:cs typeface="Courier New" panose="02070309020205020404" pitchFamily="49" charset="0"/>
              </a:rPr>
              <a:t>  -&gt; Yes</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Pine\</a:t>
            </a:r>
            <a:r>
              <a:rPr lang="en-US" sz="1800" dirty="0" err="1">
                <a:solidFill>
                  <a:schemeClr val="accent6"/>
                </a:solidFill>
                <a:latin typeface="Consolas" panose="020B0609020204030204" pitchFamily="49" charset="0"/>
                <a:cs typeface="Courier New" panose="02070309020205020404" pitchFamily="49" charset="0"/>
              </a:rPr>
              <a:t>tapple</a:t>
            </a:r>
            <a:r>
              <a:rPr lang="en-US" sz="1800" dirty="0">
                <a:solidFill>
                  <a:schemeClr val="accent6"/>
                </a:solidFill>
                <a:latin typeface="Consolas" panose="020B0609020204030204" pitchFamily="49" charset="0"/>
                <a:cs typeface="Courier New" panose="02070309020205020404" pitchFamily="49" charset="0"/>
              </a:rPr>
              <a:t>'</a:t>
            </a:r>
            <a:r>
              <a:rPr lang="en-US" sz="1800" dirty="0">
                <a:latin typeface="Consolas" panose="020B0609020204030204" pitchFamily="49" charset="0"/>
                <a:cs typeface="Courier New" panose="02070309020205020404" pitchFamily="49" charset="0"/>
              </a:rPr>
              <a:t> -&gt; Yes</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Pineapple'</a:t>
            </a:r>
            <a:r>
              <a:rPr lang="en-US" sz="1800" dirty="0">
                <a:latin typeface="Consolas" panose="020B0609020204030204" pitchFamily="49" charset="0"/>
                <a:cs typeface="Courier New" panose="02070309020205020404" pitchFamily="49" charset="0"/>
              </a:rPr>
              <a:t>   -&gt; No</a:t>
            </a:r>
          </a:p>
          <a:p>
            <a:pPr marL="0" indent="0">
              <a:buNone/>
            </a:pPr>
            <a:endParaRPr lang="en-US" sz="1800" b="1" dirty="0">
              <a:latin typeface="Consolas" panose="020B0609020204030204" pitchFamily="49" charset="0"/>
              <a:cs typeface="Courier New" panose="02070309020205020404" pitchFamily="49" charset="0"/>
            </a:endParaRPr>
          </a:p>
          <a:p>
            <a:pPr marL="0" indent="0">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\S</a:t>
            </a:r>
            <a:r>
              <a:rPr lang="en-US" sz="1800" dirty="0">
                <a:latin typeface="Consolas" panose="020B0609020204030204" pitchFamily="49" charset="0"/>
                <a:cs typeface="Courier New" panose="02070309020205020404" pitchFamily="49" charset="0"/>
              </a:rPr>
              <a:t>	</a:t>
            </a:r>
            <a:r>
              <a:rPr lang="en-US" sz="1800" u="sng" dirty="0"/>
              <a:t>Non</a:t>
            </a:r>
            <a:r>
              <a:rPr lang="en-US" sz="1800" dirty="0"/>
              <a:t>-whitespace </a:t>
            </a:r>
          </a:p>
          <a:p>
            <a:pPr marL="0" indent="0">
              <a:buNone/>
            </a:pPr>
            <a:r>
              <a:rPr lang="en-US" sz="1800" dirty="0">
                <a:latin typeface="Consolas" panose="020B0609020204030204" pitchFamily="49" charset="0"/>
                <a:cs typeface="Courier New" panose="02070309020205020404" pitchFamily="49" charset="0"/>
              </a:rPr>
              <a:t>		'Pine</a:t>
            </a:r>
            <a:r>
              <a:rPr lang="en-US" sz="1800" b="1" dirty="0">
                <a:solidFill>
                  <a:schemeClr val="accent1"/>
                </a:solidFill>
                <a:latin typeface="Consolas" panose="020B0609020204030204" pitchFamily="49" charset="0"/>
                <a:cs typeface="Courier New" panose="02070309020205020404" pitchFamily="49" charset="0"/>
              </a:rPr>
              <a:t>\</a:t>
            </a:r>
            <a:r>
              <a:rPr lang="en-US" sz="1800" b="1" dirty="0" err="1">
                <a:solidFill>
                  <a:schemeClr val="accent1"/>
                </a:solidFill>
                <a:latin typeface="Consolas" panose="020B0609020204030204" pitchFamily="49" charset="0"/>
                <a:cs typeface="Courier New" panose="02070309020205020404" pitchFamily="49" charset="0"/>
              </a:rPr>
              <a:t>S</a:t>
            </a:r>
            <a:r>
              <a:rPr lang="en-US" sz="1800" dirty="0" err="1">
                <a:latin typeface="Consolas" panose="020B0609020204030204" pitchFamily="49" charset="0"/>
                <a:cs typeface="Courier New" panose="02070309020205020404" pitchFamily="49" charset="0"/>
              </a:rPr>
              <a:t>pple</a:t>
            </a:r>
            <a:r>
              <a:rPr lang="en-US" sz="1800" b="1" dirty="0">
                <a:latin typeface="Consolas" panose="020B0609020204030204" pitchFamily="49" charset="0"/>
                <a:cs typeface="Courier New" panose="02070309020205020404" pitchFamily="49" charset="0"/>
              </a:rPr>
              <a:t>'</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Pineapple'</a:t>
            </a:r>
            <a:r>
              <a:rPr lang="en-US" sz="1800" dirty="0">
                <a:latin typeface="Consolas" panose="020B0609020204030204" pitchFamily="49" charset="0"/>
                <a:cs typeface="Courier New" panose="02070309020205020404" pitchFamily="49" charset="0"/>
              </a:rPr>
              <a:t>  -&gt; Yes</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Pine </a:t>
            </a:r>
            <a:r>
              <a:rPr lang="en-US" sz="1800" dirty="0" err="1">
                <a:solidFill>
                  <a:schemeClr val="accent6"/>
                </a:solidFill>
                <a:latin typeface="Consolas" panose="020B0609020204030204" pitchFamily="49" charset="0"/>
                <a:cs typeface="Courier New" panose="02070309020205020404" pitchFamily="49" charset="0"/>
              </a:rPr>
              <a:t>pple</a:t>
            </a:r>
            <a:r>
              <a:rPr lang="en-US" sz="1800" dirty="0">
                <a:solidFill>
                  <a:schemeClr val="accent6"/>
                </a:solidFill>
                <a:latin typeface="Consolas" panose="020B0609020204030204" pitchFamily="49" charset="0"/>
                <a:cs typeface="Courier New" panose="02070309020205020404" pitchFamily="49" charset="0"/>
              </a:rPr>
              <a:t>'</a:t>
            </a:r>
            <a:r>
              <a:rPr lang="en-US" sz="1800" dirty="0">
                <a:latin typeface="Consolas" panose="020B0609020204030204" pitchFamily="49" charset="0"/>
                <a:cs typeface="Courier New" panose="02070309020205020404" pitchFamily="49" charset="0"/>
              </a:rPr>
              <a:t>  -&gt; No</a:t>
            </a:r>
            <a:endParaRPr lang="en-US" sz="1800" dirty="0"/>
          </a:p>
        </p:txBody>
      </p:sp>
      <p:sp>
        <p:nvSpPr>
          <p:cNvPr id="6" name="Content Placeholder 2">
            <a:extLst>
              <a:ext uri="{FF2B5EF4-FFF2-40B4-BE49-F238E27FC236}">
                <a16:creationId xmlns:a16="http://schemas.microsoft.com/office/drawing/2014/main" id="{ED98033C-318E-43B2-AE3D-D75BBB53701E}"/>
              </a:ext>
            </a:extLst>
          </p:cNvPr>
          <p:cNvSpPr txBox="1">
            <a:spLocks/>
          </p:cNvSpPr>
          <p:nvPr/>
        </p:nvSpPr>
        <p:spPr>
          <a:xfrm>
            <a:off x="4835128" y="2057401"/>
            <a:ext cx="3436144" cy="3394472"/>
          </a:xfrm>
          <a:prstGeom prst="rect">
            <a:avLst/>
          </a:prstGeom>
        </p:spPr>
        <p:txBody>
          <a:bodyPr vert="horz" lIns="68580" tIns="34290" rIns="68580" bIns="34290" rtlCol="0">
            <a:noAutofit/>
          </a:bodyPr>
          <a:lstStyle>
            <a:lvl1pPr marL="342900" indent="-342900" algn="l" defTabSz="914400" rtl="0" eaLnBrk="1" latinLnBrk="0" hangingPunct="1">
              <a:spcBef>
                <a:spcPct val="20000"/>
              </a:spcBef>
              <a:buFont typeface="Arial" pitchFamily="34" charset="0"/>
              <a:buChar char="•"/>
              <a:tabLst>
                <a:tab pos="339725" algn="l"/>
              </a:tabLst>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\d</a:t>
            </a:r>
            <a:r>
              <a:rPr lang="en-US" sz="1800" dirty="0"/>
              <a:t>	Digit, 0-9</a:t>
            </a:r>
          </a:p>
          <a:p>
            <a:pPr marL="0" indent="0">
              <a:spcBef>
                <a:spcPts val="500"/>
              </a:spcBef>
              <a:spcAft>
                <a:spcPts val="400"/>
              </a:spcAft>
              <a:buNone/>
            </a:pPr>
            <a:r>
              <a:rPr lang="en-US" sz="1800" dirty="0">
                <a:latin typeface="Consolas" panose="020B0609020204030204" pitchFamily="49" charset="0"/>
                <a:cs typeface="Courier New" panose="02070309020205020404" pitchFamily="49" charset="0"/>
              </a:rPr>
              <a:t>		'Apple </a:t>
            </a:r>
            <a:r>
              <a:rPr lang="en-US" sz="1800" b="1" dirty="0">
                <a:solidFill>
                  <a:schemeClr val="accent1"/>
                </a:solidFill>
                <a:latin typeface="Consolas" panose="020B0609020204030204" pitchFamily="49" charset="0"/>
                <a:cs typeface="Courier New" panose="02070309020205020404" pitchFamily="49" charset="0"/>
              </a:rPr>
              <a:t>\d\d\d</a:t>
            </a:r>
            <a:r>
              <a:rPr lang="en-US" sz="1800" dirty="0">
                <a:latin typeface="Consolas" panose="020B0609020204030204" pitchFamily="49" charset="0"/>
                <a:cs typeface="Courier New" panose="02070309020205020404" pitchFamily="49" charset="0"/>
              </a:rPr>
              <a:t>'</a:t>
            </a:r>
            <a:endParaRPr lang="en-US" sz="1800" b="1" dirty="0">
              <a:latin typeface="Consolas" panose="020B0609020204030204" pitchFamily="49" charset="0"/>
              <a:cs typeface="Courier New" panose="02070309020205020404" pitchFamily="49" charset="0"/>
            </a:endParaRPr>
          </a:p>
          <a:p>
            <a:pPr marL="0" indent="0">
              <a:spcBef>
                <a:spcPts val="500"/>
              </a:spcBef>
              <a:spcAft>
                <a:spcPts val="400"/>
              </a:spcAft>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Apple 123'</a:t>
            </a:r>
            <a:r>
              <a:rPr lang="en-US" sz="1800" dirty="0">
                <a:latin typeface="Consolas" panose="020B0609020204030204" pitchFamily="49" charset="0"/>
                <a:cs typeface="Courier New" panose="02070309020205020404" pitchFamily="49" charset="0"/>
              </a:rPr>
              <a:t>  -&gt; Yes</a:t>
            </a:r>
          </a:p>
          <a:p>
            <a:pPr marL="0" indent="0">
              <a:spcBef>
                <a:spcPts val="500"/>
              </a:spcBef>
              <a:spcAft>
                <a:spcPts val="400"/>
              </a:spcAft>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Apple ABC'</a:t>
            </a:r>
            <a:r>
              <a:rPr lang="en-US" sz="1800" dirty="0">
                <a:latin typeface="Consolas" panose="020B0609020204030204" pitchFamily="49" charset="0"/>
                <a:cs typeface="Courier New" panose="02070309020205020404" pitchFamily="49" charset="0"/>
              </a:rPr>
              <a:t>  -&gt; No</a:t>
            </a:r>
          </a:p>
          <a:p>
            <a:pPr marL="0" indent="0">
              <a:spcBef>
                <a:spcPts val="500"/>
              </a:spcBef>
              <a:spcAft>
                <a:spcPts val="400"/>
              </a:spcAft>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Apple 12C'</a:t>
            </a:r>
            <a:r>
              <a:rPr lang="en-US" sz="1800" dirty="0">
                <a:latin typeface="Consolas" panose="020B0609020204030204" pitchFamily="49" charset="0"/>
                <a:cs typeface="Courier New" panose="02070309020205020404" pitchFamily="49" charset="0"/>
              </a:rPr>
              <a:t>  -&gt; No</a:t>
            </a:r>
          </a:p>
          <a:p>
            <a:pPr marL="0" indent="0">
              <a:buNone/>
            </a:pPr>
            <a:endParaRPr lang="en-US" sz="1800" dirty="0"/>
          </a:p>
          <a:p>
            <a:pPr marL="0" indent="0">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\D</a:t>
            </a:r>
            <a:r>
              <a:rPr lang="en-US" sz="1800" dirty="0">
                <a:latin typeface="Consolas" panose="020B0609020204030204" pitchFamily="49" charset="0"/>
                <a:cs typeface="Courier New" panose="02070309020205020404" pitchFamily="49" charset="0"/>
              </a:rPr>
              <a:t>	</a:t>
            </a:r>
            <a:r>
              <a:rPr lang="en-US" sz="1800" u="sng" dirty="0"/>
              <a:t>Non</a:t>
            </a:r>
            <a:r>
              <a:rPr lang="en-US" sz="1800" dirty="0"/>
              <a:t>-digit</a:t>
            </a:r>
          </a:p>
          <a:p>
            <a:pPr marL="0" indent="0">
              <a:buNone/>
            </a:pPr>
            <a:r>
              <a:rPr lang="en-US" sz="1800" dirty="0">
                <a:latin typeface="Consolas" panose="020B0609020204030204" pitchFamily="49" charset="0"/>
                <a:cs typeface="Courier New" panose="02070309020205020404" pitchFamily="49" charset="0"/>
              </a:rPr>
              <a:t>		'Apple </a:t>
            </a:r>
            <a:r>
              <a:rPr lang="en-US" sz="1800" b="1" dirty="0">
                <a:solidFill>
                  <a:schemeClr val="accent1"/>
                </a:solidFill>
                <a:latin typeface="Consolas" panose="020B0609020204030204" pitchFamily="49" charset="0"/>
                <a:cs typeface="Courier New" panose="02070309020205020404" pitchFamily="49" charset="0"/>
              </a:rPr>
              <a:t>\D\D\D</a:t>
            </a:r>
            <a:r>
              <a:rPr lang="en-US" sz="1800" dirty="0">
                <a:latin typeface="Consolas" panose="020B0609020204030204" pitchFamily="49" charset="0"/>
                <a:cs typeface="Courier New" panose="02070309020205020404" pitchFamily="49" charset="0"/>
              </a:rPr>
              <a:t>'</a:t>
            </a:r>
            <a:endParaRPr lang="en-US" sz="1800" b="1" dirty="0">
              <a:latin typeface="Consolas" panose="020B0609020204030204" pitchFamily="49" charset="0"/>
              <a:cs typeface="Courier New" panose="02070309020205020404" pitchFamily="49" charset="0"/>
            </a:endParaRP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Apple ABC'</a:t>
            </a:r>
            <a:r>
              <a:rPr lang="en-US" sz="1800" dirty="0">
                <a:latin typeface="Consolas" panose="020B0609020204030204" pitchFamily="49" charset="0"/>
                <a:cs typeface="Courier New" panose="02070309020205020404" pitchFamily="49" charset="0"/>
              </a:rPr>
              <a:t>  -&gt; Yes</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Apple 123'</a:t>
            </a:r>
            <a:r>
              <a:rPr lang="en-US" sz="1800" dirty="0">
                <a:latin typeface="Consolas" panose="020B0609020204030204" pitchFamily="49" charset="0"/>
                <a:cs typeface="Courier New" panose="02070309020205020404" pitchFamily="49" charset="0"/>
              </a:rPr>
              <a:t>  -&gt; No</a:t>
            </a:r>
          </a:p>
          <a:p>
            <a:pPr marL="0" indent="0">
              <a:buNone/>
            </a:pPr>
            <a:endParaRPr lang="en-US" sz="1800" dirty="0"/>
          </a:p>
        </p:txBody>
      </p:sp>
      <p:sp>
        <p:nvSpPr>
          <p:cNvPr id="8" name="Title 1">
            <a:extLst>
              <a:ext uri="{FF2B5EF4-FFF2-40B4-BE49-F238E27FC236}">
                <a16:creationId xmlns:a16="http://schemas.microsoft.com/office/drawing/2014/main" id="{DA45CF2F-51FB-4CEA-319E-B77BE5824533}"/>
              </a:ext>
            </a:extLst>
          </p:cNvPr>
          <p:cNvSpPr>
            <a:spLocks noGrp="1"/>
          </p:cNvSpPr>
          <p:nvPr>
            <p:ph type="title"/>
          </p:nvPr>
        </p:nvSpPr>
        <p:spPr/>
        <p:txBody>
          <a:bodyPr vert="horz" lIns="91440" tIns="45720" rIns="91440" bIns="45720" rtlCol="0" anchor="ctr">
            <a:normAutofit/>
          </a:bodyPr>
          <a:lstStyle/>
          <a:p>
            <a:r>
              <a:rPr lang="en-US" b="0" dirty="0"/>
              <a:t>Symbols for matching single char</a:t>
            </a:r>
          </a:p>
        </p:txBody>
      </p:sp>
      <p:sp>
        <p:nvSpPr>
          <p:cNvPr id="2" name="TextBox 1">
            <a:extLst>
              <a:ext uri="{FF2B5EF4-FFF2-40B4-BE49-F238E27FC236}">
                <a16:creationId xmlns:a16="http://schemas.microsoft.com/office/drawing/2014/main" id="{9B6325BF-DFAF-E7F6-EB47-00554E6EC22B}"/>
              </a:ext>
            </a:extLst>
          </p:cNvPr>
          <p:cNvSpPr txBox="1"/>
          <p:nvPr/>
        </p:nvSpPr>
        <p:spPr>
          <a:xfrm>
            <a:off x="1184072" y="6005593"/>
            <a:ext cx="8046720" cy="400110"/>
          </a:xfrm>
          <a:prstGeom prst="rect">
            <a:avLst/>
          </a:prstGeom>
          <a:noFill/>
        </p:spPr>
        <p:txBody>
          <a:bodyPr wrap="square">
            <a:spAutoFit/>
          </a:bodyPr>
          <a:lstStyle/>
          <a:p>
            <a:pPr algn="l">
              <a:defRPr sz="1800" b="1">
                <a:solidFill>
                  <a:srgbClr val="4C72B0"/>
                </a:solidFill>
                <a:latin typeface="Latin Modern Sans"/>
              </a:defRPr>
            </a:pPr>
            <a:r>
              <a:rPr sz="2000" dirty="0"/>
              <a:t>Example:  \d{4}  matches exactly four digits (e.g., a year)</a:t>
            </a:r>
          </a:p>
        </p:txBody>
      </p:sp>
    </p:spTree>
    <p:extLst>
      <p:ext uri="{BB962C8B-B14F-4D97-AF65-F5344CB8AC3E}">
        <p14:creationId xmlns:p14="http://schemas.microsoft.com/office/powerpoint/2010/main" val="247397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5112" y="2077132"/>
            <a:ext cx="5555845" cy="4320250"/>
          </a:xfrm>
        </p:spPr>
        <p:txBody>
          <a:bodyPr>
            <a:noAutofit/>
          </a:bodyPr>
          <a:lstStyle/>
          <a:p>
            <a:pPr marL="0" indent="0">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\w</a:t>
            </a:r>
            <a:r>
              <a:rPr lang="en-US" sz="1800" dirty="0">
                <a:latin typeface="Consolas" panose="020B0609020204030204" pitchFamily="49" charset="0"/>
                <a:cs typeface="Courier New" panose="02070309020205020404" pitchFamily="49" charset="0"/>
              </a:rPr>
              <a:t>	</a:t>
            </a:r>
            <a:r>
              <a:rPr lang="en-US" sz="1800" dirty="0"/>
              <a:t>"word” or “regular” character</a:t>
            </a:r>
            <a:br>
              <a:rPr lang="en-US" sz="1800" dirty="0"/>
            </a:br>
            <a:r>
              <a:rPr lang="en-US" sz="1800" dirty="0"/>
              <a:t>		(letter, digit, underscore: [a-zA-Z0-9_]</a:t>
            </a:r>
          </a:p>
          <a:p>
            <a:pPr marL="0" indent="0">
              <a:buNone/>
            </a:pPr>
            <a:r>
              <a:rPr lang="en-US" sz="1800" dirty="0">
                <a:latin typeface="Consolas" panose="020B0609020204030204" pitchFamily="49" charset="0"/>
                <a:cs typeface="Courier New" panose="02070309020205020404" pitchFamily="49" charset="0"/>
              </a:rPr>
              <a:t>		'cat</a:t>
            </a:r>
            <a:r>
              <a:rPr lang="en-US" sz="1800" b="1" dirty="0">
                <a:solidFill>
                  <a:schemeClr val="accent1"/>
                </a:solidFill>
                <a:latin typeface="Consolas" panose="020B0609020204030204" pitchFamily="49" charset="0"/>
                <a:cs typeface="Courier New" panose="02070309020205020404" pitchFamily="49" charset="0"/>
              </a:rPr>
              <a:t>\w</a:t>
            </a:r>
            <a:r>
              <a:rPr lang="en-US" sz="1800" dirty="0">
                <a:latin typeface="Consolas" panose="020B0609020204030204" pitchFamily="49" charset="0"/>
                <a:cs typeface="Courier New" panose="02070309020205020404" pitchFamily="49" charset="0"/>
              </a:rPr>
              <a:t>'</a:t>
            </a:r>
            <a:endParaRPr lang="en-US" sz="1800" b="1" dirty="0">
              <a:latin typeface="Consolas" panose="020B0609020204030204" pitchFamily="49" charset="0"/>
              <a:cs typeface="Courier New" panose="02070309020205020404" pitchFamily="49" charset="0"/>
            </a:endParaRP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cats'</a:t>
            </a:r>
            <a:r>
              <a:rPr lang="en-US" sz="1800" dirty="0">
                <a:latin typeface="Consolas" panose="020B0609020204030204" pitchFamily="49" charset="0"/>
                <a:cs typeface="Courier New" panose="02070309020205020404" pitchFamily="49" charset="0"/>
              </a:rPr>
              <a:t>  -&gt; Yes</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cat3'</a:t>
            </a:r>
            <a:r>
              <a:rPr lang="en-US" sz="1800" dirty="0">
                <a:latin typeface="Consolas" panose="020B0609020204030204" pitchFamily="49" charset="0"/>
                <a:cs typeface="Courier New" panose="02070309020205020404" pitchFamily="49" charset="0"/>
              </a:rPr>
              <a:t>  -&gt; Yes</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a:t>
            </a:r>
            <a:r>
              <a:rPr lang="en-US" sz="1800" dirty="0">
                <a:latin typeface="Consolas" panose="020B0609020204030204" pitchFamily="49" charset="0"/>
                <a:cs typeface="Courier New" panose="02070309020205020404" pitchFamily="49" charset="0"/>
              </a:rPr>
              <a:t>  -&gt; No</a:t>
            </a:r>
          </a:p>
          <a:p>
            <a:pPr marL="0" indent="0">
              <a:buNone/>
            </a:pPr>
            <a:endParaRPr lang="en-US" sz="1800" b="1" dirty="0">
              <a:latin typeface="Consolas" panose="020B0609020204030204" pitchFamily="49" charset="0"/>
              <a:cs typeface="Courier New" panose="02070309020205020404" pitchFamily="49" charset="0"/>
            </a:endParaRPr>
          </a:p>
          <a:p>
            <a:pPr marL="0" indent="0">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\W</a:t>
            </a:r>
            <a:r>
              <a:rPr lang="en-US" sz="1800" dirty="0">
                <a:latin typeface="Consolas" panose="020B0609020204030204" pitchFamily="49" charset="0"/>
                <a:cs typeface="Courier New" panose="02070309020205020404" pitchFamily="49" charset="0"/>
              </a:rPr>
              <a:t>	</a:t>
            </a:r>
            <a:r>
              <a:rPr lang="en-US" sz="1800" u="sng" dirty="0"/>
              <a:t>Non</a:t>
            </a:r>
            <a:r>
              <a:rPr lang="en-US" sz="1800" dirty="0"/>
              <a:t>-"word" character</a:t>
            </a:r>
          </a:p>
          <a:p>
            <a:pPr marL="0" indent="0">
              <a:buNone/>
            </a:pPr>
            <a:r>
              <a:rPr lang="en-US" sz="1800" dirty="0">
                <a:latin typeface="Consolas" panose="020B0609020204030204" pitchFamily="49" charset="0"/>
                <a:cs typeface="Courier New" panose="02070309020205020404" pitchFamily="49" charset="0"/>
              </a:rPr>
              <a:t>		'cat</a:t>
            </a:r>
            <a:r>
              <a:rPr lang="en-US" sz="1800" b="1" dirty="0">
                <a:solidFill>
                  <a:schemeClr val="accent1"/>
                </a:solidFill>
                <a:latin typeface="Consolas" panose="020B0609020204030204" pitchFamily="49" charset="0"/>
                <a:cs typeface="Courier New" panose="02070309020205020404" pitchFamily="49" charset="0"/>
              </a:rPr>
              <a:t>\W</a:t>
            </a:r>
            <a:r>
              <a:rPr lang="en-US" sz="1800" b="1" dirty="0">
                <a:latin typeface="Consolas" panose="020B0609020204030204" pitchFamily="49" charset="0"/>
                <a:cs typeface="Courier New" panose="02070309020205020404" pitchFamily="49" charset="0"/>
              </a:rPr>
              <a:t>'</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cats'</a:t>
            </a:r>
            <a:r>
              <a:rPr lang="en-US" sz="1800" dirty="0">
                <a:latin typeface="Consolas" panose="020B0609020204030204" pitchFamily="49" charset="0"/>
                <a:cs typeface="Courier New" panose="02070309020205020404" pitchFamily="49" charset="0"/>
              </a:rPr>
              <a:t>  -&gt; No</a:t>
            </a:r>
          </a:p>
          <a:p>
            <a:pPr marL="0" indent="0">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a:t>
            </a:r>
            <a:r>
              <a:rPr lang="en-US" sz="1800" dirty="0">
                <a:latin typeface="Consolas" panose="020B0609020204030204" pitchFamily="49" charset="0"/>
                <a:cs typeface="Courier New" panose="02070309020205020404" pitchFamily="49" charset="0"/>
              </a:rPr>
              <a:t>  -&gt; Yes</a:t>
            </a:r>
            <a:endParaRPr lang="en-US" sz="1800" dirty="0"/>
          </a:p>
        </p:txBody>
      </p:sp>
      <p:sp>
        <p:nvSpPr>
          <p:cNvPr id="6" name="Content Placeholder 2">
            <a:extLst>
              <a:ext uri="{FF2B5EF4-FFF2-40B4-BE49-F238E27FC236}">
                <a16:creationId xmlns:a16="http://schemas.microsoft.com/office/drawing/2014/main" id="{ED98033C-318E-43B2-AE3D-D75BBB53701E}"/>
              </a:ext>
            </a:extLst>
          </p:cNvPr>
          <p:cNvSpPr txBox="1">
            <a:spLocks/>
          </p:cNvSpPr>
          <p:nvPr/>
        </p:nvSpPr>
        <p:spPr>
          <a:xfrm>
            <a:off x="4835128" y="2057401"/>
            <a:ext cx="3680222" cy="3394472"/>
          </a:xfrm>
          <a:prstGeom prst="rect">
            <a:avLst/>
          </a:prstGeom>
        </p:spPr>
        <p:txBody>
          <a:bodyPr vert="horz" lIns="68580" tIns="34290" rIns="68580" bIns="34290" rtlCol="0">
            <a:noAutofit/>
          </a:bodyPr>
          <a:lstStyle>
            <a:lvl1pPr marL="342900" indent="-342900" algn="l" defTabSz="914400" rtl="0" eaLnBrk="1" latinLnBrk="0" hangingPunct="1">
              <a:spcBef>
                <a:spcPct val="20000"/>
              </a:spcBef>
              <a:buFont typeface="Arial" pitchFamily="34" charset="0"/>
              <a:buChar char="•"/>
              <a:tabLst>
                <a:tab pos="339725" algn="l"/>
              </a:tabLst>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\b</a:t>
            </a:r>
            <a:r>
              <a:rPr lang="en-US" sz="1800" dirty="0"/>
              <a:t>	word boundary</a:t>
            </a:r>
            <a:br>
              <a:rPr lang="en-US" sz="1800" dirty="0"/>
            </a:br>
            <a:r>
              <a:rPr lang="en-US" sz="1800" dirty="0"/>
              <a:t>		(beginning or end of word)</a:t>
            </a:r>
          </a:p>
          <a:p>
            <a:pPr marL="0" indent="0">
              <a:spcBef>
                <a:spcPts val="600"/>
              </a:spcBef>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a:t>
            </a:r>
            <a:r>
              <a:rPr lang="en-US" sz="1800" b="1" dirty="0" err="1">
                <a:solidFill>
                  <a:schemeClr val="accent1"/>
                </a:solidFill>
                <a:latin typeface="Consolas" panose="020B0609020204030204" pitchFamily="49" charset="0"/>
                <a:cs typeface="Courier New" panose="02070309020205020404" pitchFamily="49" charset="0"/>
              </a:rPr>
              <a:t>b</a:t>
            </a:r>
            <a:r>
              <a:rPr lang="en-US" sz="1800" dirty="0" err="1">
                <a:latin typeface="Consolas" panose="020B0609020204030204" pitchFamily="49" charset="0"/>
                <a:cs typeface="Courier New" panose="02070309020205020404" pitchFamily="49" charset="0"/>
              </a:rPr>
              <a:t>cat</a:t>
            </a:r>
            <a:r>
              <a:rPr lang="en-US" sz="1800" b="1" dirty="0">
                <a:solidFill>
                  <a:schemeClr val="accent1"/>
                </a:solidFill>
                <a:latin typeface="Consolas" panose="020B0609020204030204" pitchFamily="49" charset="0"/>
                <a:cs typeface="Courier New" panose="02070309020205020404" pitchFamily="49" charset="0"/>
              </a:rPr>
              <a:t>\b</a:t>
            </a:r>
            <a:r>
              <a:rPr lang="en-US" sz="1800" dirty="0">
                <a:latin typeface="Consolas" panose="020B0609020204030204" pitchFamily="49" charset="0"/>
                <a:cs typeface="Courier New" panose="02070309020205020404" pitchFamily="49" charset="0"/>
              </a:rPr>
              <a:t>'</a:t>
            </a:r>
            <a:endParaRPr lang="en-US" sz="1800" b="1" dirty="0">
              <a:latin typeface="Consolas" panose="020B0609020204030204" pitchFamily="49" charset="0"/>
              <a:cs typeface="Courier New" panose="02070309020205020404" pitchFamily="49" charset="0"/>
            </a:endParaRPr>
          </a:p>
          <a:p>
            <a:pPr marL="0" indent="0">
              <a:spcBef>
                <a:spcPts val="600"/>
              </a:spcBef>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cats'</a:t>
            </a:r>
            <a:r>
              <a:rPr lang="en-US" sz="1800" dirty="0">
                <a:latin typeface="Consolas" panose="020B0609020204030204" pitchFamily="49" charset="0"/>
                <a:cs typeface="Courier New" panose="02070309020205020404" pitchFamily="49" charset="0"/>
              </a:rPr>
              <a:t>  -&gt; No</a:t>
            </a:r>
          </a:p>
          <a:p>
            <a:pPr marL="0" indent="0">
              <a:spcBef>
                <a:spcPts val="600"/>
              </a:spcBef>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cat3'</a:t>
            </a:r>
            <a:r>
              <a:rPr lang="en-US" sz="1800" dirty="0">
                <a:latin typeface="Consolas" panose="020B0609020204030204" pitchFamily="49" charset="0"/>
                <a:cs typeface="Courier New" panose="02070309020205020404" pitchFamily="49" charset="0"/>
              </a:rPr>
              <a:t>  -&gt; No</a:t>
            </a:r>
          </a:p>
          <a:p>
            <a:pPr marL="0" indent="0">
              <a:spcBef>
                <a:spcPts val="600"/>
              </a:spcBef>
              <a:spcAft>
                <a:spcPts val="600"/>
              </a:spcAft>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a:t>
            </a:r>
            <a:r>
              <a:rPr lang="en-US" sz="1800" dirty="0">
                <a:latin typeface="Consolas" panose="020B0609020204030204" pitchFamily="49" charset="0"/>
                <a:cs typeface="Courier New" panose="02070309020205020404" pitchFamily="49" charset="0"/>
              </a:rPr>
              <a:t>  -&gt; Yes</a:t>
            </a:r>
            <a:endParaRPr lang="en-US" sz="1800" dirty="0"/>
          </a:p>
          <a:p>
            <a:pPr marL="0" indent="0">
              <a:buNone/>
            </a:pPr>
            <a:endParaRPr lang="en-US" sz="1800" dirty="0"/>
          </a:p>
          <a:p>
            <a:pPr marL="0" indent="0">
              <a:spcBef>
                <a:spcPts val="600"/>
              </a:spcBef>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\B</a:t>
            </a:r>
            <a:r>
              <a:rPr lang="en-US" sz="1800" dirty="0">
                <a:latin typeface="Consolas" panose="020B0609020204030204" pitchFamily="49" charset="0"/>
                <a:cs typeface="Courier New" panose="02070309020205020404" pitchFamily="49" charset="0"/>
              </a:rPr>
              <a:t>	</a:t>
            </a:r>
            <a:r>
              <a:rPr lang="en-US" sz="1800" u="sng" dirty="0"/>
              <a:t>Not</a:t>
            </a:r>
            <a:r>
              <a:rPr lang="en-US" sz="1800" dirty="0"/>
              <a:t> beginning/end of word</a:t>
            </a:r>
          </a:p>
          <a:p>
            <a:pPr marL="0" indent="0">
              <a:spcBef>
                <a:spcPts val="600"/>
              </a:spcBef>
              <a:buNone/>
            </a:pPr>
            <a:r>
              <a:rPr lang="en-US" sz="1800" dirty="0">
                <a:latin typeface="Consolas" panose="020B0609020204030204" pitchFamily="49" charset="0"/>
                <a:cs typeface="Courier New" panose="02070309020205020404" pitchFamily="49" charset="0"/>
              </a:rPr>
              <a:t>		'</a:t>
            </a:r>
            <a:r>
              <a:rPr lang="en-US" sz="1800" b="1" dirty="0">
                <a:solidFill>
                  <a:schemeClr val="accent1"/>
                </a:solidFill>
                <a:latin typeface="Consolas" panose="020B0609020204030204" pitchFamily="49" charset="0"/>
                <a:cs typeface="Courier New" panose="02070309020205020404" pitchFamily="49" charset="0"/>
              </a:rPr>
              <a:t>\</a:t>
            </a:r>
            <a:r>
              <a:rPr lang="en-US" sz="1800" b="1" dirty="0" err="1">
                <a:solidFill>
                  <a:schemeClr val="accent1"/>
                </a:solidFill>
                <a:latin typeface="Consolas" panose="020B0609020204030204" pitchFamily="49" charset="0"/>
                <a:cs typeface="Courier New" panose="02070309020205020404" pitchFamily="49" charset="0"/>
              </a:rPr>
              <a:t>B</a:t>
            </a:r>
            <a:r>
              <a:rPr lang="en-US" sz="1800" dirty="0" err="1">
                <a:latin typeface="Consolas" panose="020B0609020204030204" pitchFamily="49" charset="0"/>
                <a:cs typeface="Courier New" panose="02070309020205020404" pitchFamily="49" charset="0"/>
              </a:rPr>
              <a:t>cat</a:t>
            </a:r>
            <a:r>
              <a:rPr lang="en-US" sz="1800" b="1" dirty="0">
                <a:solidFill>
                  <a:schemeClr val="accent1"/>
                </a:solidFill>
                <a:latin typeface="Consolas" panose="020B0609020204030204" pitchFamily="49" charset="0"/>
                <a:cs typeface="Courier New" panose="02070309020205020404" pitchFamily="49" charset="0"/>
              </a:rPr>
              <a:t>\B</a:t>
            </a:r>
            <a:r>
              <a:rPr lang="en-US" sz="1800" dirty="0">
                <a:latin typeface="Consolas" panose="020B0609020204030204" pitchFamily="49" charset="0"/>
                <a:cs typeface="Courier New" panose="02070309020205020404" pitchFamily="49" charset="0"/>
              </a:rPr>
              <a:t>'</a:t>
            </a:r>
            <a:endParaRPr lang="en-US" sz="1800" b="1" dirty="0">
              <a:latin typeface="Consolas" panose="020B0609020204030204" pitchFamily="49" charset="0"/>
              <a:cs typeface="Courier New" panose="02070309020205020404" pitchFamily="49" charset="0"/>
            </a:endParaRPr>
          </a:p>
          <a:p>
            <a:pPr marL="0" indent="0">
              <a:spcBef>
                <a:spcPts val="600"/>
              </a:spcBef>
              <a:buNone/>
            </a:pPr>
            <a:r>
              <a:rPr lang="en-US" sz="1800" dirty="0">
                <a:solidFill>
                  <a:schemeClr val="accent1"/>
                </a:solidFill>
                <a:latin typeface="Consolas" panose="020B0609020204030204" pitchFamily="49" charset="0"/>
                <a:cs typeface="Courier New" panose="02070309020205020404" pitchFamily="49" charset="0"/>
              </a:rPr>
              <a:t>		</a:t>
            </a:r>
            <a:r>
              <a:rPr lang="en-US" sz="1800" b="1" dirty="0">
                <a:solidFill>
                  <a:schemeClr val="accent6"/>
                </a:solidFill>
                <a:latin typeface="Consolas" panose="020B0609020204030204" pitchFamily="49" charset="0"/>
                <a:cs typeface="Courier New" panose="02070309020205020404" pitchFamily="49" charset="0"/>
              </a:rPr>
              <a:t>'</a:t>
            </a:r>
            <a:r>
              <a:rPr lang="en-US" sz="1800" dirty="0">
                <a:solidFill>
                  <a:schemeClr val="accent6"/>
                </a:solidFill>
                <a:latin typeface="Consolas" panose="020B0609020204030204" pitchFamily="49" charset="0"/>
                <a:cs typeface="Courier New" panose="02070309020205020404" pitchFamily="49" charset="0"/>
              </a:rPr>
              <a:t>cats'</a:t>
            </a:r>
            <a:r>
              <a:rPr lang="en-US" sz="1800" dirty="0">
                <a:latin typeface="Consolas" panose="020B0609020204030204" pitchFamily="49" charset="0"/>
                <a:cs typeface="Courier New" panose="02070309020205020404" pitchFamily="49" charset="0"/>
              </a:rPr>
              <a:t>      -&gt; No</a:t>
            </a:r>
          </a:p>
          <a:p>
            <a:pPr marL="0" indent="0">
              <a:spcBef>
                <a:spcPts val="600"/>
              </a:spcBef>
              <a:buNone/>
            </a:pPr>
            <a:r>
              <a:rPr lang="en-US" sz="1800" dirty="0">
                <a:solidFill>
                  <a:schemeClr val="accent1"/>
                </a:solidFill>
                <a:latin typeface="Consolas" panose="020B0609020204030204" pitchFamily="49" charset="0"/>
                <a:cs typeface="Courier New" panose="02070309020205020404" pitchFamily="49" charset="0"/>
              </a:rPr>
              <a:t>		</a:t>
            </a:r>
            <a:r>
              <a:rPr lang="en-US" sz="1800" dirty="0">
                <a:solidFill>
                  <a:schemeClr val="accent6"/>
                </a:solidFill>
                <a:latin typeface="Consolas" panose="020B0609020204030204" pitchFamily="49" charset="0"/>
                <a:cs typeface="Courier New" panose="02070309020205020404" pitchFamily="49" charset="0"/>
              </a:rPr>
              <a:t>'meercats'</a:t>
            </a:r>
            <a:r>
              <a:rPr lang="en-US" sz="1800" dirty="0">
                <a:latin typeface="Consolas" panose="020B0609020204030204" pitchFamily="49" charset="0"/>
                <a:cs typeface="Courier New" panose="02070309020205020404" pitchFamily="49" charset="0"/>
              </a:rPr>
              <a:t>  -&gt; Yes</a:t>
            </a:r>
            <a:endParaRPr lang="en-US" sz="1800" dirty="0"/>
          </a:p>
          <a:p>
            <a:pPr marL="0" indent="0">
              <a:buNone/>
            </a:pPr>
            <a:endParaRPr lang="en-US" sz="1800" dirty="0"/>
          </a:p>
        </p:txBody>
      </p:sp>
      <p:sp>
        <p:nvSpPr>
          <p:cNvPr id="8" name="Title 1">
            <a:extLst>
              <a:ext uri="{FF2B5EF4-FFF2-40B4-BE49-F238E27FC236}">
                <a16:creationId xmlns:a16="http://schemas.microsoft.com/office/drawing/2014/main" id="{64E25F08-4A3D-A65F-6978-D2F46C2EBB48}"/>
              </a:ext>
            </a:extLst>
          </p:cNvPr>
          <p:cNvSpPr>
            <a:spLocks noGrp="1"/>
          </p:cNvSpPr>
          <p:nvPr>
            <p:ph type="title"/>
          </p:nvPr>
        </p:nvSpPr>
        <p:spPr>
          <a:xfrm>
            <a:off x="628650" y="365126"/>
            <a:ext cx="7886700" cy="1325563"/>
          </a:xfrm>
        </p:spPr>
        <p:txBody>
          <a:bodyPr vert="horz" lIns="91440" tIns="45720" rIns="91440" bIns="45720" rtlCol="0" anchor="ctr">
            <a:normAutofit/>
          </a:bodyPr>
          <a:lstStyle/>
          <a:p>
            <a:r>
              <a:rPr lang="en-US" b="0" dirty="0"/>
              <a:t>Symbols for matching single char</a:t>
            </a:r>
          </a:p>
        </p:txBody>
      </p:sp>
    </p:spTree>
    <p:extLst>
      <p:ext uri="{BB962C8B-B14F-4D97-AF65-F5344CB8AC3E}">
        <p14:creationId xmlns:p14="http://schemas.microsoft.com/office/powerpoint/2010/main" val="3891525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625" y="2057401"/>
            <a:ext cx="7419009" cy="3394472"/>
          </a:xfrm>
        </p:spPr>
        <p:txBody>
          <a:bodyPr>
            <a:noAutofit/>
          </a:bodyPr>
          <a:lstStyle/>
          <a:p>
            <a:pPr marL="0" indent="0">
              <a:buNone/>
            </a:pPr>
            <a:r>
              <a:rPr lang="en-US" sz="2000" dirty="0">
                <a:latin typeface="Consolas" panose="020B0609020204030204" pitchFamily="49" charset="0"/>
                <a:cs typeface="Courier New" panose="02070309020205020404" pitchFamily="49" charset="0"/>
              </a:rPr>
              <a:t>	</a:t>
            </a:r>
            <a:r>
              <a:rPr lang="en-US" sz="2000" b="1" dirty="0">
                <a:solidFill>
                  <a:schemeClr val="accent1"/>
                </a:solidFill>
                <a:latin typeface="Consolas" panose="020B0609020204030204" pitchFamily="49" charset="0"/>
                <a:cs typeface="Courier New" panose="02070309020205020404" pitchFamily="49" charset="0"/>
              </a:rPr>
              <a:t>^</a:t>
            </a:r>
            <a:r>
              <a:rPr lang="en-US" sz="2000" dirty="0">
                <a:latin typeface="Consolas" panose="020B0609020204030204" pitchFamily="49" charset="0"/>
                <a:cs typeface="Courier New" panose="02070309020205020404" pitchFamily="49" charset="0"/>
              </a:rPr>
              <a:t>	</a:t>
            </a:r>
            <a:r>
              <a:rPr lang="en-US" sz="2000" dirty="0"/>
              <a:t>Beginning of a line</a:t>
            </a:r>
            <a:endParaRPr lang="en-US" sz="2000" dirty="0">
              <a:latin typeface="Consolas" panose="020B0609020204030204" pitchFamily="49" charset="0"/>
              <a:cs typeface="Courier New" panose="02070309020205020404" pitchFamily="49" charset="0"/>
            </a:endParaRPr>
          </a:p>
          <a:p>
            <a:pPr marL="0" indent="0">
              <a:buNone/>
            </a:pPr>
            <a:r>
              <a:rPr lang="en-US" sz="2000" dirty="0">
                <a:latin typeface="Consolas" panose="020B0609020204030204" pitchFamily="49" charset="0"/>
                <a:cs typeface="Courier New" panose="02070309020205020404" pitchFamily="49" charset="0"/>
              </a:rPr>
              <a:t>		'</a:t>
            </a:r>
            <a:r>
              <a:rPr lang="en-US" sz="2000" b="1" dirty="0">
                <a:solidFill>
                  <a:schemeClr val="accent1"/>
                </a:solidFill>
                <a:latin typeface="Consolas" panose="020B0609020204030204" pitchFamily="49" charset="0"/>
                <a:cs typeface="Courier New" panose="02070309020205020404" pitchFamily="49" charset="0"/>
              </a:rPr>
              <a:t>^</a:t>
            </a:r>
            <a:r>
              <a:rPr lang="en-US" sz="2000" dirty="0">
                <a:latin typeface="Consolas" panose="020B0609020204030204" pitchFamily="49" charset="0"/>
                <a:cs typeface="Courier New" panose="02070309020205020404" pitchFamily="49" charset="0"/>
              </a:rPr>
              <a:t>From:'</a:t>
            </a:r>
          </a:p>
          <a:p>
            <a:pPr marL="0" indent="0">
              <a:buNone/>
            </a:pPr>
            <a:r>
              <a:rPr lang="en-US" sz="2000" dirty="0">
                <a:solidFill>
                  <a:schemeClr val="accent1"/>
                </a:solidFill>
                <a:latin typeface="Consolas" panose="020B0609020204030204" pitchFamily="49" charset="0"/>
                <a:cs typeface="Courier New" panose="02070309020205020404" pitchFamily="49" charset="0"/>
              </a:rPr>
              <a:t>		</a:t>
            </a:r>
            <a:r>
              <a:rPr lang="en-US" sz="2000" b="1" dirty="0">
                <a:solidFill>
                  <a:schemeClr val="accent6"/>
                </a:solidFill>
                <a:latin typeface="Consolas" panose="020B0609020204030204" pitchFamily="49" charset="0"/>
                <a:cs typeface="Courier New" panose="02070309020205020404" pitchFamily="49" charset="0"/>
              </a:rPr>
              <a:t>'</a:t>
            </a:r>
            <a:r>
              <a:rPr lang="en-US" sz="2000" dirty="0">
                <a:solidFill>
                  <a:schemeClr val="accent6"/>
                </a:solidFill>
                <a:latin typeface="Consolas" panose="020B0609020204030204" pitchFamily="49" charset="0"/>
                <a:cs typeface="Courier New" panose="02070309020205020404" pitchFamily="49" charset="0"/>
              </a:rPr>
              <a:t>From: Matt’</a:t>
            </a:r>
            <a:r>
              <a:rPr lang="en-US" sz="2000" dirty="0">
                <a:latin typeface="Consolas" panose="020B0609020204030204" pitchFamily="49" charset="0"/>
                <a:cs typeface="Courier New" panose="02070309020205020404" pitchFamily="49" charset="0"/>
              </a:rPr>
              <a:t>       -&gt; Yes</a:t>
            </a:r>
          </a:p>
          <a:p>
            <a:pPr marL="0" indent="0">
              <a:buNone/>
            </a:pPr>
            <a:r>
              <a:rPr lang="en-US" sz="2000" dirty="0">
                <a:solidFill>
                  <a:schemeClr val="accent1"/>
                </a:solidFill>
                <a:latin typeface="Consolas" panose="020B0609020204030204" pitchFamily="49" charset="0"/>
                <a:cs typeface="Courier New" panose="02070309020205020404" pitchFamily="49" charset="0"/>
              </a:rPr>
              <a:t>		</a:t>
            </a:r>
            <a:r>
              <a:rPr lang="en-US" sz="2000" b="1" dirty="0">
                <a:solidFill>
                  <a:schemeClr val="accent6"/>
                </a:solidFill>
                <a:latin typeface="Consolas" panose="020B0609020204030204" pitchFamily="49" charset="0"/>
                <a:cs typeface="Courier New" panose="02070309020205020404" pitchFamily="49" charset="0"/>
              </a:rPr>
              <a:t>'</a:t>
            </a:r>
            <a:r>
              <a:rPr lang="en-US" sz="2000" dirty="0">
                <a:solidFill>
                  <a:schemeClr val="accent6"/>
                </a:solidFill>
                <a:latin typeface="Consolas" panose="020B0609020204030204" pitchFamily="49" charset="0"/>
                <a:cs typeface="Courier New" panose="02070309020205020404" pitchFamily="49" charset="0"/>
              </a:rPr>
              <a:t>It said, From: …'</a:t>
            </a:r>
            <a:r>
              <a:rPr lang="en-US" sz="2000" dirty="0">
                <a:latin typeface="Consolas" panose="020B0609020204030204" pitchFamily="49" charset="0"/>
                <a:cs typeface="Courier New" panose="02070309020205020404" pitchFamily="49" charset="0"/>
              </a:rPr>
              <a:t> -&gt; No</a:t>
            </a:r>
          </a:p>
          <a:p>
            <a:pPr marL="0" indent="0">
              <a:buNone/>
            </a:pPr>
            <a:endParaRPr lang="en-US" sz="2000" dirty="0">
              <a:latin typeface="Consolas" panose="020B0609020204030204" pitchFamily="49" charset="0"/>
              <a:cs typeface="Courier New" panose="02070309020205020404" pitchFamily="49" charset="0"/>
            </a:endParaRPr>
          </a:p>
          <a:p>
            <a:pPr marL="0" indent="0">
              <a:buNone/>
            </a:pPr>
            <a:r>
              <a:rPr lang="en-US" sz="2000" dirty="0">
                <a:latin typeface="Consolas" panose="020B0609020204030204" pitchFamily="49" charset="0"/>
                <a:cs typeface="Courier New" panose="02070309020205020404" pitchFamily="49" charset="0"/>
              </a:rPr>
              <a:t>	</a:t>
            </a:r>
            <a:r>
              <a:rPr lang="en-US" sz="2000" b="1" dirty="0">
                <a:solidFill>
                  <a:schemeClr val="accent1"/>
                </a:solidFill>
                <a:latin typeface="Consolas" panose="020B0609020204030204" pitchFamily="49" charset="0"/>
                <a:cs typeface="Courier New" panose="02070309020205020404" pitchFamily="49" charset="0"/>
              </a:rPr>
              <a:t>$</a:t>
            </a:r>
            <a:r>
              <a:rPr lang="en-US" sz="2000" dirty="0">
                <a:latin typeface="Consolas" panose="020B0609020204030204" pitchFamily="49" charset="0"/>
                <a:cs typeface="Courier New" panose="02070309020205020404" pitchFamily="49" charset="0"/>
              </a:rPr>
              <a:t>	</a:t>
            </a:r>
            <a:r>
              <a:rPr lang="en-US" sz="2000" dirty="0"/>
              <a:t>End of a line</a:t>
            </a:r>
          </a:p>
          <a:p>
            <a:pPr marL="0" indent="0">
              <a:buNone/>
            </a:pPr>
            <a:r>
              <a:rPr lang="en-US" sz="2000" dirty="0">
                <a:latin typeface="Consolas" panose="020B0609020204030204" pitchFamily="49" charset="0"/>
                <a:cs typeface="Courier New" panose="02070309020205020404" pitchFamily="49" charset="0"/>
              </a:rPr>
              <a:t>		'Michigan</a:t>
            </a:r>
            <a:r>
              <a:rPr lang="en-US" sz="2000" b="1" dirty="0">
                <a:solidFill>
                  <a:schemeClr val="accent5"/>
                </a:solidFill>
                <a:latin typeface="Consolas" panose="020B0609020204030204" pitchFamily="49" charset="0"/>
                <a:cs typeface="Courier New" panose="02070309020205020404" pitchFamily="49" charset="0"/>
              </a:rPr>
              <a:t>$</a:t>
            </a:r>
            <a:r>
              <a:rPr lang="en-US" sz="2000" dirty="0">
                <a:latin typeface="Consolas" panose="020B0609020204030204" pitchFamily="49" charset="0"/>
                <a:cs typeface="Courier New" panose="02070309020205020404" pitchFamily="49" charset="0"/>
              </a:rPr>
              <a:t>'</a:t>
            </a:r>
            <a:endParaRPr lang="en-US" sz="2000" b="1" dirty="0">
              <a:latin typeface="Consolas" panose="020B0609020204030204" pitchFamily="49" charset="0"/>
              <a:cs typeface="Courier New" panose="02070309020205020404" pitchFamily="49" charset="0"/>
            </a:endParaRPr>
          </a:p>
          <a:p>
            <a:pPr marL="0" indent="0">
              <a:buNone/>
            </a:pPr>
            <a:r>
              <a:rPr lang="en-US" sz="2000" dirty="0">
                <a:solidFill>
                  <a:schemeClr val="accent1"/>
                </a:solidFill>
                <a:latin typeface="Consolas" panose="020B0609020204030204" pitchFamily="49" charset="0"/>
                <a:cs typeface="Courier New" panose="02070309020205020404" pitchFamily="49" charset="0"/>
              </a:rPr>
              <a:t>		</a:t>
            </a:r>
            <a:r>
              <a:rPr lang="en-US" sz="2000" b="1" dirty="0">
                <a:solidFill>
                  <a:schemeClr val="accent6"/>
                </a:solidFill>
                <a:latin typeface="Consolas" panose="020B0609020204030204" pitchFamily="49" charset="0"/>
                <a:cs typeface="Courier New" panose="02070309020205020404" pitchFamily="49" charset="0"/>
              </a:rPr>
              <a:t>'</a:t>
            </a:r>
            <a:r>
              <a:rPr lang="en-US" sz="2000" dirty="0">
                <a:solidFill>
                  <a:schemeClr val="accent6"/>
                </a:solidFill>
                <a:latin typeface="Consolas" panose="020B0609020204030204" pitchFamily="49" charset="0"/>
                <a:cs typeface="Courier New" panose="02070309020205020404" pitchFamily="49" charset="0"/>
              </a:rPr>
              <a:t>Michigan, USA'</a:t>
            </a:r>
            <a:r>
              <a:rPr lang="en-US" sz="2000" dirty="0">
                <a:latin typeface="Consolas" panose="020B0609020204030204" pitchFamily="49" charset="0"/>
                <a:cs typeface="Courier New" panose="02070309020205020404" pitchFamily="49" charset="0"/>
              </a:rPr>
              <a:t>  -&gt; No</a:t>
            </a:r>
          </a:p>
          <a:p>
            <a:pPr marL="0" indent="0">
              <a:buNone/>
            </a:pPr>
            <a:r>
              <a:rPr lang="en-US" sz="2000" dirty="0">
                <a:solidFill>
                  <a:schemeClr val="accent1"/>
                </a:solidFill>
                <a:latin typeface="Consolas" panose="020B0609020204030204" pitchFamily="49" charset="0"/>
                <a:cs typeface="Courier New" panose="02070309020205020404" pitchFamily="49" charset="0"/>
              </a:rPr>
              <a:t>		</a:t>
            </a:r>
            <a:r>
              <a:rPr lang="en-US" sz="2000" b="1" dirty="0">
                <a:solidFill>
                  <a:schemeClr val="accent6"/>
                </a:solidFill>
                <a:latin typeface="Consolas" panose="020B0609020204030204" pitchFamily="49" charset="0"/>
                <a:cs typeface="Courier New" panose="02070309020205020404" pitchFamily="49" charset="0"/>
              </a:rPr>
              <a:t>'</a:t>
            </a:r>
            <a:r>
              <a:rPr lang="en-US" sz="2000" dirty="0">
                <a:solidFill>
                  <a:schemeClr val="accent6"/>
                </a:solidFill>
                <a:latin typeface="Consolas" panose="020B0609020204030204" pitchFamily="49" charset="0"/>
                <a:cs typeface="Courier New" panose="02070309020205020404" pitchFamily="49" charset="0"/>
              </a:rPr>
              <a:t>Michigan\</a:t>
            </a:r>
            <a:r>
              <a:rPr lang="en-US" sz="2000" dirty="0" err="1">
                <a:solidFill>
                  <a:schemeClr val="accent6"/>
                </a:solidFill>
                <a:latin typeface="Consolas" panose="020B0609020204030204" pitchFamily="49" charset="0"/>
                <a:cs typeface="Courier New" panose="02070309020205020404" pitchFamily="49" charset="0"/>
              </a:rPr>
              <a:t>nUSA</a:t>
            </a:r>
            <a:r>
              <a:rPr lang="en-US" sz="2000" dirty="0">
                <a:solidFill>
                  <a:schemeClr val="accent6"/>
                </a:solidFill>
                <a:latin typeface="Consolas" panose="020B0609020204030204" pitchFamily="49" charset="0"/>
                <a:cs typeface="Courier New" panose="02070309020205020404" pitchFamily="49" charset="0"/>
              </a:rPr>
              <a:t>'</a:t>
            </a:r>
            <a:r>
              <a:rPr lang="en-US" sz="2000" dirty="0">
                <a:latin typeface="Consolas" panose="020B0609020204030204" pitchFamily="49" charset="0"/>
                <a:cs typeface="Courier New" panose="02070309020205020404" pitchFamily="49" charset="0"/>
              </a:rPr>
              <a:t>  -&gt; Yes</a:t>
            </a:r>
          </a:p>
        </p:txBody>
      </p:sp>
      <p:sp>
        <p:nvSpPr>
          <p:cNvPr id="2" name="Title 1">
            <a:extLst>
              <a:ext uri="{FF2B5EF4-FFF2-40B4-BE49-F238E27FC236}">
                <a16:creationId xmlns:a16="http://schemas.microsoft.com/office/drawing/2014/main" id="{366A841F-6AD4-9F41-AD7E-B42DE35A586B}"/>
              </a:ext>
            </a:extLst>
          </p:cNvPr>
          <p:cNvSpPr>
            <a:spLocks noGrp="1"/>
          </p:cNvSpPr>
          <p:nvPr>
            <p:ph type="title"/>
          </p:nvPr>
        </p:nvSpPr>
        <p:spPr>
          <a:xfrm>
            <a:off x="628650" y="365126"/>
            <a:ext cx="7886700" cy="1325563"/>
          </a:xfrm>
        </p:spPr>
        <p:txBody>
          <a:bodyPr vert="horz" lIns="91440" tIns="45720" rIns="91440" bIns="45720" rtlCol="0" anchor="ctr">
            <a:normAutofit/>
          </a:bodyPr>
          <a:lstStyle/>
          <a:p>
            <a:r>
              <a:rPr lang="en-US" b="0" dirty="0"/>
              <a:t>Symbols for matching single char</a:t>
            </a:r>
          </a:p>
        </p:txBody>
      </p:sp>
      <p:sp>
        <p:nvSpPr>
          <p:cNvPr id="4" name="TextBox 3">
            <a:extLst>
              <a:ext uri="{FF2B5EF4-FFF2-40B4-BE49-F238E27FC236}">
                <a16:creationId xmlns:a16="http://schemas.microsoft.com/office/drawing/2014/main" id="{AFCD4D7C-7DB6-527D-AFAA-70045123C4BB}"/>
              </a:ext>
            </a:extLst>
          </p:cNvPr>
          <p:cNvSpPr txBox="1"/>
          <p:nvPr/>
        </p:nvSpPr>
        <p:spPr>
          <a:xfrm>
            <a:off x="920599" y="5943600"/>
            <a:ext cx="8046720" cy="400110"/>
          </a:xfrm>
          <a:prstGeom prst="rect">
            <a:avLst/>
          </a:prstGeom>
          <a:noFill/>
        </p:spPr>
        <p:txBody>
          <a:bodyPr wrap="square">
            <a:spAutoFit/>
          </a:bodyPr>
          <a:lstStyle/>
          <a:p>
            <a:pPr algn="l">
              <a:defRPr sz="1800" b="1">
                <a:solidFill>
                  <a:srgbClr val="4C72B0"/>
                </a:solidFill>
                <a:latin typeface="Latin Modern Sans"/>
              </a:defRPr>
            </a:pPr>
            <a:r>
              <a:rPr sz="2000" dirty="0"/>
              <a:t>Example:  ^(RT @\w+)  matches retweet prefixes at start of tweet</a:t>
            </a:r>
          </a:p>
        </p:txBody>
      </p:sp>
    </p:spTree>
    <p:extLst>
      <p:ext uri="{BB962C8B-B14F-4D97-AF65-F5344CB8AC3E}">
        <p14:creationId xmlns:p14="http://schemas.microsoft.com/office/powerpoint/2010/main" val="2430649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Why use \B instead of \w?</a:t>
            </a:r>
          </a:p>
        </p:txBody>
      </p:sp>
      <p:sp>
        <p:nvSpPr>
          <p:cNvPr id="7" name="Content Placeholder 6">
            <a:extLst>
              <a:ext uri="{FF2B5EF4-FFF2-40B4-BE49-F238E27FC236}">
                <a16:creationId xmlns:a16="http://schemas.microsoft.com/office/drawing/2014/main" id="{E1A64C0E-6FDB-4A05-B375-85C7967CF6DB}"/>
              </a:ext>
            </a:extLst>
          </p:cNvPr>
          <p:cNvSpPr>
            <a:spLocks noGrp="1"/>
          </p:cNvSpPr>
          <p:nvPr>
            <p:ph idx="1"/>
          </p:nvPr>
        </p:nvSpPr>
        <p:spPr>
          <a:xfrm>
            <a:off x="-254643" y="1883498"/>
            <a:ext cx="11258550" cy="4351338"/>
          </a:xfrm>
        </p:spPr>
        <p:txBody>
          <a:bodyPr>
            <a:normAutofit/>
          </a:bodyPr>
          <a:lstStyle/>
          <a:p>
            <a:pPr marL="0" indent="0">
              <a:buNone/>
            </a:pPr>
            <a:endParaRPr lang="en-US" sz="2000" dirty="0">
              <a:latin typeface="Consolas" panose="020B0609020204030204" pitchFamily="49" charset="0"/>
            </a:endParaRPr>
          </a:p>
          <a:p>
            <a:pPr marL="0" indent="0">
              <a:buNone/>
            </a:pPr>
            <a:r>
              <a:rPr lang="en-US" sz="2000" dirty="0">
                <a:latin typeface="Consolas" panose="020B0609020204030204" pitchFamily="49" charset="0"/>
              </a:rPr>
              <a:t>	</a:t>
            </a:r>
            <a:r>
              <a:rPr lang="en-US" sz="2000" dirty="0" err="1">
                <a:latin typeface="Consolas" panose="020B0609020204030204" pitchFamily="49" charset="0"/>
              </a:rPr>
              <a:t>re.search</a:t>
            </a:r>
            <a:r>
              <a:rPr lang="en-US" sz="2000" dirty="0">
                <a:latin typeface="Consolas" panose="020B0609020204030204" pitchFamily="49" charset="0"/>
              </a:rPr>
              <a:t>(r</a:t>
            </a:r>
            <a:r>
              <a:rPr lang="en-US" sz="2000" b="1" dirty="0">
                <a:solidFill>
                  <a:schemeClr val="accent5"/>
                </a:solidFill>
                <a:latin typeface="Consolas" panose="020B0609020204030204" pitchFamily="49" charset="0"/>
              </a:rPr>
              <a:t>'</a:t>
            </a:r>
            <a:r>
              <a:rPr lang="en-US" sz="2000" b="1" dirty="0">
                <a:solidFill>
                  <a:srgbClr val="FF0000"/>
                </a:solidFill>
                <a:latin typeface="Consolas" panose="020B0609020204030204" pitchFamily="49" charset="0"/>
              </a:rPr>
              <a:t>\</a:t>
            </a:r>
            <a:r>
              <a:rPr lang="en-US" sz="2000" b="1" dirty="0" err="1">
                <a:solidFill>
                  <a:srgbClr val="FF0000"/>
                </a:solidFill>
                <a:latin typeface="Consolas" panose="020B0609020204030204" pitchFamily="49" charset="0"/>
              </a:rPr>
              <a:t>w</a:t>
            </a:r>
            <a:r>
              <a:rPr lang="en-US" sz="2000" b="1" dirty="0" err="1">
                <a:solidFill>
                  <a:schemeClr val="accent5"/>
                </a:solidFill>
                <a:latin typeface="Consolas" panose="020B0609020204030204" pitchFamily="49" charset="0"/>
              </a:rPr>
              <a:t>cat</a:t>
            </a:r>
            <a:r>
              <a:rPr lang="en-US" sz="2000" b="1" dirty="0">
                <a:solidFill>
                  <a:srgbClr val="FF0000"/>
                </a:solidFill>
                <a:latin typeface="Consolas" panose="020B0609020204030204" pitchFamily="49" charset="0"/>
              </a:rPr>
              <a:t>\w</a:t>
            </a:r>
            <a:r>
              <a:rPr lang="en-US" sz="2000" b="1" dirty="0">
                <a:solidFill>
                  <a:schemeClr val="accent5"/>
                </a:solidFill>
                <a:latin typeface="Consolas" panose="020B0609020204030204" pitchFamily="49" charset="0"/>
              </a:rPr>
              <a:t>'</a:t>
            </a:r>
            <a:r>
              <a:rPr lang="en-US" sz="2000" dirty="0">
                <a:latin typeface="Consolas" panose="020B0609020204030204" pitchFamily="49" charset="0"/>
              </a:rPr>
              <a:t>, </a:t>
            </a:r>
            <a:r>
              <a:rPr lang="en-US" sz="2000" b="1" dirty="0">
                <a:solidFill>
                  <a:schemeClr val="accent6"/>
                </a:solidFill>
                <a:latin typeface="Consolas" panose="020B0609020204030204" pitchFamily="49" charset="0"/>
              </a:rPr>
              <a:t>'meercats'</a:t>
            </a:r>
            <a:r>
              <a:rPr lang="en-US" sz="2000" dirty="0">
                <a:latin typeface="Consolas" panose="020B0609020204030204" pitchFamily="49" charset="0"/>
              </a:rPr>
              <a:t>)</a:t>
            </a:r>
          </a:p>
          <a:p>
            <a:pPr marL="0" indent="0">
              <a:buNone/>
            </a:pPr>
            <a:r>
              <a:rPr lang="en-US" sz="2000" dirty="0">
                <a:latin typeface="Consolas" panose="020B0609020204030204" pitchFamily="49" charset="0"/>
              </a:rPr>
              <a:t>	</a:t>
            </a:r>
            <a:r>
              <a:rPr lang="en-US" sz="2000" dirty="0">
                <a:solidFill>
                  <a:schemeClr val="bg1">
                    <a:lumMod val="65000"/>
                  </a:schemeClr>
                </a:solidFill>
                <a:latin typeface="Consolas" panose="020B0609020204030204" pitchFamily="49" charset="0"/>
              </a:rPr>
              <a:t>&lt;_</a:t>
            </a:r>
            <a:r>
              <a:rPr lang="en-US" sz="2000" dirty="0" err="1">
                <a:solidFill>
                  <a:schemeClr val="bg1">
                    <a:lumMod val="65000"/>
                  </a:schemeClr>
                </a:solidFill>
                <a:latin typeface="Consolas" panose="020B0609020204030204" pitchFamily="49" charset="0"/>
              </a:rPr>
              <a:t>sre.SRE_Match</a:t>
            </a:r>
            <a:r>
              <a:rPr lang="en-US" sz="2000" dirty="0">
                <a:solidFill>
                  <a:schemeClr val="bg1">
                    <a:lumMod val="65000"/>
                  </a:schemeClr>
                </a:solidFill>
                <a:latin typeface="Consolas" panose="020B0609020204030204" pitchFamily="49" charset="0"/>
              </a:rPr>
              <a:t> object; span=(4, 7), match=</a:t>
            </a:r>
            <a:r>
              <a:rPr lang="en-US" sz="2000" b="1" dirty="0">
                <a:solidFill>
                  <a:schemeClr val="accent6"/>
                </a:solidFill>
                <a:latin typeface="Consolas" panose="020B0609020204030204" pitchFamily="49" charset="0"/>
              </a:rPr>
              <a:t>'</a:t>
            </a:r>
            <a:r>
              <a:rPr lang="en-US" sz="2000" b="1" dirty="0" err="1">
                <a:solidFill>
                  <a:schemeClr val="accent6"/>
                </a:solidFill>
                <a:latin typeface="Consolas" panose="020B0609020204030204" pitchFamily="49" charset="0"/>
              </a:rPr>
              <a:t>rcats</a:t>
            </a:r>
            <a:r>
              <a:rPr lang="en-US" sz="2000" b="1" dirty="0">
                <a:solidFill>
                  <a:schemeClr val="accent6"/>
                </a:solidFill>
                <a:latin typeface="Consolas" panose="020B0609020204030204" pitchFamily="49" charset="0"/>
              </a:rPr>
              <a:t>'</a:t>
            </a:r>
            <a:r>
              <a:rPr lang="en-US" sz="2000" dirty="0">
                <a:solidFill>
                  <a:schemeClr val="bg1">
                    <a:lumMod val="65000"/>
                  </a:schemeClr>
                </a:solidFill>
                <a:latin typeface="Consolas" panose="020B0609020204030204" pitchFamily="49" charset="0"/>
              </a:rPr>
              <a:t>&gt;</a:t>
            </a:r>
          </a:p>
          <a:p>
            <a:pPr marL="0" indent="0">
              <a:buNone/>
            </a:pPr>
            <a:endParaRPr lang="en-US" sz="2000" dirty="0">
              <a:latin typeface="Consolas" panose="020B0609020204030204" pitchFamily="49" charset="0"/>
            </a:endParaRPr>
          </a:p>
          <a:p>
            <a:pPr marL="0" indent="0">
              <a:buNone/>
            </a:pPr>
            <a:r>
              <a:rPr lang="en-US" sz="2000" dirty="0">
                <a:latin typeface="Consolas" panose="020B0609020204030204" pitchFamily="49" charset="0"/>
              </a:rPr>
              <a:t>	</a:t>
            </a:r>
            <a:r>
              <a:rPr lang="en-US" sz="2000" dirty="0" err="1">
                <a:latin typeface="Consolas" panose="020B0609020204030204" pitchFamily="49" charset="0"/>
              </a:rPr>
              <a:t>re.search</a:t>
            </a:r>
            <a:r>
              <a:rPr lang="en-US" sz="2000" dirty="0">
                <a:latin typeface="Consolas" panose="020B0609020204030204" pitchFamily="49" charset="0"/>
              </a:rPr>
              <a:t>(r</a:t>
            </a:r>
            <a:r>
              <a:rPr lang="en-US" sz="2000" b="1" dirty="0">
                <a:solidFill>
                  <a:schemeClr val="accent5"/>
                </a:solidFill>
                <a:latin typeface="Consolas" panose="020B0609020204030204" pitchFamily="49" charset="0"/>
              </a:rPr>
              <a:t>'</a:t>
            </a:r>
            <a:r>
              <a:rPr lang="en-US" sz="2000" b="1" dirty="0">
                <a:solidFill>
                  <a:srgbClr val="FF0000"/>
                </a:solidFill>
                <a:latin typeface="Consolas" panose="020B0609020204030204" pitchFamily="49" charset="0"/>
              </a:rPr>
              <a:t>\</a:t>
            </a:r>
            <a:r>
              <a:rPr lang="en-US" sz="2000" b="1" dirty="0" err="1">
                <a:solidFill>
                  <a:srgbClr val="FF0000"/>
                </a:solidFill>
                <a:latin typeface="Consolas" panose="020B0609020204030204" pitchFamily="49" charset="0"/>
              </a:rPr>
              <a:t>B</a:t>
            </a:r>
            <a:r>
              <a:rPr lang="en-US" sz="2000" b="1" dirty="0" err="1">
                <a:solidFill>
                  <a:schemeClr val="accent5"/>
                </a:solidFill>
                <a:latin typeface="Consolas" panose="020B0609020204030204" pitchFamily="49" charset="0"/>
              </a:rPr>
              <a:t>cat</a:t>
            </a:r>
            <a:r>
              <a:rPr lang="en-US" sz="2000" b="1" dirty="0">
                <a:solidFill>
                  <a:srgbClr val="FF0000"/>
                </a:solidFill>
                <a:latin typeface="Consolas" panose="020B0609020204030204" pitchFamily="49" charset="0"/>
              </a:rPr>
              <a:t>\B</a:t>
            </a:r>
            <a:r>
              <a:rPr lang="en-US" sz="2000" b="1" dirty="0">
                <a:solidFill>
                  <a:schemeClr val="accent5"/>
                </a:solidFill>
                <a:latin typeface="Consolas" panose="020B0609020204030204" pitchFamily="49" charset="0"/>
              </a:rPr>
              <a:t>'</a:t>
            </a:r>
            <a:r>
              <a:rPr lang="en-US" sz="2000" dirty="0">
                <a:latin typeface="Consolas" panose="020B0609020204030204" pitchFamily="49" charset="0"/>
              </a:rPr>
              <a:t>, </a:t>
            </a:r>
            <a:r>
              <a:rPr lang="en-US" sz="2000" b="1" dirty="0">
                <a:solidFill>
                  <a:schemeClr val="accent6"/>
                </a:solidFill>
                <a:latin typeface="Consolas" panose="020B0609020204030204" pitchFamily="49" charset="0"/>
              </a:rPr>
              <a:t>'meercats'</a:t>
            </a:r>
            <a:r>
              <a:rPr lang="en-US" sz="2000" dirty="0">
                <a:latin typeface="Consolas" panose="020B0609020204030204" pitchFamily="49" charset="0"/>
              </a:rPr>
              <a:t>)</a:t>
            </a:r>
          </a:p>
          <a:p>
            <a:pPr marL="0" indent="0">
              <a:buNone/>
            </a:pPr>
            <a:r>
              <a:rPr lang="en-US" sz="2000" dirty="0">
                <a:latin typeface="Consolas" panose="020B0609020204030204" pitchFamily="49" charset="0"/>
              </a:rPr>
              <a:t>	</a:t>
            </a:r>
            <a:r>
              <a:rPr lang="en-US" sz="2000" dirty="0">
                <a:solidFill>
                  <a:schemeClr val="bg1">
                    <a:lumMod val="65000"/>
                  </a:schemeClr>
                </a:solidFill>
                <a:latin typeface="Consolas" panose="020B0609020204030204" pitchFamily="49" charset="0"/>
              </a:rPr>
              <a:t>&lt;_</a:t>
            </a:r>
            <a:r>
              <a:rPr lang="en-US" sz="2000" dirty="0" err="1">
                <a:solidFill>
                  <a:schemeClr val="bg1">
                    <a:lumMod val="65000"/>
                  </a:schemeClr>
                </a:solidFill>
                <a:latin typeface="Consolas" panose="020B0609020204030204" pitchFamily="49" charset="0"/>
              </a:rPr>
              <a:t>sre.SRE_Match</a:t>
            </a:r>
            <a:r>
              <a:rPr lang="en-US" sz="2000" dirty="0">
                <a:solidFill>
                  <a:schemeClr val="bg1">
                    <a:lumMod val="65000"/>
                  </a:schemeClr>
                </a:solidFill>
                <a:latin typeface="Consolas" panose="020B0609020204030204" pitchFamily="49" charset="0"/>
              </a:rPr>
              <a:t> object; span=(4, 7), match=</a:t>
            </a:r>
            <a:r>
              <a:rPr lang="en-US" sz="2000" b="1" dirty="0">
                <a:solidFill>
                  <a:schemeClr val="accent6"/>
                </a:solidFill>
                <a:latin typeface="Consolas" panose="020B0609020204030204" pitchFamily="49" charset="0"/>
              </a:rPr>
              <a:t>'cat'</a:t>
            </a:r>
            <a:r>
              <a:rPr lang="en-US" sz="2000" dirty="0">
                <a:solidFill>
                  <a:schemeClr val="bg1">
                    <a:lumMod val="65000"/>
                  </a:schemeClr>
                </a:solidFill>
                <a:latin typeface="Consolas" panose="020B0609020204030204" pitchFamily="49" charset="0"/>
              </a:rPr>
              <a:t>&gt;</a:t>
            </a:r>
          </a:p>
          <a:p>
            <a:pPr marL="0" indent="0">
              <a:buNone/>
            </a:pPr>
            <a:endParaRPr lang="en-US" sz="2000" dirty="0">
              <a:latin typeface="Consolas" panose="020B0609020204030204" pitchFamily="49" charset="0"/>
            </a:endParaRPr>
          </a:p>
          <a:p>
            <a:pPr marL="0" indent="0">
              <a:buNone/>
            </a:pPr>
            <a:endParaRPr lang="en-US" sz="2000" dirty="0">
              <a:latin typeface="Consolas" panose="020B0609020204030204" pitchFamily="49" charset="0"/>
            </a:endParaRPr>
          </a:p>
        </p:txBody>
      </p:sp>
    </p:spTree>
    <p:extLst>
      <p:ext uri="{BB962C8B-B14F-4D97-AF65-F5344CB8AC3E}">
        <p14:creationId xmlns:p14="http://schemas.microsoft.com/office/powerpoint/2010/main" val="1739068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Escape special symbols with \</a:t>
            </a:r>
          </a:p>
        </p:txBody>
      </p:sp>
      <p:sp>
        <p:nvSpPr>
          <p:cNvPr id="3" name="Content Placeholder 2"/>
          <p:cNvSpPr>
            <a:spLocks noGrp="1"/>
          </p:cNvSpPr>
          <p:nvPr>
            <p:ph idx="1"/>
          </p:nvPr>
        </p:nvSpPr>
        <p:spPr>
          <a:xfrm>
            <a:off x="-208343" y="1906648"/>
            <a:ext cx="9352344" cy="4351338"/>
          </a:xfrm>
        </p:spPr>
        <p:txBody>
          <a:bodyPr>
            <a:normAutofit/>
          </a:bodyPr>
          <a:lstStyle/>
          <a:p>
            <a:pPr marL="0" indent="0">
              <a:buNone/>
            </a:pPr>
            <a:r>
              <a:rPr lang="en-US" dirty="0"/>
              <a:t>	What if we really want to look for </a:t>
            </a:r>
            <a:r>
              <a:rPr lang="en-US" b="1" dirty="0">
                <a:solidFill>
                  <a:schemeClr val="accent5"/>
                </a:solidFill>
                <a:latin typeface="Consolas" panose="020B0609020204030204" pitchFamily="49" charset="0"/>
                <a:cs typeface="Courier New" panose="02070309020205020404" pitchFamily="49" charset="0"/>
              </a:rPr>
              <a:t>'$'</a:t>
            </a:r>
            <a:r>
              <a:rPr lang="en-US" dirty="0">
                <a:cs typeface="Courier New" panose="02070309020205020404" pitchFamily="49" charset="0"/>
              </a:rPr>
              <a:t> or </a:t>
            </a:r>
            <a:r>
              <a:rPr lang="en-US" b="1" dirty="0">
                <a:solidFill>
                  <a:schemeClr val="accent5"/>
                </a:solidFill>
                <a:latin typeface="Consolas" panose="020B0609020204030204" pitchFamily="49" charset="0"/>
                <a:cs typeface="Courier New" panose="02070309020205020404" pitchFamily="49" charset="0"/>
              </a:rPr>
              <a:t>'.'</a:t>
            </a:r>
            <a:r>
              <a:rPr lang="en-US" dirty="0">
                <a:cs typeface="Courier New" panose="02070309020205020404" pitchFamily="49" charset="0"/>
              </a:rPr>
              <a:t>  or </a:t>
            </a:r>
            <a:r>
              <a:rPr lang="en-US" b="1" dirty="0">
                <a:solidFill>
                  <a:schemeClr val="accent5"/>
                </a:solidFill>
                <a:latin typeface="Consolas" panose="020B0609020204030204" pitchFamily="49" charset="0"/>
                <a:cs typeface="Courier New" panose="02070309020205020404" pitchFamily="49" charset="0"/>
              </a:rPr>
              <a:t>'\'</a:t>
            </a:r>
            <a:r>
              <a:rPr lang="en-US" dirty="0">
                <a:cs typeface="Courier New" panose="02070309020205020404" pitchFamily="49" charset="0"/>
              </a:rPr>
              <a:t> ? </a:t>
            </a:r>
          </a:p>
          <a:p>
            <a:pPr marL="0" indent="0">
              <a:buNone/>
            </a:pPr>
            <a:r>
              <a:rPr lang="en-US" dirty="0"/>
              <a:t>	Use an </a:t>
            </a:r>
            <a:r>
              <a:rPr lang="en-US" b="1" dirty="0"/>
              <a:t>escape sequence</a:t>
            </a:r>
            <a:r>
              <a:rPr lang="en-US" dirty="0"/>
              <a:t>: </a:t>
            </a:r>
            <a:r>
              <a:rPr lang="en-US" b="1" dirty="0">
                <a:solidFill>
                  <a:srgbClr val="FF0000"/>
                </a:solidFill>
              </a:rPr>
              <a:t>backslash</a:t>
            </a:r>
            <a:r>
              <a:rPr lang="en-US" dirty="0"/>
              <a:t> </a:t>
            </a:r>
            <a:r>
              <a:rPr lang="en-US" b="1" dirty="0"/>
              <a:t>+</a:t>
            </a:r>
            <a:r>
              <a:rPr lang="en-US" dirty="0"/>
              <a:t> </a:t>
            </a:r>
            <a:r>
              <a:rPr lang="en-US" b="1" dirty="0">
                <a:solidFill>
                  <a:srgbClr val="00B050"/>
                </a:solidFill>
              </a:rPr>
              <a:t>special char</a:t>
            </a:r>
            <a:br>
              <a:rPr lang="en-US" b="1" dirty="0">
                <a:solidFill>
                  <a:srgbClr val="00B050"/>
                </a:solidFill>
              </a:rPr>
            </a:br>
            <a:r>
              <a:rPr lang="en-US" b="1" dirty="0">
                <a:solidFill>
                  <a:srgbClr val="00B050"/>
                </a:solidFill>
              </a:rPr>
              <a:t>	</a:t>
            </a:r>
            <a:r>
              <a:rPr lang="en-US" dirty="0"/>
              <a:t>e.g. </a:t>
            </a:r>
            <a:r>
              <a:rPr lang="en-US" b="1" dirty="0">
                <a:solidFill>
                  <a:schemeClr val="accent5"/>
                </a:solidFill>
                <a:latin typeface="Consolas" panose="020B0609020204030204" pitchFamily="49" charset="0"/>
              </a:rPr>
              <a:t>'</a:t>
            </a:r>
            <a:r>
              <a:rPr lang="en-US" b="1" dirty="0">
                <a:solidFill>
                  <a:srgbClr val="FF0000"/>
                </a:solidFill>
                <a:latin typeface="Consolas" panose="020B0609020204030204" pitchFamily="49" charset="0"/>
              </a:rPr>
              <a:t>\</a:t>
            </a:r>
            <a:r>
              <a:rPr lang="en-US" b="1" dirty="0">
                <a:solidFill>
                  <a:srgbClr val="00B050"/>
                </a:solidFill>
                <a:latin typeface="Consolas" panose="020B0609020204030204" pitchFamily="49" charset="0"/>
              </a:rPr>
              <a:t>$</a:t>
            </a:r>
            <a:r>
              <a:rPr lang="en-US" b="1" dirty="0">
                <a:solidFill>
                  <a:schemeClr val="accent5"/>
                </a:solidFill>
                <a:latin typeface="Consolas" panose="020B0609020204030204" pitchFamily="49" charset="0"/>
              </a:rPr>
              <a:t>'</a:t>
            </a:r>
            <a:endParaRPr lang="en-US" b="1" dirty="0">
              <a:solidFill>
                <a:schemeClr val="accent5"/>
              </a:solidFill>
            </a:endParaRPr>
          </a:p>
          <a:p>
            <a:pPr marL="0" indent="0">
              <a:buNone/>
            </a:pPr>
            <a:endParaRPr lang="en-US" dirty="0"/>
          </a:p>
          <a:p>
            <a:pPr marL="0" indent="0">
              <a:buNone/>
            </a:pPr>
            <a:r>
              <a:rPr lang="en-US" dirty="0"/>
              <a:t>	</a:t>
            </a:r>
            <a:r>
              <a:rPr lang="en-US" u="sng" dirty="0"/>
              <a:t>Examples</a:t>
            </a:r>
            <a:r>
              <a:rPr lang="en-US" dirty="0"/>
              <a:t>:</a:t>
            </a:r>
          </a:p>
          <a:p>
            <a:pPr marL="0" indent="0">
              <a:buNone/>
            </a:pPr>
            <a:r>
              <a:rPr lang="en-US" sz="2400" dirty="0">
                <a:latin typeface="Consolas" panose="020B0609020204030204" pitchFamily="49" charset="0"/>
                <a:cs typeface="Courier New" panose="02070309020205020404" pitchFamily="49" charset="0"/>
              </a:rPr>
              <a:t>	</a:t>
            </a: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a:t>
            </a:r>
            <a:r>
              <a:rPr lang="en-US" sz="2400" b="1" dirty="0">
                <a:solidFill>
                  <a:srgbClr val="00B050"/>
                </a:solidFill>
                <a:latin typeface="Consolas" panose="020B0609020204030204" pitchFamily="49" charset="0"/>
                <a:cs typeface="Courier New" panose="02070309020205020404" pitchFamily="49" charset="0"/>
              </a:rPr>
              <a:t>$</a:t>
            </a:r>
            <a:r>
              <a:rPr lang="en-US" sz="2400" b="1" dirty="0">
                <a:solidFill>
                  <a:schemeClr val="accent5"/>
                </a:solidFill>
                <a:latin typeface="Consolas" panose="020B0609020204030204" pitchFamily="49" charset="0"/>
                <a:cs typeface="Courier New" panose="02070309020205020404" pitchFamily="49" charset="0"/>
              </a:rPr>
              <a:t>19</a:t>
            </a:r>
            <a:r>
              <a:rPr lang="en-US" sz="2400" b="1" dirty="0">
                <a:solidFill>
                  <a:srgbClr val="FF0000"/>
                </a:solidFill>
                <a:latin typeface="Consolas" panose="020B0609020204030204" pitchFamily="49" charset="0"/>
                <a:cs typeface="Courier New" panose="02070309020205020404" pitchFamily="49" charset="0"/>
              </a:rPr>
              <a:t>\</a:t>
            </a:r>
            <a:r>
              <a:rPr lang="en-US" sz="2400" b="1" dirty="0">
                <a:solidFill>
                  <a:srgbClr val="00B050"/>
                </a:solidFill>
                <a:latin typeface="Consolas" panose="020B0609020204030204" pitchFamily="49" charset="0"/>
                <a:cs typeface="Courier New" panose="02070309020205020404" pitchFamily="49" charset="0"/>
              </a:rPr>
              <a:t>.</a:t>
            </a:r>
            <a:r>
              <a:rPr lang="en-US" sz="2400" b="1" dirty="0">
                <a:solidFill>
                  <a:schemeClr val="accent5"/>
                </a:solidFill>
                <a:latin typeface="Consolas" panose="020B0609020204030204" pitchFamily="49" charset="0"/>
                <a:cs typeface="Courier New" panose="02070309020205020404" pitchFamily="49" charset="0"/>
              </a:rPr>
              <a:t>99’</a:t>
            </a:r>
            <a:r>
              <a:rPr lang="en-US" sz="2400" dirty="0">
                <a:latin typeface="Consolas" panose="020B0609020204030204" pitchFamily="49" charset="0"/>
                <a:cs typeface="Courier New" panose="02070309020205020404" pitchFamily="49" charset="0"/>
              </a:rPr>
              <a:t>		</a:t>
            </a:r>
            <a:r>
              <a:rPr lang="en-US" sz="2400" dirty="0"/>
              <a:t>will match </a:t>
            </a:r>
            <a:r>
              <a:rPr lang="en-US" sz="2400" b="1" dirty="0">
                <a:solidFill>
                  <a:schemeClr val="accent6"/>
                </a:solidFill>
                <a:latin typeface="Consolas" panose="020B0609020204030204" pitchFamily="49" charset="0"/>
                <a:cs typeface="Courier New" panose="02070309020205020404" pitchFamily="49" charset="0"/>
              </a:rPr>
              <a:t>'$19.99'</a:t>
            </a:r>
          </a:p>
          <a:p>
            <a:pPr marL="0" indent="0">
              <a:buNone/>
            </a:pPr>
            <a:r>
              <a:rPr lang="en-US" sz="2400" dirty="0">
                <a:latin typeface="Consolas" panose="020B0609020204030204" pitchFamily="49" charset="0"/>
                <a:cs typeface="Courier New" panose="02070309020205020404" pitchFamily="49" charset="0"/>
              </a:rPr>
              <a:t>	</a:t>
            </a: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a:t>
            </a:r>
            <a:r>
              <a:rPr lang="en-US" sz="2400" b="1" dirty="0">
                <a:solidFill>
                  <a:srgbClr val="00B050"/>
                </a:solidFill>
                <a:latin typeface="Consolas" panose="020B0609020204030204" pitchFamily="49" charset="0"/>
                <a:cs typeface="Courier New" panose="02070309020205020404" pitchFamily="49" charset="0"/>
              </a:rPr>
              <a:t>\</a:t>
            </a:r>
            <a:r>
              <a:rPr lang="en-US" sz="2400" b="1" dirty="0">
                <a:solidFill>
                  <a:schemeClr val="accent5"/>
                </a:solidFill>
                <a:latin typeface="Consolas" panose="020B0609020204030204" pitchFamily="49" charset="0"/>
                <a:cs typeface="Courier New" panose="02070309020205020404" pitchFamily="49" charset="0"/>
              </a:rPr>
              <a:t>folder'</a:t>
            </a:r>
            <a:r>
              <a:rPr lang="en-US" sz="2400" dirty="0">
                <a:latin typeface="Consolas" panose="020B0609020204030204" pitchFamily="49" charset="0"/>
                <a:cs typeface="Courier New" panose="02070309020205020404" pitchFamily="49" charset="0"/>
              </a:rPr>
              <a:t> 	</a:t>
            </a:r>
            <a:r>
              <a:rPr lang="en-US" sz="2400" dirty="0"/>
              <a:t>will match </a:t>
            </a:r>
            <a:r>
              <a:rPr lang="en-US" sz="2400" b="1" dirty="0">
                <a:solidFill>
                  <a:schemeClr val="accent6"/>
                </a:solidFill>
                <a:latin typeface="Consolas" panose="020B0609020204030204" pitchFamily="49" charset="0"/>
                <a:cs typeface="Courier New" panose="02070309020205020404" pitchFamily="49" charset="0"/>
              </a:rPr>
              <a:t>'\folder'</a:t>
            </a:r>
          </a:p>
          <a:p>
            <a:pPr marL="0" indent="0">
              <a:buNone/>
            </a:pPr>
            <a:endParaRPr lang="en-US" dirty="0">
              <a:latin typeface="Consolas" panose="020B0609020204030204" pitchFamily="49" charset="0"/>
              <a:cs typeface="Courier New" panose="02070309020205020404" pitchFamily="49" charset="0"/>
            </a:endParaRPr>
          </a:p>
          <a:p>
            <a:pPr marL="0" indent="0">
              <a:buNone/>
            </a:pPr>
            <a:endParaRPr lang="en-US" dirty="0">
              <a:latin typeface="Consolas" panose="020B0609020204030204" pitchFamily="49" charset="0"/>
              <a:cs typeface="Courier New" panose="02070309020205020404" pitchFamily="49" charset="0"/>
            </a:endParaRPr>
          </a:p>
          <a:p>
            <a:pPr marL="0" indent="0">
              <a:buNone/>
            </a:pPr>
            <a:endParaRPr lang="en-US" dirty="0">
              <a:latin typeface="Consolas" panose="020B06090202040302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2076564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vert="horz" lIns="91440" tIns="45720" rIns="91440" bIns="45720" rtlCol="0" anchor="ctr">
            <a:normAutofit/>
          </a:bodyPr>
          <a:lstStyle/>
          <a:p>
            <a:r>
              <a:rPr lang="en-GB" b="0" dirty="0"/>
              <a:t>Quantifiers: match multiple chars</a:t>
            </a:r>
          </a:p>
        </p:txBody>
      </p:sp>
      <p:sp>
        <p:nvSpPr>
          <p:cNvPr id="32774" name="Rectangle 3"/>
          <p:cNvSpPr>
            <a:spLocks noGrp="1" noChangeArrowheads="1"/>
          </p:cNvSpPr>
          <p:nvPr>
            <p:ph idx="1"/>
          </p:nvPr>
        </p:nvSpPr>
        <p:spPr>
          <a:xfrm>
            <a:off x="878471" y="2110722"/>
            <a:ext cx="8346552" cy="3977561"/>
          </a:xfrm>
        </p:spPr>
        <p:txBody>
          <a:bodyPr>
            <a:normAutofit/>
          </a:bodyPr>
          <a:lstStyle/>
          <a:p>
            <a:pPr eaLnBrk="1" hangingPunct="1">
              <a:lnSpc>
                <a:spcPct val="90000"/>
              </a:lnSpc>
              <a:buFont typeface="Wingdings" charset="0"/>
              <a:buNone/>
            </a:pPr>
            <a:r>
              <a:rPr lang="en-US" sz="2400" b="1" dirty="0">
                <a:solidFill>
                  <a:schemeClr val="accent5"/>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b="1" dirty="0">
                <a:latin typeface="Corbel" panose="020B0503020204020204" pitchFamily="34" charset="0"/>
              </a:rPr>
              <a:t>zero or more </a:t>
            </a:r>
            <a:r>
              <a:rPr lang="en-US" sz="2400" dirty="0">
                <a:latin typeface="Corbel" panose="020B0503020204020204" pitchFamily="34" charset="0"/>
              </a:rPr>
              <a:t>of the previous thing</a:t>
            </a:r>
          </a:p>
          <a:p>
            <a:pPr eaLnBrk="1" hangingPunct="1">
              <a:lnSpc>
                <a:spcPct val="90000"/>
              </a:lnSpc>
              <a:buFont typeface="Wingdings" charset="0"/>
              <a:buNone/>
            </a:pPr>
            <a:r>
              <a:rPr lang="en-US" sz="2400" b="1" dirty="0">
                <a:solidFill>
                  <a:schemeClr val="accent5"/>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b="1" dirty="0">
                <a:latin typeface="Corbel" panose="020B0503020204020204" pitchFamily="34" charset="0"/>
                <a:cs typeface="Courier New" panose="02070309020205020404" pitchFamily="49" charset="0"/>
              </a:rPr>
              <a:t>o</a:t>
            </a:r>
            <a:r>
              <a:rPr lang="en-US" sz="2400" b="1" dirty="0">
                <a:latin typeface="Corbel" panose="020B0503020204020204" pitchFamily="34" charset="0"/>
              </a:rPr>
              <a:t>ne or more </a:t>
            </a:r>
            <a:r>
              <a:rPr lang="en-US" sz="2400" dirty="0">
                <a:latin typeface="Corbel" panose="020B0503020204020204" pitchFamily="34" charset="0"/>
              </a:rPr>
              <a:t>of the previous thing</a:t>
            </a:r>
          </a:p>
          <a:p>
            <a:pPr eaLnBrk="1" hangingPunct="1">
              <a:lnSpc>
                <a:spcPct val="90000"/>
              </a:lnSpc>
              <a:buFont typeface="Wingdings" charset="0"/>
              <a:buNone/>
            </a:pPr>
            <a:r>
              <a:rPr lang="en-US" sz="2400" b="1" dirty="0">
                <a:solidFill>
                  <a:schemeClr val="accent5"/>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b="1" dirty="0">
                <a:latin typeface="Corbel" panose="020B0503020204020204" pitchFamily="34" charset="0"/>
                <a:cs typeface="Courier New" panose="02070309020205020404" pitchFamily="49" charset="0"/>
              </a:rPr>
              <a:t>z</a:t>
            </a:r>
            <a:r>
              <a:rPr lang="en-US" sz="2400" b="1" dirty="0">
                <a:latin typeface="Corbel" panose="020B0503020204020204" pitchFamily="34" charset="0"/>
              </a:rPr>
              <a:t>ero or one </a:t>
            </a:r>
            <a:r>
              <a:rPr lang="en-US" sz="2400" dirty="0">
                <a:latin typeface="Corbel" panose="020B0503020204020204" pitchFamily="34" charset="0"/>
              </a:rPr>
              <a:t>of the previous thing</a:t>
            </a:r>
          </a:p>
          <a:p>
            <a:pPr eaLnBrk="1" hangingPunct="1">
              <a:lnSpc>
                <a:spcPct val="90000"/>
              </a:lnSpc>
              <a:buFont typeface="Wingdings" charset="0"/>
              <a:buNone/>
            </a:pPr>
            <a:endParaRPr lang="en-US" sz="2400" dirty="0">
              <a:latin typeface="Consolas" panose="020B0609020204030204" pitchFamily="49" charset="0"/>
              <a:cs typeface="Courier New" panose="02070309020205020404" pitchFamily="49" charset="0"/>
            </a:endParaRPr>
          </a:p>
          <a:p>
            <a:pPr eaLnBrk="1" hangingPunct="1">
              <a:lnSpc>
                <a:spcPct val="90000"/>
              </a:lnSpc>
              <a:buFont typeface="Wingdings" charset="0"/>
              <a:buNone/>
            </a:pP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3</a:t>
            </a:r>
            <a:r>
              <a:rPr lang="en-US" sz="2400" b="1" dirty="0">
                <a:solidFill>
                  <a:schemeClr val="accent5"/>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b="1" dirty="0">
                <a:latin typeface="Corbel" panose="020B0503020204020204" pitchFamily="34" charset="0"/>
              </a:rPr>
              <a:t>exactly</a:t>
            </a:r>
            <a:r>
              <a:rPr lang="en-US" sz="2400" dirty="0">
                <a:latin typeface="Corbel" panose="020B0503020204020204" pitchFamily="34" charset="0"/>
              </a:rPr>
              <a:t> </a:t>
            </a:r>
            <a:r>
              <a:rPr lang="en-US" sz="2400" b="1" dirty="0">
                <a:solidFill>
                  <a:srgbClr val="FF0000"/>
                </a:solidFill>
                <a:latin typeface="Corbel" panose="020B0503020204020204" pitchFamily="34" charset="0"/>
              </a:rPr>
              <a:t>3</a:t>
            </a:r>
            <a:r>
              <a:rPr lang="en-US" sz="2400" dirty="0">
                <a:latin typeface="Corbel" panose="020B0503020204020204" pitchFamily="34" charset="0"/>
              </a:rPr>
              <a:t> of the previous thing</a:t>
            </a:r>
          </a:p>
          <a:p>
            <a:pPr eaLnBrk="1" hangingPunct="1">
              <a:lnSpc>
                <a:spcPct val="90000"/>
              </a:lnSpc>
              <a:buFont typeface="Wingdings" charset="0"/>
              <a:buNone/>
            </a:pP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3</a:t>
            </a: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00B050"/>
                </a:solidFill>
                <a:latin typeface="Consolas" panose="020B0609020204030204" pitchFamily="49" charset="0"/>
                <a:cs typeface="Courier New" panose="02070309020205020404" pitchFamily="49" charset="0"/>
              </a:rPr>
              <a:t>6</a:t>
            </a:r>
            <a:r>
              <a:rPr lang="en-US" sz="2400" b="1" dirty="0">
                <a:solidFill>
                  <a:schemeClr val="accent5"/>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b="1" dirty="0">
                <a:latin typeface="Corbel" panose="020B0503020204020204" pitchFamily="34" charset="0"/>
              </a:rPr>
              <a:t>between</a:t>
            </a:r>
            <a:r>
              <a:rPr lang="en-US" sz="2400" dirty="0">
                <a:latin typeface="Corbel" panose="020B0503020204020204" pitchFamily="34" charset="0"/>
              </a:rPr>
              <a:t> </a:t>
            </a:r>
            <a:r>
              <a:rPr lang="en-US" sz="2400" b="1" dirty="0">
                <a:solidFill>
                  <a:srgbClr val="FF0000"/>
                </a:solidFill>
                <a:latin typeface="Corbel" panose="020B0503020204020204" pitchFamily="34" charset="0"/>
              </a:rPr>
              <a:t>3</a:t>
            </a:r>
            <a:r>
              <a:rPr lang="en-US" sz="2400" dirty="0">
                <a:latin typeface="Corbel" panose="020B0503020204020204" pitchFamily="34" charset="0"/>
              </a:rPr>
              <a:t> </a:t>
            </a:r>
            <a:r>
              <a:rPr lang="en-US" sz="2400" b="1" dirty="0">
                <a:latin typeface="Corbel" panose="020B0503020204020204" pitchFamily="34" charset="0"/>
              </a:rPr>
              <a:t>and</a:t>
            </a:r>
            <a:r>
              <a:rPr lang="en-US" sz="2400" dirty="0">
                <a:latin typeface="Corbel" panose="020B0503020204020204" pitchFamily="34" charset="0"/>
              </a:rPr>
              <a:t> </a:t>
            </a:r>
            <a:r>
              <a:rPr lang="en-US" sz="2400" b="1" dirty="0">
                <a:solidFill>
                  <a:srgbClr val="00B050"/>
                </a:solidFill>
                <a:latin typeface="Corbel" panose="020B0503020204020204" pitchFamily="34" charset="0"/>
              </a:rPr>
              <a:t>6</a:t>
            </a:r>
            <a:r>
              <a:rPr lang="en-US" sz="2400" dirty="0">
                <a:latin typeface="Corbel" panose="020B0503020204020204" pitchFamily="34" charset="0"/>
              </a:rPr>
              <a:t> of the previous thing</a:t>
            </a:r>
          </a:p>
          <a:p>
            <a:pPr eaLnBrk="1" hangingPunct="1">
              <a:lnSpc>
                <a:spcPct val="90000"/>
              </a:lnSpc>
              <a:buFont typeface="Wingdings" charset="0"/>
              <a:buNone/>
            </a:pP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3</a:t>
            </a:r>
            <a:r>
              <a:rPr lang="en-US" sz="2400" b="1" dirty="0">
                <a:solidFill>
                  <a:schemeClr val="accent5"/>
                </a:solidFill>
                <a:latin typeface="Consolas" panose="020B0609020204030204" pitchFamily="49" charset="0"/>
                <a:cs typeface="Courier New" panose="02070309020205020404" pitchFamily="49" charset="0"/>
              </a:rPr>
              <a:t>,}</a:t>
            </a:r>
            <a:r>
              <a:rPr lang="en-US" sz="2400" dirty="0">
                <a:latin typeface="Consolas" panose="020B0609020204030204" pitchFamily="49" charset="0"/>
                <a:cs typeface="Courier New" panose="02070309020205020404" pitchFamily="49" charset="0"/>
              </a:rPr>
              <a:t>		</a:t>
            </a:r>
            <a:r>
              <a:rPr lang="en-US" sz="2400" b="1" dirty="0">
                <a:solidFill>
                  <a:srgbClr val="FF0000"/>
                </a:solidFill>
                <a:latin typeface="Corbel" panose="020B0503020204020204" pitchFamily="34" charset="0"/>
              </a:rPr>
              <a:t>3</a:t>
            </a:r>
            <a:r>
              <a:rPr lang="en-US" sz="2400" dirty="0">
                <a:latin typeface="Corbel" panose="020B0503020204020204" pitchFamily="34" charset="0"/>
              </a:rPr>
              <a:t> </a:t>
            </a:r>
            <a:r>
              <a:rPr lang="en-US" sz="2400" b="1" dirty="0">
                <a:latin typeface="Corbel" panose="020B0503020204020204" pitchFamily="34" charset="0"/>
              </a:rPr>
              <a:t>or more</a:t>
            </a:r>
            <a:r>
              <a:rPr lang="en-US" sz="2400" dirty="0">
                <a:latin typeface="Corbel" panose="020B0503020204020204" pitchFamily="34" charset="0"/>
              </a:rPr>
              <a:t> of the previous thing</a:t>
            </a:r>
            <a:endParaRPr lang="en-IE" sz="2400" dirty="0">
              <a:latin typeface="Corbel" panose="020B0503020204020204" pitchFamily="34" charset="0"/>
            </a:endParaRPr>
          </a:p>
          <a:p>
            <a:pPr eaLnBrk="1" hangingPunct="1">
              <a:lnSpc>
                <a:spcPct val="90000"/>
              </a:lnSpc>
              <a:buFont typeface="Wingdings" charset="0"/>
              <a:buNone/>
            </a:pPr>
            <a:endParaRPr lang="en-GB" sz="2400" dirty="0">
              <a:latin typeface="Verdana" charset="0"/>
            </a:endParaRPr>
          </a:p>
        </p:txBody>
      </p:sp>
    </p:spTree>
    <p:extLst>
      <p:ext uri="{BB962C8B-B14F-4D97-AF65-F5344CB8AC3E}">
        <p14:creationId xmlns:p14="http://schemas.microsoft.com/office/powerpoint/2010/main" val="1633453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Repeating pattern examples</a:t>
            </a:r>
          </a:p>
        </p:txBody>
      </p:sp>
      <p:sp>
        <p:nvSpPr>
          <p:cNvPr id="3" name="Content Placeholder 2"/>
          <p:cNvSpPr>
            <a:spLocks noGrp="1"/>
          </p:cNvSpPr>
          <p:nvPr>
            <p:ph idx="1"/>
          </p:nvPr>
        </p:nvSpPr>
        <p:spPr>
          <a:xfrm>
            <a:off x="767546" y="1825625"/>
            <a:ext cx="7886700" cy="4351338"/>
          </a:xfrm>
        </p:spPr>
        <p:txBody>
          <a:bodyPr>
            <a:normAutofit fontScale="77500" lnSpcReduction="20000"/>
          </a:bodyPr>
          <a:lstStyle/>
          <a:p>
            <a:pPr marL="0" indent="0">
              <a:buNone/>
            </a:pPr>
            <a:r>
              <a:rPr lang="en-US" b="1" dirty="0">
                <a:solidFill>
                  <a:schemeClr val="accent6"/>
                </a:solidFill>
                <a:latin typeface="Consolas" panose="020B0609020204030204" pitchFamily="49" charset="0"/>
                <a:cs typeface="Courier New" panose="02070309020205020404" pitchFamily="49" charset="0"/>
              </a:rPr>
              <a:t>	a</a:t>
            </a:r>
            <a:r>
              <a:rPr lang="en-US" b="1" dirty="0">
                <a:solidFill>
                  <a:schemeClr val="accent5"/>
                </a:solidFill>
                <a:latin typeface="Consolas" panose="020B0609020204030204" pitchFamily="49" charset="0"/>
                <a:cs typeface="Courier New" panose="02070309020205020404" pitchFamily="49" charset="0"/>
              </a:rPr>
              <a:t>b*</a:t>
            </a:r>
            <a:r>
              <a:rPr lang="en-US" dirty="0">
                <a:latin typeface="Consolas" panose="020B0609020204030204" pitchFamily="49" charset="0"/>
                <a:cs typeface="Courier New" panose="02070309020205020404" pitchFamily="49" charset="0"/>
              </a:rPr>
              <a:t> </a:t>
            </a:r>
            <a:r>
              <a:rPr lang="en-US" dirty="0"/>
              <a:t>will match</a:t>
            </a:r>
          </a:p>
          <a:p>
            <a:pPr marL="0" indent="0">
              <a:buNone/>
            </a:pPr>
            <a:r>
              <a:rPr lang="en-US" dirty="0">
                <a:latin typeface="+mj-lt"/>
              </a:rPr>
              <a:t>-	</a:t>
            </a:r>
            <a:r>
              <a:rPr lang="en-US" b="1" dirty="0">
                <a:solidFill>
                  <a:schemeClr val="accent6"/>
                </a:solidFill>
                <a:latin typeface="Consolas" panose="020B0609020204030204" pitchFamily="49" charset="0"/>
              </a:rPr>
              <a:t>'a'</a:t>
            </a:r>
            <a:r>
              <a:rPr lang="en-US" dirty="0"/>
              <a:t>  (must have)</a:t>
            </a:r>
          </a:p>
          <a:p>
            <a:pPr marL="0" indent="0">
              <a:buNone/>
            </a:pPr>
            <a:r>
              <a:rPr lang="en-US" dirty="0"/>
              <a:t>-	followed by </a:t>
            </a:r>
            <a:r>
              <a:rPr lang="en-US" b="1" u="sng" dirty="0">
                <a:solidFill>
                  <a:schemeClr val="accent5"/>
                </a:solidFill>
              </a:rPr>
              <a:t>zero or more</a:t>
            </a:r>
            <a:r>
              <a:rPr lang="en-US" b="1" dirty="0">
                <a:solidFill>
                  <a:schemeClr val="accent5"/>
                </a:solidFill>
              </a:rPr>
              <a:t> </a:t>
            </a:r>
            <a:r>
              <a:rPr lang="en-US" b="1" dirty="0">
                <a:solidFill>
                  <a:schemeClr val="accent5"/>
                </a:solidFill>
                <a:latin typeface="Consolas" panose="020B0609020204030204" pitchFamily="49" charset="0"/>
              </a:rPr>
              <a:t>'b'</a:t>
            </a:r>
            <a:r>
              <a:rPr lang="en-US" dirty="0"/>
              <a:t>s</a:t>
            </a:r>
          </a:p>
          <a:p>
            <a:endParaRPr lang="en-US" dirty="0"/>
          </a:p>
          <a:p>
            <a:pPr marL="0" indent="0">
              <a:buNone/>
            </a:pPr>
            <a:r>
              <a:rPr lang="en-US" dirty="0">
                <a:latin typeface="Consolas" panose="020B0609020204030204" pitchFamily="49" charset="0"/>
                <a:cs typeface="Courier New" panose="02070309020205020404" pitchFamily="49" charset="0"/>
              </a:rPr>
              <a:t>	</a:t>
            </a:r>
            <a:r>
              <a:rPr lang="en-US" b="1" dirty="0">
                <a:solidFill>
                  <a:schemeClr val="accent6"/>
                </a:solidFill>
                <a:latin typeface="Consolas" panose="020B0609020204030204" pitchFamily="49" charset="0"/>
                <a:cs typeface="Courier New" panose="02070309020205020404" pitchFamily="49" charset="0"/>
              </a:rPr>
              <a:t>a</a:t>
            </a:r>
            <a:r>
              <a:rPr lang="en-US" b="1" dirty="0">
                <a:solidFill>
                  <a:schemeClr val="accent5"/>
                </a:solidFill>
                <a:latin typeface="Consolas" panose="020B0609020204030204" pitchFamily="49" charset="0"/>
                <a:cs typeface="Courier New" panose="02070309020205020404" pitchFamily="49" charset="0"/>
              </a:rPr>
              <a:t>b+</a:t>
            </a:r>
            <a:r>
              <a:rPr lang="en-US" dirty="0">
                <a:latin typeface="Consolas" panose="020B0609020204030204" pitchFamily="49" charset="0"/>
                <a:cs typeface="Courier New" panose="02070309020205020404" pitchFamily="49" charset="0"/>
              </a:rPr>
              <a:t> </a:t>
            </a:r>
            <a:r>
              <a:rPr lang="en-US" dirty="0"/>
              <a:t>will match</a:t>
            </a:r>
          </a:p>
          <a:p>
            <a:pPr marL="0" indent="0">
              <a:buNone/>
            </a:pPr>
            <a:r>
              <a:rPr lang="en-US" dirty="0"/>
              <a:t>-	</a:t>
            </a:r>
            <a:r>
              <a:rPr lang="en-US" b="1" dirty="0">
                <a:solidFill>
                  <a:schemeClr val="accent6"/>
                </a:solidFill>
                <a:latin typeface="Consolas" panose="020B0609020204030204" pitchFamily="49" charset="0"/>
              </a:rPr>
              <a:t>'a'</a:t>
            </a:r>
            <a:r>
              <a:rPr lang="en-US" dirty="0"/>
              <a:t>  (must have)</a:t>
            </a:r>
          </a:p>
          <a:p>
            <a:pPr marL="0" indent="0">
              <a:buNone/>
            </a:pPr>
            <a:r>
              <a:rPr lang="en-US" dirty="0"/>
              <a:t>-	followed by </a:t>
            </a:r>
            <a:r>
              <a:rPr lang="en-US" b="1" u="sng" dirty="0">
                <a:solidFill>
                  <a:schemeClr val="accent5"/>
                </a:solidFill>
              </a:rPr>
              <a:t>one or more</a:t>
            </a:r>
            <a:r>
              <a:rPr lang="en-US" b="1" dirty="0">
                <a:solidFill>
                  <a:schemeClr val="accent5"/>
                </a:solidFill>
              </a:rPr>
              <a:t> </a:t>
            </a:r>
            <a:r>
              <a:rPr lang="en-US" b="1" dirty="0">
                <a:solidFill>
                  <a:schemeClr val="accent5"/>
                </a:solidFill>
                <a:latin typeface="Consolas" panose="020B0609020204030204" pitchFamily="49" charset="0"/>
              </a:rPr>
              <a:t>'b'</a:t>
            </a:r>
            <a:r>
              <a:rPr lang="en-US" dirty="0"/>
              <a:t>s (</a:t>
            </a:r>
            <a:r>
              <a:rPr lang="en-US" b="1" dirty="0"/>
              <a:t>will not </a:t>
            </a:r>
            <a:r>
              <a:rPr lang="en-US" dirty="0"/>
              <a:t>match just </a:t>
            </a:r>
            <a:r>
              <a:rPr lang="en-US" b="1" dirty="0">
                <a:latin typeface="Consolas" panose="020B0609020204030204" pitchFamily="49" charset="0"/>
              </a:rPr>
              <a:t>'a'</a:t>
            </a:r>
            <a:r>
              <a:rPr lang="en-US" dirty="0"/>
              <a:t>)</a:t>
            </a:r>
          </a:p>
          <a:p>
            <a:endParaRPr lang="en-US" dirty="0"/>
          </a:p>
          <a:p>
            <a:pPr marL="0" indent="0">
              <a:buNone/>
            </a:pPr>
            <a:r>
              <a:rPr lang="en-US" dirty="0">
                <a:latin typeface="Consolas" panose="020B0609020204030204" pitchFamily="49" charset="0"/>
                <a:cs typeface="Courier New" panose="02070309020205020404" pitchFamily="49" charset="0"/>
              </a:rPr>
              <a:t>	</a:t>
            </a:r>
            <a:r>
              <a:rPr lang="en-US" b="1" dirty="0">
                <a:solidFill>
                  <a:schemeClr val="accent6"/>
                </a:solidFill>
                <a:latin typeface="Consolas" panose="020B0609020204030204" pitchFamily="49" charset="0"/>
                <a:cs typeface="Courier New" panose="02070309020205020404" pitchFamily="49" charset="0"/>
              </a:rPr>
              <a:t>a</a:t>
            </a:r>
            <a:r>
              <a:rPr lang="en-US" b="1" dirty="0">
                <a:solidFill>
                  <a:schemeClr val="accent5"/>
                </a:solidFill>
                <a:latin typeface="Consolas" panose="020B0609020204030204" pitchFamily="49" charset="0"/>
                <a:cs typeface="Courier New" panose="02070309020205020404" pitchFamily="49" charset="0"/>
              </a:rPr>
              <a:t>b?</a:t>
            </a:r>
            <a:r>
              <a:rPr lang="en-US" dirty="0">
                <a:latin typeface="Consolas" panose="020B0609020204030204" pitchFamily="49" charset="0"/>
                <a:cs typeface="Courier New" panose="02070309020205020404" pitchFamily="49" charset="0"/>
              </a:rPr>
              <a:t> </a:t>
            </a:r>
            <a:r>
              <a:rPr lang="en-US" dirty="0"/>
              <a:t>will match </a:t>
            </a:r>
          </a:p>
          <a:p>
            <a:pPr marL="0" indent="0">
              <a:buNone/>
            </a:pPr>
            <a:r>
              <a:rPr lang="en-US" dirty="0"/>
              <a:t>-	</a:t>
            </a:r>
            <a:r>
              <a:rPr lang="en-US" b="1" dirty="0">
                <a:solidFill>
                  <a:schemeClr val="accent6"/>
                </a:solidFill>
                <a:latin typeface="Consolas" panose="020B0609020204030204" pitchFamily="49" charset="0"/>
              </a:rPr>
              <a:t>'a'</a:t>
            </a:r>
            <a:r>
              <a:rPr lang="en-US" dirty="0"/>
              <a:t>  (must have)</a:t>
            </a:r>
          </a:p>
          <a:p>
            <a:pPr marL="0" indent="0">
              <a:buNone/>
            </a:pPr>
            <a:r>
              <a:rPr lang="en-US" dirty="0"/>
              <a:t>-	 followed by </a:t>
            </a:r>
            <a:r>
              <a:rPr lang="en-US" b="1" u="sng" dirty="0">
                <a:solidFill>
                  <a:schemeClr val="accent5"/>
                </a:solidFill>
              </a:rPr>
              <a:t>zero or one</a:t>
            </a:r>
            <a:r>
              <a:rPr lang="en-US" b="1" dirty="0">
                <a:solidFill>
                  <a:schemeClr val="accent5"/>
                </a:solidFill>
              </a:rPr>
              <a:t> </a:t>
            </a:r>
            <a:r>
              <a:rPr lang="en-US" b="1" dirty="0">
                <a:solidFill>
                  <a:schemeClr val="accent5"/>
                </a:solidFill>
                <a:latin typeface="Consolas" panose="020B0609020204030204" pitchFamily="49" charset="0"/>
              </a:rPr>
              <a:t>'b'</a:t>
            </a:r>
            <a:r>
              <a:rPr lang="en-US" dirty="0"/>
              <a:t>s</a:t>
            </a:r>
            <a:endParaRPr lang="en-US" u="sng"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88788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A set of characters:  [ ]</a:t>
            </a:r>
          </a:p>
        </p:txBody>
      </p:sp>
      <p:sp>
        <p:nvSpPr>
          <p:cNvPr id="3" name="Content Placeholder 2"/>
          <p:cNvSpPr>
            <a:spLocks noGrp="1"/>
          </p:cNvSpPr>
          <p:nvPr>
            <p:ph idx="1"/>
          </p:nvPr>
        </p:nvSpPr>
        <p:spPr/>
        <p:txBody>
          <a:bodyPr/>
          <a:lstStyle/>
          <a:p>
            <a:pPr>
              <a:tabLst>
                <a:tab pos="254794" algn="l"/>
                <a:tab pos="4157663" algn="l"/>
              </a:tabLst>
            </a:pPr>
            <a:r>
              <a:rPr lang="en-US" dirty="0">
                <a:solidFill>
                  <a:srgbClr val="FF0000"/>
                </a:solidFill>
                <a:latin typeface="Consolas" panose="020B0609020204030204" pitchFamily="49" charset="0"/>
                <a:cs typeface="Courier New" panose="02070309020205020404" pitchFamily="49" charset="0"/>
              </a:rPr>
              <a:t>[</a:t>
            </a:r>
            <a:r>
              <a:rPr lang="en-US" dirty="0" err="1">
                <a:solidFill>
                  <a:schemeClr val="accent5"/>
                </a:solidFill>
                <a:latin typeface="Consolas" panose="020B0609020204030204" pitchFamily="49" charset="0"/>
                <a:cs typeface="Courier New" panose="02070309020205020404" pitchFamily="49" charset="0"/>
              </a:rPr>
              <a:t>aeiou</a:t>
            </a:r>
            <a:r>
              <a:rPr lang="en-US" dirty="0">
                <a:solidFill>
                  <a:srgbClr val="FF0000"/>
                </a:solidFill>
                <a:latin typeface="Consolas" panose="020B0609020204030204" pitchFamily="49" charset="0"/>
                <a:cs typeface="Courier New" panose="02070309020205020404" pitchFamily="49" charset="0"/>
              </a:rPr>
              <a:t>]</a:t>
            </a:r>
            <a:r>
              <a:rPr lang="en-US" dirty="0">
                <a:latin typeface="Consolas" panose="020B0609020204030204" pitchFamily="49" charset="0"/>
                <a:cs typeface="Courier New" panose="02070309020205020404" pitchFamily="49" charset="0"/>
              </a:rPr>
              <a:t> </a:t>
            </a:r>
            <a:r>
              <a:rPr lang="en-US" dirty="0"/>
              <a:t>A </a:t>
            </a:r>
            <a:r>
              <a:rPr lang="en-US" b="1" dirty="0"/>
              <a:t>single character</a:t>
            </a:r>
            <a:r>
              <a:rPr lang="en-US" dirty="0"/>
              <a:t> in the set {a, e, </a:t>
            </a:r>
            <a:r>
              <a:rPr lang="en-US" dirty="0" err="1"/>
              <a:t>i</a:t>
            </a:r>
            <a:r>
              <a:rPr lang="en-US" dirty="0"/>
              <a:t>, o, u}</a:t>
            </a:r>
          </a:p>
          <a:p>
            <a:pPr>
              <a:tabLst>
                <a:tab pos="254794" algn="l"/>
                <a:tab pos="4157663" algn="l"/>
              </a:tabLst>
            </a:pPr>
            <a:r>
              <a:rPr lang="en-US" dirty="0">
                <a:solidFill>
                  <a:srgbClr val="FF0000"/>
                </a:solidFill>
                <a:latin typeface="Consolas" panose="020B0609020204030204" pitchFamily="49" charset="0"/>
                <a:cs typeface="Courier New" panose="02070309020205020404" pitchFamily="49" charset="0"/>
              </a:rPr>
              <a:t>[</a:t>
            </a:r>
            <a:r>
              <a:rPr lang="en-US" b="1" dirty="0">
                <a:solidFill>
                  <a:schemeClr val="accent6"/>
                </a:solidFill>
                <a:latin typeface="Consolas" panose="020B0609020204030204" pitchFamily="49" charset="0"/>
                <a:cs typeface="Courier New" panose="02070309020205020404" pitchFamily="49" charset="0"/>
              </a:rPr>
              <a:t>^</a:t>
            </a:r>
            <a:r>
              <a:rPr lang="en-US" dirty="0" err="1">
                <a:solidFill>
                  <a:schemeClr val="accent5"/>
                </a:solidFill>
                <a:latin typeface="Consolas" panose="020B0609020204030204" pitchFamily="49" charset="0"/>
                <a:cs typeface="Courier New" panose="02070309020205020404" pitchFamily="49" charset="0"/>
              </a:rPr>
              <a:t>aeiou</a:t>
            </a:r>
            <a:r>
              <a:rPr lang="en-US" dirty="0">
                <a:solidFill>
                  <a:srgbClr val="FF0000"/>
                </a:solidFill>
                <a:latin typeface="Consolas" panose="020B0609020204030204" pitchFamily="49" charset="0"/>
                <a:cs typeface="Courier New" panose="02070309020205020404" pitchFamily="49" charset="0"/>
              </a:rPr>
              <a:t>]</a:t>
            </a:r>
            <a:r>
              <a:rPr lang="en-US" dirty="0"/>
              <a:t>A </a:t>
            </a:r>
            <a:r>
              <a:rPr lang="en-US" b="1" dirty="0"/>
              <a:t>single character</a:t>
            </a:r>
            <a:r>
              <a:rPr lang="en-US" dirty="0"/>
              <a:t> </a:t>
            </a:r>
            <a:r>
              <a:rPr lang="en-US" b="1" u="sng" dirty="0">
                <a:solidFill>
                  <a:schemeClr val="accent6"/>
                </a:solidFill>
              </a:rPr>
              <a:t>not</a:t>
            </a:r>
            <a:r>
              <a:rPr lang="en-US" b="1" dirty="0">
                <a:solidFill>
                  <a:schemeClr val="accent6"/>
                </a:solidFill>
              </a:rPr>
              <a:t> </a:t>
            </a:r>
            <a:r>
              <a:rPr lang="en-US" dirty="0"/>
              <a:t>in set {a, e, </a:t>
            </a:r>
            <a:r>
              <a:rPr lang="en-US" dirty="0" err="1"/>
              <a:t>i</a:t>
            </a:r>
            <a:r>
              <a:rPr lang="en-US" dirty="0"/>
              <a:t>, o, u}</a:t>
            </a:r>
          </a:p>
        </p:txBody>
      </p:sp>
      <p:sp>
        <p:nvSpPr>
          <p:cNvPr id="6" name="TextBox 5"/>
          <p:cNvSpPr txBox="1"/>
          <p:nvPr/>
        </p:nvSpPr>
        <p:spPr>
          <a:xfrm>
            <a:off x="1202562" y="3738411"/>
            <a:ext cx="7362144" cy="1154162"/>
          </a:xfrm>
          <a:prstGeom prst="rect">
            <a:avLst/>
          </a:prstGeom>
          <a:noFill/>
        </p:spPr>
        <p:txBody>
          <a:bodyPr wrap="none" rtlCol="0">
            <a:spAutoFit/>
          </a:bodyPr>
          <a:lstStyle/>
          <a:p>
            <a:r>
              <a:rPr lang="en-US" sz="2400" dirty="0"/>
              <a:t>Example:</a:t>
            </a:r>
          </a:p>
          <a:p>
            <a:r>
              <a:rPr lang="en-US" sz="2400" dirty="0"/>
              <a:t>What substrings does </a:t>
            </a:r>
            <a:r>
              <a:rPr lang="en-US" sz="2400" b="1" dirty="0">
                <a:solidFill>
                  <a:schemeClr val="accent5"/>
                </a:solidFill>
                <a:latin typeface="Consolas" panose="020B0609020204030204" pitchFamily="49" charset="0"/>
                <a:cs typeface="Courier New" panose="02070309020205020404" pitchFamily="49" charset="0"/>
              </a:rPr>
              <a:t>[</a:t>
            </a:r>
            <a:r>
              <a:rPr lang="en-US" sz="2400" b="1" dirty="0" err="1">
                <a:solidFill>
                  <a:schemeClr val="accent5"/>
                </a:solidFill>
                <a:latin typeface="Consolas" panose="020B0609020204030204" pitchFamily="49" charset="0"/>
                <a:cs typeface="Courier New" panose="02070309020205020404" pitchFamily="49" charset="0"/>
              </a:rPr>
              <a:t>aeiou</a:t>
            </a:r>
            <a:r>
              <a:rPr lang="en-US" sz="2400" b="1" dirty="0">
                <a:solidFill>
                  <a:schemeClr val="accent5"/>
                </a:solidFill>
                <a:latin typeface="Consolas" panose="020B0609020204030204" pitchFamily="49" charset="0"/>
                <a:cs typeface="Courier New" panose="02070309020205020404" pitchFamily="49" charset="0"/>
              </a:rPr>
              <a:t>]{2,} </a:t>
            </a:r>
            <a:r>
              <a:rPr lang="en-US" sz="2400" dirty="0">
                <a:cs typeface="Courier New" panose="02070309020205020404" pitchFamily="49" charset="0"/>
              </a:rPr>
              <a:t>match in this text?</a:t>
            </a:r>
          </a:p>
          <a:p>
            <a:r>
              <a:rPr lang="en-US" sz="2100" dirty="0">
                <a:solidFill>
                  <a:schemeClr val="accent6"/>
                </a:solidFill>
                <a:latin typeface="Consolas" panose="020B0609020204030204" pitchFamily="49" charset="0"/>
                <a:cs typeface="Courier New" panose="02070309020205020404" pitchFamily="49" charset="0"/>
              </a:rPr>
              <a:t>The eerie wind said "</a:t>
            </a:r>
            <a:r>
              <a:rPr lang="en-US" sz="2100" dirty="0" err="1">
                <a:solidFill>
                  <a:schemeClr val="accent6"/>
                </a:solidFill>
                <a:latin typeface="Consolas" panose="020B0609020204030204" pitchFamily="49" charset="0"/>
                <a:cs typeface="Courier New" panose="02070309020205020404" pitchFamily="49" charset="0"/>
              </a:rPr>
              <a:t>Oooo</a:t>
            </a:r>
            <a:r>
              <a:rPr lang="en-US" sz="2100" dirty="0">
                <a:solidFill>
                  <a:schemeClr val="accent6"/>
                </a:solidFill>
                <a:latin typeface="Consolas" panose="020B0609020204030204" pitchFamily="49" charset="0"/>
                <a:cs typeface="Courier New" panose="02070309020205020404" pitchFamily="49" charset="0"/>
              </a:rPr>
              <a:t>" and "</a:t>
            </a:r>
            <a:r>
              <a:rPr lang="en-US" sz="2100" dirty="0" err="1">
                <a:solidFill>
                  <a:schemeClr val="accent6"/>
                </a:solidFill>
                <a:latin typeface="Consolas" panose="020B0609020204030204" pitchFamily="49" charset="0"/>
                <a:cs typeface="Courier New" panose="02070309020205020404" pitchFamily="49" charset="0"/>
              </a:rPr>
              <a:t>Rrr</a:t>
            </a:r>
            <a:r>
              <a:rPr lang="en-US" sz="2100" dirty="0">
                <a:solidFill>
                  <a:schemeClr val="accent6"/>
                </a:solidFill>
                <a:latin typeface="Consolas" panose="020B0609020204030204" pitchFamily="49" charset="0"/>
                <a:cs typeface="Courier New" panose="02070309020205020404" pitchFamily="49" charset="0"/>
              </a:rPr>
              <a:t>".</a:t>
            </a:r>
            <a:endParaRPr lang="en-US" sz="2100" dirty="0">
              <a:solidFill>
                <a:schemeClr val="accent6"/>
              </a:solidFill>
              <a:latin typeface="Consolas" panose="020B0609020204030204" pitchFamily="49" charset="0"/>
            </a:endParaRPr>
          </a:p>
        </p:txBody>
      </p:sp>
      <p:sp>
        <p:nvSpPr>
          <p:cNvPr id="7" name="TextBox 6"/>
          <p:cNvSpPr txBox="1"/>
          <p:nvPr/>
        </p:nvSpPr>
        <p:spPr>
          <a:xfrm>
            <a:off x="1202562" y="5284927"/>
            <a:ext cx="5772150" cy="415498"/>
          </a:xfrm>
          <a:prstGeom prst="rect">
            <a:avLst/>
          </a:prstGeom>
          <a:noFill/>
        </p:spPr>
        <p:txBody>
          <a:bodyPr wrap="square" rtlCol="0">
            <a:spAutoFit/>
          </a:bodyPr>
          <a:lstStyle/>
          <a:p>
            <a:r>
              <a:rPr lang="en-US" sz="2100" dirty="0">
                <a:solidFill>
                  <a:schemeClr val="accent6"/>
                </a:solidFill>
                <a:latin typeface="Consolas" panose="020B0609020204030204" pitchFamily="49" charset="0"/>
                <a:cs typeface="Courier New" panose="02070309020205020404" pitchFamily="49" charset="0"/>
              </a:rPr>
              <a:t>The </a:t>
            </a:r>
            <a:r>
              <a:rPr lang="en-US" sz="2100" u="sng" dirty="0">
                <a:solidFill>
                  <a:schemeClr val="accent6"/>
                </a:solidFill>
                <a:latin typeface="Consolas" panose="020B0609020204030204" pitchFamily="49" charset="0"/>
                <a:cs typeface="Courier New" panose="02070309020205020404" pitchFamily="49" charset="0"/>
              </a:rPr>
              <a:t>ee</a:t>
            </a:r>
            <a:r>
              <a:rPr lang="en-US" sz="2100" dirty="0">
                <a:solidFill>
                  <a:schemeClr val="accent6"/>
                </a:solidFill>
                <a:latin typeface="Consolas" panose="020B0609020204030204" pitchFamily="49" charset="0"/>
                <a:cs typeface="Courier New" panose="02070309020205020404" pitchFamily="49" charset="0"/>
              </a:rPr>
              <a:t>r</a:t>
            </a:r>
            <a:r>
              <a:rPr lang="en-US" sz="2100" u="sng" dirty="0">
                <a:solidFill>
                  <a:schemeClr val="accent6"/>
                </a:solidFill>
                <a:latin typeface="Consolas" panose="020B0609020204030204" pitchFamily="49" charset="0"/>
                <a:cs typeface="Courier New" panose="02070309020205020404" pitchFamily="49" charset="0"/>
              </a:rPr>
              <a:t>ie</a:t>
            </a:r>
            <a:r>
              <a:rPr lang="en-US" sz="2100" dirty="0">
                <a:solidFill>
                  <a:schemeClr val="accent6"/>
                </a:solidFill>
                <a:latin typeface="Consolas" panose="020B0609020204030204" pitchFamily="49" charset="0"/>
                <a:cs typeface="Courier New" panose="02070309020205020404" pitchFamily="49" charset="0"/>
              </a:rPr>
              <a:t> wind s</a:t>
            </a:r>
            <a:r>
              <a:rPr lang="en-US" sz="2100" u="sng" dirty="0">
                <a:solidFill>
                  <a:schemeClr val="accent6"/>
                </a:solidFill>
                <a:latin typeface="Consolas" panose="020B0609020204030204" pitchFamily="49" charset="0"/>
                <a:cs typeface="Courier New" panose="02070309020205020404" pitchFamily="49" charset="0"/>
              </a:rPr>
              <a:t>ai</a:t>
            </a:r>
            <a:r>
              <a:rPr lang="en-US" sz="2100" dirty="0">
                <a:solidFill>
                  <a:schemeClr val="accent6"/>
                </a:solidFill>
                <a:latin typeface="Consolas" panose="020B0609020204030204" pitchFamily="49" charset="0"/>
                <a:cs typeface="Courier New" panose="02070309020205020404" pitchFamily="49" charset="0"/>
              </a:rPr>
              <a:t>d "</a:t>
            </a:r>
            <a:r>
              <a:rPr lang="en-US" sz="2100" dirty="0" err="1">
                <a:solidFill>
                  <a:schemeClr val="accent6"/>
                </a:solidFill>
                <a:latin typeface="Consolas" panose="020B0609020204030204" pitchFamily="49" charset="0"/>
                <a:cs typeface="Courier New" panose="02070309020205020404" pitchFamily="49" charset="0"/>
              </a:rPr>
              <a:t>O</a:t>
            </a:r>
            <a:r>
              <a:rPr lang="en-US" sz="2100" u="sng" dirty="0" err="1">
                <a:solidFill>
                  <a:schemeClr val="accent6"/>
                </a:solidFill>
                <a:latin typeface="Consolas" panose="020B0609020204030204" pitchFamily="49" charset="0"/>
                <a:cs typeface="Courier New" panose="02070309020205020404" pitchFamily="49" charset="0"/>
              </a:rPr>
              <a:t>ooo</a:t>
            </a:r>
            <a:r>
              <a:rPr lang="en-US" sz="2100" dirty="0">
                <a:solidFill>
                  <a:schemeClr val="accent6"/>
                </a:solidFill>
                <a:latin typeface="Consolas" panose="020B0609020204030204" pitchFamily="49" charset="0"/>
                <a:cs typeface="Courier New" panose="02070309020205020404" pitchFamily="49" charset="0"/>
              </a:rPr>
              <a:t>" and "</a:t>
            </a:r>
            <a:r>
              <a:rPr lang="en-US" sz="2100" dirty="0" err="1">
                <a:solidFill>
                  <a:schemeClr val="accent6"/>
                </a:solidFill>
                <a:latin typeface="Consolas" panose="020B0609020204030204" pitchFamily="49" charset="0"/>
                <a:cs typeface="Courier New" panose="02070309020205020404" pitchFamily="49" charset="0"/>
              </a:rPr>
              <a:t>Rrr</a:t>
            </a:r>
            <a:r>
              <a:rPr lang="en-US" sz="2100" dirty="0">
                <a:solidFill>
                  <a:schemeClr val="accent6"/>
                </a:solidFill>
                <a:latin typeface="Consolas" panose="020B0609020204030204" pitchFamily="49" charset="0"/>
                <a:cs typeface="Courier New" panose="02070309020205020404" pitchFamily="49" charset="0"/>
              </a:rPr>
              <a:t>".</a:t>
            </a:r>
            <a:endParaRPr lang="en-US" sz="2100" dirty="0">
              <a:solidFill>
                <a:schemeClr val="accent6"/>
              </a:solidFill>
              <a:latin typeface="Consolas" panose="020B0609020204030204" pitchFamily="49" charset="0"/>
            </a:endParaRPr>
          </a:p>
        </p:txBody>
      </p:sp>
    </p:spTree>
    <p:extLst>
      <p:ext uri="{BB962C8B-B14F-4D97-AF65-F5344CB8AC3E}">
        <p14:creationId xmlns:p14="http://schemas.microsoft.com/office/powerpoint/2010/main" val="2376649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700545" cy="1325563"/>
          </a:xfrm>
        </p:spPr>
        <p:txBody>
          <a:bodyPr vert="horz" lIns="91440" tIns="45720" rIns="91440" bIns="45720" rtlCol="0" anchor="ctr">
            <a:normAutofit/>
          </a:bodyPr>
          <a:lstStyle/>
          <a:p>
            <a:r>
              <a:rPr lang="en-US" b="0" dirty="0"/>
              <a:t>Define a range with dash “-”</a:t>
            </a:r>
          </a:p>
        </p:txBody>
      </p:sp>
      <p:sp>
        <p:nvSpPr>
          <p:cNvPr id="4" name="Content Placeholder 3"/>
          <p:cNvSpPr>
            <a:spLocks noGrp="1"/>
          </p:cNvSpPr>
          <p:nvPr>
            <p:ph idx="1"/>
          </p:nvPr>
        </p:nvSpPr>
        <p:spPr>
          <a:xfrm>
            <a:off x="107790" y="1790901"/>
            <a:ext cx="7728272" cy="4351338"/>
          </a:xfrm>
        </p:spPr>
        <p:txBody>
          <a:bodyPr>
            <a:normAutofit fontScale="77500" lnSpcReduction="20000"/>
          </a:bodyPr>
          <a:lstStyle/>
          <a:p>
            <a:pPr marL="0" indent="0">
              <a:buNone/>
            </a:pPr>
            <a:r>
              <a:rPr lang="en-US" dirty="0"/>
              <a:t>	</a:t>
            </a:r>
            <a:r>
              <a:rPr lang="en-US" u="sng" dirty="0"/>
              <a:t>Valid:</a:t>
            </a:r>
            <a:endParaRPr lang="en-US" dirty="0"/>
          </a:p>
          <a:p>
            <a:pPr marL="0" indent="0">
              <a:buNone/>
            </a:pPr>
            <a:r>
              <a:rPr lang="en-US" b="1" dirty="0">
                <a:solidFill>
                  <a:schemeClr val="accent5"/>
                </a:solidFill>
                <a:latin typeface="Consolas" panose="020B0609020204030204" pitchFamily="49" charset="0"/>
                <a:cs typeface="Courier New" panose="02070309020205020404" pitchFamily="49" charset="0"/>
              </a:rPr>
              <a:t>	[A-Z] </a:t>
            </a:r>
            <a:r>
              <a:rPr lang="en-US" dirty="0"/>
              <a:t>		Upper Case Roman Alphabet</a:t>
            </a:r>
          </a:p>
          <a:p>
            <a:pPr marL="0" indent="0">
              <a:buNone/>
            </a:pPr>
            <a:r>
              <a:rPr lang="en-US" b="1" dirty="0">
                <a:solidFill>
                  <a:schemeClr val="accent5"/>
                </a:solidFill>
                <a:latin typeface="Consolas" panose="020B0609020204030204" pitchFamily="49" charset="0"/>
                <a:cs typeface="Courier New" panose="02070309020205020404" pitchFamily="49" charset="0"/>
              </a:rPr>
              <a:t>	[a-z] </a:t>
            </a:r>
            <a:r>
              <a:rPr lang="en-US" dirty="0"/>
              <a:t>		Lower Case Roman Alphabet</a:t>
            </a:r>
          </a:p>
          <a:p>
            <a:pPr marL="0" indent="0">
              <a:buNone/>
            </a:pPr>
            <a:r>
              <a:rPr lang="en-US" b="1" dirty="0">
                <a:solidFill>
                  <a:schemeClr val="accent5"/>
                </a:solidFill>
                <a:latin typeface="Consolas" panose="020B0609020204030204" pitchFamily="49" charset="0"/>
                <a:cs typeface="Courier New" panose="02070309020205020404" pitchFamily="49" charset="0"/>
              </a:rPr>
              <a:t>	[A-Za-z]</a:t>
            </a:r>
            <a:r>
              <a:rPr lang="en-US" dirty="0"/>
              <a:t>		Upper Case and Lower Case</a:t>
            </a:r>
          </a:p>
          <a:p>
            <a:pPr marL="0" indent="0">
              <a:buNone/>
            </a:pPr>
            <a:r>
              <a:rPr lang="en-US" b="1" dirty="0">
                <a:solidFill>
                  <a:schemeClr val="accent5"/>
                </a:solidFill>
                <a:latin typeface="Consolas" panose="020B0609020204030204" pitchFamily="49" charset="0"/>
                <a:cs typeface="Courier New" panose="02070309020205020404" pitchFamily="49" charset="0"/>
              </a:rPr>
              <a:t>	[A-F]</a:t>
            </a:r>
            <a:r>
              <a:rPr lang="en-US" dirty="0"/>
              <a:t>			Upper Case (but only A – F)</a:t>
            </a:r>
          </a:p>
          <a:p>
            <a:pPr marL="0" indent="0">
              <a:buNone/>
            </a:pPr>
            <a:r>
              <a:rPr lang="en-US" b="1" dirty="0">
                <a:solidFill>
                  <a:schemeClr val="accent5"/>
                </a:solidFill>
                <a:latin typeface="Consolas" panose="020B0609020204030204" pitchFamily="49" charset="0"/>
                <a:cs typeface="Courier New" panose="02070309020205020404" pitchFamily="49" charset="0"/>
              </a:rPr>
              <a:t>	[0-9]</a:t>
            </a:r>
            <a:r>
              <a:rPr lang="en-US" dirty="0"/>
              <a:t>			</a:t>
            </a:r>
            <a:r>
              <a:rPr lang="en-US" b="1" dirty="0">
                <a:solidFill>
                  <a:srgbClr val="00B050"/>
                </a:solidFill>
              </a:rPr>
              <a:t>\d</a:t>
            </a:r>
          </a:p>
          <a:p>
            <a:pPr marL="0" indent="0">
              <a:buNone/>
            </a:pPr>
            <a:r>
              <a:rPr lang="en-US" b="1" dirty="0">
                <a:solidFill>
                  <a:schemeClr val="accent5"/>
                </a:solidFill>
                <a:latin typeface="Consolas" panose="020B0609020204030204" pitchFamily="49" charset="0"/>
                <a:cs typeface="Courier New" panose="02070309020205020404" pitchFamily="49" charset="0"/>
              </a:rPr>
              <a:t>	[a-zA-Z0-9_]</a:t>
            </a:r>
            <a:r>
              <a:rPr lang="en-US" dirty="0"/>
              <a:t>	</a:t>
            </a:r>
            <a:r>
              <a:rPr lang="en-US" b="1" dirty="0">
                <a:solidFill>
                  <a:srgbClr val="00B050"/>
                </a:solidFill>
              </a:rPr>
              <a:t>\w</a:t>
            </a:r>
          </a:p>
          <a:p>
            <a:pPr marL="0" indent="0">
              <a:buNone/>
            </a:pPr>
            <a:endParaRPr lang="en-US" dirty="0"/>
          </a:p>
          <a:p>
            <a:pPr marL="0" indent="0">
              <a:buNone/>
            </a:pPr>
            <a:r>
              <a:rPr lang="en-US" dirty="0"/>
              <a:t>	</a:t>
            </a:r>
            <a:r>
              <a:rPr lang="en-US" u="sng" dirty="0"/>
              <a:t>Invalid:</a:t>
            </a:r>
            <a:endParaRPr lang="en-US" dirty="0"/>
          </a:p>
          <a:p>
            <a:pPr marL="0" indent="0">
              <a:buNone/>
            </a:pPr>
            <a:r>
              <a:rPr lang="en-US" b="1" dirty="0">
                <a:solidFill>
                  <a:srgbClr val="FF0000"/>
                </a:solidFill>
                <a:latin typeface="Consolas" panose="020B0609020204030204" pitchFamily="49" charset="0"/>
                <a:cs typeface="Courier New" panose="02070309020205020404" pitchFamily="49" charset="0"/>
              </a:rPr>
              <a:t>	[a-Z]</a:t>
            </a:r>
          </a:p>
          <a:p>
            <a:pPr marL="0" indent="0">
              <a:buNone/>
            </a:pPr>
            <a:r>
              <a:rPr lang="en-US" b="1" dirty="0">
                <a:solidFill>
                  <a:srgbClr val="FF0000"/>
                </a:solidFill>
                <a:latin typeface="Consolas" panose="020B0609020204030204" pitchFamily="49" charset="0"/>
                <a:cs typeface="Courier New" panose="02070309020205020404" pitchFamily="49" charset="0"/>
              </a:rPr>
              <a:t>	[F-A]</a:t>
            </a:r>
          </a:p>
          <a:p>
            <a:pPr marL="0" indent="0">
              <a:buNone/>
            </a:pPr>
            <a:r>
              <a:rPr lang="en-US" b="1" dirty="0">
                <a:solidFill>
                  <a:srgbClr val="FF0000"/>
                </a:solidFill>
                <a:latin typeface="Consolas" panose="020B0609020204030204" pitchFamily="49" charset="0"/>
                <a:cs typeface="Courier New" panose="02070309020205020404" pitchFamily="49" charset="0"/>
              </a:rPr>
              <a:t>	[9-0]</a:t>
            </a:r>
          </a:p>
        </p:txBody>
      </p:sp>
    </p:spTree>
    <p:extLst>
      <p:ext uri="{BB962C8B-B14F-4D97-AF65-F5344CB8AC3E}">
        <p14:creationId xmlns:p14="http://schemas.microsoft.com/office/powerpoint/2010/main" val="2541434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solidFill>
                  <a:srgbClr val="FF0000"/>
                </a:solidFill>
              </a:rPr>
              <a:t>Negation</a:t>
            </a:r>
            <a:r>
              <a:rPr lang="en-US" b="0" dirty="0"/>
              <a:t> of ranges</a:t>
            </a:r>
          </a:p>
        </p:txBody>
      </p:sp>
      <p:sp>
        <p:nvSpPr>
          <p:cNvPr id="4" name="Content Placeholder 3"/>
          <p:cNvSpPr>
            <a:spLocks noGrp="1"/>
          </p:cNvSpPr>
          <p:nvPr>
            <p:ph idx="1"/>
          </p:nvPr>
        </p:nvSpPr>
        <p:spPr>
          <a:xfrm>
            <a:off x="350044" y="2100263"/>
            <a:ext cx="6000750" cy="3028950"/>
          </a:xfrm>
        </p:spPr>
        <p:txBody>
          <a:bodyPr>
            <a:normAutofit/>
          </a:bodyPr>
          <a:lstStyle/>
          <a:p>
            <a:pPr lvl="1">
              <a:buNone/>
            </a:pPr>
            <a:r>
              <a:rPr lang="en-US" b="1" dirty="0">
                <a:solidFill>
                  <a:schemeClr val="accent5"/>
                </a:solidFill>
                <a:latin typeface="Consolas" panose="020B0609020204030204" pitchFamily="49" charset="0"/>
                <a:cs typeface="Courier New" panose="02070309020205020404" pitchFamily="49" charset="0"/>
              </a:rPr>
              <a:t>[</a:t>
            </a:r>
            <a:r>
              <a:rPr lang="en-US" b="1" dirty="0">
                <a:solidFill>
                  <a:srgbClr val="FF0000"/>
                </a:solidFill>
                <a:latin typeface="Consolas" panose="020B0609020204030204" pitchFamily="49" charset="0"/>
                <a:cs typeface="Courier New" panose="02070309020205020404" pitchFamily="49" charset="0"/>
              </a:rPr>
              <a:t>^</a:t>
            </a:r>
            <a:r>
              <a:rPr lang="en-US" b="1" dirty="0">
                <a:solidFill>
                  <a:schemeClr val="accent5"/>
                </a:solidFill>
                <a:latin typeface="Consolas" panose="020B0609020204030204" pitchFamily="49" charset="0"/>
                <a:cs typeface="Courier New" panose="02070309020205020404" pitchFamily="49" charset="0"/>
              </a:rPr>
              <a:t>0-9]</a:t>
            </a:r>
            <a:r>
              <a:rPr lang="en-US" dirty="0"/>
              <a:t>	Anything BUT digits</a:t>
            </a:r>
          </a:p>
          <a:p>
            <a:pPr lvl="1">
              <a:buNone/>
            </a:pPr>
            <a:r>
              <a:rPr lang="en-US" b="1" dirty="0">
                <a:solidFill>
                  <a:schemeClr val="accent5"/>
                </a:solidFill>
                <a:latin typeface="Consolas" panose="020B0609020204030204" pitchFamily="49" charset="0"/>
                <a:cs typeface="Courier New" panose="02070309020205020404" pitchFamily="49" charset="0"/>
              </a:rPr>
              <a:t>[</a:t>
            </a:r>
            <a:r>
              <a:rPr lang="en-US" b="1" dirty="0">
                <a:solidFill>
                  <a:srgbClr val="FF0000"/>
                </a:solidFill>
                <a:latin typeface="Consolas" panose="020B0609020204030204" pitchFamily="49" charset="0"/>
                <a:cs typeface="Courier New" panose="02070309020205020404" pitchFamily="49" charset="0"/>
              </a:rPr>
              <a:t>^</a:t>
            </a:r>
            <a:r>
              <a:rPr lang="en-US" b="1" dirty="0">
                <a:solidFill>
                  <a:schemeClr val="accent5"/>
                </a:solidFill>
                <a:latin typeface="Consolas" panose="020B0609020204030204" pitchFamily="49" charset="0"/>
                <a:cs typeface="Courier New" panose="02070309020205020404" pitchFamily="49" charset="0"/>
              </a:rPr>
              <a:t>a]</a:t>
            </a:r>
            <a:r>
              <a:rPr lang="en-US" dirty="0"/>
              <a:t>	Anything BUT a lower case a</a:t>
            </a:r>
          </a:p>
          <a:p>
            <a:pPr lvl="1">
              <a:buNone/>
            </a:pPr>
            <a:r>
              <a:rPr lang="en-US" b="1" dirty="0">
                <a:solidFill>
                  <a:schemeClr val="accent5"/>
                </a:solidFill>
                <a:latin typeface="Consolas" panose="020B0609020204030204" pitchFamily="49" charset="0"/>
                <a:cs typeface="Courier New" panose="02070309020205020404" pitchFamily="49" charset="0"/>
              </a:rPr>
              <a:t>[</a:t>
            </a:r>
            <a:r>
              <a:rPr lang="en-US" b="1" dirty="0">
                <a:solidFill>
                  <a:srgbClr val="FF0000"/>
                </a:solidFill>
                <a:latin typeface="Consolas" panose="020B0609020204030204" pitchFamily="49" charset="0"/>
                <a:cs typeface="Courier New" panose="02070309020205020404" pitchFamily="49" charset="0"/>
              </a:rPr>
              <a:t>^</a:t>
            </a:r>
            <a:r>
              <a:rPr lang="en-US" b="1" dirty="0">
                <a:solidFill>
                  <a:schemeClr val="accent5"/>
                </a:solidFill>
                <a:latin typeface="Consolas" panose="020B0609020204030204" pitchFamily="49" charset="0"/>
                <a:cs typeface="Courier New" panose="02070309020205020404" pitchFamily="49" charset="0"/>
              </a:rPr>
              <a:t>A-Z]</a:t>
            </a:r>
            <a:r>
              <a:rPr lang="en-US" dirty="0"/>
              <a:t>	Anything BUT upper case letters</a:t>
            </a:r>
          </a:p>
          <a:p>
            <a:pPr lvl="1">
              <a:buNone/>
            </a:pPr>
            <a:r>
              <a:rPr lang="en-US" b="1" dirty="0">
                <a:solidFill>
                  <a:schemeClr val="accent5"/>
                </a:solidFill>
                <a:latin typeface="Consolas" panose="020B0609020204030204" pitchFamily="49" charset="0"/>
                <a:cs typeface="Courier New" panose="02070309020205020404" pitchFamily="49" charset="0"/>
              </a:rPr>
              <a:t>[</a:t>
            </a:r>
            <a:r>
              <a:rPr lang="en-US" b="1" dirty="0">
                <a:solidFill>
                  <a:srgbClr val="FF0000"/>
                </a:solidFill>
                <a:latin typeface="Consolas" panose="020B0609020204030204" pitchFamily="49" charset="0"/>
                <a:cs typeface="Courier New" panose="02070309020205020404" pitchFamily="49" charset="0"/>
              </a:rPr>
              <a:t>^</a:t>
            </a:r>
            <a:r>
              <a:rPr lang="en-US" b="1" dirty="0">
                <a:solidFill>
                  <a:schemeClr val="accent5"/>
                </a:solidFill>
                <a:latin typeface="Consolas" panose="020B0609020204030204" pitchFamily="49" charset="0"/>
                <a:cs typeface="Courier New" panose="02070309020205020404" pitchFamily="49" charset="0"/>
              </a:rPr>
              <a:t>,]</a:t>
            </a:r>
            <a:r>
              <a:rPr lang="en-US" dirty="0"/>
              <a:t>	Anything BUT </a:t>
            </a:r>
            <a:r>
              <a:rPr lang="en-US" dirty="0">
                <a:latin typeface="Consolas" panose="020B0609020204030204" pitchFamily="49" charset="0"/>
              </a:rPr>
              <a:t>,</a:t>
            </a:r>
          </a:p>
          <a:p>
            <a:pPr lvl="1">
              <a:buNone/>
            </a:pPr>
            <a:endParaRPr lang="en-US" sz="1800" dirty="0"/>
          </a:p>
        </p:txBody>
      </p:sp>
    </p:spTree>
    <p:extLst>
      <p:ext uri="{BB962C8B-B14F-4D97-AF65-F5344CB8AC3E}">
        <p14:creationId xmlns:p14="http://schemas.microsoft.com/office/powerpoint/2010/main" val="1255471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dirty="0"/>
              <a:t>Raw string notation: </a:t>
            </a:r>
            <a:r>
              <a:rPr lang="en-US" b="0" dirty="0" err="1">
                <a:solidFill>
                  <a:srgbClr val="FF0000"/>
                </a:solidFill>
              </a:rPr>
              <a:t>r'text</a:t>
            </a:r>
            <a:r>
              <a:rPr lang="en-US" b="0" dirty="0">
                <a:solidFill>
                  <a:srgbClr val="FF0000"/>
                </a:solidFill>
              </a:rPr>
              <a:t>'</a:t>
            </a:r>
          </a:p>
        </p:txBody>
      </p:sp>
      <p:sp>
        <p:nvSpPr>
          <p:cNvPr id="3" name="Content Placeholder 2"/>
          <p:cNvSpPr>
            <a:spLocks noGrp="1"/>
          </p:cNvSpPr>
          <p:nvPr>
            <p:ph idx="1"/>
          </p:nvPr>
        </p:nvSpPr>
        <p:spPr>
          <a:xfrm>
            <a:off x="628650" y="1865873"/>
            <a:ext cx="9985335" cy="4351338"/>
          </a:xfrm>
        </p:spPr>
        <p:txBody>
          <a:bodyPr>
            <a:normAutofit/>
          </a:bodyPr>
          <a:lstStyle/>
          <a:p>
            <a:pPr marL="0" indent="0">
              <a:spcAft>
                <a:spcPts val="600"/>
              </a:spcAft>
              <a:buNone/>
            </a:pPr>
            <a:r>
              <a:rPr lang="en-US" dirty="0"/>
              <a:t>(Python</a:t>
            </a:r>
            <a:r>
              <a:rPr lang="en-US" b="1" dirty="0"/>
              <a:t> </a:t>
            </a:r>
            <a:r>
              <a:rPr lang="en-US" dirty="0"/>
              <a:t>uses “</a:t>
            </a:r>
            <a:r>
              <a:rPr lang="en-US" b="1" dirty="0">
                <a:solidFill>
                  <a:srgbClr val="FF0000"/>
                </a:solidFill>
                <a:latin typeface="Consolas" panose="020B0609020204030204" pitchFamily="49" charset="0"/>
              </a:rPr>
              <a:t>\</a:t>
            </a:r>
            <a:r>
              <a:rPr lang="en-US" dirty="0"/>
              <a:t>” to escape special characters)</a:t>
            </a:r>
            <a:br>
              <a:rPr lang="en-US" dirty="0"/>
            </a:br>
            <a:r>
              <a:rPr lang="en-US" i="1" dirty="0">
                <a:solidFill>
                  <a:schemeClr val="accent1"/>
                </a:solidFill>
              </a:rPr>
              <a:t>What if we really want to look for the backslash char?</a:t>
            </a:r>
            <a:endParaRPr lang="en-US" dirty="0">
              <a:solidFill>
                <a:schemeClr val="accent1"/>
              </a:solidFill>
            </a:endParaRPr>
          </a:p>
          <a:p>
            <a:pPr marL="0" indent="0">
              <a:spcBef>
                <a:spcPts val="1600"/>
              </a:spcBef>
              <a:buNone/>
            </a:pPr>
            <a:r>
              <a:rPr lang="en-US" sz="2400" dirty="0"/>
              <a:t>	</a:t>
            </a:r>
            <a:r>
              <a:rPr lang="en-US" sz="2400" b="1" dirty="0"/>
              <a:t>Solution</a:t>
            </a:r>
            <a:r>
              <a:rPr lang="en-US" sz="2400" dirty="0"/>
              <a:t>: prefix string with </a:t>
            </a:r>
            <a:r>
              <a:rPr lang="en-US" sz="2400" b="1" dirty="0">
                <a:solidFill>
                  <a:schemeClr val="accent4"/>
                </a:solidFill>
                <a:latin typeface="Consolas" panose="020B0609020204030204" pitchFamily="49" charset="0"/>
              </a:rPr>
              <a:t>r</a:t>
            </a:r>
            <a:endParaRPr lang="en-US" sz="2400" dirty="0">
              <a:solidFill>
                <a:schemeClr val="accent4"/>
              </a:solidFill>
            </a:endParaRPr>
          </a:p>
          <a:p>
            <a:pPr marL="0" indent="0">
              <a:buNone/>
            </a:pPr>
            <a:r>
              <a:rPr lang="en-US" sz="2400" dirty="0"/>
              <a:t>	</a:t>
            </a:r>
            <a:r>
              <a:rPr lang="en-US" sz="2400" b="1" dirty="0">
                <a:solidFill>
                  <a:schemeClr val="accent6"/>
                </a:solidFill>
                <a:latin typeface="Consolas" panose="020B0609020204030204" pitchFamily="49" charset="0"/>
                <a:cs typeface="Courier New" panose="02070309020205020404" pitchFamily="49" charset="0"/>
              </a:rPr>
              <a:t> '\n'</a:t>
            </a:r>
            <a:r>
              <a:rPr lang="en-US" sz="2400" dirty="0">
                <a:latin typeface="Consolas" panose="020B0609020204030204" pitchFamily="49" charset="0"/>
                <a:cs typeface="Courier New" panose="02070309020205020404" pitchFamily="49" charset="0"/>
              </a:rPr>
              <a:t> 	</a:t>
            </a:r>
            <a:r>
              <a:rPr lang="en-US" sz="2400" dirty="0"/>
              <a:t>one-char string</a:t>
            </a:r>
            <a:br>
              <a:rPr lang="en-US" sz="2400" dirty="0"/>
            </a:br>
            <a:r>
              <a:rPr lang="en-US" sz="2400" dirty="0"/>
              <a:t>			containing just </a:t>
            </a:r>
            <a:r>
              <a:rPr lang="en-US" sz="2400" b="1" dirty="0">
                <a:solidFill>
                  <a:schemeClr val="accent6"/>
                </a:solidFill>
              </a:rPr>
              <a:t>newline</a:t>
            </a:r>
            <a:r>
              <a:rPr lang="en-US" sz="2400" dirty="0"/>
              <a:t> character</a:t>
            </a:r>
          </a:p>
          <a:p>
            <a:pPr marL="0" indent="0">
              <a:buNone/>
            </a:pPr>
            <a:r>
              <a:rPr lang="en-US" sz="2400" b="1" dirty="0">
                <a:solidFill>
                  <a:schemeClr val="accent6"/>
                </a:solidFill>
                <a:latin typeface="Consolas" panose="020B0609020204030204" pitchFamily="49" charset="0"/>
                <a:cs typeface="Courier New" panose="02070309020205020404" pitchFamily="49" charset="0"/>
              </a:rPr>
              <a:t>	</a:t>
            </a:r>
            <a:r>
              <a:rPr lang="en-US" sz="2400" b="1" dirty="0">
                <a:solidFill>
                  <a:schemeClr val="accent4"/>
                </a:solidFill>
                <a:latin typeface="Consolas" panose="020B0609020204030204" pitchFamily="49" charset="0"/>
                <a:cs typeface="Courier New" panose="02070309020205020404" pitchFamily="49" charset="0"/>
              </a:rPr>
              <a:t>r</a:t>
            </a:r>
            <a:r>
              <a:rPr lang="en-US" sz="2400" b="1" dirty="0">
                <a:solidFill>
                  <a:schemeClr val="accent6"/>
                </a:solidFill>
                <a:latin typeface="Consolas" panose="020B0609020204030204" pitchFamily="49" charset="0"/>
                <a:cs typeface="Courier New" panose="02070309020205020404" pitchFamily="49" charset="0"/>
              </a:rPr>
              <a:t>'\n'</a:t>
            </a:r>
            <a:r>
              <a:rPr lang="en-US" sz="2400" dirty="0">
                <a:latin typeface="Consolas" panose="020B0609020204030204" pitchFamily="49" charset="0"/>
                <a:cs typeface="Courier New" panose="02070309020205020404" pitchFamily="49" charset="0"/>
              </a:rPr>
              <a:t>	</a:t>
            </a:r>
            <a:r>
              <a:rPr lang="en-US" sz="2400" dirty="0"/>
              <a:t>two-char string</a:t>
            </a:r>
            <a:br>
              <a:rPr lang="en-US" sz="2400" dirty="0"/>
            </a:br>
            <a:r>
              <a:rPr lang="en-US" sz="2400" dirty="0"/>
              <a:t>			containing </a:t>
            </a:r>
            <a:r>
              <a:rPr lang="en-US" sz="2400" b="1" dirty="0">
                <a:solidFill>
                  <a:schemeClr val="accent6"/>
                </a:solidFill>
                <a:latin typeface="Consolas" panose="020B0609020204030204" pitchFamily="49" charset="0"/>
              </a:rPr>
              <a:t>\</a:t>
            </a:r>
            <a:r>
              <a:rPr lang="en-US" sz="2400" dirty="0"/>
              <a:t> and </a:t>
            </a:r>
            <a:r>
              <a:rPr lang="en-US" sz="2400" b="1" dirty="0">
                <a:solidFill>
                  <a:schemeClr val="accent6"/>
                </a:solidFill>
              </a:rPr>
              <a:t>n</a:t>
            </a:r>
            <a:r>
              <a:rPr lang="en-US" sz="2400" dirty="0"/>
              <a:t> characters</a:t>
            </a:r>
          </a:p>
        </p:txBody>
      </p:sp>
      <p:pic>
        <p:nvPicPr>
          <p:cNvPr id="4" name="Picture 3">
            <a:extLst>
              <a:ext uri="{FF2B5EF4-FFF2-40B4-BE49-F238E27FC236}">
                <a16:creationId xmlns:a16="http://schemas.microsoft.com/office/drawing/2014/main" id="{E4103407-0125-4EA5-87C4-A463C7C6C7B1}"/>
              </a:ext>
            </a:extLst>
          </p:cNvPr>
          <p:cNvPicPr>
            <a:picLocks noChangeAspect="1"/>
          </p:cNvPicPr>
          <p:nvPr/>
        </p:nvPicPr>
        <p:blipFill rotWithShape="1">
          <a:blip r:embed="rId2"/>
          <a:srcRect b="46384"/>
          <a:stretch/>
        </p:blipFill>
        <p:spPr>
          <a:xfrm>
            <a:off x="1574128" y="5060381"/>
            <a:ext cx="2336006" cy="926900"/>
          </a:xfrm>
          <a:prstGeom prst="rect">
            <a:avLst/>
          </a:prstGeom>
        </p:spPr>
      </p:pic>
      <p:pic>
        <p:nvPicPr>
          <p:cNvPr id="6" name="Picture 5">
            <a:extLst>
              <a:ext uri="{FF2B5EF4-FFF2-40B4-BE49-F238E27FC236}">
                <a16:creationId xmlns:a16="http://schemas.microsoft.com/office/drawing/2014/main" id="{CE6EF3BE-D0E6-4D5A-AFF7-8A3689522785}"/>
              </a:ext>
            </a:extLst>
          </p:cNvPr>
          <p:cNvPicPr>
            <a:picLocks noChangeAspect="1"/>
          </p:cNvPicPr>
          <p:nvPr/>
        </p:nvPicPr>
        <p:blipFill rotWithShape="1">
          <a:blip r:embed="rId2"/>
          <a:srcRect t="50585" b="-4201"/>
          <a:stretch/>
        </p:blipFill>
        <p:spPr>
          <a:xfrm>
            <a:off x="4372291" y="4949640"/>
            <a:ext cx="2336006" cy="926900"/>
          </a:xfrm>
          <a:prstGeom prst="rect">
            <a:avLst/>
          </a:prstGeom>
        </p:spPr>
      </p:pic>
    </p:spTree>
    <p:extLst>
      <p:ext uri="{BB962C8B-B14F-4D97-AF65-F5344CB8AC3E}">
        <p14:creationId xmlns:p14="http://schemas.microsoft.com/office/powerpoint/2010/main" val="1894742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u="sng" dirty="0"/>
              <a:t>Greedy</a:t>
            </a:r>
            <a:r>
              <a:rPr lang="en-US" b="0" dirty="0"/>
              <a:t> matching: The Default</a:t>
            </a:r>
          </a:p>
        </p:txBody>
      </p:sp>
      <p:sp>
        <p:nvSpPr>
          <p:cNvPr id="3" name="Content Placeholder 2"/>
          <p:cNvSpPr>
            <a:spLocks noGrp="1"/>
          </p:cNvSpPr>
          <p:nvPr>
            <p:ph idx="1"/>
          </p:nvPr>
        </p:nvSpPr>
        <p:spPr>
          <a:xfrm>
            <a:off x="628649" y="1825625"/>
            <a:ext cx="8729840" cy="4351338"/>
          </a:xfrm>
        </p:spPr>
        <p:txBody>
          <a:bodyPr>
            <a:normAutofit/>
          </a:bodyPr>
          <a:lstStyle/>
          <a:p>
            <a:pPr marL="0" indent="0">
              <a:buNone/>
            </a:pPr>
            <a:r>
              <a:rPr lang="en-US" sz="2400" b="1" dirty="0"/>
              <a:t>Greedy</a:t>
            </a:r>
            <a:r>
              <a:rPr lang="en-US" sz="2400" dirty="0"/>
              <a:t>: matching as much as possible in the given string.</a:t>
            </a:r>
          </a:p>
          <a:p>
            <a:pPr marL="0" indent="0">
              <a:buNone/>
            </a:pPr>
            <a:endParaRPr lang="en-US" sz="1500" dirty="0">
              <a:latin typeface="+mj-lt"/>
            </a:endParaRPr>
          </a:p>
          <a:p>
            <a:pPr marL="0" indent="0">
              <a:buNone/>
            </a:pPr>
            <a:r>
              <a:rPr lang="en-US" sz="2000" b="1" dirty="0"/>
              <a:t>Example:</a:t>
            </a:r>
          </a:p>
          <a:p>
            <a:pPr marL="0" indent="0">
              <a:buNone/>
            </a:pPr>
            <a:r>
              <a:rPr lang="en-US" sz="1800" dirty="0">
                <a:latin typeface="Consolas" panose="020B0609020204030204" pitchFamily="49" charset="0"/>
              </a:rPr>
              <a:t>  s</a:t>
            </a:r>
            <a:r>
              <a:rPr lang="en-US" sz="1800" dirty="0">
                <a:latin typeface="Consolas" panose="020B0609020204030204" pitchFamily="49" charset="0"/>
                <a:cs typeface="Courier New" panose="02070309020205020404" pitchFamily="49" charset="0"/>
              </a:rPr>
              <a:t> = </a:t>
            </a:r>
            <a:r>
              <a:rPr lang="en-US" sz="1800" b="1" dirty="0">
                <a:solidFill>
                  <a:schemeClr val="accent6"/>
                </a:solidFill>
                <a:latin typeface="Consolas" panose="020B0609020204030204" pitchFamily="49" charset="0"/>
                <a:cs typeface="Courier New" panose="02070309020205020404" pitchFamily="49" charset="0"/>
              </a:rPr>
              <a:t>'the cat in the hat'</a:t>
            </a:r>
          </a:p>
          <a:p>
            <a:pPr marL="292100" indent="-225425">
              <a:buNone/>
            </a:pPr>
            <a:r>
              <a:rPr lang="en-US" sz="1800" dirty="0">
                <a:latin typeface="Consolas" panose="020B0609020204030204" pitchFamily="49" charset="0"/>
              </a:rPr>
              <a:t>	</a:t>
            </a:r>
            <a:r>
              <a:rPr lang="en-US" sz="1800" dirty="0">
                <a:latin typeface="Consolas" panose="020B0609020204030204" pitchFamily="49" charset="0"/>
                <a:cs typeface="Courier New" panose="02070309020205020404" pitchFamily="49" charset="0"/>
              </a:rPr>
              <a:t>match = </a:t>
            </a:r>
            <a:r>
              <a:rPr lang="en-US" sz="1800" dirty="0" err="1">
                <a:latin typeface="Consolas" panose="020B0609020204030204" pitchFamily="49" charset="0"/>
                <a:cs typeface="Courier New" panose="02070309020205020404" pitchFamily="49" charset="0"/>
              </a:rPr>
              <a:t>re.search</a:t>
            </a:r>
            <a:r>
              <a:rPr lang="en-US" sz="1800" dirty="0">
                <a:latin typeface="Consolas" panose="020B0609020204030204" pitchFamily="49" charset="0"/>
                <a:cs typeface="Courier New" panose="02070309020205020404" pitchFamily="49" charset="0"/>
              </a:rPr>
              <a:t>(r</a:t>
            </a:r>
            <a:r>
              <a:rPr lang="en-US" sz="1800" b="1" dirty="0">
                <a:latin typeface="Consolas" panose="020B0609020204030204" pitchFamily="49" charset="0"/>
                <a:cs typeface="Courier New" panose="02070309020205020404" pitchFamily="49" charset="0"/>
              </a:rPr>
              <a:t>'^</a:t>
            </a:r>
            <a:r>
              <a:rPr lang="en-US" sz="1800" b="1" dirty="0">
                <a:solidFill>
                  <a:srgbClr val="00B050"/>
                </a:solidFill>
                <a:latin typeface="Consolas" panose="020B0609020204030204" pitchFamily="49" charset="0"/>
                <a:cs typeface="Courier New" panose="02070309020205020404" pitchFamily="49" charset="0"/>
              </a:rPr>
              <a:t>(.*)</a:t>
            </a:r>
            <a:r>
              <a:rPr lang="en-US" sz="1800" b="1" dirty="0">
                <a:solidFill>
                  <a:srgbClr val="0070C0"/>
                </a:solidFill>
                <a:latin typeface="Consolas" panose="020B0609020204030204" pitchFamily="49" charset="0"/>
                <a:cs typeface="Courier New" panose="02070309020205020404" pitchFamily="49" charset="0"/>
              </a:rPr>
              <a:t>(at)</a:t>
            </a:r>
            <a:r>
              <a:rPr lang="en-US" sz="1800" b="1" dirty="0">
                <a:solidFill>
                  <a:srgbClr val="7030A0"/>
                </a:solidFill>
                <a:latin typeface="Consolas" panose="020B0609020204030204" pitchFamily="49" charset="0"/>
                <a:cs typeface="Courier New" panose="02070309020205020404" pitchFamily="49" charset="0"/>
              </a:rPr>
              <a:t>(.*)</a:t>
            </a:r>
            <a:r>
              <a:rPr lang="en-US" sz="1800" b="1" dirty="0">
                <a:latin typeface="Consolas" panose="020B0609020204030204" pitchFamily="49" charset="0"/>
                <a:cs typeface="Courier New" panose="02070309020205020404" pitchFamily="49" charset="0"/>
              </a:rPr>
              <a:t>$'</a:t>
            </a:r>
            <a:r>
              <a:rPr lang="en-US" sz="1800" dirty="0">
                <a:latin typeface="Consolas" panose="020B0609020204030204" pitchFamily="49" charset="0"/>
                <a:cs typeface="Courier New" panose="02070309020205020404" pitchFamily="49" charset="0"/>
              </a:rPr>
              <a:t>, s)</a:t>
            </a:r>
            <a:endParaRPr lang="en-US" sz="2000" dirty="0">
              <a:latin typeface="Courier New" panose="02070309020205020404" pitchFamily="49" charset="0"/>
              <a:cs typeface="Courier New" panose="02070309020205020404" pitchFamily="49" charset="0"/>
            </a:endParaRPr>
          </a:p>
          <a:p>
            <a:pPr>
              <a:buNone/>
            </a:pPr>
            <a:r>
              <a:rPr lang="en-US" sz="2000" dirty="0">
                <a:solidFill>
                  <a:srgbClr val="C00000"/>
                </a:solidFill>
              </a:rPr>
              <a:t>Note: () is used for matching multiple groups!</a:t>
            </a:r>
          </a:p>
          <a:p>
            <a:pPr>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t>Now, what do we have in three groups:</a:t>
            </a:r>
          </a:p>
          <a:p>
            <a:pPr>
              <a:buNone/>
            </a:pPr>
            <a:r>
              <a:rPr lang="en-US" sz="1800" dirty="0">
                <a:latin typeface="Consolas" panose="020B0609020204030204" pitchFamily="49" charset="0"/>
                <a:cs typeface="Courier New" panose="02070309020205020404" pitchFamily="49" charset="0"/>
              </a:rPr>
              <a:t>	</a:t>
            </a:r>
            <a:r>
              <a:rPr lang="en-US" sz="1800" dirty="0" err="1">
                <a:latin typeface="Consolas" panose="020B0609020204030204" pitchFamily="49" charset="0"/>
                <a:cs typeface="Courier New" panose="02070309020205020404" pitchFamily="49" charset="0"/>
              </a:rPr>
              <a:t>match.group</a:t>
            </a:r>
            <a:r>
              <a:rPr lang="en-US" sz="1800" dirty="0">
                <a:latin typeface="Consolas" panose="020B0609020204030204" pitchFamily="49" charset="0"/>
                <a:cs typeface="Courier New" panose="02070309020205020404" pitchFamily="49" charset="0"/>
              </a:rPr>
              <a:t>(</a:t>
            </a:r>
            <a:r>
              <a:rPr lang="en-US" sz="1800" b="1" dirty="0">
                <a:solidFill>
                  <a:srgbClr val="00B050"/>
                </a:solidFill>
                <a:latin typeface="Consolas" panose="020B0609020204030204" pitchFamily="49" charset="0"/>
                <a:cs typeface="Courier New" panose="02070309020205020404" pitchFamily="49" charset="0"/>
              </a:rPr>
              <a:t>1</a:t>
            </a:r>
            <a:r>
              <a:rPr lang="en-US" sz="1800" dirty="0">
                <a:latin typeface="Consolas" panose="020B0609020204030204" pitchFamily="49" charset="0"/>
                <a:cs typeface="Courier New" panose="02070309020205020404" pitchFamily="49" charset="0"/>
              </a:rPr>
              <a:t>), 	</a:t>
            </a:r>
            <a:r>
              <a:rPr lang="en-US" sz="1800" dirty="0" err="1">
                <a:latin typeface="Consolas" panose="020B0609020204030204" pitchFamily="49" charset="0"/>
                <a:cs typeface="Courier New" panose="02070309020205020404" pitchFamily="49" charset="0"/>
              </a:rPr>
              <a:t>match.group</a:t>
            </a:r>
            <a:r>
              <a:rPr lang="en-US" sz="1800" dirty="0">
                <a:latin typeface="Consolas" panose="020B0609020204030204" pitchFamily="49" charset="0"/>
                <a:cs typeface="Courier New" panose="02070309020205020404" pitchFamily="49" charset="0"/>
              </a:rPr>
              <a:t>(</a:t>
            </a:r>
            <a:r>
              <a:rPr lang="en-US" sz="1800" b="1" dirty="0">
                <a:solidFill>
                  <a:srgbClr val="0070C0"/>
                </a:solidFill>
                <a:latin typeface="Consolas" panose="020B0609020204030204" pitchFamily="49" charset="0"/>
                <a:cs typeface="Courier New" panose="02070309020205020404" pitchFamily="49" charset="0"/>
              </a:rPr>
              <a:t>2</a:t>
            </a:r>
            <a:r>
              <a:rPr lang="en-US" sz="1800" dirty="0">
                <a:latin typeface="Consolas" panose="020B0609020204030204" pitchFamily="49" charset="0"/>
                <a:cs typeface="Courier New" panose="02070309020205020404" pitchFamily="49" charset="0"/>
              </a:rPr>
              <a:t>), 	</a:t>
            </a:r>
            <a:r>
              <a:rPr lang="en-US" sz="1800" dirty="0" err="1">
                <a:latin typeface="Consolas" panose="020B0609020204030204" pitchFamily="49" charset="0"/>
                <a:cs typeface="Courier New" panose="02070309020205020404" pitchFamily="49" charset="0"/>
              </a:rPr>
              <a:t>match.group</a:t>
            </a:r>
            <a:r>
              <a:rPr lang="en-US" sz="1800" dirty="0">
                <a:latin typeface="Consolas" panose="020B0609020204030204" pitchFamily="49" charset="0"/>
                <a:cs typeface="Courier New" panose="02070309020205020404" pitchFamily="49" charset="0"/>
              </a:rPr>
              <a:t>(</a:t>
            </a:r>
            <a:r>
              <a:rPr lang="en-US" sz="1800" b="1" dirty="0">
                <a:solidFill>
                  <a:srgbClr val="7030A0"/>
                </a:solidFill>
                <a:latin typeface="Consolas" panose="020B0609020204030204" pitchFamily="49" charset="0"/>
                <a:cs typeface="Courier New" panose="02070309020205020404" pitchFamily="49" charset="0"/>
              </a:rPr>
              <a:t>3</a:t>
            </a:r>
            <a:r>
              <a:rPr lang="en-US" sz="1800" dirty="0">
                <a:latin typeface="Consolas" panose="020B0609020204030204" pitchFamily="49" charset="0"/>
                <a:cs typeface="Courier New" panose="02070309020205020404" pitchFamily="49" charset="0"/>
              </a:rPr>
              <a:t>)? </a:t>
            </a:r>
          </a:p>
          <a:p>
            <a:pPr>
              <a:buNone/>
            </a:pPr>
            <a:r>
              <a:rPr lang="en-US" sz="1800" dirty="0">
                <a:latin typeface="Consolas" panose="020B0609020204030204" pitchFamily="49" charset="0"/>
                <a:cs typeface="Courier New" panose="02070309020205020404" pitchFamily="49" charset="0"/>
              </a:rPr>
              <a:t>	</a:t>
            </a:r>
            <a:r>
              <a:rPr lang="en-US" sz="1800" b="1" dirty="0">
                <a:solidFill>
                  <a:srgbClr val="00B050"/>
                </a:solidFill>
                <a:latin typeface="Consolas" panose="020B0609020204030204" pitchFamily="49" charset="0"/>
                <a:cs typeface="Courier New" panose="02070309020205020404" pitchFamily="49" charset="0"/>
              </a:rPr>
              <a:t>'the cat in the h’</a:t>
            </a:r>
            <a:r>
              <a:rPr lang="en-US" sz="1800" b="1" dirty="0">
                <a:latin typeface="Consolas" panose="020B0609020204030204" pitchFamily="49" charset="0"/>
                <a:cs typeface="Courier New" panose="02070309020205020404" pitchFamily="49" charset="0"/>
              </a:rPr>
              <a:t> 	</a:t>
            </a:r>
            <a:r>
              <a:rPr lang="en-US" sz="1800" b="1" dirty="0">
                <a:solidFill>
                  <a:srgbClr val="0070C0"/>
                </a:solidFill>
                <a:latin typeface="Consolas" panose="020B0609020204030204" pitchFamily="49" charset="0"/>
                <a:cs typeface="Courier New" panose="02070309020205020404" pitchFamily="49" charset="0"/>
              </a:rPr>
              <a:t>'at’</a:t>
            </a:r>
            <a:r>
              <a:rPr lang="en-US" sz="1800" b="1" dirty="0">
                <a:latin typeface="Consolas" panose="020B0609020204030204" pitchFamily="49" charset="0"/>
                <a:cs typeface="Courier New" panose="02070309020205020404" pitchFamily="49" charset="0"/>
              </a:rPr>
              <a:t> 			</a:t>
            </a:r>
            <a:r>
              <a:rPr lang="en-US" sz="1800" b="1" dirty="0">
                <a:solidFill>
                  <a:srgbClr val="7030A0"/>
                </a:solidFill>
                <a:latin typeface="Consolas" panose="020B0609020204030204" pitchFamily="49" charset="0"/>
                <a:cs typeface="Courier New" panose="02070309020205020404" pitchFamily="49" charset="0"/>
              </a:rPr>
              <a:t>''</a:t>
            </a:r>
          </a:p>
          <a:p>
            <a:endParaRPr lang="en-US" sz="1500" dirty="0"/>
          </a:p>
        </p:txBody>
      </p:sp>
    </p:spTree>
    <p:extLst>
      <p:ext uri="{BB962C8B-B14F-4D97-AF65-F5344CB8AC3E}">
        <p14:creationId xmlns:p14="http://schemas.microsoft.com/office/powerpoint/2010/main" val="16380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1A574-86EA-9435-FBBD-EBBCC93378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803B3-69F0-A41A-A4CA-F21B7B3E49CA}"/>
              </a:ext>
            </a:extLst>
          </p:cNvPr>
          <p:cNvSpPr>
            <a:spLocks noGrp="1"/>
          </p:cNvSpPr>
          <p:nvPr>
            <p:ph idx="1"/>
          </p:nvPr>
        </p:nvSpPr>
        <p:spPr>
          <a:xfrm>
            <a:off x="628650" y="1882069"/>
            <a:ext cx="8729840" cy="4351338"/>
          </a:xfrm>
        </p:spPr>
        <p:txBody>
          <a:bodyPr>
            <a:normAutofit/>
          </a:bodyPr>
          <a:lstStyle/>
          <a:p>
            <a:pPr marL="0" indent="0">
              <a:buNone/>
            </a:pPr>
            <a:r>
              <a:rPr lang="en-US" sz="2400" dirty="0"/>
              <a:t>Non-greedy versions try to match as </a:t>
            </a:r>
            <a:r>
              <a:rPr lang="en-US" sz="2400" u="sng" dirty="0"/>
              <a:t>minimally</a:t>
            </a:r>
            <a:r>
              <a:rPr lang="en-US" sz="2400" dirty="0"/>
              <a:t> as possible.</a:t>
            </a:r>
          </a:p>
          <a:p>
            <a:pPr marL="0" indent="0">
              <a:buNone/>
            </a:pPr>
            <a:r>
              <a:rPr lang="en-US" sz="2400" b="1" dirty="0">
                <a:solidFill>
                  <a:schemeClr val="accent5"/>
                </a:solidFill>
                <a:latin typeface="Consolas" panose="020B0609020204030204" pitchFamily="49" charset="0"/>
                <a:cs typeface="Courier New" panose="02070309020205020404" pitchFamily="49" charset="0"/>
              </a:rPr>
              <a:t>	?</a:t>
            </a:r>
            <a:r>
              <a:rPr lang="en-US" sz="2400" b="1" dirty="0">
                <a:solidFill>
                  <a:srgbClr val="FF0000"/>
                </a:solidFill>
                <a:latin typeface="Consolas" panose="020B0609020204030204" pitchFamily="49" charset="0"/>
                <a:cs typeface="Courier New" panose="02070309020205020404" pitchFamily="49" charset="0"/>
              </a:rPr>
              <a:t>?</a:t>
            </a:r>
            <a:r>
              <a:rPr lang="en-US" sz="2400" b="1" dirty="0">
                <a:latin typeface="Consolas" panose="020B0609020204030204" pitchFamily="49" charset="0"/>
              </a:rPr>
              <a:t>, </a:t>
            </a: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a:t>
            </a:r>
            <a:r>
              <a:rPr lang="en-US" sz="2400" b="1" dirty="0">
                <a:latin typeface="Consolas" panose="020B0609020204030204" pitchFamily="49" charset="0"/>
              </a:rPr>
              <a:t>, </a:t>
            </a: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a:t>
            </a:r>
            <a:r>
              <a:rPr lang="en-US" sz="2400" b="1" dirty="0">
                <a:latin typeface="Consolas" panose="020B0609020204030204" pitchFamily="49" charset="0"/>
              </a:rPr>
              <a:t>, and </a:t>
            </a:r>
            <a:r>
              <a:rPr lang="en-US" sz="2400" b="1" dirty="0">
                <a:solidFill>
                  <a:schemeClr val="accent5"/>
                </a:solidFill>
                <a:latin typeface="Consolas" panose="020B0609020204030204" pitchFamily="49" charset="0"/>
                <a:cs typeface="Courier New" panose="02070309020205020404" pitchFamily="49" charset="0"/>
              </a:rPr>
              <a:t>{}</a:t>
            </a:r>
            <a:r>
              <a:rPr lang="en-US" sz="2400" b="1" dirty="0">
                <a:solidFill>
                  <a:srgbClr val="FF0000"/>
                </a:solidFill>
                <a:latin typeface="Consolas" panose="020B0609020204030204" pitchFamily="49" charset="0"/>
                <a:cs typeface="Courier New" panose="02070309020205020404" pitchFamily="49" charset="0"/>
              </a:rPr>
              <a:t>?</a:t>
            </a:r>
            <a:endParaRPr lang="en-US" sz="1500" dirty="0">
              <a:latin typeface="+mj-lt"/>
            </a:endParaRPr>
          </a:p>
          <a:p>
            <a:pPr marL="0" indent="0">
              <a:buNone/>
            </a:pPr>
            <a:r>
              <a:rPr lang="en-US" sz="2000" b="1" dirty="0"/>
              <a:t>Example:</a:t>
            </a:r>
          </a:p>
          <a:p>
            <a:pPr marL="0" indent="0">
              <a:buNone/>
            </a:pPr>
            <a:r>
              <a:rPr lang="en-US" sz="1800" dirty="0">
                <a:latin typeface="Consolas" panose="020B0609020204030204" pitchFamily="49" charset="0"/>
              </a:rPr>
              <a:t>  s</a:t>
            </a:r>
            <a:r>
              <a:rPr lang="en-US" sz="1800" dirty="0">
                <a:latin typeface="Consolas" panose="020B0609020204030204" pitchFamily="49" charset="0"/>
                <a:cs typeface="Courier New" panose="02070309020205020404" pitchFamily="49" charset="0"/>
              </a:rPr>
              <a:t> = </a:t>
            </a:r>
            <a:r>
              <a:rPr lang="en-US" sz="1800" b="1" dirty="0">
                <a:solidFill>
                  <a:schemeClr val="accent6"/>
                </a:solidFill>
                <a:latin typeface="Consolas" panose="020B0609020204030204" pitchFamily="49" charset="0"/>
                <a:cs typeface="Courier New" panose="02070309020205020404" pitchFamily="49" charset="0"/>
              </a:rPr>
              <a:t>'the cat in the hat'</a:t>
            </a:r>
          </a:p>
          <a:p>
            <a:pPr marL="292100" indent="-225425">
              <a:buNone/>
            </a:pPr>
            <a:r>
              <a:rPr lang="en-US" sz="1800" dirty="0">
                <a:latin typeface="Consolas" panose="020B0609020204030204" pitchFamily="49" charset="0"/>
              </a:rPr>
              <a:t>	</a:t>
            </a:r>
            <a:r>
              <a:rPr lang="en-US" sz="1800" dirty="0">
                <a:latin typeface="Consolas" panose="020B0609020204030204" pitchFamily="49" charset="0"/>
                <a:cs typeface="Courier New" panose="02070309020205020404" pitchFamily="49" charset="0"/>
              </a:rPr>
              <a:t>match = </a:t>
            </a:r>
            <a:r>
              <a:rPr lang="en-US" sz="1800" dirty="0" err="1">
                <a:latin typeface="Consolas" panose="020B0609020204030204" pitchFamily="49" charset="0"/>
                <a:cs typeface="Courier New" panose="02070309020205020404" pitchFamily="49" charset="0"/>
              </a:rPr>
              <a:t>re.search</a:t>
            </a:r>
            <a:r>
              <a:rPr lang="en-US" sz="1800" dirty="0">
                <a:latin typeface="Consolas" panose="020B0609020204030204" pitchFamily="49" charset="0"/>
                <a:cs typeface="Courier New" panose="02070309020205020404" pitchFamily="49" charset="0"/>
              </a:rPr>
              <a:t>(r</a:t>
            </a:r>
            <a:r>
              <a:rPr lang="en-US" sz="1800" b="1" dirty="0">
                <a:latin typeface="Consolas" panose="020B0609020204030204" pitchFamily="49" charset="0"/>
                <a:cs typeface="Courier New" panose="02070309020205020404" pitchFamily="49" charset="0"/>
              </a:rPr>
              <a:t>'^</a:t>
            </a:r>
            <a:r>
              <a:rPr lang="en-US" sz="1800" b="1" dirty="0">
                <a:solidFill>
                  <a:srgbClr val="00B050"/>
                </a:solidFill>
                <a:latin typeface="Consolas" panose="020B0609020204030204" pitchFamily="49" charset="0"/>
                <a:cs typeface="Courier New" panose="02070309020205020404" pitchFamily="49" charset="0"/>
              </a:rPr>
              <a:t>(.*?)</a:t>
            </a:r>
            <a:r>
              <a:rPr lang="en-US" sz="1800" b="1" dirty="0">
                <a:solidFill>
                  <a:srgbClr val="0070C0"/>
                </a:solidFill>
                <a:latin typeface="Consolas" panose="020B0609020204030204" pitchFamily="49" charset="0"/>
                <a:cs typeface="Courier New" panose="02070309020205020404" pitchFamily="49" charset="0"/>
              </a:rPr>
              <a:t>(at)</a:t>
            </a:r>
            <a:r>
              <a:rPr lang="en-US" sz="1800" b="1" dirty="0">
                <a:solidFill>
                  <a:srgbClr val="7030A0"/>
                </a:solidFill>
                <a:latin typeface="Consolas" panose="020B0609020204030204" pitchFamily="49" charset="0"/>
                <a:cs typeface="Courier New" panose="02070309020205020404" pitchFamily="49" charset="0"/>
              </a:rPr>
              <a:t>(.*)</a:t>
            </a:r>
            <a:r>
              <a:rPr lang="en-US" sz="1800" b="1" dirty="0">
                <a:latin typeface="Consolas" panose="020B0609020204030204" pitchFamily="49" charset="0"/>
                <a:cs typeface="Courier New" panose="02070309020205020404" pitchFamily="49" charset="0"/>
              </a:rPr>
              <a:t>$'</a:t>
            </a:r>
            <a:r>
              <a:rPr lang="en-US" sz="1800" dirty="0">
                <a:latin typeface="Consolas" panose="020B0609020204030204" pitchFamily="49" charset="0"/>
                <a:cs typeface="Courier New" panose="02070309020205020404" pitchFamily="49" charset="0"/>
              </a:rPr>
              <a:t>, s)</a:t>
            </a:r>
          </a:p>
          <a:p>
            <a:pPr>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t>Now, what do we have in three groups:</a:t>
            </a:r>
          </a:p>
          <a:p>
            <a:pPr>
              <a:buNone/>
            </a:pPr>
            <a:r>
              <a:rPr lang="en-US" sz="1800" dirty="0">
                <a:latin typeface="Consolas" panose="020B0609020204030204" pitchFamily="49" charset="0"/>
                <a:cs typeface="Courier New" panose="02070309020205020404" pitchFamily="49" charset="0"/>
              </a:rPr>
              <a:t>	</a:t>
            </a:r>
            <a:r>
              <a:rPr lang="en-US" sz="1800" dirty="0" err="1">
                <a:latin typeface="Consolas" panose="020B0609020204030204" pitchFamily="49" charset="0"/>
                <a:cs typeface="Courier New" panose="02070309020205020404" pitchFamily="49" charset="0"/>
              </a:rPr>
              <a:t>match.group</a:t>
            </a:r>
            <a:r>
              <a:rPr lang="en-US" sz="1800" dirty="0">
                <a:latin typeface="Consolas" panose="020B0609020204030204" pitchFamily="49" charset="0"/>
                <a:cs typeface="Courier New" panose="02070309020205020404" pitchFamily="49" charset="0"/>
              </a:rPr>
              <a:t>(</a:t>
            </a:r>
            <a:r>
              <a:rPr lang="en-US" sz="1800" b="1" dirty="0">
                <a:solidFill>
                  <a:srgbClr val="00B050"/>
                </a:solidFill>
                <a:latin typeface="Consolas" panose="020B0609020204030204" pitchFamily="49" charset="0"/>
                <a:cs typeface="Courier New" panose="02070309020205020404" pitchFamily="49" charset="0"/>
              </a:rPr>
              <a:t>1</a:t>
            </a:r>
            <a:r>
              <a:rPr lang="en-US" sz="1800" dirty="0">
                <a:latin typeface="Consolas" panose="020B0609020204030204" pitchFamily="49" charset="0"/>
                <a:cs typeface="Courier New" panose="02070309020205020404" pitchFamily="49" charset="0"/>
              </a:rPr>
              <a:t>), 	</a:t>
            </a:r>
            <a:r>
              <a:rPr lang="en-US" sz="1800" dirty="0" err="1">
                <a:latin typeface="Consolas" panose="020B0609020204030204" pitchFamily="49" charset="0"/>
                <a:cs typeface="Courier New" panose="02070309020205020404" pitchFamily="49" charset="0"/>
              </a:rPr>
              <a:t>match.group</a:t>
            </a:r>
            <a:r>
              <a:rPr lang="en-US" sz="1800" dirty="0">
                <a:latin typeface="Consolas" panose="020B0609020204030204" pitchFamily="49" charset="0"/>
                <a:cs typeface="Courier New" panose="02070309020205020404" pitchFamily="49" charset="0"/>
              </a:rPr>
              <a:t>(</a:t>
            </a:r>
            <a:r>
              <a:rPr lang="en-US" sz="1800" b="1" dirty="0">
                <a:solidFill>
                  <a:srgbClr val="0070C0"/>
                </a:solidFill>
                <a:latin typeface="Consolas" panose="020B0609020204030204" pitchFamily="49" charset="0"/>
                <a:cs typeface="Courier New" panose="02070309020205020404" pitchFamily="49" charset="0"/>
              </a:rPr>
              <a:t>2</a:t>
            </a:r>
            <a:r>
              <a:rPr lang="en-US" sz="1800" dirty="0">
                <a:latin typeface="Consolas" panose="020B0609020204030204" pitchFamily="49" charset="0"/>
                <a:cs typeface="Courier New" panose="02070309020205020404" pitchFamily="49" charset="0"/>
              </a:rPr>
              <a:t>), 	</a:t>
            </a:r>
            <a:r>
              <a:rPr lang="en-US" sz="1800" dirty="0" err="1">
                <a:latin typeface="Consolas" panose="020B0609020204030204" pitchFamily="49" charset="0"/>
                <a:cs typeface="Courier New" panose="02070309020205020404" pitchFamily="49" charset="0"/>
              </a:rPr>
              <a:t>match.group</a:t>
            </a:r>
            <a:r>
              <a:rPr lang="en-US" sz="1800" dirty="0">
                <a:latin typeface="Consolas" panose="020B0609020204030204" pitchFamily="49" charset="0"/>
                <a:cs typeface="Courier New" panose="02070309020205020404" pitchFamily="49" charset="0"/>
              </a:rPr>
              <a:t>(</a:t>
            </a:r>
            <a:r>
              <a:rPr lang="en-US" sz="1800" b="1" dirty="0">
                <a:solidFill>
                  <a:srgbClr val="7030A0"/>
                </a:solidFill>
                <a:latin typeface="Consolas" panose="020B0609020204030204" pitchFamily="49" charset="0"/>
                <a:cs typeface="Courier New" panose="02070309020205020404" pitchFamily="49" charset="0"/>
              </a:rPr>
              <a:t>3</a:t>
            </a:r>
            <a:r>
              <a:rPr lang="en-US" sz="1800" dirty="0">
                <a:latin typeface="Consolas" panose="020B0609020204030204" pitchFamily="49" charset="0"/>
                <a:cs typeface="Courier New" panose="02070309020205020404" pitchFamily="49" charset="0"/>
              </a:rPr>
              <a:t>)? </a:t>
            </a:r>
          </a:p>
          <a:p>
            <a:pPr>
              <a:buNone/>
            </a:pPr>
            <a:r>
              <a:rPr lang="en-US" sz="1800" dirty="0">
                <a:solidFill>
                  <a:schemeClr val="bg2">
                    <a:lumMod val="90000"/>
                  </a:schemeClr>
                </a:solidFill>
                <a:latin typeface="Consolas" panose="020B0609020204030204" pitchFamily="49" charset="0"/>
                <a:cs typeface="Courier New" panose="02070309020205020404" pitchFamily="49" charset="0"/>
              </a:rPr>
              <a:t>	</a:t>
            </a:r>
            <a:r>
              <a:rPr lang="en-US" sz="1800" b="1" dirty="0">
                <a:solidFill>
                  <a:schemeClr val="bg2">
                    <a:lumMod val="90000"/>
                  </a:schemeClr>
                </a:solidFill>
                <a:latin typeface="Consolas" panose="020B0609020204030204" pitchFamily="49" charset="0"/>
                <a:cs typeface="Courier New" panose="02070309020205020404" pitchFamily="49" charset="0"/>
              </a:rPr>
              <a:t>'the cat in the h' 	'at' 			''</a:t>
            </a:r>
          </a:p>
          <a:p>
            <a:pPr>
              <a:buNone/>
            </a:pPr>
            <a:r>
              <a:rPr lang="en-US" sz="1800" b="1" dirty="0">
                <a:solidFill>
                  <a:srgbClr val="00B050"/>
                </a:solidFill>
                <a:latin typeface="Consolas" panose="020B0609020204030204" pitchFamily="49" charset="0"/>
                <a:cs typeface="Courier New" panose="02070309020205020404" pitchFamily="49" charset="0"/>
              </a:rPr>
              <a:t>  'the c'</a:t>
            </a:r>
            <a:r>
              <a:rPr lang="en-US" sz="1800" b="1" dirty="0">
                <a:latin typeface="Consolas" panose="020B0609020204030204" pitchFamily="49" charset="0"/>
                <a:cs typeface="Courier New" panose="02070309020205020404" pitchFamily="49" charset="0"/>
              </a:rPr>
              <a:t> 		</a:t>
            </a:r>
            <a:r>
              <a:rPr lang="en-US" sz="1800" b="1" dirty="0">
                <a:solidFill>
                  <a:srgbClr val="0070C0"/>
                </a:solidFill>
                <a:latin typeface="Consolas" panose="020B0609020204030204" pitchFamily="49" charset="0"/>
                <a:cs typeface="Courier New" panose="02070309020205020404" pitchFamily="49" charset="0"/>
              </a:rPr>
              <a:t>'at'</a:t>
            </a:r>
            <a:r>
              <a:rPr lang="en-US" sz="1800" b="1" dirty="0">
                <a:latin typeface="Consolas" panose="020B0609020204030204" pitchFamily="49" charset="0"/>
                <a:cs typeface="Courier New" panose="02070309020205020404" pitchFamily="49" charset="0"/>
              </a:rPr>
              <a:t> 			</a:t>
            </a:r>
            <a:r>
              <a:rPr lang="en-US" sz="1800" b="1" dirty="0">
                <a:solidFill>
                  <a:srgbClr val="7030A0"/>
                </a:solidFill>
                <a:latin typeface="Consolas" panose="020B0609020204030204" pitchFamily="49" charset="0"/>
                <a:cs typeface="Courier New" panose="02070309020205020404" pitchFamily="49" charset="0"/>
              </a:rPr>
              <a:t>'in the hat'</a:t>
            </a:r>
          </a:p>
          <a:p>
            <a:pPr>
              <a:buNone/>
            </a:pPr>
            <a:endParaRPr lang="en-US" sz="1800" b="1" dirty="0">
              <a:solidFill>
                <a:srgbClr val="7030A0"/>
              </a:solidFill>
              <a:latin typeface="Consolas" panose="020B0609020204030204" pitchFamily="49" charset="0"/>
              <a:cs typeface="Courier New" panose="02070309020205020404" pitchFamily="49" charset="0"/>
            </a:endParaRPr>
          </a:p>
          <a:p>
            <a:endParaRPr lang="en-US" sz="1500" dirty="0"/>
          </a:p>
        </p:txBody>
      </p:sp>
      <p:sp>
        <p:nvSpPr>
          <p:cNvPr id="6" name="Title 1">
            <a:extLst>
              <a:ext uri="{FF2B5EF4-FFF2-40B4-BE49-F238E27FC236}">
                <a16:creationId xmlns:a16="http://schemas.microsoft.com/office/drawing/2014/main" id="{17BD1BE0-E313-8D1F-F457-9DF788B3A45F}"/>
              </a:ext>
            </a:extLst>
          </p:cNvPr>
          <p:cNvSpPr>
            <a:spLocks noGrp="1"/>
          </p:cNvSpPr>
          <p:nvPr>
            <p:ph type="title"/>
          </p:nvPr>
        </p:nvSpPr>
        <p:spPr>
          <a:xfrm>
            <a:off x="628650" y="365126"/>
            <a:ext cx="7886700" cy="1325563"/>
          </a:xfrm>
        </p:spPr>
        <p:txBody>
          <a:bodyPr>
            <a:normAutofit/>
          </a:bodyPr>
          <a:lstStyle/>
          <a:p>
            <a:r>
              <a:rPr lang="en-US" sz="4000" b="0" u="sng" dirty="0">
                <a:solidFill>
                  <a:srgbClr val="FF0000"/>
                </a:solidFill>
              </a:rPr>
              <a:t>Non-greedy</a:t>
            </a:r>
            <a:r>
              <a:rPr lang="en-US" sz="4000" b="0" dirty="0"/>
              <a:t> matching by adding an extra </a:t>
            </a:r>
            <a:r>
              <a:rPr lang="en-US" sz="4000" b="0" dirty="0">
                <a:solidFill>
                  <a:srgbClr val="FF0000"/>
                </a:solidFill>
                <a:latin typeface="Courier New" panose="02070309020205020404" pitchFamily="49" charset="0"/>
                <a:cs typeface="Courier New" panose="02070309020205020404" pitchFamily="49" charset="0"/>
              </a:rPr>
              <a:t>?</a:t>
            </a:r>
            <a:r>
              <a:rPr lang="en-US" sz="4000" b="0" dirty="0"/>
              <a:t> to the end of wildcard</a:t>
            </a:r>
          </a:p>
        </p:txBody>
      </p:sp>
    </p:spTree>
    <p:extLst>
      <p:ext uri="{BB962C8B-B14F-4D97-AF65-F5344CB8AC3E}">
        <p14:creationId xmlns:p14="http://schemas.microsoft.com/office/powerpoint/2010/main" val="257796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a:t>Defining </a:t>
            </a:r>
            <a:r>
              <a:rPr lang="en-US" b="0" u="sng" dirty="0">
                <a:solidFill>
                  <a:srgbClr val="FF0000"/>
                </a:solidFill>
              </a:rPr>
              <a:t>alternatives</a:t>
            </a:r>
            <a:r>
              <a:rPr lang="en-US" b="0" dirty="0"/>
              <a:t> using pipe </a:t>
            </a:r>
            <a:r>
              <a:rPr lang="en-US" b="0" dirty="0">
                <a:solidFill>
                  <a:srgbClr val="FF0000"/>
                </a:solidFill>
              </a:rPr>
              <a:t>|</a:t>
            </a:r>
          </a:p>
        </p:txBody>
      </p:sp>
      <p:sp>
        <p:nvSpPr>
          <p:cNvPr id="4" name="Content Placeholder 3"/>
          <p:cNvSpPr>
            <a:spLocks noGrp="1"/>
          </p:cNvSpPr>
          <p:nvPr>
            <p:ph idx="1"/>
          </p:nvPr>
        </p:nvSpPr>
        <p:spPr/>
        <p:txBody>
          <a:bodyPr>
            <a:noAutofit/>
          </a:bodyPr>
          <a:lstStyle/>
          <a:p>
            <a:pPr marL="230188" lvl="1" indent="-230188">
              <a:tabLst>
                <a:tab pos="257175" algn="l"/>
              </a:tabLst>
            </a:pPr>
            <a:r>
              <a:rPr lang="en-US" sz="2000" dirty="0"/>
              <a:t>Use alternatives in regular expressions by putting them in brackets:</a:t>
            </a:r>
            <a:endParaRPr lang="en-US" sz="2000" dirty="0">
              <a:latin typeface="Consolas" panose="020B0609020204030204" pitchFamily="49" charset="0"/>
              <a:cs typeface="Courier New" panose="02070309020205020404" pitchFamily="49" charset="0"/>
            </a:endParaRPr>
          </a:p>
          <a:p>
            <a:pPr marL="0" lvl="1" indent="0">
              <a:buNone/>
              <a:tabLst>
                <a:tab pos="257175" algn="l"/>
              </a:tabLst>
            </a:pPr>
            <a:r>
              <a:rPr lang="en-US" sz="2000" b="1" dirty="0">
                <a:solidFill>
                  <a:schemeClr val="accent5"/>
                </a:solidFill>
                <a:latin typeface="Consolas" panose="020B0609020204030204" pitchFamily="49" charset="0"/>
                <a:cs typeface="Courier New" panose="02070309020205020404" pitchFamily="49" charset="0"/>
              </a:rPr>
              <a:t>	(</a:t>
            </a:r>
            <a:r>
              <a:rPr lang="en-US" sz="2000" b="1" dirty="0" err="1">
                <a:solidFill>
                  <a:schemeClr val="accent5"/>
                </a:solidFill>
                <a:latin typeface="Consolas" panose="020B0609020204030204" pitchFamily="49" charset="0"/>
                <a:cs typeface="Courier New" panose="02070309020205020404" pitchFamily="49" charset="0"/>
              </a:rPr>
              <a:t>success</a:t>
            </a:r>
            <a:r>
              <a:rPr lang="en-US" sz="2000" b="1" dirty="0" err="1">
                <a:solidFill>
                  <a:srgbClr val="FF0000"/>
                </a:solidFill>
                <a:latin typeface="Consolas" panose="020B0609020204030204" pitchFamily="49" charset="0"/>
                <a:cs typeface="Courier New" panose="02070309020205020404" pitchFamily="49" charset="0"/>
              </a:rPr>
              <a:t>|</a:t>
            </a:r>
            <a:r>
              <a:rPr lang="en-US" sz="2000" b="1" dirty="0" err="1">
                <a:solidFill>
                  <a:schemeClr val="accent5"/>
                </a:solidFill>
                <a:latin typeface="Consolas" panose="020B0609020204030204" pitchFamily="49" charset="0"/>
                <a:cs typeface="Courier New" panose="02070309020205020404" pitchFamily="49" charset="0"/>
              </a:rPr>
              <a:t>failure</a:t>
            </a:r>
            <a:r>
              <a:rPr lang="en-US" sz="2000" b="1" dirty="0">
                <a:solidFill>
                  <a:schemeClr val="accent5"/>
                </a:solidFill>
                <a:latin typeface="Consolas" panose="020B0609020204030204" pitchFamily="49" charset="0"/>
                <a:cs typeface="Courier New" panose="02070309020205020404" pitchFamily="49" charset="0"/>
              </a:rPr>
              <a:t> code: [0-9]+</a:t>
            </a:r>
            <a:r>
              <a:rPr lang="en-US" sz="2000" b="1" dirty="0">
                <a:solidFill>
                  <a:srgbClr val="FF0000"/>
                </a:solidFill>
                <a:latin typeface="Consolas" panose="020B0609020204030204" pitchFamily="49" charset="0"/>
                <a:cs typeface="Courier New" panose="02070309020205020404" pitchFamily="49" charset="0"/>
              </a:rPr>
              <a:t>|</a:t>
            </a:r>
            <a:r>
              <a:rPr lang="en-US" sz="2000" b="1" dirty="0">
                <a:solidFill>
                  <a:schemeClr val="accent5"/>
                </a:solidFill>
                <a:latin typeface="Consolas" panose="020B0609020204030204" pitchFamily="49" charset="0"/>
                <a:cs typeface="Courier New" panose="02070309020205020404" pitchFamily="49" charset="0"/>
              </a:rPr>
              <a:t>maybe[!?]*)</a:t>
            </a:r>
          </a:p>
          <a:p>
            <a:pPr>
              <a:tabLst>
                <a:tab pos="257175" algn="l"/>
              </a:tabLst>
            </a:pPr>
            <a:endParaRPr lang="en-US" sz="2000" dirty="0"/>
          </a:p>
          <a:p>
            <a:pPr>
              <a:tabLst>
                <a:tab pos="257175" algn="l"/>
              </a:tabLst>
            </a:pPr>
            <a:r>
              <a:rPr lang="en-US" sz="2000" dirty="0"/>
              <a:t>Pipe is </a:t>
            </a:r>
            <a:r>
              <a:rPr lang="en-US" sz="2000" u="sng" dirty="0"/>
              <a:t>never greedy</a:t>
            </a:r>
            <a:r>
              <a:rPr lang="en-US" sz="2000" dirty="0"/>
              <a:t>.  As the target string is scanned:</a:t>
            </a:r>
          </a:p>
          <a:p>
            <a:pPr lvl="1">
              <a:tabLst>
                <a:tab pos="257175" algn="l"/>
              </a:tabLst>
            </a:pPr>
            <a:r>
              <a:rPr lang="en-US" sz="2000" dirty="0"/>
              <a:t>patterns separated by </a:t>
            </a:r>
            <a:r>
              <a:rPr lang="en-US" sz="2000" dirty="0">
                <a:latin typeface="Consolas" panose="020B0609020204030204" pitchFamily="49" charset="0"/>
                <a:cs typeface="Courier New" panose="02070309020205020404" pitchFamily="49" charset="0"/>
              </a:rPr>
              <a:t>'</a:t>
            </a:r>
            <a:r>
              <a:rPr lang="en-US" sz="2000" b="1" dirty="0">
                <a:solidFill>
                  <a:srgbClr val="FF0000"/>
                </a:solidFill>
                <a:latin typeface="Consolas" panose="020B0609020204030204" pitchFamily="49" charset="0"/>
                <a:cs typeface="Courier New" panose="02070309020205020404" pitchFamily="49" charset="0"/>
              </a:rPr>
              <a:t>|</a:t>
            </a:r>
            <a:r>
              <a:rPr lang="en-US" sz="2000" dirty="0">
                <a:latin typeface="Consolas" panose="020B0609020204030204" pitchFamily="49" charset="0"/>
                <a:cs typeface="Courier New" panose="02070309020205020404" pitchFamily="49" charset="0"/>
              </a:rPr>
              <a:t>'</a:t>
            </a:r>
            <a:r>
              <a:rPr lang="en-US" sz="2000" dirty="0"/>
              <a:t> are tried from left to right. </a:t>
            </a:r>
          </a:p>
          <a:p>
            <a:pPr lvl="1">
              <a:tabLst>
                <a:tab pos="257175" algn="l"/>
              </a:tabLst>
            </a:pPr>
            <a:r>
              <a:rPr lang="en-US" sz="2000" dirty="0"/>
              <a:t>When one pattern completely matches, that branch is accepted. </a:t>
            </a:r>
          </a:p>
          <a:p>
            <a:pPr lvl="1">
              <a:tabLst>
                <a:tab pos="257175" algn="l"/>
              </a:tabLst>
            </a:pPr>
            <a:r>
              <a:rPr lang="en-US" sz="2000" dirty="0"/>
              <a:t>Once A matches, B will not be tested further</a:t>
            </a:r>
          </a:p>
          <a:p>
            <a:pPr lvl="1">
              <a:tabLst>
                <a:tab pos="257175" algn="l"/>
              </a:tabLst>
            </a:pPr>
            <a:r>
              <a:rPr lang="en-US" sz="2000" dirty="0"/>
              <a:t>Even if it would produce a longer overall match. </a:t>
            </a:r>
          </a:p>
          <a:p>
            <a:pPr>
              <a:tabLst>
                <a:tab pos="257175" algn="l"/>
              </a:tabLst>
            </a:pPr>
            <a:endParaRPr lang="en-US" sz="2000" dirty="0"/>
          </a:p>
          <a:p>
            <a:pPr>
              <a:tabLst>
                <a:tab pos="257175" algn="l"/>
              </a:tabLst>
            </a:pPr>
            <a:r>
              <a:rPr lang="en-US" sz="2000" dirty="0"/>
              <a:t>What does this match? </a:t>
            </a:r>
            <a:r>
              <a:rPr lang="en-US" sz="2000" b="1" dirty="0">
                <a:solidFill>
                  <a:schemeClr val="accent5"/>
                </a:solidFill>
                <a:latin typeface="Consolas" panose="020B0609020204030204" pitchFamily="49" charset="0"/>
                <a:cs typeface="Courier New" panose="02070309020205020404" pitchFamily="49" charset="0"/>
              </a:rPr>
              <a:t>^(</a:t>
            </a:r>
            <a:r>
              <a:rPr lang="en-US" sz="2000" b="1" dirty="0" err="1">
                <a:solidFill>
                  <a:schemeClr val="accent5"/>
                </a:solidFill>
                <a:latin typeface="Consolas" panose="020B0609020204030204" pitchFamily="49" charset="0"/>
                <a:cs typeface="Courier New" panose="02070309020205020404" pitchFamily="49" charset="0"/>
              </a:rPr>
              <a:t>T|t</a:t>
            </a:r>
            <a:r>
              <a:rPr lang="en-US" sz="2000" b="1" dirty="0">
                <a:solidFill>
                  <a:schemeClr val="accent5"/>
                </a:solidFill>
                <a:latin typeface="Consolas" panose="020B0609020204030204" pitchFamily="49" charset="0"/>
                <a:cs typeface="Courier New" panose="02070309020205020404" pitchFamily="49" charset="0"/>
              </a:rPr>
              <a:t>)</a:t>
            </a:r>
            <a:r>
              <a:rPr lang="en-US" sz="2000" b="1" dirty="0" err="1">
                <a:solidFill>
                  <a:schemeClr val="accent5"/>
                </a:solidFill>
                <a:latin typeface="Consolas" panose="020B0609020204030204" pitchFamily="49" charset="0"/>
                <a:cs typeface="Courier New" panose="02070309020205020404" pitchFamily="49" charset="0"/>
              </a:rPr>
              <a:t>oday</a:t>
            </a:r>
            <a:endParaRPr lang="en-US" sz="2000" b="1" dirty="0">
              <a:solidFill>
                <a:schemeClr val="accent5"/>
              </a:solidFill>
              <a:latin typeface="Consolas" panose="020B0609020204030204" pitchFamily="49" charset="0"/>
              <a:cs typeface="Courier New" panose="02070309020205020404" pitchFamily="49" charset="0"/>
            </a:endParaRPr>
          </a:p>
          <a:p>
            <a:pPr marL="240030" lvl="1" indent="0">
              <a:buNone/>
              <a:tabLst>
                <a:tab pos="257175" algn="l"/>
              </a:tabLst>
            </a:pPr>
            <a:endParaRPr lang="en-US" sz="1800" dirty="0"/>
          </a:p>
          <a:p>
            <a:pPr marL="240030" lvl="1" indent="0">
              <a:buNone/>
              <a:tabLst>
                <a:tab pos="257175" algn="l"/>
              </a:tabLst>
            </a:pPr>
            <a:endParaRPr lang="en-US" sz="1800" dirty="0"/>
          </a:p>
          <a:p>
            <a:pPr lvl="1">
              <a:buNone/>
              <a:tabLst>
                <a:tab pos="257175" algn="l"/>
              </a:tabLst>
            </a:pPr>
            <a:endParaRPr lang="en-US" sz="1800" dirty="0"/>
          </a:p>
        </p:txBody>
      </p:sp>
    </p:spTree>
    <p:extLst>
      <p:ext uri="{BB962C8B-B14F-4D97-AF65-F5344CB8AC3E}">
        <p14:creationId xmlns:p14="http://schemas.microsoft.com/office/powerpoint/2010/main" val="2313018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Optional parameters</a:t>
            </a:r>
          </a:p>
        </p:txBody>
      </p:sp>
      <p:sp>
        <p:nvSpPr>
          <p:cNvPr id="4" name="Content Placeholder 3"/>
          <p:cNvSpPr>
            <a:spLocks noGrp="1"/>
          </p:cNvSpPr>
          <p:nvPr>
            <p:ph idx="1"/>
          </p:nvPr>
        </p:nvSpPr>
        <p:spPr>
          <a:xfrm>
            <a:off x="718961" y="1690689"/>
            <a:ext cx="7886700" cy="4351338"/>
          </a:xfrm>
        </p:spPr>
        <p:txBody>
          <a:bodyPr>
            <a:noAutofit/>
          </a:bodyPr>
          <a:lstStyle/>
          <a:p>
            <a:pPr>
              <a:lnSpc>
                <a:spcPct val="100000"/>
              </a:lnSpc>
              <a:spcAft>
                <a:spcPts val="600"/>
              </a:spcAft>
            </a:pPr>
            <a:r>
              <a:rPr lang="en-US" sz="2400" dirty="0"/>
              <a:t>The option flag can be added as an extra argument.</a:t>
            </a:r>
          </a:p>
          <a:p>
            <a:pPr lvl="1">
              <a:lnSpc>
                <a:spcPct val="100000"/>
              </a:lnSpc>
              <a:spcBef>
                <a:spcPts val="0"/>
              </a:spcBef>
              <a:spcAft>
                <a:spcPts val="600"/>
              </a:spcAft>
            </a:pPr>
            <a:r>
              <a:rPr lang="en-US" sz="2000" dirty="0"/>
              <a:t>e.g., </a:t>
            </a:r>
            <a:r>
              <a:rPr lang="en-US" sz="2000" dirty="0" err="1">
                <a:latin typeface="Consolas" panose="020B0609020204030204" pitchFamily="49" charset="0"/>
                <a:cs typeface="Courier New" panose="02070309020205020404" pitchFamily="49" charset="0"/>
              </a:rPr>
              <a:t>re.search</a:t>
            </a:r>
            <a:r>
              <a:rPr lang="en-US" sz="2000" dirty="0">
                <a:latin typeface="Consolas" panose="020B0609020204030204" pitchFamily="49" charset="0"/>
                <a:cs typeface="Courier New" panose="02070309020205020404" pitchFamily="49" charset="0"/>
              </a:rPr>
              <a:t>(pat, str, </a:t>
            </a:r>
            <a:r>
              <a:rPr lang="en-US" sz="2000" b="1" dirty="0" err="1">
                <a:latin typeface="Consolas" panose="020B0609020204030204" pitchFamily="49" charset="0"/>
                <a:cs typeface="Courier New" panose="02070309020205020404" pitchFamily="49" charset="0"/>
              </a:rPr>
              <a:t>re.IGNORECASE</a:t>
            </a:r>
            <a:r>
              <a:rPr lang="en-US" sz="2000" dirty="0">
                <a:latin typeface="Consolas" panose="020B0609020204030204" pitchFamily="49" charset="0"/>
                <a:cs typeface="Courier New" panose="02070309020205020404" pitchFamily="49" charset="0"/>
              </a:rPr>
              <a:t>)</a:t>
            </a:r>
            <a:endParaRPr lang="en-US" sz="2000" dirty="0"/>
          </a:p>
          <a:p>
            <a:pPr>
              <a:lnSpc>
                <a:spcPct val="100000"/>
              </a:lnSpc>
              <a:spcAft>
                <a:spcPts val="600"/>
              </a:spcAft>
            </a:pPr>
            <a:r>
              <a:rPr lang="en-US" sz="2400" dirty="0" err="1">
                <a:solidFill>
                  <a:srgbClr val="C00000"/>
                </a:solidFill>
                <a:latin typeface="Consolas" panose="020B0609020204030204" pitchFamily="49" charset="0"/>
                <a:cs typeface="Courier New" panose="02070309020205020404" pitchFamily="49" charset="0"/>
              </a:rPr>
              <a:t>re.IGNORECASE</a:t>
            </a:r>
            <a:r>
              <a:rPr lang="en-US" sz="2400" dirty="0">
                <a:solidFill>
                  <a:srgbClr val="C00000"/>
                </a:solidFill>
              </a:rPr>
              <a:t>:</a:t>
            </a:r>
            <a:r>
              <a:rPr lang="en-US" sz="2400" dirty="0"/>
              <a:t>  Ignore upper/lowercase differences.</a:t>
            </a:r>
          </a:p>
          <a:p>
            <a:pPr>
              <a:lnSpc>
                <a:spcPct val="100000"/>
              </a:lnSpc>
              <a:spcAft>
                <a:spcPts val="600"/>
              </a:spcAft>
            </a:pPr>
            <a:r>
              <a:rPr lang="en-US" sz="2400" dirty="0" err="1">
                <a:solidFill>
                  <a:srgbClr val="C00000"/>
                </a:solidFill>
                <a:latin typeface="Consolas" panose="020B0609020204030204" pitchFamily="49" charset="0"/>
                <a:cs typeface="Courier New" panose="02070309020205020404" pitchFamily="49" charset="0"/>
              </a:rPr>
              <a:t>re.DOTALL</a:t>
            </a:r>
            <a:r>
              <a:rPr lang="en-US" sz="2400" dirty="0">
                <a:solidFill>
                  <a:srgbClr val="C00000"/>
                </a:solidFill>
                <a:latin typeface="Consolas" panose="020B0609020204030204" pitchFamily="49" charset="0"/>
                <a:cs typeface="Courier New" panose="02070309020205020404" pitchFamily="49" charset="0"/>
              </a:rPr>
              <a:t>: </a:t>
            </a:r>
            <a:r>
              <a:rPr lang="en-US" sz="2400" dirty="0"/>
              <a:t>Make the '.' special character match any character at all, including a newline (by default, the '.' matches anything </a:t>
            </a:r>
            <a:r>
              <a:rPr lang="en-US" sz="2400" i="1" dirty="0"/>
              <a:t>except</a:t>
            </a:r>
            <a:r>
              <a:rPr lang="en-US" sz="2400" dirty="0"/>
              <a:t> a newline).</a:t>
            </a:r>
          </a:p>
          <a:p>
            <a:pPr>
              <a:lnSpc>
                <a:spcPct val="100000"/>
              </a:lnSpc>
              <a:spcAft>
                <a:spcPts val="600"/>
              </a:spcAft>
            </a:pPr>
            <a:r>
              <a:rPr lang="en-US" sz="2400" dirty="0" err="1">
                <a:solidFill>
                  <a:srgbClr val="C00000"/>
                </a:solidFill>
                <a:latin typeface="Consolas" panose="020B0609020204030204" pitchFamily="49" charset="0"/>
                <a:cs typeface="Courier New" panose="02070309020205020404" pitchFamily="49" charset="0"/>
              </a:rPr>
              <a:t>re.MULTILINE</a:t>
            </a:r>
            <a:r>
              <a:rPr lang="en-US" sz="2400" dirty="0">
                <a:solidFill>
                  <a:srgbClr val="C00000"/>
                </a:solidFill>
                <a:latin typeface="Consolas" panose="020B0609020204030204" pitchFamily="49" charset="0"/>
                <a:cs typeface="Courier New" panose="02070309020205020404" pitchFamily="49" charset="0"/>
              </a:rPr>
              <a:t>: </a:t>
            </a:r>
            <a:r>
              <a:rPr lang="en-US" sz="2400" dirty="0"/>
              <a:t>Within a multi-line string, let ^ and $ match the start and end of each line. Normally ^/$ match the start and end of the whole string. </a:t>
            </a:r>
          </a:p>
        </p:txBody>
      </p:sp>
    </p:spTree>
    <p:extLst>
      <p:ext uri="{BB962C8B-B14F-4D97-AF65-F5344CB8AC3E}">
        <p14:creationId xmlns:p14="http://schemas.microsoft.com/office/powerpoint/2010/main" val="737524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769441"/>
          </a:xfrm>
          <a:prstGeom prst="rect">
            <a:avLst/>
          </a:prstGeom>
          <a:noFill/>
        </p:spPr>
        <p:txBody>
          <a:bodyPr wrap="square">
            <a:spAutoFit/>
          </a:bodyPr>
          <a:lstStyle/>
          <a:p>
            <a:pPr algn="l">
              <a:defRPr sz="4400" b="0">
                <a:solidFill>
                  <a:srgbClr val="1A1A2E"/>
                </a:solidFill>
                <a:latin typeface="Latin Modern Sans"/>
              </a:defRPr>
            </a:pPr>
            <a:r>
              <a:rPr lang="en-US" dirty="0"/>
              <a:t>Useful</a:t>
            </a:r>
            <a:r>
              <a:rPr dirty="0"/>
              <a:t> Patterns</a:t>
            </a:r>
            <a:r>
              <a:rPr lang="en-US" dirty="0"/>
              <a:t> in SMA</a:t>
            </a:r>
            <a:endParaRPr dirty="0"/>
          </a:p>
        </p:txBody>
      </p:sp>
      <p:sp>
        <p:nvSpPr>
          <p:cNvPr id="3" name="Rectangle 2"/>
          <p:cNvSpPr/>
          <p:nvPr/>
        </p:nvSpPr>
        <p:spPr>
          <a:xfrm>
            <a:off x="548640" y="1280160"/>
            <a:ext cx="8046720" cy="548640"/>
          </a:xfrm>
          <a:prstGeom prst="rect">
            <a:avLst/>
          </a:prstGeom>
          <a:solidFill>
            <a:srgbClr val="4C7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07592"/>
            <a:ext cx="2743200" cy="338554"/>
          </a:xfrm>
          <a:prstGeom prst="rect">
            <a:avLst/>
          </a:prstGeom>
          <a:noFill/>
        </p:spPr>
        <p:txBody>
          <a:bodyPr wrap="square">
            <a:spAutoFit/>
          </a:bodyPr>
          <a:lstStyle/>
          <a:p>
            <a:pPr algn="l">
              <a:defRPr sz="1600" b="1">
                <a:solidFill>
                  <a:srgbClr val="FFFFFF"/>
                </a:solidFill>
                <a:latin typeface="Latin Modern Sans"/>
              </a:defRPr>
            </a:pPr>
            <a:r>
              <a:rPr dirty="0"/>
              <a:t>Target</a:t>
            </a:r>
          </a:p>
        </p:txBody>
      </p:sp>
      <p:sp>
        <p:nvSpPr>
          <p:cNvPr id="5" name="TextBox 4"/>
          <p:cNvSpPr txBox="1"/>
          <p:nvPr/>
        </p:nvSpPr>
        <p:spPr>
          <a:xfrm>
            <a:off x="3337560" y="1307592"/>
            <a:ext cx="5303520" cy="338554"/>
          </a:xfrm>
          <a:prstGeom prst="rect">
            <a:avLst/>
          </a:prstGeom>
          <a:noFill/>
        </p:spPr>
        <p:txBody>
          <a:bodyPr wrap="square">
            <a:spAutoFit/>
          </a:bodyPr>
          <a:lstStyle/>
          <a:p>
            <a:pPr algn="l">
              <a:defRPr sz="1600" b="1">
                <a:solidFill>
                  <a:srgbClr val="FFFFFF"/>
                </a:solidFill>
                <a:latin typeface="Latin Modern Sans"/>
              </a:defRPr>
            </a:pPr>
            <a:r>
              <a:rPr dirty="0"/>
              <a:t>Regex pattern</a:t>
            </a:r>
          </a:p>
        </p:txBody>
      </p:sp>
      <p:sp>
        <p:nvSpPr>
          <p:cNvPr id="6" name="Rectangle 5"/>
          <p:cNvSpPr/>
          <p:nvPr/>
        </p:nvSpPr>
        <p:spPr>
          <a:xfrm>
            <a:off x="548640" y="1828800"/>
            <a:ext cx="8046720" cy="54864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856232"/>
            <a:ext cx="2743200" cy="548640"/>
          </a:xfrm>
          <a:prstGeom prst="rect">
            <a:avLst/>
          </a:prstGeom>
          <a:noFill/>
        </p:spPr>
        <p:txBody>
          <a:bodyPr wrap="square">
            <a:spAutoFit/>
          </a:bodyPr>
          <a:lstStyle/>
          <a:p>
            <a:pPr algn="l">
              <a:defRPr sz="1600" b="0">
                <a:solidFill>
                  <a:srgbClr val="1A1A2E"/>
                </a:solidFill>
                <a:latin typeface="Latin Modern Sans"/>
              </a:defRPr>
            </a:pPr>
            <a:r>
              <a:rPr dirty="0"/>
              <a:t>Hashtag</a:t>
            </a:r>
          </a:p>
        </p:txBody>
      </p:sp>
      <p:sp>
        <p:nvSpPr>
          <p:cNvPr id="8" name="TextBox 7"/>
          <p:cNvSpPr txBox="1"/>
          <p:nvPr/>
        </p:nvSpPr>
        <p:spPr>
          <a:xfrm>
            <a:off x="3337560" y="1856232"/>
            <a:ext cx="5303520" cy="548640"/>
          </a:xfrm>
          <a:prstGeom prst="rect">
            <a:avLst/>
          </a:prstGeom>
          <a:noFill/>
        </p:spPr>
        <p:txBody>
          <a:bodyPr wrap="square">
            <a:spAutoFit/>
          </a:bodyPr>
          <a:lstStyle/>
          <a:p>
            <a:pPr algn="l">
              <a:defRPr sz="1600" b="0">
                <a:solidFill>
                  <a:srgbClr val="1A1A2E"/>
                </a:solidFill>
                <a:latin typeface="Latin Modern Sans"/>
              </a:defRPr>
            </a:pPr>
            <a:r>
              <a:t>#\w+</a:t>
            </a:r>
          </a:p>
        </p:txBody>
      </p:sp>
      <p:sp>
        <p:nvSpPr>
          <p:cNvPr id="9" name="Rectangle 8"/>
          <p:cNvSpPr/>
          <p:nvPr/>
        </p:nvSpPr>
        <p:spPr>
          <a:xfrm>
            <a:off x="548640" y="2377440"/>
            <a:ext cx="8046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04872"/>
            <a:ext cx="2743200" cy="548640"/>
          </a:xfrm>
          <a:prstGeom prst="rect">
            <a:avLst/>
          </a:prstGeom>
          <a:noFill/>
        </p:spPr>
        <p:txBody>
          <a:bodyPr wrap="square">
            <a:spAutoFit/>
          </a:bodyPr>
          <a:lstStyle/>
          <a:p>
            <a:pPr algn="l">
              <a:defRPr sz="1600" b="0">
                <a:solidFill>
                  <a:srgbClr val="1A1A2E"/>
                </a:solidFill>
                <a:latin typeface="Latin Modern Sans"/>
              </a:defRPr>
            </a:pPr>
            <a:r>
              <a:rPr dirty="0"/>
              <a:t>Mention</a:t>
            </a:r>
          </a:p>
        </p:txBody>
      </p:sp>
      <p:sp>
        <p:nvSpPr>
          <p:cNvPr id="11" name="TextBox 10"/>
          <p:cNvSpPr txBox="1"/>
          <p:nvPr/>
        </p:nvSpPr>
        <p:spPr>
          <a:xfrm>
            <a:off x="3337560" y="2404872"/>
            <a:ext cx="5303520" cy="548640"/>
          </a:xfrm>
          <a:prstGeom prst="rect">
            <a:avLst/>
          </a:prstGeom>
          <a:noFill/>
        </p:spPr>
        <p:txBody>
          <a:bodyPr wrap="square">
            <a:spAutoFit/>
          </a:bodyPr>
          <a:lstStyle/>
          <a:p>
            <a:pPr algn="l">
              <a:defRPr sz="1600" b="0">
                <a:solidFill>
                  <a:srgbClr val="1A1A2E"/>
                </a:solidFill>
                <a:latin typeface="Latin Modern Sans"/>
              </a:defRPr>
            </a:pPr>
            <a:r>
              <a:t>@\w+</a:t>
            </a:r>
          </a:p>
        </p:txBody>
      </p:sp>
      <p:sp>
        <p:nvSpPr>
          <p:cNvPr id="12" name="Rectangle 11"/>
          <p:cNvSpPr/>
          <p:nvPr/>
        </p:nvSpPr>
        <p:spPr>
          <a:xfrm>
            <a:off x="548640" y="2926080"/>
            <a:ext cx="8046720" cy="54864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953512"/>
            <a:ext cx="2743200" cy="548640"/>
          </a:xfrm>
          <a:prstGeom prst="rect">
            <a:avLst/>
          </a:prstGeom>
          <a:noFill/>
        </p:spPr>
        <p:txBody>
          <a:bodyPr wrap="square">
            <a:spAutoFit/>
          </a:bodyPr>
          <a:lstStyle/>
          <a:p>
            <a:pPr algn="l">
              <a:defRPr sz="1600" b="0">
                <a:solidFill>
                  <a:srgbClr val="1A1A2E"/>
                </a:solidFill>
                <a:latin typeface="Latin Modern Sans"/>
              </a:defRPr>
            </a:pPr>
            <a:r>
              <a:rPr dirty="0"/>
              <a:t>URL</a:t>
            </a:r>
          </a:p>
        </p:txBody>
      </p:sp>
      <p:sp>
        <p:nvSpPr>
          <p:cNvPr id="14" name="TextBox 13"/>
          <p:cNvSpPr txBox="1"/>
          <p:nvPr/>
        </p:nvSpPr>
        <p:spPr>
          <a:xfrm>
            <a:off x="3337560" y="2953512"/>
            <a:ext cx="5303520" cy="548640"/>
          </a:xfrm>
          <a:prstGeom prst="rect">
            <a:avLst/>
          </a:prstGeom>
          <a:noFill/>
        </p:spPr>
        <p:txBody>
          <a:bodyPr wrap="square">
            <a:spAutoFit/>
          </a:bodyPr>
          <a:lstStyle/>
          <a:p>
            <a:pPr algn="l">
              <a:defRPr sz="1600" b="0">
                <a:solidFill>
                  <a:srgbClr val="1A1A2E"/>
                </a:solidFill>
                <a:latin typeface="Latin Modern Sans"/>
              </a:defRPr>
            </a:pPr>
            <a:r>
              <a:t>https?://\S+</a:t>
            </a:r>
          </a:p>
        </p:txBody>
      </p:sp>
      <p:sp>
        <p:nvSpPr>
          <p:cNvPr id="15" name="Rectangle 14"/>
          <p:cNvSpPr/>
          <p:nvPr/>
        </p:nvSpPr>
        <p:spPr>
          <a:xfrm>
            <a:off x="548640" y="3474720"/>
            <a:ext cx="8046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502152"/>
            <a:ext cx="2743200" cy="548640"/>
          </a:xfrm>
          <a:prstGeom prst="rect">
            <a:avLst/>
          </a:prstGeom>
          <a:noFill/>
        </p:spPr>
        <p:txBody>
          <a:bodyPr wrap="square">
            <a:spAutoFit/>
          </a:bodyPr>
          <a:lstStyle/>
          <a:p>
            <a:pPr algn="l">
              <a:defRPr sz="1600" b="0">
                <a:solidFill>
                  <a:srgbClr val="1A1A2E"/>
                </a:solidFill>
                <a:latin typeface="Latin Modern Sans"/>
              </a:defRPr>
            </a:pPr>
            <a:r>
              <a:t>Email</a:t>
            </a:r>
          </a:p>
        </p:txBody>
      </p:sp>
      <p:sp>
        <p:nvSpPr>
          <p:cNvPr id="17" name="TextBox 16"/>
          <p:cNvSpPr txBox="1"/>
          <p:nvPr/>
        </p:nvSpPr>
        <p:spPr>
          <a:xfrm>
            <a:off x="3337560" y="3502152"/>
            <a:ext cx="5303520" cy="548640"/>
          </a:xfrm>
          <a:prstGeom prst="rect">
            <a:avLst/>
          </a:prstGeom>
          <a:noFill/>
        </p:spPr>
        <p:txBody>
          <a:bodyPr wrap="square">
            <a:spAutoFit/>
          </a:bodyPr>
          <a:lstStyle/>
          <a:p>
            <a:pPr algn="l">
              <a:defRPr sz="1600" b="0">
                <a:solidFill>
                  <a:srgbClr val="1A1A2E"/>
                </a:solidFill>
                <a:latin typeface="Latin Modern Sans"/>
              </a:defRPr>
            </a:pPr>
            <a:r>
              <a:t>[\w.]+@[\w.]+\.\w+</a:t>
            </a:r>
          </a:p>
        </p:txBody>
      </p:sp>
      <p:sp>
        <p:nvSpPr>
          <p:cNvPr id="18" name="Rectangle 17"/>
          <p:cNvSpPr/>
          <p:nvPr/>
        </p:nvSpPr>
        <p:spPr>
          <a:xfrm>
            <a:off x="548640" y="4023360"/>
            <a:ext cx="8046720" cy="54864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050792"/>
            <a:ext cx="2743200" cy="548640"/>
          </a:xfrm>
          <a:prstGeom prst="rect">
            <a:avLst/>
          </a:prstGeom>
          <a:noFill/>
        </p:spPr>
        <p:txBody>
          <a:bodyPr wrap="square">
            <a:spAutoFit/>
          </a:bodyPr>
          <a:lstStyle/>
          <a:p>
            <a:pPr algn="l">
              <a:defRPr sz="1600" b="0">
                <a:solidFill>
                  <a:srgbClr val="1A1A2E"/>
                </a:solidFill>
                <a:latin typeface="Latin Modern Sans"/>
              </a:defRPr>
            </a:pPr>
            <a:r>
              <a:t>Retweet prefix</a:t>
            </a:r>
          </a:p>
        </p:txBody>
      </p:sp>
      <p:sp>
        <p:nvSpPr>
          <p:cNvPr id="20" name="TextBox 19"/>
          <p:cNvSpPr txBox="1"/>
          <p:nvPr/>
        </p:nvSpPr>
        <p:spPr>
          <a:xfrm>
            <a:off x="3337560" y="4050792"/>
            <a:ext cx="5303520" cy="548640"/>
          </a:xfrm>
          <a:prstGeom prst="rect">
            <a:avLst/>
          </a:prstGeom>
          <a:noFill/>
        </p:spPr>
        <p:txBody>
          <a:bodyPr wrap="square">
            <a:spAutoFit/>
          </a:bodyPr>
          <a:lstStyle/>
          <a:p>
            <a:pPr algn="l">
              <a:defRPr sz="1600" b="0">
                <a:solidFill>
                  <a:srgbClr val="1A1A2E"/>
                </a:solidFill>
                <a:latin typeface="Latin Modern Sans"/>
              </a:defRPr>
            </a:pPr>
            <a:r>
              <a:t>^RT @\w+:</a:t>
            </a:r>
          </a:p>
        </p:txBody>
      </p:sp>
      <p:sp>
        <p:nvSpPr>
          <p:cNvPr id="21" name="Rectangle 20"/>
          <p:cNvSpPr/>
          <p:nvPr/>
        </p:nvSpPr>
        <p:spPr>
          <a:xfrm>
            <a:off x="548640" y="4572000"/>
            <a:ext cx="8046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4599432"/>
            <a:ext cx="2743200" cy="548640"/>
          </a:xfrm>
          <a:prstGeom prst="rect">
            <a:avLst/>
          </a:prstGeom>
          <a:noFill/>
        </p:spPr>
        <p:txBody>
          <a:bodyPr wrap="square">
            <a:spAutoFit/>
          </a:bodyPr>
          <a:lstStyle/>
          <a:p>
            <a:pPr algn="l">
              <a:defRPr sz="1600" b="0">
                <a:solidFill>
                  <a:srgbClr val="1A1A2E"/>
                </a:solidFill>
                <a:latin typeface="Latin Modern Sans"/>
              </a:defRPr>
            </a:pPr>
            <a:r>
              <a:t>Date (YYYY-MM-DD)</a:t>
            </a:r>
          </a:p>
        </p:txBody>
      </p:sp>
      <p:sp>
        <p:nvSpPr>
          <p:cNvPr id="23" name="TextBox 22"/>
          <p:cNvSpPr txBox="1"/>
          <p:nvPr/>
        </p:nvSpPr>
        <p:spPr>
          <a:xfrm>
            <a:off x="3337560" y="4599432"/>
            <a:ext cx="5303520" cy="548640"/>
          </a:xfrm>
          <a:prstGeom prst="rect">
            <a:avLst/>
          </a:prstGeom>
          <a:noFill/>
        </p:spPr>
        <p:txBody>
          <a:bodyPr wrap="square">
            <a:spAutoFit/>
          </a:bodyPr>
          <a:lstStyle/>
          <a:p>
            <a:pPr algn="l">
              <a:defRPr sz="1600" b="0">
                <a:solidFill>
                  <a:srgbClr val="1A1A2E"/>
                </a:solidFill>
                <a:latin typeface="Latin Modern Sans"/>
              </a:defRPr>
            </a:pPr>
            <a:r>
              <a:rPr dirty="0"/>
              <a:t>\d{4}-\d{2}-\d{2}</a:t>
            </a:r>
          </a:p>
        </p:txBody>
      </p:sp>
      <p:sp>
        <p:nvSpPr>
          <p:cNvPr id="24" name="TextBox 23">
            <a:extLst>
              <a:ext uri="{FF2B5EF4-FFF2-40B4-BE49-F238E27FC236}">
                <a16:creationId xmlns:a16="http://schemas.microsoft.com/office/drawing/2014/main" id="{A451AA81-AD18-F7D7-1936-47922520A144}"/>
              </a:ext>
            </a:extLst>
          </p:cNvPr>
          <p:cNvSpPr txBox="1"/>
          <p:nvPr/>
        </p:nvSpPr>
        <p:spPr>
          <a:xfrm>
            <a:off x="548640" y="5148072"/>
            <a:ext cx="8046720" cy="400110"/>
          </a:xfrm>
          <a:prstGeom prst="rect">
            <a:avLst/>
          </a:prstGeom>
          <a:noFill/>
        </p:spPr>
        <p:txBody>
          <a:bodyPr wrap="square">
            <a:spAutoFit/>
          </a:bodyPr>
          <a:lstStyle/>
          <a:p>
            <a:pPr algn="l">
              <a:defRPr sz="1800" b="1">
                <a:solidFill>
                  <a:srgbClr val="4C72B0"/>
                </a:solidFill>
                <a:latin typeface="Latin Modern Sans"/>
              </a:defRPr>
            </a:pPr>
            <a:r>
              <a:rPr sz="2000" dirty="0"/>
              <a:t>Use case: Align posts with external events (elections, disasters).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Compiling Patterns for Efficiency</a:t>
            </a:r>
          </a:p>
        </p:txBody>
      </p:sp>
      <p:sp>
        <p:nvSpPr>
          <p:cNvPr id="3" name="Rectangle 2"/>
          <p:cNvSpPr/>
          <p:nvPr/>
        </p:nvSpPr>
        <p:spPr>
          <a:xfrm>
            <a:off x="548640" y="1280160"/>
            <a:ext cx="8046720" cy="23774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25880"/>
            <a:ext cx="7863840" cy="2286000"/>
          </a:xfrm>
          <a:prstGeom prst="rect">
            <a:avLst/>
          </a:prstGeom>
          <a:noFill/>
        </p:spPr>
        <p:txBody>
          <a:bodyPr wrap="square">
            <a:spAutoFit/>
          </a:bodyPr>
          <a:lstStyle/>
          <a:p>
            <a:pPr>
              <a:spcAft>
                <a:spcPts val="0"/>
              </a:spcAft>
              <a:defRPr sz="1300">
                <a:solidFill>
                  <a:srgbClr val="E8E8E8"/>
                </a:solidFill>
                <a:latin typeface="Courier New"/>
              </a:defRPr>
            </a:pPr>
            <a:r>
              <a:t>import re</a:t>
            </a:r>
          </a:p>
          <a:p>
            <a:pPr>
              <a:spcAft>
                <a:spcPts val="0"/>
              </a:spcAft>
              <a:defRPr sz="1300">
                <a:solidFill>
                  <a:srgbClr val="E8E8E8"/>
                </a:solidFill>
                <a:latin typeface="Courier New"/>
              </a:defRPr>
            </a:pPr>
            <a:endParaRPr/>
          </a:p>
          <a:p>
            <a:pPr>
              <a:spcAft>
                <a:spcPts val="0"/>
              </a:spcAft>
              <a:defRPr sz="1300">
                <a:solidFill>
                  <a:srgbClr val="E8E8E8"/>
                </a:solidFill>
                <a:latin typeface="Courier New"/>
              </a:defRPr>
            </a:pPr>
            <a:r>
              <a:t>hashtag = re.compile(r"#\w+")</a:t>
            </a:r>
          </a:p>
          <a:p>
            <a:pPr>
              <a:spcAft>
                <a:spcPts val="0"/>
              </a:spcAft>
              <a:defRPr sz="1300">
                <a:solidFill>
                  <a:srgbClr val="E8E8E8"/>
                </a:solidFill>
                <a:latin typeface="Courier New"/>
              </a:defRPr>
            </a:pPr>
            <a:r>
              <a:t>result = hashtag.findall("Great talk with @jane_doe about #AI #Ethics")</a:t>
            </a:r>
          </a:p>
          <a:p>
            <a:pPr>
              <a:spcAft>
                <a:spcPts val="0"/>
              </a:spcAft>
              <a:defRPr sz="1300">
                <a:solidFill>
                  <a:srgbClr val="E8E8E8"/>
                </a:solidFill>
                <a:latin typeface="Courier New"/>
              </a:defRPr>
            </a:pPr>
            <a:r>
              <a:t>print(result)</a:t>
            </a:r>
          </a:p>
          <a:p>
            <a:pPr>
              <a:spcAft>
                <a:spcPts val="0"/>
              </a:spcAft>
              <a:defRPr sz="1300">
                <a:solidFill>
                  <a:srgbClr val="E8E8E8"/>
                </a:solidFill>
                <a:latin typeface="Courier New"/>
              </a:defRPr>
            </a:pPr>
            <a:r>
              <a:t># ['#AI', '#Ethics']</a:t>
            </a:r>
          </a:p>
        </p:txBody>
      </p:sp>
      <p:sp>
        <p:nvSpPr>
          <p:cNvPr id="5" name="TextBox 4"/>
          <p:cNvSpPr txBox="1"/>
          <p:nvPr/>
        </p:nvSpPr>
        <p:spPr>
          <a:xfrm>
            <a:off x="548640" y="3931920"/>
            <a:ext cx="8046720" cy="1538883"/>
          </a:xfrm>
          <a:prstGeom prst="rect">
            <a:avLst/>
          </a:prstGeom>
          <a:noFill/>
        </p:spPr>
        <p:txBody>
          <a:bodyPr wrap="square">
            <a:spAutoFit/>
          </a:bodyPr>
          <a:lstStyle/>
          <a:p>
            <a:pPr algn="l">
              <a:defRPr sz="2400" b="1">
                <a:solidFill>
                  <a:srgbClr val="4C72B0"/>
                </a:solidFill>
                <a:latin typeface="Latin Modern Sans"/>
              </a:defRPr>
            </a:pPr>
            <a:r>
              <a:rPr dirty="0"/>
              <a:t>Why compile?</a:t>
            </a:r>
          </a:p>
          <a:p>
            <a:pPr algn="l">
              <a:spcAft>
                <a:spcPts val="600"/>
              </a:spcAft>
              <a:defRPr sz="1800" b="0">
                <a:solidFill>
                  <a:srgbClr val="1A1A2E"/>
                </a:solidFill>
                <a:latin typeface="Latin Modern Sans"/>
              </a:defRPr>
            </a:pPr>
            <a:r>
              <a:rPr sz="2000" dirty="0"/>
              <a:t>- Reuse the same pattern many times</a:t>
            </a:r>
          </a:p>
          <a:p>
            <a:pPr algn="l">
              <a:spcAft>
                <a:spcPts val="600"/>
              </a:spcAft>
              <a:defRPr sz="1800" b="0">
                <a:solidFill>
                  <a:srgbClr val="1A1A2E"/>
                </a:solidFill>
                <a:latin typeface="Latin Modern Sans"/>
              </a:defRPr>
            </a:pPr>
            <a:r>
              <a:rPr sz="2000" dirty="0"/>
              <a:t>- Faster on large datasets</a:t>
            </a:r>
          </a:p>
          <a:p>
            <a:pPr algn="l">
              <a:spcAft>
                <a:spcPts val="600"/>
              </a:spcAft>
              <a:defRPr sz="1800" b="0">
                <a:solidFill>
                  <a:srgbClr val="1A1A2E"/>
                </a:solidFill>
                <a:latin typeface="Latin Modern Sans"/>
              </a:defRPr>
            </a:pPr>
            <a:r>
              <a:rPr sz="2000" dirty="0"/>
              <a:t>- Cleaner, more readable code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Extracting with Capture Groups</a:t>
            </a:r>
          </a:p>
        </p:txBody>
      </p:sp>
      <p:sp>
        <p:nvSpPr>
          <p:cNvPr id="3" name="Rectangle 2"/>
          <p:cNvSpPr/>
          <p:nvPr/>
        </p:nvSpPr>
        <p:spPr>
          <a:xfrm>
            <a:off x="548640" y="1280160"/>
            <a:ext cx="8046720" cy="2286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25880"/>
            <a:ext cx="7863840" cy="2194560"/>
          </a:xfrm>
          <a:prstGeom prst="rect">
            <a:avLst/>
          </a:prstGeom>
          <a:noFill/>
        </p:spPr>
        <p:txBody>
          <a:bodyPr wrap="square">
            <a:spAutoFit/>
          </a:bodyPr>
          <a:lstStyle/>
          <a:p>
            <a:pPr>
              <a:spcAft>
                <a:spcPts val="0"/>
              </a:spcAft>
              <a:defRPr sz="1300">
                <a:solidFill>
                  <a:srgbClr val="E8E8E8"/>
                </a:solidFill>
                <a:latin typeface="Courier New"/>
              </a:defRPr>
            </a:pPr>
            <a:r>
              <a:t>pattern = re.compile(r"@(\w+)")</a:t>
            </a:r>
          </a:p>
          <a:p>
            <a:pPr>
              <a:spcAft>
                <a:spcPts val="0"/>
              </a:spcAft>
              <a:defRPr sz="1300">
                <a:solidFill>
                  <a:srgbClr val="E8E8E8"/>
                </a:solidFill>
                <a:latin typeface="Courier New"/>
              </a:defRPr>
            </a:pPr>
            <a:r>
              <a:t>users = pattern.findall("Thanks @alice and @bob for the RT")</a:t>
            </a:r>
          </a:p>
          <a:p>
            <a:pPr>
              <a:spcAft>
                <a:spcPts val="0"/>
              </a:spcAft>
              <a:defRPr sz="1300">
                <a:solidFill>
                  <a:srgbClr val="E8E8E8"/>
                </a:solidFill>
                <a:latin typeface="Courier New"/>
              </a:defRPr>
            </a:pPr>
            <a:r>
              <a:t>print(users)</a:t>
            </a:r>
          </a:p>
          <a:p>
            <a:pPr>
              <a:spcAft>
                <a:spcPts val="0"/>
              </a:spcAft>
              <a:defRPr sz="1300">
                <a:solidFill>
                  <a:srgbClr val="E8E8E8"/>
                </a:solidFill>
                <a:latin typeface="Courier New"/>
              </a:defRPr>
            </a:pPr>
            <a:r>
              <a:t># ['alice', 'bob']</a:t>
            </a:r>
          </a:p>
        </p:txBody>
      </p:sp>
      <p:sp>
        <p:nvSpPr>
          <p:cNvPr id="5" name="TextBox 4"/>
          <p:cNvSpPr txBox="1"/>
          <p:nvPr/>
        </p:nvSpPr>
        <p:spPr>
          <a:xfrm>
            <a:off x="548640" y="3840480"/>
            <a:ext cx="8046720" cy="1371600"/>
          </a:xfrm>
          <a:prstGeom prst="rect">
            <a:avLst/>
          </a:prstGeom>
          <a:noFill/>
        </p:spPr>
        <p:txBody>
          <a:bodyPr wrap="square">
            <a:spAutoFit/>
          </a:bodyPr>
          <a:lstStyle/>
          <a:p>
            <a:pPr algn="l">
              <a:defRPr sz="2000" b="1">
                <a:solidFill>
                  <a:srgbClr val="4C72B0"/>
                </a:solidFill>
                <a:latin typeface="Latin Modern Sans"/>
              </a:defRPr>
            </a:pPr>
            <a:r>
              <a:rPr dirty="0"/>
              <a:t>Capture groups isolate the part you actually want.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rPr dirty="0"/>
              <a:t>Replacing with </a:t>
            </a:r>
            <a:r>
              <a:rPr dirty="0" err="1"/>
              <a:t>re.sub</a:t>
            </a:r>
            <a:r>
              <a:rPr dirty="0"/>
              <a:t>()</a:t>
            </a:r>
          </a:p>
        </p:txBody>
      </p:sp>
      <p:sp>
        <p:nvSpPr>
          <p:cNvPr id="3" name="Rectangle 2"/>
          <p:cNvSpPr/>
          <p:nvPr/>
        </p:nvSpPr>
        <p:spPr>
          <a:xfrm>
            <a:off x="548640" y="1280160"/>
            <a:ext cx="8046720" cy="2286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25880"/>
            <a:ext cx="7863840" cy="2194560"/>
          </a:xfrm>
          <a:prstGeom prst="rect">
            <a:avLst/>
          </a:prstGeom>
          <a:noFill/>
        </p:spPr>
        <p:txBody>
          <a:bodyPr wrap="square">
            <a:spAutoFit/>
          </a:bodyPr>
          <a:lstStyle/>
          <a:p>
            <a:pPr>
              <a:spcAft>
                <a:spcPts val="0"/>
              </a:spcAft>
              <a:defRPr sz="1300">
                <a:solidFill>
                  <a:srgbClr val="E8E8E8"/>
                </a:solidFill>
                <a:latin typeface="Courier New"/>
              </a:defRPr>
            </a:pPr>
            <a:r>
              <a:t>text = "Check out https://t.co/abc123 for details"</a:t>
            </a:r>
          </a:p>
          <a:p>
            <a:pPr>
              <a:spcAft>
                <a:spcPts val="0"/>
              </a:spcAft>
              <a:defRPr sz="1300">
                <a:solidFill>
                  <a:srgbClr val="E8E8E8"/>
                </a:solidFill>
                <a:latin typeface="Courier New"/>
              </a:defRPr>
            </a:pPr>
            <a:r>
              <a:t>clean = re.sub(r"https?://\S+", "[URL]", text)</a:t>
            </a:r>
          </a:p>
          <a:p>
            <a:pPr>
              <a:spcAft>
                <a:spcPts val="0"/>
              </a:spcAft>
              <a:defRPr sz="1300">
                <a:solidFill>
                  <a:srgbClr val="E8E8E8"/>
                </a:solidFill>
                <a:latin typeface="Courier New"/>
              </a:defRPr>
            </a:pPr>
            <a:r>
              <a:t>print(clean)</a:t>
            </a:r>
          </a:p>
          <a:p>
            <a:pPr>
              <a:spcAft>
                <a:spcPts val="0"/>
              </a:spcAft>
              <a:defRPr sz="1300">
                <a:solidFill>
                  <a:srgbClr val="E8E8E8"/>
                </a:solidFill>
                <a:latin typeface="Courier New"/>
              </a:defRPr>
            </a:pPr>
            <a:r>
              <a:t># "Check out [URL] for details"</a:t>
            </a:r>
          </a:p>
        </p:txBody>
      </p:sp>
      <p:sp>
        <p:nvSpPr>
          <p:cNvPr id="5" name="TextBox 4"/>
          <p:cNvSpPr txBox="1"/>
          <p:nvPr/>
        </p:nvSpPr>
        <p:spPr>
          <a:xfrm>
            <a:off x="548640" y="3840480"/>
            <a:ext cx="8046720" cy="1371600"/>
          </a:xfrm>
          <a:prstGeom prst="rect">
            <a:avLst/>
          </a:prstGeom>
          <a:noFill/>
        </p:spPr>
        <p:txBody>
          <a:bodyPr wrap="square">
            <a:spAutoFit/>
          </a:bodyPr>
          <a:lstStyle/>
          <a:p>
            <a:pPr algn="l">
              <a:defRPr sz="1800" b="1">
                <a:solidFill>
                  <a:srgbClr val="4C72B0"/>
                </a:solidFill>
                <a:latin typeface="Latin Modern Sans"/>
              </a:defRPr>
            </a:pPr>
            <a:r>
              <a:t>Common in preprocessing: strip URLs, mentions, or hashtags before modeling.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rPr dirty="0"/>
              <a:t>Application - Mention Networks</a:t>
            </a:r>
          </a:p>
        </p:txBody>
      </p:sp>
      <p:sp>
        <p:nvSpPr>
          <p:cNvPr id="3" name="Rectangle 2"/>
          <p:cNvSpPr/>
          <p:nvPr/>
        </p:nvSpPr>
        <p:spPr>
          <a:xfrm>
            <a:off x="548640" y="1280160"/>
            <a:ext cx="8046720" cy="13716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25880"/>
            <a:ext cx="7863840" cy="1280160"/>
          </a:xfrm>
          <a:prstGeom prst="rect">
            <a:avLst/>
          </a:prstGeom>
          <a:noFill/>
        </p:spPr>
        <p:txBody>
          <a:bodyPr wrap="square">
            <a:spAutoFit/>
          </a:bodyPr>
          <a:lstStyle/>
          <a:p>
            <a:pPr>
              <a:spcAft>
                <a:spcPts val="0"/>
              </a:spcAft>
              <a:defRPr sz="1400">
                <a:solidFill>
                  <a:srgbClr val="E8E8E8"/>
                </a:solidFill>
                <a:latin typeface="Courier New"/>
              </a:defRPr>
            </a:pPr>
            <a:r>
              <a:t>post = "Thanks @alice and @bob for the RT, cc @carol"</a:t>
            </a:r>
          </a:p>
          <a:p>
            <a:pPr>
              <a:spcAft>
                <a:spcPts val="0"/>
              </a:spcAft>
              <a:defRPr sz="1400">
                <a:solidFill>
                  <a:srgbClr val="E8E8E8"/>
                </a:solidFill>
                <a:latin typeface="Courier New"/>
              </a:defRPr>
            </a:pPr>
            <a:r>
              <a:t>mentions = re.findall(r"@(\w+)", post)</a:t>
            </a:r>
          </a:p>
        </p:txBody>
      </p:sp>
      <p:sp>
        <p:nvSpPr>
          <p:cNvPr id="5" name="TextBox 4"/>
          <p:cNvSpPr txBox="1"/>
          <p:nvPr/>
        </p:nvSpPr>
        <p:spPr>
          <a:xfrm>
            <a:off x="548640" y="2926080"/>
            <a:ext cx="8046720" cy="400110"/>
          </a:xfrm>
          <a:prstGeom prst="rect">
            <a:avLst/>
          </a:prstGeom>
          <a:noFill/>
        </p:spPr>
        <p:txBody>
          <a:bodyPr wrap="square">
            <a:spAutoFit/>
          </a:bodyPr>
          <a:lstStyle/>
          <a:p>
            <a:pPr algn="l">
              <a:defRPr sz="1800" b="1">
                <a:solidFill>
                  <a:srgbClr val="4C72B0"/>
                </a:solidFill>
                <a:latin typeface="Latin Modern Sans"/>
              </a:defRPr>
            </a:pPr>
            <a:r>
              <a:rPr sz="2000" dirty="0"/>
              <a:t>Use case: Map who mentions whom; identify communities.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rPr dirty="0"/>
              <a:t>Application - Detecting Bots</a:t>
            </a:r>
          </a:p>
        </p:txBody>
      </p:sp>
      <p:sp>
        <p:nvSpPr>
          <p:cNvPr id="3" name="Rectangle 2"/>
          <p:cNvSpPr/>
          <p:nvPr/>
        </p:nvSpPr>
        <p:spPr>
          <a:xfrm>
            <a:off x="548640" y="1280160"/>
            <a:ext cx="8046720" cy="18288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25880"/>
            <a:ext cx="7863840" cy="1737360"/>
          </a:xfrm>
          <a:prstGeom prst="rect">
            <a:avLst/>
          </a:prstGeom>
          <a:noFill/>
        </p:spPr>
        <p:txBody>
          <a:bodyPr wrap="square">
            <a:spAutoFit/>
          </a:bodyPr>
          <a:lstStyle/>
          <a:p>
            <a:pPr>
              <a:spcAft>
                <a:spcPts val="0"/>
              </a:spcAft>
              <a:defRPr sz="1400">
                <a:solidFill>
                  <a:srgbClr val="E8E8E8"/>
                </a:solidFill>
                <a:latin typeface="Courier New"/>
              </a:defRPr>
            </a:pPr>
            <a:r>
              <a:t>bot_pattern = re.compile(r"^[A-Za-z]+\d{6,}$")</a:t>
            </a:r>
          </a:p>
          <a:p>
            <a:pPr>
              <a:spcAft>
                <a:spcPts val="0"/>
              </a:spcAft>
              <a:defRPr sz="1400">
                <a:solidFill>
                  <a:srgbClr val="E8E8E8"/>
                </a:solidFill>
                <a:latin typeface="Courier New"/>
              </a:defRPr>
            </a:pPr>
            <a:r>
              <a:t>print(bool(bot_pattern.match("user1234567")))  # True</a:t>
            </a:r>
          </a:p>
          <a:p>
            <a:pPr>
              <a:spcAft>
                <a:spcPts val="0"/>
              </a:spcAft>
              <a:defRPr sz="1400">
                <a:solidFill>
                  <a:srgbClr val="E8E8E8"/>
                </a:solidFill>
                <a:latin typeface="Courier New"/>
              </a:defRPr>
            </a:pPr>
            <a:r>
              <a:t>print(bool(bot_pattern.match("jane_doe")))     # False</a:t>
            </a:r>
          </a:p>
        </p:txBody>
      </p:sp>
      <p:sp>
        <p:nvSpPr>
          <p:cNvPr id="5" name="TextBox 4"/>
          <p:cNvSpPr txBox="1"/>
          <p:nvPr/>
        </p:nvSpPr>
        <p:spPr>
          <a:xfrm>
            <a:off x="548640" y="3383280"/>
            <a:ext cx="8046720" cy="400110"/>
          </a:xfrm>
          <a:prstGeom prst="rect">
            <a:avLst/>
          </a:prstGeom>
          <a:noFill/>
        </p:spPr>
        <p:txBody>
          <a:bodyPr wrap="square">
            <a:spAutoFit/>
          </a:bodyPr>
          <a:lstStyle/>
          <a:p>
            <a:pPr algn="l">
              <a:defRPr sz="1800" b="1">
                <a:solidFill>
                  <a:srgbClr val="4C72B0"/>
                </a:solidFill>
                <a:latin typeface="Latin Modern Sans"/>
              </a:defRPr>
            </a:pPr>
            <a:r>
              <a:rPr sz="2000" dirty="0"/>
              <a:t>Usernames ending in long digit strings are a common bot signal.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769441"/>
          </a:xfrm>
          <a:prstGeom prst="rect">
            <a:avLst/>
          </a:prstGeom>
          <a:noFill/>
        </p:spPr>
        <p:txBody>
          <a:bodyPr wrap="square">
            <a:spAutoFit/>
          </a:bodyPr>
          <a:lstStyle/>
          <a:p>
            <a:pPr algn="l">
              <a:defRPr sz="4400" b="0">
                <a:solidFill>
                  <a:srgbClr val="1A1A2E"/>
                </a:solidFill>
                <a:latin typeface="Latin Modern Sans"/>
              </a:defRPr>
            </a:pPr>
            <a:r>
              <a:rPr dirty="0"/>
              <a:t>Application - Stock </a:t>
            </a:r>
            <a:r>
              <a:rPr lang="en-US" dirty="0"/>
              <a:t>Names</a:t>
            </a:r>
            <a:endParaRPr dirty="0"/>
          </a:p>
        </p:txBody>
      </p:sp>
      <p:sp>
        <p:nvSpPr>
          <p:cNvPr id="3" name="Rectangle 2"/>
          <p:cNvSpPr/>
          <p:nvPr/>
        </p:nvSpPr>
        <p:spPr>
          <a:xfrm>
            <a:off x="548640" y="1280160"/>
            <a:ext cx="8046720" cy="10972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25880"/>
            <a:ext cx="7863840" cy="1005840"/>
          </a:xfrm>
          <a:prstGeom prst="rect">
            <a:avLst/>
          </a:prstGeom>
          <a:noFill/>
        </p:spPr>
        <p:txBody>
          <a:bodyPr wrap="square">
            <a:spAutoFit/>
          </a:bodyPr>
          <a:lstStyle/>
          <a:p>
            <a:pPr>
              <a:spcAft>
                <a:spcPts val="0"/>
              </a:spcAft>
              <a:defRPr sz="1400">
                <a:solidFill>
                  <a:srgbClr val="E8E8E8"/>
                </a:solidFill>
                <a:latin typeface="Courier New"/>
              </a:defRPr>
            </a:pPr>
            <a:r>
              <a:t>tickers = re.findall(r"\$[A-Z]{1,5}\b", "Watching $AAPL and $TSLA")</a:t>
            </a:r>
          </a:p>
        </p:txBody>
      </p:sp>
      <p:sp>
        <p:nvSpPr>
          <p:cNvPr id="5" name="TextBox 4"/>
          <p:cNvSpPr txBox="1"/>
          <p:nvPr/>
        </p:nvSpPr>
        <p:spPr>
          <a:xfrm>
            <a:off x="548640" y="2743200"/>
            <a:ext cx="8046720" cy="400110"/>
          </a:xfrm>
          <a:prstGeom prst="rect">
            <a:avLst/>
          </a:prstGeom>
          <a:noFill/>
        </p:spPr>
        <p:txBody>
          <a:bodyPr wrap="square">
            <a:spAutoFit/>
          </a:bodyPr>
          <a:lstStyle/>
          <a:p>
            <a:pPr algn="l">
              <a:defRPr sz="1800" b="1">
                <a:solidFill>
                  <a:srgbClr val="4C72B0"/>
                </a:solidFill>
                <a:latin typeface="Latin Modern Sans"/>
              </a:defRPr>
            </a:pPr>
            <a:r>
              <a:rPr sz="2000" dirty="0"/>
              <a:t>Use case: Financial sentiment analysis on social media.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018" y="649371"/>
            <a:ext cx="7953013" cy="935920"/>
          </a:xfrm>
        </p:spPr>
        <p:txBody>
          <a:bodyPr vert="horz" lIns="91440" tIns="45720" rIns="91440" bIns="45720" rtlCol="0" anchor="ctr">
            <a:normAutofit fontScale="90000"/>
          </a:bodyPr>
          <a:lstStyle/>
          <a:p>
            <a:r>
              <a:rPr lang="en-US" b="0" dirty="0"/>
              <a:t>Useful online debugging tools</a:t>
            </a:r>
            <a:br>
              <a:rPr lang="en-US" b="0" dirty="0"/>
            </a:br>
            <a:endParaRPr lang="en-US" b="0" dirty="0"/>
          </a:p>
        </p:txBody>
      </p:sp>
      <p:pic>
        <p:nvPicPr>
          <p:cNvPr id="4" name="Picture 3">
            <a:extLst>
              <a:ext uri="{FF2B5EF4-FFF2-40B4-BE49-F238E27FC236}">
                <a16:creationId xmlns:a16="http://schemas.microsoft.com/office/drawing/2014/main" id="{1F491F78-5724-45BF-A5B3-D8C473D76EF5}"/>
              </a:ext>
            </a:extLst>
          </p:cNvPr>
          <p:cNvPicPr>
            <a:picLocks noChangeAspect="1"/>
          </p:cNvPicPr>
          <p:nvPr/>
        </p:nvPicPr>
        <p:blipFill>
          <a:blip r:embed="rId2"/>
          <a:stretch>
            <a:fillRect/>
          </a:stretch>
        </p:blipFill>
        <p:spPr>
          <a:xfrm>
            <a:off x="745585" y="2184689"/>
            <a:ext cx="5070451" cy="3961468"/>
          </a:xfrm>
          <a:prstGeom prst="rect">
            <a:avLst/>
          </a:prstGeom>
        </p:spPr>
      </p:pic>
      <p:grpSp>
        <p:nvGrpSpPr>
          <p:cNvPr id="10" name="Group 9">
            <a:extLst>
              <a:ext uri="{FF2B5EF4-FFF2-40B4-BE49-F238E27FC236}">
                <a16:creationId xmlns:a16="http://schemas.microsoft.com/office/drawing/2014/main" id="{D8E6BA70-D6E6-41E4-90A2-19D7CCBF5B69}"/>
              </a:ext>
            </a:extLst>
          </p:cNvPr>
          <p:cNvGrpSpPr/>
          <p:nvPr/>
        </p:nvGrpSpPr>
        <p:grpSpPr>
          <a:xfrm>
            <a:off x="769157" y="4531410"/>
            <a:ext cx="6791145" cy="717554"/>
            <a:chOff x="294037" y="6232889"/>
            <a:chExt cx="6791145" cy="717554"/>
          </a:xfrm>
        </p:grpSpPr>
        <p:sp>
          <p:nvSpPr>
            <p:cNvPr id="7" name="Rectangle 6">
              <a:extLst>
                <a:ext uri="{FF2B5EF4-FFF2-40B4-BE49-F238E27FC236}">
                  <a16:creationId xmlns:a16="http://schemas.microsoft.com/office/drawing/2014/main" id="{B4F67390-4C0E-4195-9EA8-6B0400643F81}"/>
                </a:ext>
              </a:extLst>
            </p:cNvPr>
            <p:cNvSpPr/>
            <p:nvPr/>
          </p:nvSpPr>
          <p:spPr>
            <a:xfrm>
              <a:off x="294037" y="6232889"/>
              <a:ext cx="1181100" cy="378619"/>
            </a:xfrm>
            <a:prstGeom prst="rect">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9" name="Straight Arrow Connector 8">
              <a:extLst>
                <a:ext uri="{FF2B5EF4-FFF2-40B4-BE49-F238E27FC236}">
                  <a16:creationId xmlns:a16="http://schemas.microsoft.com/office/drawing/2014/main" id="{72AE5137-9455-4B11-A9AB-F6DBFC151394}"/>
                </a:ext>
              </a:extLst>
            </p:cNvPr>
            <p:cNvCxnSpPr>
              <a:cxnSpLocks/>
              <a:stCxn id="3" idx="0"/>
            </p:cNvCxnSpPr>
            <p:nvPr/>
          </p:nvCxnSpPr>
          <p:spPr>
            <a:xfrm flipH="1" flipV="1">
              <a:off x="1529906" y="6490064"/>
              <a:ext cx="5555276" cy="460379"/>
            </a:xfrm>
            <a:prstGeom prst="straightConnector1">
              <a:avLst/>
            </a:prstGeom>
            <a:ln w="38100">
              <a:solidFill>
                <a:schemeClr val="accent6"/>
              </a:solidFill>
              <a:prstDash val="solid"/>
              <a:tailEnd type="triangle"/>
            </a:ln>
          </p:spPr>
          <p:style>
            <a:lnRef idx="1">
              <a:schemeClr val="dk1"/>
            </a:lnRef>
            <a:fillRef idx="0">
              <a:schemeClr val="dk1"/>
            </a:fillRef>
            <a:effectRef idx="0">
              <a:schemeClr val="dk1"/>
            </a:effectRef>
            <a:fontRef idx="minor">
              <a:schemeClr val="tx1"/>
            </a:fontRef>
          </p:style>
        </p:cxnSp>
      </p:grpSp>
      <p:sp>
        <p:nvSpPr>
          <p:cNvPr id="8" name="TextBox 7">
            <a:extLst>
              <a:ext uri="{FF2B5EF4-FFF2-40B4-BE49-F238E27FC236}">
                <a16:creationId xmlns:a16="http://schemas.microsoft.com/office/drawing/2014/main" id="{972E058B-C3B7-D203-7999-F49EADB5FA24}"/>
              </a:ext>
            </a:extLst>
          </p:cNvPr>
          <p:cNvSpPr txBox="1"/>
          <p:nvPr/>
        </p:nvSpPr>
        <p:spPr>
          <a:xfrm>
            <a:off x="745584" y="1350006"/>
            <a:ext cx="7725398" cy="461665"/>
          </a:xfrm>
          <a:prstGeom prst="rect">
            <a:avLst/>
          </a:prstGeom>
          <a:noFill/>
        </p:spPr>
        <p:txBody>
          <a:bodyPr wrap="square">
            <a:spAutoFit/>
          </a:bodyPr>
          <a:lstStyle/>
          <a:p>
            <a:r>
              <a:rPr lang="en-US" sz="2400" dirty="0"/>
              <a:t>Visually test if code works in real-time: </a:t>
            </a:r>
            <a:r>
              <a:rPr lang="en-US" sz="2400" b="0" dirty="0">
                <a:hlinkClick r:id="rId3"/>
              </a:rPr>
              <a:t>www.debuggex.com</a:t>
            </a:r>
            <a:endParaRPr lang="en-US" sz="2400" dirty="0"/>
          </a:p>
        </p:txBody>
      </p:sp>
      <p:sp>
        <p:nvSpPr>
          <p:cNvPr id="3" name="Content Placeholder 2"/>
          <p:cNvSpPr>
            <a:spLocks noGrp="1"/>
          </p:cNvSpPr>
          <p:nvPr>
            <p:ph idx="1"/>
          </p:nvPr>
        </p:nvSpPr>
        <p:spPr>
          <a:xfrm>
            <a:off x="5816036" y="5248964"/>
            <a:ext cx="3488531" cy="518060"/>
          </a:xfrm>
        </p:spPr>
        <p:txBody>
          <a:bodyPr>
            <a:normAutofit/>
          </a:bodyPr>
          <a:lstStyle/>
          <a:p>
            <a:pPr marL="0" indent="0">
              <a:buNone/>
            </a:pPr>
            <a:r>
              <a:rPr lang="en-US" sz="2400" b="1" dirty="0">
                <a:solidFill>
                  <a:schemeClr val="accent6"/>
                </a:solidFill>
              </a:rPr>
              <a:t>Make sure to set this!</a:t>
            </a:r>
          </a:p>
        </p:txBody>
      </p:sp>
    </p:spTree>
    <p:extLst>
      <p:ext uri="{BB962C8B-B14F-4D97-AF65-F5344CB8AC3E}">
        <p14:creationId xmlns:p14="http://schemas.microsoft.com/office/powerpoint/2010/main" val="166961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What you should know</a:t>
            </a:r>
          </a:p>
        </p:txBody>
      </p:sp>
      <p:sp>
        <p:nvSpPr>
          <p:cNvPr id="3" name="Content Placeholder 2"/>
          <p:cNvSpPr>
            <a:spLocks noGrp="1"/>
          </p:cNvSpPr>
          <p:nvPr>
            <p:ph idx="1"/>
          </p:nvPr>
        </p:nvSpPr>
        <p:spPr>
          <a:xfrm>
            <a:off x="628650" y="1825625"/>
            <a:ext cx="8187972" cy="4351338"/>
          </a:xfrm>
        </p:spPr>
        <p:txBody>
          <a:bodyPr/>
          <a:lstStyle/>
          <a:p>
            <a:r>
              <a:rPr lang="en-US" dirty="0"/>
              <a:t>Read/write regular expressions for matching patterns</a:t>
            </a:r>
          </a:p>
          <a:p>
            <a:r>
              <a:rPr lang="en-US" dirty="0"/>
              <a:t>How to use the Python </a:t>
            </a:r>
            <a:r>
              <a:rPr lang="en-US" dirty="0">
                <a:latin typeface="Consolas" panose="020B0609020204030204" pitchFamily="49" charset="0"/>
                <a:cs typeface="Courier New" pitchFamily="49" charset="0"/>
              </a:rPr>
              <a:t>re </a:t>
            </a:r>
            <a:r>
              <a:rPr lang="en-US" dirty="0"/>
              <a:t>library functions to </a:t>
            </a:r>
            <a:r>
              <a:rPr lang="en-US" b="1" dirty="0">
                <a:solidFill>
                  <a:srgbClr val="00B050"/>
                </a:solidFill>
              </a:rPr>
              <a:t>search</a:t>
            </a:r>
            <a:r>
              <a:rPr lang="en-US" dirty="0"/>
              <a:t> for matches, </a:t>
            </a:r>
            <a:r>
              <a:rPr lang="en-US" b="1" dirty="0">
                <a:solidFill>
                  <a:srgbClr val="00B050"/>
                </a:solidFill>
              </a:rPr>
              <a:t>extract</a:t>
            </a:r>
            <a:r>
              <a:rPr lang="en-US" dirty="0"/>
              <a:t> them, </a:t>
            </a:r>
            <a:r>
              <a:rPr lang="en-US" b="1" dirty="0">
                <a:solidFill>
                  <a:srgbClr val="00B050"/>
                </a:solidFill>
              </a:rPr>
              <a:t>substitute</a:t>
            </a:r>
            <a:r>
              <a:rPr lang="en-US" dirty="0"/>
              <a:t> text for them</a:t>
            </a:r>
          </a:p>
          <a:p>
            <a:r>
              <a:rPr lang="en-US" dirty="0"/>
              <a:t>How to specify and </a:t>
            </a:r>
            <a:r>
              <a:rPr lang="en-US" b="1" dirty="0">
                <a:solidFill>
                  <a:srgbClr val="00B050"/>
                </a:solidFill>
              </a:rPr>
              <a:t>extract groups </a:t>
            </a:r>
            <a:r>
              <a:rPr lang="en-US" dirty="0"/>
              <a:t>in a match</a:t>
            </a:r>
          </a:p>
          <a:p>
            <a:r>
              <a:rPr lang="en-US" b="1" dirty="0">
                <a:solidFill>
                  <a:srgbClr val="00B050"/>
                </a:solidFill>
              </a:rPr>
              <a:t>Greedy</a:t>
            </a:r>
            <a:r>
              <a:rPr lang="en-US" dirty="0"/>
              <a:t> vs. </a:t>
            </a:r>
            <a:r>
              <a:rPr lang="en-US" b="1" dirty="0">
                <a:solidFill>
                  <a:srgbClr val="00B050"/>
                </a:solidFill>
              </a:rPr>
              <a:t>non-greedy</a:t>
            </a:r>
            <a:r>
              <a:rPr lang="en-US" dirty="0"/>
              <a:t> matching</a:t>
            </a:r>
          </a:p>
        </p:txBody>
      </p:sp>
    </p:spTree>
    <p:extLst>
      <p:ext uri="{BB962C8B-B14F-4D97-AF65-F5344CB8AC3E}">
        <p14:creationId xmlns:p14="http://schemas.microsoft.com/office/powerpoint/2010/main" val="23802401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53DF-55BB-8EC0-3718-25988324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2A6EF-A072-9C9E-EA1D-FAE23CA41585}"/>
              </a:ext>
            </a:extLst>
          </p:cNvPr>
          <p:cNvSpPr>
            <a:spLocks noGrp="1"/>
          </p:cNvSpPr>
          <p:nvPr>
            <p:ph type="title"/>
          </p:nvPr>
        </p:nvSpPr>
        <p:spPr>
          <a:xfrm>
            <a:off x="628650" y="681037"/>
            <a:ext cx="7886700" cy="1325563"/>
          </a:xfrm>
        </p:spPr>
        <p:txBody>
          <a:bodyPr>
            <a:normAutofit/>
          </a:bodyPr>
          <a:lstStyle/>
          <a:p>
            <a:r>
              <a:rPr lang="en-US" b="0" dirty="0"/>
              <a:t>Content moderation on Reddit</a:t>
            </a:r>
            <a:br>
              <a:rPr lang="en-US" b="0" dirty="0"/>
            </a:br>
            <a:endParaRPr lang="en-US" b="0" dirty="0"/>
          </a:p>
        </p:txBody>
      </p:sp>
      <p:sp>
        <p:nvSpPr>
          <p:cNvPr id="3" name="Content Placeholder 2">
            <a:extLst>
              <a:ext uri="{FF2B5EF4-FFF2-40B4-BE49-F238E27FC236}">
                <a16:creationId xmlns:a16="http://schemas.microsoft.com/office/drawing/2014/main" id="{7E058AE8-B2EE-CAFF-6EA2-E603B453214B}"/>
              </a:ext>
            </a:extLst>
          </p:cNvPr>
          <p:cNvSpPr>
            <a:spLocks noGrp="1"/>
          </p:cNvSpPr>
          <p:nvPr>
            <p:ph idx="1"/>
          </p:nvPr>
        </p:nvSpPr>
        <p:spPr>
          <a:xfrm>
            <a:off x="527335" y="1841379"/>
            <a:ext cx="8302699" cy="4351338"/>
          </a:xfrm>
        </p:spPr>
        <p:txBody>
          <a:bodyPr>
            <a:normAutofit/>
          </a:bodyPr>
          <a:lstStyle/>
          <a:p>
            <a:r>
              <a:rPr lang="en-US" sz="2400" dirty="0">
                <a:effectLst/>
              </a:rPr>
              <a:t>Platforms employ regex for real-time content moderation.</a:t>
            </a:r>
          </a:p>
          <a:p>
            <a:pPr lvl="1"/>
            <a:r>
              <a:rPr lang="en-US" sz="2000" dirty="0">
                <a:effectLst/>
              </a:rPr>
              <a:t>Reddit's use of patterns like </a:t>
            </a:r>
            <a:r>
              <a:rPr lang="en-US" sz="2000" dirty="0">
                <a:solidFill>
                  <a:srgbClr val="C00000"/>
                </a:solidFill>
                <a:effectLst/>
              </a:rPr>
              <a:t>(</a:t>
            </a:r>
            <a:r>
              <a:rPr lang="en-US" altLang="zh-CN" sz="2000" dirty="0" err="1">
                <a:solidFill>
                  <a:srgbClr val="C00000"/>
                </a:solidFill>
                <a:effectLst/>
              </a:rPr>
              <a:t>asshole</a:t>
            </a:r>
            <a:r>
              <a:rPr lang="en-US" sz="2000" dirty="0" err="1">
                <a:solidFill>
                  <a:srgbClr val="C00000"/>
                </a:solidFill>
                <a:effectLst/>
              </a:rPr>
              <a:t>|slur|abuse</a:t>
            </a:r>
            <a:r>
              <a:rPr lang="en-US" sz="2000" dirty="0">
                <a:solidFill>
                  <a:srgbClr val="C00000"/>
                </a:solidFill>
                <a:effectLst/>
              </a:rPr>
              <a:t>)</a:t>
            </a:r>
            <a:r>
              <a:rPr lang="en-US" sz="2000" dirty="0">
                <a:effectLst/>
              </a:rPr>
              <a:t> to flag potentially harmful language in comments or posts. </a:t>
            </a:r>
          </a:p>
          <a:p>
            <a:r>
              <a:rPr lang="en-US" sz="2400" dirty="0">
                <a:effectLst/>
              </a:rPr>
              <a:t>This helps in </a:t>
            </a:r>
            <a:r>
              <a:rPr lang="en-US" sz="2400" dirty="0">
                <a:solidFill>
                  <a:schemeClr val="accent1"/>
                </a:solidFill>
                <a:effectLst/>
              </a:rPr>
              <a:t>filtering</a:t>
            </a:r>
            <a:r>
              <a:rPr lang="zh-CN" altLang="en-US" sz="2400" dirty="0">
                <a:solidFill>
                  <a:schemeClr val="accent1"/>
                </a:solidFill>
                <a:effectLst/>
              </a:rPr>
              <a:t> </a:t>
            </a:r>
            <a:r>
              <a:rPr lang="en-US" sz="2400" dirty="0">
                <a:solidFill>
                  <a:schemeClr val="accent1"/>
                </a:solidFill>
                <a:effectLst/>
              </a:rPr>
              <a:t>negative</a:t>
            </a:r>
            <a:r>
              <a:rPr lang="zh-CN" altLang="en-US" sz="2400" dirty="0">
                <a:solidFill>
                  <a:schemeClr val="accent1"/>
                </a:solidFill>
                <a:effectLst/>
              </a:rPr>
              <a:t> </a:t>
            </a:r>
            <a:r>
              <a:rPr lang="en-US" altLang="zh-CN" sz="2400" dirty="0">
                <a:solidFill>
                  <a:schemeClr val="accent1"/>
                </a:solidFill>
                <a:effectLst/>
              </a:rPr>
              <a:t>content</a:t>
            </a:r>
            <a:r>
              <a:rPr lang="zh-CN" altLang="en-US" sz="2400" dirty="0"/>
              <a:t> </a:t>
            </a:r>
            <a:r>
              <a:rPr lang="en-US" altLang="zh-CN" sz="2400" dirty="0"/>
              <a:t>by</a:t>
            </a:r>
            <a:r>
              <a:rPr lang="en-US" sz="2400" dirty="0">
                <a:effectLst/>
              </a:rPr>
              <a:t> triggering reviews</a:t>
            </a:r>
            <a:r>
              <a:rPr lang="en-US" altLang="zh-CN" sz="2400" dirty="0">
                <a:effectLst/>
              </a:rPr>
              <a:t>.</a:t>
            </a:r>
            <a:endParaRPr lang="en-US" sz="2400" dirty="0">
              <a:effectLst/>
            </a:endParaRPr>
          </a:p>
          <a:p>
            <a:r>
              <a:rPr lang="en-US" altLang="zh-CN" sz="2400" dirty="0">
                <a:effectLst/>
              </a:rPr>
              <a:t>Such</a:t>
            </a:r>
            <a:r>
              <a:rPr lang="zh-CN" altLang="en-US" sz="2400" dirty="0">
                <a:effectLst/>
              </a:rPr>
              <a:t> </a:t>
            </a:r>
            <a:r>
              <a:rPr lang="en-US" altLang="zh-CN" sz="2400" dirty="0">
                <a:effectLst/>
              </a:rPr>
              <a:t>tools</a:t>
            </a:r>
            <a:r>
              <a:rPr lang="zh-CN" altLang="en-US" sz="2400" dirty="0">
                <a:effectLst/>
              </a:rPr>
              <a:t> </a:t>
            </a:r>
            <a:r>
              <a:rPr lang="en-US" altLang="zh-CN" sz="2400" dirty="0">
                <a:effectLst/>
              </a:rPr>
              <a:t>can</a:t>
            </a:r>
            <a:r>
              <a:rPr lang="zh-CN" altLang="en-US" sz="2400" dirty="0">
                <a:effectLst/>
              </a:rPr>
              <a:t> </a:t>
            </a:r>
            <a:r>
              <a:rPr lang="en-US" altLang="zh-CN" sz="2400" dirty="0">
                <a:effectLst/>
              </a:rPr>
              <a:t>help</a:t>
            </a:r>
            <a:r>
              <a:rPr lang="zh-CN" altLang="en-US" sz="2400" dirty="0">
                <a:effectLst/>
              </a:rPr>
              <a:t> </a:t>
            </a:r>
            <a:r>
              <a:rPr lang="en-US" altLang="zh-CN" sz="2400" dirty="0">
                <a:effectLst/>
              </a:rPr>
              <a:t>to</a:t>
            </a:r>
            <a:r>
              <a:rPr lang="zh-CN" altLang="en-US" sz="2400" dirty="0">
                <a:effectLst/>
              </a:rPr>
              <a:t> </a:t>
            </a:r>
            <a:r>
              <a:rPr lang="en-US" sz="2400" dirty="0">
                <a:effectLst/>
              </a:rPr>
              <a:t>maintain community standards</a:t>
            </a:r>
            <a:r>
              <a:rPr lang="zh-CN" altLang="en-US" sz="2400" dirty="0">
                <a:effectLst/>
              </a:rPr>
              <a:t> </a:t>
            </a:r>
            <a:r>
              <a:rPr lang="en-US" altLang="zh-CN" sz="2400" dirty="0"/>
              <a:t>through</a:t>
            </a:r>
            <a:r>
              <a:rPr lang="zh-CN" altLang="en-US" sz="2400" dirty="0"/>
              <a:t> </a:t>
            </a:r>
            <a:r>
              <a:rPr lang="en-US" sz="2400" dirty="0">
                <a:effectLst/>
              </a:rPr>
              <a:t>toxicity analysis in high-volume </a:t>
            </a:r>
            <a:r>
              <a:rPr lang="en-US" altLang="zh-CN" sz="2400" dirty="0">
                <a:effectLst/>
              </a:rPr>
              <a:t>online</a:t>
            </a:r>
            <a:r>
              <a:rPr lang="zh-CN" altLang="en-US" sz="2400" dirty="0">
                <a:effectLst/>
              </a:rPr>
              <a:t> </a:t>
            </a:r>
            <a:r>
              <a:rPr lang="en-US" sz="2400" dirty="0">
                <a:effectLst/>
              </a:rPr>
              <a:t>social environments.</a:t>
            </a:r>
          </a:p>
          <a:p>
            <a:endParaRPr lang="en-US" sz="3600" dirty="0"/>
          </a:p>
        </p:txBody>
      </p:sp>
    </p:spTree>
    <p:extLst>
      <p:ext uri="{BB962C8B-B14F-4D97-AF65-F5344CB8AC3E}">
        <p14:creationId xmlns:p14="http://schemas.microsoft.com/office/powerpoint/2010/main" val="4257586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EFB70-99A6-C12F-FB40-E07CE6066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6A0E1-66D4-F0B1-D78F-6129F3D8ABF5}"/>
              </a:ext>
            </a:extLst>
          </p:cNvPr>
          <p:cNvSpPr>
            <a:spLocks noGrp="1"/>
          </p:cNvSpPr>
          <p:nvPr>
            <p:ph type="title"/>
          </p:nvPr>
        </p:nvSpPr>
        <p:spPr>
          <a:xfrm>
            <a:off x="628650" y="681037"/>
            <a:ext cx="7886700" cy="1325563"/>
          </a:xfrm>
        </p:spPr>
        <p:txBody>
          <a:bodyPr>
            <a:normAutofit/>
          </a:bodyPr>
          <a:lstStyle/>
          <a:p>
            <a:r>
              <a:rPr lang="en-US" b="0" dirty="0"/>
              <a:t>Cross-platform user identification</a:t>
            </a:r>
            <a:br>
              <a:rPr lang="en-US" b="0" dirty="0"/>
            </a:br>
            <a:endParaRPr lang="en-US" b="0" dirty="0"/>
          </a:p>
        </p:txBody>
      </p:sp>
      <p:sp>
        <p:nvSpPr>
          <p:cNvPr id="3" name="Content Placeholder 2">
            <a:extLst>
              <a:ext uri="{FF2B5EF4-FFF2-40B4-BE49-F238E27FC236}">
                <a16:creationId xmlns:a16="http://schemas.microsoft.com/office/drawing/2014/main" id="{A8E4388A-146F-24E9-12B4-9EE6B5D4C643}"/>
              </a:ext>
            </a:extLst>
          </p:cNvPr>
          <p:cNvSpPr>
            <a:spLocks noGrp="1"/>
          </p:cNvSpPr>
          <p:nvPr>
            <p:ph idx="1"/>
          </p:nvPr>
        </p:nvSpPr>
        <p:spPr>
          <a:xfrm>
            <a:off x="628649" y="1825625"/>
            <a:ext cx="8515351" cy="4351338"/>
          </a:xfrm>
        </p:spPr>
        <p:txBody>
          <a:bodyPr>
            <a:normAutofit/>
          </a:bodyPr>
          <a:lstStyle/>
          <a:p>
            <a:r>
              <a:rPr lang="en-US" altLang="zh-CN" sz="2400" dirty="0">
                <a:effectLst/>
              </a:rPr>
              <a:t>Use</a:t>
            </a:r>
            <a:r>
              <a:rPr lang="zh-CN" altLang="en-US" sz="2400" dirty="0">
                <a:effectLst/>
              </a:rPr>
              <a:t> </a:t>
            </a:r>
            <a:r>
              <a:rPr lang="en-US" sz="2400" dirty="0">
                <a:effectLst/>
              </a:rPr>
              <a:t>regex to identify links to other social media accounts</a:t>
            </a:r>
            <a:r>
              <a:rPr lang="en-US" altLang="zh-CN" sz="2400" dirty="0">
                <a:effectLst/>
              </a:rPr>
              <a:t>.</a:t>
            </a:r>
            <a:endParaRPr lang="en-US" sz="2400" dirty="0">
              <a:effectLst/>
            </a:endParaRPr>
          </a:p>
          <a:p>
            <a:pPr lvl="1"/>
            <a:r>
              <a:rPr lang="en-US" altLang="zh-CN" sz="2000" dirty="0">
                <a:effectLst/>
              </a:rPr>
              <a:t>E</a:t>
            </a:r>
            <a:r>
              <a:rPr lang="en-US" sz="2000" dirty="0">
                <a:effectLst/>
              </a:rPr>
              <a:t>xtract Instagram handles</a:t>
            </a:r>
            <a:r>
              <a:rPr lang="zh-CN" altLang="en-US" sz="2000" dirty="0">
                <a:effectLst/>
              </a:rPr>
              <a:t> </a:t>
            </a:r>
            <a:r>
              <a:rPr lang="en-US" altLang="zh-CN" sz="2000" dirty="0">
                <a:effectLst/>
              </a:rPr>
              <a:t>in</a:t>
            </a:r>
            <a:r>
              <a:rPr lang="zh-CN" altLang="en-US" sz="2000" dirty="0">
                <a:effectLst/>
              </a:rPr>
              <a:t> </a:t>
            </a:r>
            <a:r>
              <a:rPr lang="en-US" altLang="zh-CN" sz="2000" dirty="0">
                <a:effectLst/>
              </a:rPr>
              <a:t>tweets</a:t>
            </a:r>
            <a:r>
              <a:rPr lang="en-US" sz="2000" dirty="0">
                <a:effectLst/>
              </a:rPr>
              <a:t>: </a:t>
            </a:r>
            <a:r>
              <a:rPr lang="en-US" sz="2000" dirty="0" err="1">
                <a:solidFill>
                  <a:srgbClr val="C00000"/>
                </a:solidFill>
                <a:effectLst/>
              </a:rPr>
              <a:t>instagram</a:t>
            </a:r>
            <a:r>
              <a:rPr lang="en-US" sz="2000" dirty="0">
                <a:solidFill>
                  <a:srgbClr val="C00000"/>
                </a:solidFill>
                <a:effectLst/>
              </a:rPr>
              <a:t>\.com/[a-zA-Z0-9_]+</a:t>
            </a:r>
            <a:endParaRPr lang="en-US" altLang="zh-CN" sz="2000" dirty="0">
              <a:solidFill>
                <a:srgbClr val="C00000"/>
              </a:solidFill>
              <a:effectLst/>
            </a:endParaRPr>
          </a:p>
          <a:p>
            <a:pPr lvl="1"/>
            <a:r>
              <a:rPr lang="en-US" altLang="zh-CN" sz="2000" dirty="0">
                <a:effectLst/>
              </a:rPr>
              <a:t>R</a:t>
            </a:r>
            <a:r>
              <a:rPr lang="en-US" sz="2000" dirty="0">
                <a:effectLst/>
              </a:rPr>
              <a:t>evealing user </a:t>
            </a:r>
            <a:r>
              <a:rPr lang="en-US" altLang="zh-CN" sz="2000" dirty="0">
                <a:effectLst/>
              </a:rPr>
              <a:t>interests</a:t>
            </a:r>
            <a:r>
              <a:rPr lang="zh-CN" altLang="en-US" sz="2000" dirty="0">
                <a:effectLst/>
              </a:rPr>
              <a:t> </a:t>
            </a:r>
            <a:r>
              <a:rPr lang="en-US" altLang="zh-CN" sz="2000" dirty="0">
                <a:effectLst/>
              </a:rPr>
              <a:t>and</a:t>
            </a:r>
            <a:r>
              <a:rPr lang="zh-CN" altLang="en-US" sz="2000" dirty="0">
                <a:effectLst/>
              </a:rPr>
              <a:t> </a:t>
            </a:r>
            <a:r>
              <a:rPr lang="en-US" altLang="zh-CN" sz="2000" dirty="0">
                <a:effectLst/>
              </a:rPr>
              <a:t>user</a:t>
            </a:r>
            <a:r>
              <a:rPr lang="zh-CN" altLang="en-US" sz="2000" dirty="0">
                <a:effectLst/>
              </a:rPr>
              <a:t> </a:t>
            </a:r>
            <a:r>
              <a:rPr lang="en-US" sz="2000" dirty="0">
                <a:effectLst/>
              </a:rPr>
              <a:t>migration.</a:t>
            </a:r>
            <a:endParaRPr lang="en-US" sz="2800" dirty="0"/>
          </a:p>
          <a:p>
            <a:r>
              <a:rPr lang="en-US" altLang="zh-CN" sz="2400" dirty="0">
                <a:effectLst/>
              </a:rPr>
              <a:t>Helpful</a:t>
            </a:r>
            <a:r>
              <a:rPr lang="zh-CN" altLang="en-US" sz="2400" dirty="0">
                <a:effectLst/>
              </a:rPr>
              <a:t> </a:t>
            </a:r>
            <a:r>
              <a:rPr lang="en-US" altLang="zh-CN" sz="2400" dirty="0">
                <a:effectLst/>
              </a:rPr>
              <a:t>for</a:t>
            </a:r>
            <a:r>
              <a:rPr lang="zh-CN" altLang="en-US" sz="2400" dirty="0">
                <a:effectLst/>
              </a:rPr>
              <a:t> </a:t>
            </a:r>
            <a:r>
              <a:rPr lang="en-US" altLang="zh-CN" sz="2400" dirty="0">
                <a:solidFill>
                  <a:schemeClr val="accent1"/>
                </a:solidFill>
                <a:effectLst/>
              </a:rPr>
              <a:t>tracking</a:t>
            </a:r>
            <a:r>
              <a:rPr lang="zh-CN" altLang="en-US" sz="2400" dirty="0">
                <a:solidFill>
                  <a:schemeClr val="accent1"/>
                </a:solidFill>
                <a:effectLst/>
              </a:rPr>
              <a:t> </a:t>
            </a:r>
            <a:r>
              <a:rPr lang="en-US" altLang="zh-CN" sz="2400" dirty="0">
                <a:solidFill>
                  <a:schemeClr val="accent1"/>
                </a:solidFill>
                <a:effectLst/>
              </a:rPr>
              <a:t>user</a:t>
            </a:r>
            <a:r>
              <a:rPr lang="zh-CN" altLang="en-US" sz="2400" dirty="0">
                <a:solidFill>
                  <a:schemeClr val="accent1"/>
                </a:solidFill>
                <a:effectLst/>
              </a:rPr>
              <a:t> </a:t>
            </a:r>
            <a:r>
              <a:rPr lang="en-US" altLang="zh-CN" sz="2400" dirty="0">
                <a:solidFill>
                  <a:schemeClr val="accent1"/>
                </a:solidFill>
              </a:rPr>
              <a:t>behaviors</a:t>
            </a:r>
            <a:r>
              <a:rPr lang="zh-CN" altLang="en-US" sz="2400" dirty="0"/>
              <a:t> </a:t>
            </a:r>
            <a:r>
              <a:rPr lang="en-US" altLang="zh-CN" sz="2400" dirty="0"/>
              <a:t>a</a:t>
            </a:r>
            <a:r>
              <a:rPr lang="en-US" sz="2400" dirty="0">
                <a:effectLst/>
              </a:rPr>
              <a:t>cross</a:t>
            </a:r>
            <a:r>
              <a:rPr lang="zh-CN" altLang="en-US" sz="2400" dirty="0">
                <a:effectLst/>
              </a:rPr>
              <a:t> </a:t>
            </a:r>
            <a:r>
              <a:rPr lang="en-US" sz="2400" dirty="0">
                <a:effectLst/>
              </a:rPr>
              <a:t>platform</a:t>
            </a:r>
            <a:r>
              <a:rPr lang="en-US" altLang="zh-CN" sz="2400" dirty="0">
                <a:effectLst/>
              </a:rPr>
              <a:t>s.</a:t>
            </a:r>
          </a:p>
          <a:p>
            <a:pPr lvl="1"/>
            <a:r>
              <a:rPr lang="en-US" altLang="zh-CN" sz="2000" dirty="0"/>
              <a:t>Taobao product recommendation based on post viewed on </a:t>
            </a:r>
            <a:r>
              <a:rPr lang="en-US" altLang="zh-CN" sz="2000" dirty="0" err="1"/>
              <a:t>RedNote</a:t>
            </a:r>
            <a:r>
              <a:rPr lang="en-US" altLang="zh-CN" sz="2000" dirty="0"/>
              <a:t>.</a:t>
            </a:r>
            <a:endParaRPr lang="en-US" altLang="zh-CN" sz="2000" dirty="0">
              <a:effectLst/>
            </a:endParaRPr>
          </a:p>
          <a:p>
            <a:r>
              <a:rPr lang="en-US" sz="2400" dirty="0">
                <a:effectLst/>
              </a:rPr>
              <a:t>This </a:t>
            </a:r>
            <a:r>
              <a:rPr lang="en-US" altLang="zh-CN" sz="2400" dirty="0">
                <a:effectLst/>
              </a:rPr>
              <a:t>simple</a:t>
            </a:r>
            <a:r>
              <a:rPr lang="zh-CN" altLang="en-US" sz="2400" dirty="0">
                <a:effectLst/>
              </a:rPr>
              <a:t> </a:t>
            </a:r>
            <a:r>
              <a:rPr lang="en-US" sz="2400" dirty="0">
                <a:effectLst/>
              </a:rPr>
              <a:t>technique </a:t>
            </a:r>
            <a:r>
              <a:rPr lang="en-US" altLang="zh-CN" sz="2400" dirty="0">
                <a:effectLst/>
              </a:rPr>
              <a:t>is</a:t>
            </a:r>
            <a:r>
              <a:rPr lang="zh-CN" altLang="en-US" sz="2400" dirty="0">
                <a:effectLst/>
              </a:rPr>
              <a:t> </a:t>
            </a:r>
            <a:r>
              <a:rPr lang="en-US" altLang="zh-CN" sz="2400" dirty="0">
                <a:effectLst/>
              </a:rPr>
              <a:t>also</a:t>
            </a:r>
            <a:r>
              <a:rPr lang="zh-CN" altLang="en-US" sz="2400" dirty="0">
                <a:effectLst/>
              </a:rPr>
              <a:t> </a:t>
            </a:r>
            <a:r>
              <a:rPr lang="en-US" altLang="zh-CN" sz="2400" dirty="0">
                <a:effectLst/>
              </a:rPr>
              <a:t>valuable</a:t>
            </a:r>
            <a:r>
              <a:rPr lang="zh-CN" altLang="en-US" sz="2400" dirty="0">
                <a:effectLst/>
              </a:rPr>
              <a:t> </a:t>
            </a:r>
            <a:r>
              <a:rPr lang="en-US" altLang="zh-CN" sz="2400" dirty="0">
                <a:effectLst/>
              </a:rPr>
              <a:t>for</a:t>
            </a:r>
            <a:r>
              <a:rPr lang="zh-CN" altLang="en-US" sz="2400" dirty="0">
                <a:effectLst/>
              </a:rPr>
              <a:t> </a:t>
            </a:r>
            <a:r>
              <a:rPr lang="en-US" sz="2400" dirty="0">
                <a:effectLst/>
              </a:rPr>
              <a:t>analyzing how users share content across sites</a:t>
            </a:r>
            <a:r>
              <a:rPr lang="en-US" altLang="zh-CN" sz="2400" dirty="0"/>
              <a:t>,</a:t>
            </a:r>
            <a:r>
              <a:rPr lang="zh-CN" altLang="en-US" sz="2400" dirty="0"/>
              <a:t> </a:t>
            </a:r>
            <a:r>
              <a:rPr lang="en-US" altLang="zh-CN" sz="2400" dirty="0">
                <a:effectLst/>
              </a:rPr>
              <a:t>which</a:t>
            </a:r>
            <a:r>
              <a:rPr lang="zh-CN" altLang="en-US" sz="2400" dirty="0">
                <a:effectLst/>
              </a:rPr>
              <a:t> </a:t>
            </a:r>
            <a:r>
              <a:rPr lang="en-US" altLang="zh-CN" sz="2400" dirty="0">
                <a:effectLst/>
              </a:rPr>
              <a:t>is</a:t>
            </a:r>
            <a:r>
              <a:rPr lang="zh-CN" altLang="en-US" sz="2400" dirty="0">
                <a:effectLst/>
              </a:rPr>
              <a:t> </a:t>
            </a:r>
            <a:r>
              <a:rPr lang="en-US" altLang="zh-CN" sz="2400" dirty="0">
                <a:effectLst/>
              </a:rPr>
              <a:t>good</a:t>
            </a:r>
            <a:r>
              <a:rPr lang="zh-CN" altLang="en-US" sz="2400" dirty="0">
                <a:effectLst/>
              </a:rPr>
              <a:t> </a:t>
            </a:r>
            <a:r>
              <a:rPr lang="en-US" sz="2400" dirty="0">
                <a:effectLst/>
              </a:rPr>
              <a:t>for </a:t>
            </a:r>
            <a:r>
              <a:rPr lang="en-US" altLang="zh-CN" sz="2400" dirty="0">
                <a:solidFill>
                  <a:schemeClr val="accent1"/>
                </a:solidFill>
                <a:effectLst/>
              </a:rPr>
              <a:t>viral</a:t>
            </a:r>
            <a:r>
              <a:rPr lang="zh-CN" altLang="en-US" sz="2400" dirty="0">
                <a:solidFill>
                  <a:schemeClr val="accent1"/>
                </a:solidFill>
                <a:effectLst/>
              </a:rPr>
              <a:t> </a:t>
            </a:r>
            <a:r>
              <a:rPr lang="en-US" sz="2400" dirty="0">
                <a:solidFill>
                  <a:schemeClr val="accent1"/>
                </a:solidFill>
                <a:effectLst/>
              </a:rPr>
              <a:t>marketing</a:t>
            </a:r>
            <a:r>
              <a:rPr lang="en-US" altLang="zh-CN" sz="2400" dirty="0">
                <a:effectLst/>
              </a:rPr>
              <a:t>.</a:t>
            </a:r>
            <a:endParaRPr lang="en-US" sz="2400" dirty="0">
              <a:effectLst/>
            </a:endParaRPr>
          </a:p>
          <a:p>
            <a:endParaRPr lang="en-US" sz="3200" dirty="0"/>
          </a:p>
        </p:txBody>
      </p:sp>
    </p:spTree>
    <p:extLst>
      <p:ext uri="{BB962C8B-B14F-4D97-AF65-F5344CB8AC3E}">
        <p14:creationId xmlns:p14="http://schemas.microsoft.com/office/powerpoint/2010/main" val="1708161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Author mentions in U.S. news: an observational study"/>
          <p:cNvSpPr txBox="1"/>
          <p:nvPr/>
        </p:nvSpPr>
        <p:spPr>
          <a:xfrm>
            <a:off x="306923" y="344337"/>
            <a:ext cx="8837077" cy="6876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defTabSz="410751" hangingPunct="0">
              <a:spcBef>
                <a:spcPts val="281"/>
              </a:spcBef>
              <a:defRPr sz="4000"/>
            </a:pPr>
            <a:r>
              <a:rPr lang="en-US" sz="4000" dirty="0">
                <a:latin typeface="Calibri" panose="020F0502020204030204" pitchFamily="34" charset="0"/>
                <a:cs typeface="Calibri" panose="020F0502020204030204" pitchFamily="34" charset="0"/>
              </a:rPr>
              <a:t>Case: Who are mentioned in science news</a:t>
            </a:r>
            <a:endParaRPr sz="4000" kern="0" dirty="0">
              <a:solidFill>
                <a:srgbClr val="000000"/>
              </a:solidFill>
              <a:latin typeface="Calibri" panose="020F0502020204030204" pitchFamily="34" charset="0"/>
              <a:ea typeface="Helvetica Neue"/>
              <a:cs typeface="Calibri" panose="020F0502020204030204" pitchFamily="34" charset="0"/>
              <a:sym typeface="Helvetica Neue"/>
            </a:endParaRPr>
          </a:p>
        </p:txBody>
      </p:sp>
      <p:pic>
        <p:nvPicPr>
          <p:cNvPr id="203" name="bigstock-Surprised-.jpg" descr="bigstock-Surprised-.jpg"/>
          <p:cNvPicPr>
            <a:picLocks noChangeAspect="1"/>
          </p:cNvPicPr>
          <p:nvPr/>
        </p:nvPicPr>
        <p:blipFill>
          <a:blip r:embed="rId3"/>
          <a:stretch>
            <a:fillRect/>
          </a:stretch>
        </p:blipFill>
        <p:spPr>
          <a:xfrm>
            <a:off x="703639" y="1311485"/>
            <a:ext cx="7736723" cy="5140623"/>
          </a:xfrm>
          <a:prstGeom prst="rect">
            <a:avLst/>
          </a:prstGeom>
          <a:ln w="12700">
            <a:miter lim="400000"/>
          </a:ln>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Not all authors are mentioned in the news story covering their research papers"/>
          <p:cNvSpPr txBox="1"/>
          <p:nvPr/>
        </p:nvSpPr>
        <p:spPr>
          <a:xfrm>
            <a:off x="290649" y="335393"/>
            <a:ext cx="8562702" cy="11801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a:spAutoFit/>
          </a:bodyPr>
          <a:lstStyle>
            <a:lvl1pPr defTabSz="584200">
              <a:lnSpc>
                <a:spcPct val="100000"/>
              </a:lnSpc>
              <a:spcBef>
                <a:spcPts val="400"/>
              </a:spcBef>
              <a:defRPr sz="4000"/>
            </a:lvl1pPr>
          </a:lstStyle>
          <a:p>
            <a:pPr defTabSz="410751" hangingPunct="0">
              <a:spcBef>
                <a:spcPts val="281"/>
              </a:spcBef>
            </a:pPr>
            <a:r>
              <a:rPr sz="3600" kern="0" dirty="0">
                <a:solidFill>
                  <a:srgbClr val="000000"/>
                </a:solidFill>
                <a:latin typeface="Calibri" panose="020F0502020204030204" pitchFamily="34" charset="0"/>
                <a:ea typeface="Helvetica Neue"/>
                <a:cs typeface="Calibri" panose="020F0502020204030204" pitchFamily="34" charset="0"/>
                <a:sym typeface="Helvetica Neue"/>
              </a:rPr>
              <a:t>Not all authors are mentioned in news stor</a:t>
            </a: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ies that report</a:t>
            </a:r>
            <a:r>
              <a:rPr sz="3600" kern="0" dirty="0">
                <a:solidFill>
                  <a:srgbClr val="000000"/>
                </a:solidFill>
                <a:latin typeface="Calibri" panose="020F0502020204030204" pitchFamily="34" charset="0"/>
                <a:ea typeface="Helvetica Neue"/>
                <a:cs typeface="Calibri" panose="020F0502020204030204" pitchFamily="34" charset="0"/>
                <a:sym typeface="Helvetica Neue"/>
              </a:rPr>
              <a:t> their research</a:t>
            </a: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 papers</a:t>
            </a:r>
            <a:endParaRPr sz="3600" kern="0" dirty="0">
              <a:solidFill>
                <a:srgbClr val="000000"/>
              </a:solidFill>
              <a:latin typeface="Calibri" panose="020F0502020204030204" pitchFamily="34" charset="0"/>
              <a:ea typeface="Helvetica Neue"/>
              <a:cs typeface="Calibri" panose="020F0502020204030204" pitchFamily="34" charset="0"/>
              <a:sym typeface="Helvetica Neue"/>
            </a:endParaRPr>
          </a:p>
        </p:txBody>
      </p:sp>
      <p:grpSp>
        <p:nvGrpSpPr>
          <p:cNvPr id="187" name="Group"/>
          <p:cNvGrpSpPr/>
          <p:nvPr/>
        </p:nvGrpSpPr>
        <p:grpSpPr>
          <a:xfrm>
            <a:off x="293091" y="1522191"/>
            <a:ext cx="5629683" cy="5202326"/>
            <a:chOff x="0" y="0"/>
            <a:chExt cx="8006658" cy="7398863"/>
          </a:xfrm>
        </p:grpSpPr>
        <p:grpSp>
          <p:nvGrpSpPr>
            <p:cNvPr id="185" name="Group"/>
            <p:cNvGrpSpPr/>
            <p:nvPr/>
          </p:nvGrpSpPr>
          <p:grpSpPr>
            <a:xfrm>
              <a:off x="98079" y="0"/>
              <a:ext cx="7810501" cy="7398864"/>
              <a:chOff x="0" y="0"/>
              <a:chExt cx="7810500" cy="7398863"/>
            </a:xfrm>
          </p:grpSpPr>
          <p:pic>
            <p:nvPicPr>
              <p:cNvPr id="182" name="Image" descr="Image"/>
              <p:cNvPicPr>
                <a:picLocks noChangeAspect="1"/>
              </p:cNvPicPr>
              <p:nvPr/>
            </p:nvPicPr>
            <p:blipFill>
              <a:blip r:embed="rId3"/>
              <a:stretch>
                <a:fillRect/>
              </a:stretch>
            </p:blipFill>
            <p:spPr>
              <a:xfrm>
                <a:off x="50785" y="0"/>
                <a:ext cx="6604001" cy="1206500"/>
              </a:xfrm>
              <a:prstGeom prst="rect">
                <a:avLst/>
              </a:prstGeom>
              <a:ln w="12700" cap="flat">
                <a:noFill/>
                <a:miter lim="400000"/>
              </a:ln>
              <a:effectLst/>
            </p:spPr>
          </p:pic>
          <p:pic>
            <p:nvPicPr>
              <p:cNvPr id="183" name="Image" descr="Image"/>
              <p:cNvPicPr>
                <a:picLocks noChangeAspect="1"/>
              </p:cNvPicPr>
              <p:nvPr/>
            </p:nvPicPr>
            <p:blipFill>
              <a:blip r:embed="rId4"/>
              <a:stretch>
                <a:fillRect/>
              </a:stretch>
            </p:blipFill>
            <p:spPr>
              <a:xfrm>
                <a:off x="30308" y="604912"/>
                <a:ext cx="6997701" cy="1333501"/>
              </a:xfrm>
              <a:prstGeom prst="rect">
                <a:avLst/>
              </a:prstGeom>
              <a:ln w="12700" cap="flat">
                <a:noFill/>
                <a:miter lim="400000"/>
              </a:ln>
              <a:effectLst/>
            </p:spPr>
          </p:pic>
          <p:pic>
            <p:nvPicPr>
              <p:cNvPr id="184" name="Image" descr="Image"/>
              <p:cNvPicPr>
                <a:picLocks noChangeAspect="1"/>
              </p:cNvPicPr>
              <p:nvPr/>
            </p:nvPicPr>
            <p:blipFill>
              <a:blip r:embed="rId5"/>
              <a:stretch>
                <a:fillRect/>
              </a:stretch>
            </p:blipFill>
            <p:spPr>
              <a:xfrm>
                <a:off x="0" y="2014063"/>
                <a:ext cx="7810500" cy="5384801"/>
              </a:xfrm>
              <a:prstGeom prst="rect">
                <a:avLst/>
              </a:prstGeom>
              <a:ln w="12700" cap="flat">
                <a:noFill/>
                <a:miter lim="400000"/>
              </a:ln>
              <a:effectLst/>
            </p:spPr>
          </p:pic>
        </p:grpSp>
        <p:sp>
          <p:nvSpPr>
            <p:cNvPr id="186" name="Rectangle"/>
            <p:cNvSpPr/>
            <p:nvPr/>
          </p:nvSpPr>
          <p:spPr>
            <a:xfrm>
              <a:off x="0" y="19050"/>
              <a:ext cx="8006659" cy="7360764"/>
            </a:xfrm>
            <a:prstGeom prst="rect">
              <a:avLst/>
            </a:prstGeom>
            <a:noFill/>
            <a:ln w="38100" cap="flat">
              <a:solidFill>
                <a:srgbClr val="000000"/>
              </a:solidFill>
              <a:prstDash val="solid"/>
              <a:miter lim="400000"/>
            </a:ln>
            <a:effectLst/>
          </p:spPr>
          <p:txBody>
            <a:bodyPr wrap="square" lIns="35719" tIns="35719" rIns="35719" bIns="35719" numCol="1" anchor="ctr">
              <a:noAutofit/>
            </a:bodyPr>
            <a:lstStyle/>
            <a:p>
              <a:pPr algn="ctr" defTabSz="410751" hangingPunct="0">
                <a:defRPr sz="2200">
                  <a:latin typeface="Helvetica Neue Medium"/>
                  <a:ea typeface="Helvetica Neue Medium"/>
                  <a:cs typeface="Helvetica Neue Medium"/>
                  <a:sym typeface="Helvetica Neue Medium"/>
                </a:defRPr>
              </a:pPr>
              <a:endParaRPr sz="1547" kern="0">
                <a:solidFill>
                  <a:srgbClr val="000000"/>
                </a:solidFill>
                <a:latin typeface="Helvetica Neue Medium"/>
                <a:ea typeface="Helvetica Neue Medium"/>
                <a:cs typeface="Helvetica Neue Medium"/>
                <a:sym typeface="Helvetica Neue Medium"/>
              </a:endParaRPr>
            </a:p>
          </p:txBody>
        </p:sp>
      </p:grpSp>
      <p:grpSp>
        <p:nvGrpSpPr>
          <p:cNvPr id="190" name="Group"/>
          <p:cNvGrpSpPr/>
          <p:nvPr/>
        </p:nvGrpSpPr>
        <p:grpSpPr>
          <a:xfrm>
            <a:off x="333526" y="6159870"/>
            <a:ext cx="5516646" cy="542130"/>
            <a:chOff x="0" y="0"/>
            <a:chExt cx="7845895" cy="771027"/>
          </a:xfrm>
        </p:grpSpPr>
        <p:sp>
          <p:nvSpPr>
            <p:cNvPr id="188" name="Rectangle"/>
            <p:cNvSpPr/>
            <p:nvPr/>
          </p:nvSpPr>
          <p:spPr>
            <a:xfrm>
              <a:off x="4766495" y="0"/>
              <a:ext cx="3079401" cy="465201"/>
            </a:xfrm>
            <a:prstGeom prst="rect">
              <a:avLst/>
            </a:prstGeom>
            <a:noFill/>
            <a:ln w="63500" cap="flat">
              <a:solidFill>
                <a:srgbClr val="4F8F00"/>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189" name="Rectangle"/>
            <p:cNvSpPr/>
            <p:nvPr/>
          </p:nvSpPr>
          <p:spPr>
            <a:xfrm>
              <a:off x="0" y="305827"/>
              <a:ext cx="3457661" cy="465201"/>
            </a:xfrm>
            <a:prstGeom prst="rect">
              <a:avLst/>
            </a:prstGeom>
            <a:noFill/>
            <a:ln w="63500" cap="flat">
              <a:solidFill>
                <a:srgbClr val="4F8F00"/>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grpSp>
      <p:sp>
        <p:nvSpPr>
          <p:cNvPr id="194" name="Last author is quoted in this story (omitted due to space limitation)"/>
          <p:cNvSpPr txBox="1"/>
          <p:nvPr/>
        </p:nvSpPr>
        <p:spPr>
          <a:xfrm>
            <a:off x="1814486" y="3368990"/>
            <a:ext cx="3911065" cy="6131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anchor="ctr">
            <a:spAutoFit/>
          </a:bodyPr>
          <a:lstStyle>
            <a:lvl1pPr defTabSz="584200">
              <a:lnSpc>
                <a:spcPct val="100000"/>
              </a:lnSpc>
              <a:spcBef>
                <a:spcPts val="0"/>
              </a:spcBef>
              <a:defRPr sz="2500">
                <a:solidFill>
                  <a:srgbClr val="FF2600"/>
                </a:solidFill>
                <a:latin typeface="Helvetica Neue Light"/>
                <a:ea typeface="Helvetica Neue Light"/>
                <a:cs typeface="Helvetica Neue Light"/>
                <a:sym typeface="Helvetica Neue Light"/>
              </a:defRPr>
            </a:lvl1pPr>
          </a:lstStyle>
          <a:p>
            <a:pPr defTabSz="410751" hangingPunct="0"/>
            <a:r>
              <a:rPr lang="en-US" sz="1758" b="1" kern="0" dirty="0">
                <a:solidFill>
                  <a:srgbClr val="0078B9"/>
                </a:solidFill>
              </a:rPr>
              <a:t>Only l</a:t>
            </a:r>
            <a:r>
              <a:rPr sz="1758" b="1" kern="0" dirty="0">
                <a:solidFill>
                  <a:srgbClr val="0078B9"/>
                </a:solidFill>
              </a:rPr>
              <a:t>ast author is quoted in this story</a:t>
            </a:r>
            <a:r>
              <a:rPr sz="1758" kern="0" dirty="0">
                <a:solidFill>
                  <a:srgbClr val="0078B9"/>
                </a:solidFill>
              </a:rPr>
              <a:t> </a:t>
            </a:r>
            <a:r>
              <a:rPr sz="1758" kern="0" dirty="0"/>
              <a:t>(omitted </a:t>
            </a:r>
            <a:r>
              <a:rPr lang="en-US" sz="1758" kern="0" dirty="0"/>
              <a:t>here </a:t>
            </a:r>
            <a:r>
              <a:rPr sz="1758" kern="0" dirty="0"/>
              <a:t>due to space limitation)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advAuto="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EA5BF-6A19-5D12-E526-843629CBCD9F}"/>
            </a:ext>
          </a:extLst>
        </p:cNvPr>
        <p:cNvGrpSpPr/>
        <p:nvPr/>
      </p:nvGrpSpPr>
      <p:grpSpPr>
        <a:xfrm>
          <a:off x="0" y="0"/>
          <a:ext cx="0" cy="0"/>
          <a:chOff x="0" y="0"/>
          <a:chExt cx="0" cy="0"/>
        </a:xfrm>
      </p:grpSpPr>
      <p:sp>
        <p:nvSpPr>
          <p:cNvPr id="181" name="Not all authors are mentioned in the news story covering their research papers">
            <a:extLst>
              <a:ext uri="{FF2B5EF4-FFF2-40B4-BE49-F238E27FC236}">
                <a16:creationId xmlns:a16="http://schemas.microsoft.com/office/drawing/2014/main" id="{3426CA9B-9822-E6B3-3FA6-1CB5A6D91530}"/>
              </a:ext>
            </a:extLst>
          </p:cNvPr>
          <p:cNvSpPr txBox="1"/>
          <p:nvPr/>
        </p:nvSpPr>
        <p:spPr>
          <a:xfrm>
            <a:off x="290649" y="335393"/>
            <a:ext cx="8562702" cy="11801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a:spAutoFit/>
          </a:bodyPr>
          <a:lstStyle>
            <a:lvl1pPr defTabSz="584200">
              <a:lnSpc>
                <a:spcPct val="100000"/>
              </a:lnSpc>
              <a:spcBef>
                <a:spcPts val="400"/>
              </a:spcBef>
              <a:defRPr sz="4000"/>
            </a:lvl1pPr>
          </a:lstStyle>
          <a:p>
            <a:pPr defTabSz="410751" hangingPunct="0">
              <a:spcBef>
                <a:spcPts val="281"/>
              </a:spcBef>
            </a:pPr>
            <a:r>
              <a:rPr sz="3600" kern="0" dirty="0">
                <a:solidFill>
                  <a:srgbClr val="000000"/>
                </a:solidFill>
                <a:latin typeface="Calibri" panose="020F0502020204030204" pitchFamily="34" charset="0"/>
                <a:ea typeface="Helvetica Neue"/>
                <a:cs typeface="Calibri" panose="020F0502020204030204" pitchFamily="34" charset="0"/>
                <a:sym typeface="Helvetica Neue"/>
              </a:rPr>
              <a:t>Not all authors are mentioned in news stor</a:t>
            </a: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ies that report</a:t>
            </a:r>
            <a:r>
              <a:rPr sz="3600" kern="0" dirty="0">
                <a:solidFill>
                  <a:srgbClr val="000000"/>
                </a:solidFill>
                <a:latin typeface="Calibri" panose="020F0502020204030204" pitchFamily="34" charset="0"/>
                <a:ea typeface="Helvetica Neue"/>
                <a:cs typeface="Calibri" panose="020F0502020204030204" pitchFamily="34" charset="0"/>
                <a:sym typeface="Helvetica Neue"/>
              </a:rPr>
              <a:t> their research</a:t>
            </a: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 papers</a:t>
            </a:r>
            <a:endParaRPr sz="3600" kern="0" dirty="0">
              <a:solidFill>
                <a:srgbClr val="000000"/>
              </a:solidFill>
              <a:latin typeface="Calibri" panose="020F0502020204030204" pitchFamily="34" charset="0"/>
              <a:ea typeface="Helvetica Neue"/>
              <a:cs typeface="Calibri" panose="020F0502020204030204" pitchFamily="34" charset="0"/>
              <a:sym typeface="Helvetica Neue"/>
            </a:endParaRPr>
          </a:p>
        </p:txBody>
      </p:sp>
      <p:pic>
        <p:nvPicPr>
          <p:cNvPr id="4" name="Image" descr="Image">
            <a:extLst>
              <a:ext uri="{FF2B5EF4-FFF2-40B4-BE49-F238E27FC236}">
                <a16:creationId xmlns:a16="http://schemas.microsoft.com/office/drawing/2014/main" id="{793466FB-482D-EB32-35BD-371BF8F98EBC}"/>
              </a:ext>
            </a:extLst>
          </p:cNvPr>
          <p:cNvPicPr>
            <a:picLocks noChangeAspect="1"/>
          </p:cNvPicPr>
          <p:nvPr/>
        </p:nvPicPr>
        <p:blipFill>
          <a:blip r:embed="rId3"/>
          <a:stretch>
            <a:fillRect/>
          </a:stretch>
        </p:blipFill>
        <p:spPr>
          <a:xfrm>
            <a:off x="964865" y="1916226"/>
            <a:ext cx="7701566" cy="3177387"/>
          </a:xfrm>
          <a:prstGeom prst="rect">
            <a:avLst/>
          </a:prstGeom>
          <a:ln w="63500">
            <a:solidFill>
              <a:srgbClr val="000000"/>
            </a:solidFill>
            <a:miter lim="400000"/>
          </a:ln>
          <a:effectLst>
            <a:outerShdw blurRad="190500" dist="8455" dir="5400000" rotWithShape="0">
              <a:srgbClr val="000000"/>
            </a:outerShdw>
          </a:effectLst>
        </p:spPr>
      </p:pic>
      <p:sp>
        <p:nvSpPr>
          <p:cNvPr id="5" name="Rectangle">
            <a:extLst>
              <a:ext uri="{FF2B5EF4-FFF2-40B4-BE49-F238E27FC236}">
                <a16:creationId xmlns:a16="http://schemas.microsoft.com/office/drawing/2014/main" id="{81E3E56B-02A1-45E9-8BE8-B56348B3DFA5}"/>
              </a:ext>
            </a:extLst>
          </p:cNvPr>
          <p:cNvSpPr/>
          <p:nvPr/>
        </p:nvSpPr>
        <p:spPr>
          <a:xfrm>
            <a:off x="945942" y="4775834"/>
            <a:ext cx="4258785" cy="291457"/>
          </a:xfrm>
          <a:prstGeom prst="rect">
            <a:avLst/>
          </a:prstGeom>
          <a:ln w="63500">
            <a:solidFill>
              <a:srgbClr val="0433FF"/>
            </a:solidFill>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6" name="Rectangle">
            <a:extLst>
              <a:ext uri="{FF2B5EF4-FFF2-40B4-BE49-F238E27FC236}">
                <a16:creationId xmlns:a16="http://schemas.microsoft.com/office/drawing/2014/main" id="{6BC04BE0-A240-0044-BF4F-A58DE2DB094C}"/>
              </a:ext>
            </a:extLst>
          </p:cNvPr>
          <p:cNvSpPr/>
          <p:nvPr/>
        </p:nvSpPr>
        <p:spPr>
          <a:xfrm>
            <a:off x="4366841" y="4784764"/>
            <a:ext cx="828956" cy="291457"/>
          </a:xfrm>
          <a:prstGeom prst="rect">
            <a:avLst/>
          </a:prstGeom>
          <a:ln w="63500">
            <a:solidFill>
              <a:schemeClr val="accent4">
                <a:hueOff val="-858837"/>
                <a:lumOff val="-9791"/>
              </a:schemeClr>
            </a:solidFill>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884051747"/>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1" name="Group"/>
          <p:cNvGrpSpPr/>
          <p:nvPr/>
        </p:nvGrpSpPr>
        <p:grpSpPr>
          <a:xfrm>
            <a:off x="1926304" y="2823887"/>
            <a:ext cx="3159581" cy="1730956"/>
            <a:chOff x="0" y="0"/>
            <a:chExt cx="4493626" cy="2461803"/>
          </a:xfrm>
        </p:grpSpPr>
        <p:pic>
          <p:nvPicPr>
            <p:cNvPr id="227" name="web-of-science.png" descr="web-of-science.png"/>
            <p:cNvPicPr>
              <a:picLocks noChangeAspect="1"/>
            </p:cNvPicPr>
            <p:nvPr/>
          </p:nvPicPr>
          <p:blipFill>
            <a:blip r:embed="rId3"/>
            <a:stretch>
              <a:fillRect/>
            </a:stretch>
          </p:blipFill>
          <p:spPr>
            <a:xfrm>
              <a:off x="2031822" y="0"/>
              <a:ext cx="2461805" cy="2461804"/>
            </a:xfrm>
            <a:prstGeom prst="rect">
              <a:avLst/>
            </a:prstGeom>
            <a:ln w="12700" cap="flat">
              <a:noFill/>
              <a:miter lim="400000"/>
            </a:ln>
            <a:effectLst/>
          </p:spPr>
        </p:pic>
        <p:grpSp>
          <p:nvGrpSpPr>
            <p:cNvPr id="230" name="Group"/>
            <p:cNvGrpSpPr/>
            <p:nvPr/>
          </p:nvGrpSpPr>
          <p:grpSpPr>
            <a:xfrm>
              <a:off x="0" y="310927"/>
              <a:ext cx="1652900" cy="1679370"/>
              <a:chOff x="0" y="0"/>
              <a:chExt cx="1652899" cy="1679368"/>
            </a:xfrm>
          </p:grpSpPr>
          <p:pic>
            <p:nvPicPr>
              <p:cNvPr id="228" name="AI_Engage-1-800x550.jpg" descr="AI_Engage-1-800x550.jpg"/>
              <p:cNvPicPr>
                <a:picLocks noChangeAspect="1"/>
              </p:cNvPicPr>
              <p:nvPr/>
            </p:nvPicPr>
            <p:blipFill>
              <a:blip r:embed="rId4"/>
              <a:srcRect r="51989" b="29048"/>
              <a:stretch>
                <a:fillRect/>
              </a:stretch>
            </p:blipFill>
            <p:spPr>
              <a:xfrm>
                <a:off x="0" y="0"/>
                <a:ext cx="1652900" cy="1679369"/>
              </a:xfrm>
              <a:prstGeom prst="rect">
                <a:avLst/>
              </a:prstGeom>
              <a:ln w="12700" cap="flat">
                <a:noFill/>
                <a:miter lim="400000"/>
              </a:ln>
              <a:effectLst/>
            </p:spPr>
          </p:pic>
          <p:sp>
            <p:nvSpPr>
              <p:cNvPr id="229" name="Microsoft Academic Graph"/>
              <p:cNvSpPr txBox="1"/>
              <p:nvPr/>
            </p:nvSpPr>
            <p:spPr>
              <a:xfrm>
                <a:off x="1578" y="446249"/>
                <a:ext cx="1649607" cy="12161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lvl1pPr defTabSz="457200">
                  <a:lnSpc>
                    <a:spcPct val="100000"/>
                  </a:lnSpc>
                  <a:spcBef>
                    <a:spcPts val="1600"/>
                  </a:spcBef>
                  <a:defRPr sz="2400">
                    <a:solidFill>
                      <a:srgbClr val="FFFFFF"/>
                    </a:solidFill>
                    <a:latin typeface="Arial"/>
                    <a:ea typeface="Arial"/>
                    <a:cs typeface="Arial"/>
                    <a:sym typeface="Arial"/>
                  </a:defRPr>
                </a:lvl1pPr>
              </a:lstStyle>
              <a:p>
                <a:pPr defTabSz="321457" hangingPunct="0">
                  <a:spcBef>
                    <a:spcPts val="1125"/>
                  </a:spcBef>
                </a:pPr>
                <a:r>
                  <a:rPr sz="1687" kern="0"/>
                  <a:t>Microsoft Academic Graph </a:t>
                </a:r>
              </a:p>
            </p:txBody>
          </p:sp>
        </p:grpSp>
      </p:grpSp>
      <p:pic>
        <p:nvPicPr>
          <p:cNvPr id="233" name="Altmetric_rgb.png" descr="Altmetric_rgb.png"/>
          <p:cNvPicPr>
            <a:picLocks noChangeAspect="1"/>
          </p:cNvPicPr>
          <p:nvPr/>
        </p:nvPicPr>
        <p:blipFill>
          <a:blip r:embed="rId5"/>
          <a:stretch>
            <a:fillRect/>
          </a:stretch>
        </p:blipFill>
        <p:spPr>
          <a:xfrm>
            <a:off x="2262827" y="246010"/>
            <a:ext cx="2486535" cy="857855"/>
          </a:xfrm>
          <a:prstGeom prst="rect">
            <a:avLst/>
          </a:prstGeom>
          <a:ln w="12700">
            <a:miter lim="400000"/>
          </a:ln>
        </p:spPr>
      </p:pic>
      <p:sp>
        <p:nvSpPr>
          <p:cNvPr id="234" name="223K news stories (288 U.S. outlets) mentioning 100K papers;…"/>
          <p:cNvSpPr txBox="1"/>
          <p:nvPr/>
        </p:nvSpPr>
        <p:spPr>
          <a:xfrm>
            <a:off x="534058" y="5197933"/>
            <a:ext cx="8075884" cy="1045864"/>
          </a:xfrm>
          <a:prstGeom prst="rect">
            <a:avLst/>
          </a:prstGeom>
          <a:ln w="381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357175" indent="-357175" defTabSz="410751" hangingPunct="0">
              <a:buSzPct val="100000"/>
              <a:buFontTx/>
              <a:buAutoNum type="arabicPeriod"/>
              <a:defRPr>
                <a:latin typeface="Helvetica Neue Light"/>
                <a:ea typeface="Helvetica Neue Light"/>
                <a:cs typeface="Helvetica Neue Light"/>
                <a:sym typeface="Helvetica Neue Light"/>
              </a:defRPr>
            </a:pPr>
            <a:r>
              <a:rPr sz="2109" kern="0" dirty="0">
                <a:solidFill>
                  <a:srgbClr val="2076B4"/>
                </a:solidFill>
                <a:latin typeface="Helvetica Neue Light"/>
                <a:ea typeface="Helvetica Neue Light"/>
                <a:sym typeface="Helvetica Neue Light"/>
              </a:rPr>
              <a:t>223K</a:t>
            </a:r>
            <a:r>
              <a:rPr sz="2109" kern="0" dirty="0">
                <a:solidFill>
                  <a:srgbClr val="000000"/>
                </a:solidFill>
                <a:latin typeface="Helvetica Neue Light"/>
                <a:ea typeface="Helvetica Neue Light"/>
                <a:sym typeface="Helvetica Neue Light"/>
              </a:rPr>
              <a:t> </a:t>
            </a:r>
            <a:r>
              <a:rPr sz="2109" kern="0" dirty="0">
                <a:solidFill>
                  <a:srgbClr val="2076B4"/>
                </a:solidFill>
                <a:latin typeface="Helvetica Neue Light"/>
                <a:ea typeface="Helvetica Neue Light"/>
                <a:sym typeface="Helvetica Neue Light"/>
              </a:rPr>
              <a:t>news stories</a:t>
            </a:r>
            <a:r>
              <a:rPr sz="2109" kern="0" dirty="0">
                <a:solidFill>
                  <a:srgbClr val="000000"/>
                </a:solidFill>
                <a:latin typeface="Helvetica Neue Light"/>
                <a:ea typeface="Helvetica Neue Light"/>
                <a:sym typeface="Helvetica Neue Light"/>
              </a:rPr>
              <a:t> (288 U.S. outlets) mentioning </a:t>
            </a:r>
            <a:r>
              <a:rPr sz="2109" kern="0" dirty="0">
                <a:solidFill>
                  <a:srgbClr val="2076B4"/>
                </a:solidFill>
                <a:latin typeface="Helvetica Neue Light"/>
                <a:ea typeface="Helvetica Neue Light"/>
                <a:sym typeface="Helvetica Neue Light"/>
              </a:rPr>
              <a:t>100K papers</a:t>
            </a:r>
            <a:r>
              <a:rPr sz="2109" kern="0" dirty="0">
                <a:solidFill>
                  <a:srgbClr val="000000"/>
                </a:solidFill>
                <a:latin typeface="Helvetica Neue Light"/>
                <a:ea typeface="Helvetica Neue Light"/>
                <a:sym typeface="Helvetica Neue Light"/>
              </a:rPr>
              <a:t>;</a:t>
            </a:r>
          </a:p>
          <a:p>
            <a:pPr marL="357175" indent="-357175" defTabSz="410751" hangingPunct="0">
              <a:buSzPct val="100000"/>
              <a:buFontTx/>
              <a:buAutoNum type="arabicPeriod"/>
              <a:defRPr>
                <a:latin typeface="Helvetica Neue Light"/>
                <a:ea typeface="Helvetica Neue Light"/>
                <a:cs typeface="Helvetica Neue Light"/>
                <a:sym typeface="Helvetica Neue Light"/>
              </a:defRPr>
            </a:pPr>
            <a:r>
              <a:rPr sz="2109" kern="0" dirty="0">
                <a:solidFill>
                  <a:srgbClr val="000000"/>
                </a:solidFill>
                <a:latin typeface="Helvetica Neue Light"/>
                <a:ea typeface="Helvetica Neue Light"/>
                <a:sym typeface="Helvetica Neue Light"/>
              </a:rPr>
              <a:t>Focused on the</a:t>
            </a:r>
            <a:r>
              <a:rPr sz="2109" kern="0" dirty="0">
                <a:solidFill>
                  <a:srgbClr val="2076B4"/>
                </a:solidFill>
                <a:latin typeface="Helvetica Neue Light"/>
                <a:ea typeface="Helvetica Neue Light"/>
                <a:sym typeface="Helvetica Neue Light"/>
              </a:rPr>
              <a:t> first, last, </a:t>
            </a:r>
            <a:r>
              <a:rPr sz="2109" kern="0" dirty="0">
                <a:solidFill>
                  <a:srgbClr val="000000"/>
                </a:solidFill>
                <a:latin typeface="Helvetica Neue Light"/>
                <a:ea typeface="Helvetica Neue Light"/>
                <a:sym typeface="Helvetica Neue Light"/>
              </a:rPr>
              <a:t>and any other</a:t>
            </a:r>
            <a:r>
              <a:rPr sz="2109" kern="0" dirty="0">
                <a:solidFill>
                  <a:srgbClr val="2076B4"/>
                </a:solidFill>
                <a:latin typeface="Helvetica Neue Light"/>
                <a:ea typeface="Helvetica Neue Light"/>
                <a:sym typeface="Helvetica Neue Light"/>
              </a:rPr>
              <a:t> corresponding authors</a:t>
            </a:r>
            <a:r>
              <a:rPr sz="2109" kern="0" dirty="0">
                <a:solidFill>
                  <a:srgbClr val="000000"/>
                </a:solidFill>
                <a:latin typeface="Helvetica Neue Light"/>
                <a:ea typeface="Helvetica Neue Light"/>
                <a:sym typeface="Helvetica Neue Light"/>
              </a:rPr>
              <a:t>;</a:t>
            </a:r>
          </a:p>
          <a:p>
            <a:pPr marL="357175" indent="-357175" defTabSz="410751" hangingPunct="0">
              <a:buSzPct val="100000"/>
              <a:buFontTx/>
              <a:buAutoNum type="arabicPeriod"/>
              <a:defRPr>
                <a:latin typeface="Helvetica Neue Light"/>
                <a:ea typeface="Helvetica Neue Light"/>
                <a:cs typeface="Helvetica Neue Light"/>
                <a:sym typeface="Helvetica Neue Light"/>
              </a:defRPr>
            </a:pPr>
            <a:r>
              <a:rPr sz="2109" kern="0" dirty="0">
                <a:solidFill>
                  <a:srgbClr val="000000"/>
                </a:solidFill>
                <a:latin typeface="Helvetica Neue Light"/>
                <a:ea typeface="Helvetica Neue Light"/>
                <a:sym typeface="Helvetica Neue Light"/>
              </a:rPr>
              <a:t>524K </a:t>
            </a:r>
            <a:r>
              <a:rPr sz="2109" kern="0" dirty="0">
                <a:solidFill>
                  <a:srgbClr val="2076B4"/>
                </a:solidFill>
                <a:latin typeface="Helvetica Neue Light"/>
                <a:ea typeface="Helvetica Neue Light"/>
                <a:sym typeface="Helvetica Neue Light"/>
              </a:rPr>
              <a:t>(story, paper, author)</a:t>
            </a:r>
            <a:r>
              <a:rPr sz="2109" kern="0" dirty="0">
                <a:solidFill>
                  <a:srgbClr val="000000"/>
                </a:solidFill>
                <a:latin typeface="Helvetica Neue Light"/>
                <a:ea typeface="Helvetica Neue Light"/>
                <a:sym typeface="Helvetica Neue Light"/>
              </a:rPr>
              <a:t> triplets;</a:t>
            </a:r>
          </a:p>
        </p:txBody>
      </p:sp>
      <p:sp>
        <p:nvSpPr>
          <p:cNvPr id="235" name="Arrow"/>
          <p:cNvSpPr/>
          <p:nvPr/>
        </p:nvSpPr>
        <p:spPr>
          <a:xfrm rot="5400000">
            <a:off x="3104272" y="1072264"/>
            <a:ext cx="610080" cy="547713"/>
          </a:xfrm>
          <a:prstGeom prst="rightArrow">
            <a:avLst>
              <a:gd name="adj1" fmla="val 47586"/>
              <a:gd name="adj2" fmla="val 71288"/>
            </a:avLst>
          </a:prstGeom>
          <a:solidFill>
            <a:schemeClr val="accent1"/>
          </a:solidFill>
          <a:ln w="12700">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36" name="Retrieved 520K stories mentioning 275K papers from 288 U.S.-based outlets"/>
          <p:cNvSpPr txBox="1"/>
          <p:nvPr/>
        </p:nvSpPr>
        <p:spPr>
          <a:xfrm>
            <a:off x="349987" y="1614364"/>
            <a:ext cx="6252294" cy="7212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lgn="ctr" defTabSz="584200">
              <a:lnSpc>
                <a:spcPct val="100000"/>
              </a:lnSpc>
              <a:spcBef>
                <a:spcPts val="0"/>
              </a:spcBef>
              <a:defRPr>
                <a:latin typeface="Helvetica Neue Light"/>
                <a:ea typeface="Helvetica Neue Light"/>
                <a:cs typeface="Helvetica Neue Light"/>
                <a:sym typeface="Helvetica Neue Light"/>
              </a:defRPr>
            </a:lvl1pPr>
          </a:lstStyle>
          <a:p>
            <a:pPr defTabSz="410751" hangingPunct="0"/>
            <a:r>
              <a:rPr sz="2109" kern="0" dirty="0">
                <a:solidFill>
                  <a:srgbClr val="000000"/>
                </a:solidFill>
              </a:rPr>
              <a:t>Retrieved 520K stories mentioning 275K papers from 288 U.S.-based outlets</a:t>
            </a:r>
          </a:p>
        </p:txBody>
      </p:sp>
      <p:sp>
        <p:nvSpPr>
          <p:cNvPr id="237" name="Arrow"/>
          <p:cNvSpPr/>
          <p:nvPr/>
        </p:nvSpPr>
        <p:spPr>
          <a:xfrm rot="5400000">
            <a:off x="3074312" y="2404508"/>
            <a:ext cx="610080" cy="547713"/>
          </a:xfrm>
          <a:prstGeom prst="rightArrow">
            <a:avLst>
              <a:gd name="adj1" fmla="val 47586"/>
              <a:gd name="adj2" fmla="val 71288"/>
            </a:avLst>
          </a:prstGeom>
          <a:solidFill>
            <a:schemeClr val="accent1"/>
          </a:solidFill>
          <a:ln w="12700">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38" name="Arrow"/>
          <p:cNvSpPr/>
          <p:nvPr/>
        </p:nvSpPr>
        <p:spPr>
          <a:xfrm rot="5400000">
            <a:off x="3074312" y="4436651"/>
            <a:ext cx="610080" cy="547713"/>
          </a:xfrm>
          <a:prstGeom prst="rightArrow">
            <a:avLst>
              <a:gd name="adj1" fmla="val 47586"/>
              <a:gd name="adj2" fmla="val 71288"/>
            </a:avLst>
          </a:prstGeom>
          <a:solidFill>
            <a:schemeClr val="accent1"/>
          </a:solidFill>
          <a:ln w="12700">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39" name="Microscope"/>
          <p:cNvSpPr/>
          <p:nvPr/>
        </p:nvSpPr>
        <p:spPr>
          <a:xfrm>
            <a:off x="5787369" y="3664959"/>
            <a:ext cx="711714" cy="1019503"/>
          </a:xfrm>
          <a:custGeom>
            <a:avLst/>
            <a:gdLst/>
            <a:ahLst/>
            <a:cxnLst>
              <a:cxn ang="0">
                <a:pos x="wd2" y="hd2"/>
              </a:cxn>
              <a:cxn ang="5400000">
                <a:pos x="wd2" y="hd2"/>
              </a:cxn>
              <a:cxn ang="10800000">
                <a:pos x="wd2" y="hd2"/>
              </a:cxn>
              <a:cxn ang="16200000">
                <a:pos x="wd2" y="hd2"/>
              </a:cxn>
            </a:cxnLst>
            <a:rect l="0" t="0" r="r" b="b"/>
            <a:pathLst>
              <a:path w="21600" h="21600" extrusionOk="0">
                <a:moveTo>
                  <a:pt x="8758" y="0"/>
                </a:moveTo>
                <a:lnTo>
                  <a:pt x="5450" y="778"/>
                </a:lnTo>
                <a:lnTo>
                  <a:pt x="6641" y="3247"/>
                </a:lnTo>
                <a:lnTo>
                  <a:pt x="5792" y="3446"/>
                </a:lnTo>
                <a:lnTo>
                  <a:pt x="6104" y="4092"/>
                </a:lnTo>
                <a:cubicBezTo>
                  <a:pt x="6260" y="4416"/>
                  <a:pt x="6045" y="4765"/>
                  <a:pt x="5610" y="4922"/>
                </a:cubicBezTo>
                <a:cubicBezTo>
                  <a:pt x="2282" y="6123"/>
                  <a:pt x="0" y="8548"/>
                  <a:pt x="0" y="11338"/>
                </a:cubicBezTo>
                <a:cubicBezTo>
                  <a:pt x="0" y="13653"/>
                  <a:pt x="1568" y="15716"/>
                  <a:pt x="4002" y="17038"/>
                </a:cubicBezTo>
                <a:cubicBezTo>
                  <a:pt x="4586" y="17355"/>
                  <a:pt x="4834" y="17888"/>
                  <a:pt x="4600" y="18378"/>
                </a:cubicBezTo>
                <a:lnTo>
                  <a:pt x="4184" y="19249"/>
                </a:lnTo>
                <a:lnTo>
                  <a:pt x="1504" y="19249"/>
                </a:lnTo>
                <a:lnTo>
                  <a:pt x="383" y="21600"/>
                </a:lnTo>
                <a:lnTo>
                  <a:pt x="21600" y="21600"/>
                </a:lnTo>
                <a:lnTo>
                  <a:pt x="20479" y="19249"/>
                </a:lnTo>
                <a:lnTo>
                  <a:pt x="11598" y="19249"/>
                </a:lnTo>
                <a:lnTo>
                  <a:pt x="10562" y="17077"/>
                </a:lnTo>
                <a:lnTo>
                  <a:pt x="11571" y="16839"/>
                </a:lnTo>
                <a:lnTo>
                  <a:pt x="11765" y="17236"/>
                </a:lnTo>
                <a:cubicBezTo>
                  <a:pt x="11884" y="17482"/>
                  <a:pt x="13400" y="17349"/>
                  <a:pt x="15152" y="16937"/>
                </a:cubicBezTo>
                <a:cubicBezTo>
                  <a:pt x="16905" y="16524"/>
                  <a:pt x="18230" y="15990"/>
                  <a:pt x="18111" y="15743"/>
                </a:cubicBezTo>
                <a:lnTo>
                  <a:pt x="17339" y="14141"/>
                </a:lnTo>
                <a:lnTo>
                  <a:pt x="9985" y="15870"/>
                </a:lnTo>
                <a:lnTo>
                  <a:pt x="9392" y="14628"/>
                </a:lnTo>
                <a:lnTo>
                  <a:pt x="18738" y="12430"/>
                </a:lnTo>
                <a:lnTo>
                  <a:pt x="18157" y="11225"/>
                </a:lnTo>
                <a:lnTo>
                  <a:pt x="8816" y="13422"/>
                </a:lnTo>
                <a:cubicBezTo>
                  <a:pt x="8484" y="12824"/>
                  <a:pt x="7243" y="12835"/>
                  <a:pt x="6947" y="13456"/>
                </a:cubicBezTo>
                <a:lnTo>
                  <a:pt x="6503" y="14386"/>
                </a:lnTo>
                <a:cubicBezTo>
                  <a:pt x="6304" y="14804"/>
                  <a:pt x="5529" y="14924"/>
                  <a:pt x="5109" y="14596"/>
                </a:cubicBezTo>
                <a:cubicBezTo>
                  <a:pt x="4000" y="13729"/>
                  <a:pt x="3324" y="12589"/>
                  <a:pt x="3324" y="11338"/>
                </a:cubicBezTo>
                <a:cubicBezTo>
                  <a:pt x="3324" y="9736"/>
                  <a:pt x="4435" y="8310"/>
                  <a:pt x="6145" y="7417"/>
                </a:cubicBezTo>
                <a:cubicBezTo>
                  <a:pt x="6760" y="7095"/>
                  <a:pt x="7648" y="7292"/>
                  <a:pt x="7893" y="7801"/>
                </a:cubicBezTo>
                <a:lnTo>
                  <a:pt x="8198" y="8499"/>
                </a:lnTo>
                <a:cubicBezTo>
                  <a:pt x="7412" y="8705"/>
                  <a:pt x="6996" y="9308"/>
                  <a:pt x="7266" y="9868"/>
                </a:cubicBezTo>
                <a:lnTo>
                  <a:pt x="7411" y="10170"/>
                </a:lnTo>
                <a:lnTo>
                  <a:pt x="10048" y="9550"/>
                </a:lnTo>
                <a:lnTo>
                  <a:pt x="11155" y="11844"/>
                </a:lnTo>
                <a:lnTo>
                  <a:pt x="13852" y="11208"/>
                </a:lnTo>
                <a:lnTo>
                  <a:pt x="12745" y="8916"/>
                </a:lnTo>
                <a:lnTo>
                  <a:pt x="15302" y="8314"/>
                </a:lnTo>
                <a:lnTo>
                  <a:pt x="15157" y="8012"/>
                </a:lnTo>
                <a:cubicBezTo>
                  <a:pt x="14886" y="7450"/>
                  <a:pt x="14024" y="7146"/>
                  <a:pt x="13218" y="7317"/>
                </a:cubicBezTo>
                <a:lnTo>
                  <a:pt x="10821" y="2265"/>
                </a:lnTo>
                <a:lnTo>
                  <a:pt x="9949" y="2469"/>
                </a:lnTo>
                <a:lnTo>
                  <a:pt x="8758" y="0"/>
                </a:lnTo>
                <a:close/>
                <a:moveTo>
                  <a:pt x="7777" y="15736"/>
                </a:moveTo>
                <a:cubicBezTo>
                  <a:pt x="8266" y="15736"/>
                  <a:pt x="8661" y="16014"/>
                  <a:pt x="8661" y="16355"/>
                </a:cubicBezTo>
                <a:cubicBezTo>
                  <a:pt x="8661" y="16696"/>
                  <a:pt x="8266" y="16972"/>
                  <a:pt x="7777" y="16972"/>
                </a:cubicBezTo>
                <a:cubicBezTo>
                  <a:pt x="7288" y="16972"/>
                  <a:pt x="6891" y="16696"/>
                  <a:pt x="6891" y="16355"/>
                </a:cubicBezTo>
                <a:cubicBezTo>
                  <a:pt x="6891" y="16014"/>
                  <a:pt x="7288" y="15736"/>
                  <a:pt x="7777" y="15736"/>
                </a:cubicBezTo>
                <a:close/>
              </a:path>
            </a:pathLst>
          </a:custGeom>
          <a:solidFill>
            <a:srgbClr val="000000"/>
          </a:solidFill>
          <a:ln w="12700">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40" name="Analyzing text with NLP Tools"/>
          <p:cNvSpPr txBox="1"/>
          <p:nvPr/>
        </p:nvSpPr>
        <p:spPr>
          <a:xfrm>
            <a:off x="6536389" y="3814066"/>
            <a:ext cx="2066010" cy="7212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algn="ctr" defTabSz="410751" hangingPunct="0">
              <a:defRPr>
                <a:latin typeface="Helvetica Neue Light"/>
                <a:ea typeface="Helvetica Neue Light"/>
                <a:cs typeface="Helvetica Neue Light"/>
                <a:sym typeface="Helvetica Neue Light"/>
              </a:defRPr>
            </a:pPr>
            <a:r>
              <a:rPr sz="2109" kern="0">
                <a:solidFill>
                  <a:srgbClr val="000000"/>
                </a:solidFill>
                <a:latin typeface="Helvetica Neue Light"/>
                <a:ea typeface="Helvetica Neue Light"/>
                <a:sym typeface="Helvetica Neue Light"/>
              </a:rPr>
              <a:t>Analyzing text with </a:t>
            </a:r>
            <a:r>
              <a:rPr sz="2109" kern="0">
                <a:solidFill>
                  <a:srgbClr val="000000"/>
                </a:solidFill>
                <a:latin typeface="Helvetica Neue Medium"/>
                <a:ea typeface="Helvetica Neue Medium"/>
                <a:cs typeface="Helvetica Neue Medium"/>
                <a:sym typeface="Helvetica Neue Medium"/>
              </a:rPr>
              <a:t>NLP</a:t>
            </a:r>
            <a:r>
              <a:rPr sz="2109" kern="0">
                <a:solidFill>
                  <a:srgbClr val="000000"/>
                </a:solidFill>
                <a:latin typeface="Helvetica Neue Light"/>
                <a:ea typeface="Helvetica Neue Light"/>
                <a:sym typeface="Helvetica Neue Light"/>
              </a:rPr>
              <a:t> Tools</a:t>
            </a:r>
          </a:p>
        </p:txBody>
      </p:sp>
      <p:sp>
        <p:nvSpPr>
          <p:cNvPr id="241" name="Arrow"/>
          <p:cNvSpPr/>
          <p:nvPr/>
        </p:nvSpPr>
        <p:spPr>
          <a:xfrm rot="19173001">
            <a:off x="4780483" y="4367203"/>
            <a:ext cx="855992" cy="581351"/>
          </a:xfrm>
          <a:prstGeom prst="rightArrow">
            <a:avLst>
              <a:gd name="adj1" fmla="val 47586"/>
              <a:gd name="adj2" fmla="val 67163"/>
            </a:avLst>
          </a:prstGeom>
          <a:solidFill>
            <a:schemeClr val="accent1"/>
          </a:solidFill>
          <a:ln w="12700">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 name="Image" descr="Image"/>
          <p:cNvPicPr>
            <a:picLocks noChangeAspect="1"/>
          </p:cNvPicPr>
          <p:nvPr/>
        </p:nvPicPr>
        <p:blipFill>
          <a:blip r:embed="rId3"/>
          <a:stretch>
            <a:fillRect/>
          </a:stretch>
        </p:blipFill>
        <p:spPr>
          <a:xfrm>
            <a:off x="256041" y="876117"/>
            <a:ext cx="5538502" cy="1293315"/>
          </a:xfrm>
          <a:prstGeom prst="rect">
            <a:avLst/>
          </a:prstGeom>
          <a:ln w="12700">
            <a:miter lim="400000"/>
          </a:ln>
        </p:spPr>
      </p:pic>
      <p:pic>
        <p:nvPicPr>
          <p:cNvPr id="209" name="Image" descr="Image"/>
          <p:cNvPicPr>
            <a:picLocks noChangeAspect="1"/>
          </p:cNvPicPr>
          <p:nvPr/>
        </p:nvPicPr>
        <p:blipFill>
          <a:blip r:embed="rId4"/>
          <a:stretch>
            <a:fillRect/>
          </a:stretch>
        </p:blipFill>
        <p:spPr>
          <a:xfrm>
            <a:off x="297233" y="2287247"/>
            <a:ext cx="5649069" cy="2726262"/>
          </a:xfrm>
          <a:prstGeom prst="rect">
            <a:avLst/>
          </a:prstGeom>
          <a:ln w="12700">
            <a:miter lim="400000"/>
          </a:ln>
        </p:spPr>
      </p:pic>
      <p:grpSp>
        <p:nvGrpSpPr>
          <p:cNvPr id="213" name="Group"/>
          <p:cNvGrpSpPr/>
          <p:nvPr/>
        </p:nvGrpSpPr>
        <p:grpSpPr>
          <a:xfrm>
            <a:off x="395043" y="2244326"/>
            <a:ext cx="8238923" cy="868635"/>
            <a:chOff x="0" y="0"/>
            <a:chExt cx="11717578" cy="1235390"/>
          </a:xfrm>
        </p:grpSpPr>
        <p:sp>
          <p:nvSpPr>
            <p:cNvPr id="210" name="Line"/>
            <p:cNvSpPr/>
            <p:nvPr/>
          </p:nvSpPr>
          <p:spPr>
            <a:xfrm flipH="1" flipV="1">
              <a:off x="1784060" y="486598"/>
              <a:ext cx="5753115" cy="1"/>
            </a:xfrm>
            <a:prstGeom prst="line">
              <a:avLst/>
            </a:prstGeom>
            <a:noFill/>
            <a:ln w="25400" cap="flat">
              <a:solidFill>
                <a:srgbClr val="941751"/>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11" name="Identified journalists in 18% of all stories (41 news outlets)"/>
            <p:cNvSpPr txBox="1"/>
            <p:nvPr/>
          </p:nvSpPr>
          <p:spPr>
            <a:xfrm>
              <a:off x="7548356" y="0"/>
              <a:ext cx="4169223" cy="1235391"/>
            </a:xfrm>
            <a:prstGeom prst="rect">
              <a:avLst/>
            </a:prstGeom>
            <a:solidFill>
              <a:srgbClr val="941751">
                <a:alpha val="9998"/>
              </a:srgb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lvl1pPr defTabSz="584200">
                <a:lnSpc>
                  <a:spcPct val="100000"/>
                </a:lnSpc>
                <a:spcBef>
                  <a:spcPts val="0"/>
                </a:spcBef>
                <a:defRPr sz="2500">
                  <a:latin typeface="Helvetica Neue Light"/>
                  <a:ea typeface="Helvetica Neue Light"/>
                  <a:cs typeface="Helvetica Neue Light"/>
                  <a:sym typeface="Helvetica Neue Light"/>
                </a:defRPr>
              </a:lvl1pPr>
            </a:lstStyle>
            <a:p>
              <a:pPr defTabSz="410751" hangingPunct="0"/>
              <a:r>
                <a:rPr sz="1758" kern="0" dirty="0">
                  <a:solidFill>
                    <a:srgbClr val="000000"/>
                  </a:solidFill>
                </a:rPr>
                <a:t>Identified journalists in 18% of all stories (41 news outlets)</a:t>
              </a:r>
            </a:p>
          </p:txBody>
        </p:sp>
        <p:sp>
          <p:nvSpPr>
            <p:cNvPr id="212" name="Rectangle"/>
            <p:cNvSpPr/>
            <p:nvPr/>
          </p:nvSpPr>
          <p:spPr>
            <a:xfrm>
              <a:off x="0" y="105501"/>
              <a:ext cx="1808898" cy="762195"/>
            </a:xfrm>
            <a:prstGeom prst="rect">
              <a:avLst/>
            </a:prstGeom>
            <a:noFill/>
            <a:ln w="63500" cap="flat">
              <a:solidFill>
                <a:srgbClr val="941751"/>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grpSp>
      <p:grpSp>
        <p:nvGrpSpPr>
          <p:cNvPr id="217" name="Group"/>
          <p:cNvGrpSpPr/>
          <p:nvPr/>
        </p:nvGrpSpPr>
        <p:grpSpPr>
          <a:xfrm>
            <a:off x="495818" y="3541011"/>
            <a:ext cx="5149130" cy="2939363"/>
            <a:chOff x="0" y="0"/>
            <a:chExt cx="7323205" cy="4180425"/>
          </a:xfrm>
        </p:grpSpPr>
        <p:sp>
          <p:nvSpPr>
            <p:cNvPr id="214" name="Rectangle"/>
            <p:cNvSpPr/>
            <p:nvPr/>
          </p:nvSpPr>
          <p:spPr>
            <a:xfrm>
              <a:off x="1823487" y="0"/>
              <a:ext cx="2023789" cy="441827"/>
            </a:xfrm>
            <a:prstGeom prst="rect">
              <a:avLst/>
            </a:prstGeom>
            <a:noFill/>
            <a:ln w="63500" cap="flat">
              <a:solidFill>
                <a:srgbClr val="4F8F00"/>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15" name="Line"/>
            <p:cNvSpPr/>
            <p:nvPr/>
          </p:nvSpPr>
          <p:spPr>
            <a:xfrm flipV="1">
              <a:off x="2416742" y="431239"/>
              <a:ext cx="1" cy="2869596"/>
            </a:xfrm>
            <a:prstGeom prst="line">
              <a:avLst/>
            </a:prstGeom>
            <a:noFill/>
            <a:ln w="25400" cap="flat">
              <a:solidFill>
                <a:srgbClr val="4F8F00"/>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16" name="Detected author mentions in the story, which happened in 41% of all observations (triplets)"/>
            <p:cNvSpPr/>
            <p:nvPr/>
          </p:nvSpPr>
          <p:spPr>
            <a:xfrm>
              <a:off x="0" y="3215876"/>
              <a:ext cx="7323205" cy="96454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rgbClr val="929000">
                <a:alpha val="9201"/>
              </a:srgb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584200">
                <a:lnSpc>
                  <a:spcPct val="100000"/>
                </a:lnSpc>
                <a:spcBef>
                  <a:spcPts val="0"/>
                </a:spcBef>
                <a:defRPr sz="2800">
                  <a:latin typeface="Helvetica Neue Light"/>
                  <a:ea typeface="Helvetica Neue Light"/>
                  <a:cs typeface="Helvetica Neue Light"/>
                  <a:sym typeface="Helvetica Neue Light"/>
                </a:defRPr>
              </a:lvl1pPr>
            </a:lstStyle>
            <a:p>
              <a:pPr defTabSz="410751" hangingPunct="0"/>
              <a:r>
                <a:rPr sz="1969" kern="0">
                  <a:solidFill>
                    <a:srgbClr val="000000"/>
                  </a:solidFill>
                </a:rPr>
                <a:t>Detected author mentions in the story, which happened in 41% of all observations (triplets)</a:t>
              </a:r>
            </a:p>
          </p:txBody>
        </p:sp>
      </p:grpSp>
      <p:grpSp>
        <p:nvGrpSpPr>
          <p:cNvPr id="222" name="Group"/>
          <p:cNvGrpSpPr/>
          <p:nvPr/>
        </p:nvGrpSpPr>
        <p:grpSpPr>
          <a:xfrm>
            <a:off x="283551" y="3187856"/>
            <a:ext cx="8616192" cy="2661480"/>
            <a:chOff x="0" y="0"/>
            <a:chExt cx="12254139" cy="3785215"/>
          </a:xfrm>
        </p:grpSpPr>
        <p:sp>
          <p:nvSpPr>
            <p:cNvPr id="218" name="Rectangle"/>
            <p:cNvSpPr/>
            <p:nvPr/>
          </p:nvSpPr>
          <p:spPr>
            <a:xfrm>
              <a:off x="0" y="0"/>
              <a:ext cx="8073150" cy="2806096"/>
            </a:xfrm>
            <a:prstGeom prst="rect">
              <a:avLst/>
            </a:prstGeom>
            <a:noFill/>
            <a:ln w="63500" cap="flat">
              <a:solidFill>
                <a:srgbClr val="011993"/>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19" name="Line"/>
            <p:cNvSpPr/>
            <p:nvPr/>
          </p:nvSpPr>
          <p:spPr>
            <a:xfrm flipH="1" flipV="1">
              <a:off x="8044630" y="1403047"/>
              <a:ext cx="1999124" cy="1"/>
            </a:xfrm>
            <a:prstGeom prst="line">
              <a:avLst/>
            </a:prstGeom>
            <a:noFill/>
            <a:ln w="25400" cap="flat">
              <a:solidFill>
                <a:srgbClr val="011993"/>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20" name="Used the newspaper3k  package or custom regex (41 domains) to extract text"/>
            <p:cNvSpPr/>
            <p:nvPr/>
          </p:nvSpPr>
          <p:spPr>
            <a:xfrm>
              <a:off x="8313844" y="2143648"/>
              <a:ext cx="3940295" cy="164156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rgbClr val="011993">
                <a:alpha val="9273"/>
              </a:srgb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p>
              <a:pPr defTabSz="410751" hangingPunct="0">
                <a:defRPr sz="2500">
                  <a:latin typeface="Helvetica Neue Light"/>
                  <a:ea typeface="Helvetica Neue Light"/>
                  <a:cs typeface="Helvetica Neue Light"/>
                  <a:sym typeface="Helvetica Neue Light"/>
                </a:defRPr>
              </a:pPr>
              <a:r>
                <a:rPr sz="1758" kern="0" dirty="0">
                  <a:solidFill>
                    <a:srgbClr val="000000"/>
                  </a:solidFill>
                  <a:latin typeface="Helvetica Neue Light"/>
                  <a:ea typeface="Helvetica Neue Light"/>
                  <a:sym typeface="Helvetica Neue Light"/>
                </a:rPr>
                <a:t>Used the </a:t>
              </a:r>
              <a:r>
                <a:rPr sz="1758" kern="0" dirty="0">
                  <a:solidFill>
                    <a:srgbClr val="000000"/>
                  </a:solidFill>
                  <a:latin typeface="Courier New"/>
                  <a:ea typeface="Courier New"/>
                  <a:cs typeface="Courier New"/>
                  <a:sym typeface="Courier New"/>
                </a:rPr>
                <a:t>newspaper3k</a:t>
              </a:r>
              <a:r>
                <a:rPr sz="1758" kern="0" dirty="0">
                  <a:solidFill>
                    <a:srgbClr val="000000"/>
                  </a:solidFill>
                  <a:latin typeface="Helvetica Neue Light"/>
                  <a:ea typeface="Helvetica Neue Light"/>
                  <a:sym typeface="Helvetica Neue Light"/>
                </a:rPr>
                <a:t> </a:t>
              </a:r>
              <a:br>
                <a:rPr sz="1758" kern="0" dirty="0">
                  <a:solidFill>
                    <a:srgbClr val="000000"/>
                  </a:solidFill>
                  <a:latin typeface="Helvetica Neue Light"/>
                  <a:ea typeface="Helvetica Neue Light"/>
                  <a:sym typeface="Helvetica Neue Light"/>
                </a:rPr>
              </a:br>
              <a:r>
                <a:rPr sz="1758" kern="0" dirty="0">
                  <a:solidFill>
                    <a:srgbClr val="000000"/>
                  </a:solidFill>
                  <a:latin typeface="Helvetica Neue Light"/>
                  <a:ea typeface="Helvetica Neue Light"/>
                  <a:sym typeface="Helvetica Neue Light"/>
                </a:rPr>
                <a:t>package or custom regex (41 domains) to extract </a:t>
              </a:r>
              <a:r>
                <a:rPr lang="en-US" sz="1758" kern="0" dirty="0">
                  <a:solidFill>
                    <a:srgbClr val="000000"/>
                  </a:solidFill>
                  <a:latin typeface="Helvetica Neue Light"/>
                  <a:ea typeface="Helvetica Neue Light"/>
                  <a:sym typeface="Helvetica Neue Light"/>
                </a:rPr>
                <a:t>full </a:t>
              </a:r>
              <a:r>
                <a:rPr sz="1758" kern="0" dirty="0">
                  <a:solidFill>
                    <a:srgbClr val="000000"/>
                  </a:solidFill>
                  <a:latin typeface="Helvetica Neue Light"/>
                  <a:ea typeface="Helvetica Neue Light"/>
                  <a:sym typeface="Helvetica Neue Light"/>
                </a:rPr>
                <a:t>text</a:t>
              </a:r>
              <a:r>
                <a:rPr lang="en-US" sz="1758" kern="0" dirty="0">
                  <a:solidFill>
                    <a:srgbClr val="000000"/>
                  </a:solidFill>
                  <a:latin typeface="Helvetica Neue Light"/>
                  <a:ea typeface="Helvetica Neue Light"/>
                  <a:sym typeface="Helvetica Neue Light"/>
                </a:rPr>
                <a:t> news from HTML page</a:t>
              </a:r>
              <a:endParaRPr sz="1758" kern="0" dirty="0">
                <a:solidFill>
                  <a:srgbClr val="000000"/>
                </a:solidFill>
                <a:latin typeface="Helvetica Neue Light"/>
                <a:ea typeface="Helvetica Neue Light"/>
                <a:sym typeface="Helvetica Neue Light"/>
              </a:endParaRPr>
            </a:p>
          </p:txBody>
        </p:sp>
        <p:sp>
          <p:nvSpPr>
            <p:cNvPr id="221" name="Line"/>
            <p:cNvSpPr/>
            <p:nvPr/>
          </p:nvSpPr>
          <p:spPr>
            <a:xfrm flipV="1">
              <a:off x="10033205" y="1388724"/>
              <a:ext cx="1" cy="940608"/>
            </a:xfrm>
            <a:prstGeom prst="line">
              <a:avLst/>
            </a:prstGeom>
            <a:noFill/>
            <a:ln w="25400" cap="flat">
              <a:solidFill>
                <a:srgbClr val="011993"/>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grpSp>
      <p:sp>
        <p:nvSpPr>
          <p:cNvPr id="223" name="Each (story, paper, author) triplet is an observation"/>
          <p:cNvSpPr txBox="1"/>
          <p:nvPr/>
        </p:nvSpPr>
        <p:spPr>
          <a:xfrm>
            <a:off x="230518" y="168327"/>
            <a:ext cx="8657441" cy="6261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anchor="ctr">
            <a:spAutoFit/>
          </a:bodyPr>
          <a:lstStyle>
            <a:lvl1pPr defTabSz="584200">
              <a:lnSpc>
                <a:spcPct val="100000"/>
              </a:lnSpc>
              <a:spcBef>
                <a:spcPts val="400"/>
              </a:spcBef>
              <a:defRPr sz="3500"/>
            </a:lvl1pPr>
          </a:lstStyle>
          <a:p>
            <a:pPr defTabSz="410751" hangingPunct="0">
              <a:spcBef>
                <a:spcPts val="281"/>
              </a:spcBef>
            </a:pP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Analysis unit: </a:t>
            </a:r>
            <a:r>
              <a:rPr sz="3600" kern="0" dirty="0">
                <a:solidFill>
                  <a:srgbClr val="000000"/>
                </a:solidFill>
                <a:latin typeface="Calibri" panose="020F0502020204030204" pitchFamily="34" charset="0"/>
                <a:ea typeface="Helvetica Neue"/>
                <a:cs typeface="Calibri" panose="020F0502020204030204" pitchFamily="34" charset="0"/>
                <a:sym typeface="Helvetica Neue"/>
              </a:rPr>
              <a:t>(story, paper, author) triplet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animBg="1" advAuto="0"/>
      <p:bldP spid="217" grpId="0" animBg="1" advAuto="0"/>
      <p:bldP spid="222" grpId="0"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 name="Image" descr="Image"/>
          <p:cNvPicPr>
            <a:picLocks noChangeAspect="1"/>
          </p:cNvPicPr>
          <p:nvPr/>
        </p:nvPicPr>
        <p:blipFill>
          <a:blip r:embed="rId2"/>
          <a:stretch>
            <a:fillRect/>
          </a:stretch>
        </p:blipFill>
        <p:spPr>
          <a:xfrm>
            <a:off x="519649" y="1403212"/>
            <a:ext cx="5026084" cy="4476234"/>
          </a:xfrm>
          <a:prstGeom prst="rect">
            <a:avLst/>
          </a:prstGeom>
          <a:ln w="12700">
            <a:miter lim="400000"/>
          </a:ln>
        </p:spPr>
      </p:pic>
      <p:grpSp>
        <p:nvGrpSpPr>
          <p:cNvPr id="250" name="Group"/>
          <p:cNvGrpSpPr/>
          <p:nvPr/>
        </p:nvGrpSpPr>
        <p:grpSpPr>
          <a:xfrm>
            <a:off x="506185" y="4659441"/>
            <a:ext cx="8328528" cy="1185586"/>
            <a:chOff x="0" y="-224017"/>
            <a:chExt cx="11845015" cy="1686165"/>
          </a:xfrm>
        </p:grpSpPr>
        <p:sp>
          <p:nvSpPr>
            <p:cNvPr id="247" name="Line"/>
            <p:cNvSpPr/>
            <p:nvPr/>
          </p:nvSpPr>
          <p:spPr>
            <a:xfrm flipH="1" flipV="1">
              <a:off x="1570489" y="616773"/>
              <a:ext cx="6184615" cy="1"/>
            </a:xfrm>
            <a:prstGeom prst="line">
              <a:avLst/>
            </a:prstGeom>
            <a:noFill/>
            <a:ln w="25400" cap="flat">
              <a:solidFill>
                <a:srgbClr val="FFD479"/>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48" name="Mixed-effect logistic regression: Is the author mentioned in the story?"/>
            <p:cNvSpPr txBox="1"/>
            <p:nvPr/>
          </p:nvSpPr>
          <p:spPr>
            <a:xfrm>
              <a:off x="7733830" y="-224018"/>
              <a:ext cx="4111186" cy="1686167"/>
            </a:xfrm>
            <a:prstGeom prst="rect">
              <a:avLst/>
            </a:prstGeom>
            <a:solidFill>
              <a:srgbClr val="FFD479">
                <a:alpha val="24681"/>
              </a:srgb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lvl1pPr defTabSz="584200">
                <a:lnSpc>
                  <a:spcPct val="100000"/>
                </a:lnSpc>
                <a:spcBef>
                  <a:spcPts val="0"/>
                </a:spcBef>
                <a:defRPr>
                  <a:latin typeface="Helvetica Neue Light"/>
                  <a:ea typeface="Helvetica Neue Light"/>
                  <a:cs typeface="Helvetica Neue Light"/>
                  <a:sym typeface="Helvetica Neue Light"/>
                </a:defRPr>
              </a:lvl1pPr>
            </a:lstStyle>
            <a:p>
              <a:pPr defTabSz="410751" hangingPunct="0"/>
              <a:r>
                <a:rPr lang="en-US" sz="2109" kern="0" dirty="0">
                  <a:solidFill>
                    <a:srgbClr val="000000"/>
                  </a:solidFill>
                </a:rPr>
                <a:t>L</a:t>
              </a:r>
              <a:r>
                <a:rPr sz="2109" kern="0" dirty="0">
                  <a:solidFill>
                    <a:srgbClr val="000000"/>
                  </a:solidFill>
                </a:rPr>
                <a:t>ogistic regression: Is the author mentioned in the </a:t>
              </a:r>
              <a:r>
                <a:rPr lang="en-US" sz="2109" kern="0" dirty="0">
                  <a:solidFill>
                    <a:srgbClr val="000000"/>
                  </a:solidFill>
                </a:rPr>
                <a:t>given news </a:t>
              </a:r>
              <a:r>
                <a:rPr sz="2109" kern="0" dirty="0">
                  <a:solidFill>
                    <a:srgbClr val="000000"/>
                  </a:solidFill>
                </a:rPr>
                <a:t>story?</a:t>
              </a:r>
            </a:p>
          </p:txBody>
        </p:sp>
        <p:sp>
          <p:nvSpPr>
            <p:cNvPr id="249" name="Rectangle"/>
            <p:cNvSpPr/>
            <p:nvPr/>
          </p:nvSpPr>
          <p:spPr>
            <a:xfrm>
              <a:off x="0" y="546197"/>
              <a:ext cx="1515473" cy="369754"/>
            </a:xfrm>
            <a:prstGeom prst="rect">
              <a:avLst/>
            </a:prstGeom>
            <a:noFill/>
            <a:ln w="63500" cap="flat">
              <a:solidFill>
                <a:srgbClr val="FFD479"/>
              </a:solidFill>
              <a:prstDash val="solid"/>
              <a:miter lim="400000"/>
            </a:ln>
            <a:effectLst/>
          </p:spPr>
          <p:txBody>
            <a:bodyPr wrap="square" lIns="35719" tIns="35719" rIns="35719" bIns="35719" numCol="1" anchor="ctr">
              <a:noAutofit/>
            </a:bodyP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grpSp>
      <p:sp>
        <p:nvSpPr>
          <p:cNvPr id="251" name="Rectangle"/>
          <p:cNvSpPr/>
          <p:nvPr/>
        </p:nvSpPr>
        <p:spPr>
          <a:xfrm>
            <a:off x="425816" y="1376587"/>
            <a:ext cx="1122498" cy="473811"/>
          </a:xfrm>
          <a:prstGeom prst="rect">
            <a:avLst/>
          </a:prstGeom>
          <a:ln w="63500">
            <a:solidFill>
              <a:srgbClr val="FFD479"/>
            </a:solidFill>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252" name="Our goal: Test for bias in which authors get mentioned"/>
          <p:cNvSpPr txBox="1"/>
          <p:nvPr/>
        </p:nvSpPr>
        <p:spPr>
          <a:xfrm>
            <a:off x="275338" y="466245"/>
            <a:ext cx="8932355" cy="6261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lvl1pPr defTabSz="584200">
              <a:lnSpc>
                <a:spcPct val="100000"/>
              </a:lnSpc>
              <a:spcBef>
                <a:spcPts val="400"/>
              </a:spcBef>
              <a:defRPr sz="4000"/>
            </a:lvl1pPr>
          </a:lstStyle>
          <a:p>
            <a:pPr defTabSz="410751" hangingPunct="0">
              <a:spcBef>
                <a:spcPts val="281"/>
              </a:spcBef>
            </a:pPr>
            <a:r>
              <a:rPr sz="3600" kern="0" dirty="0">
                <a:solidFill>
                  <a:srgbClr val="000000"/>
                </a:solidFill>
                <a:latin typeface="Calibri" panose="020F0502020204030204" pitchFamily="34" charset="0"/>
                <a:ea typeface="Helvetica Neue"/>
                <a:cs typeface="Calibri" panose="020F0502020204030204" pitchFamily="34" charset="0"/>
                <a:sym typeface="Helvetica Neue"/>
              </a:rPr>
              <a:t>Test for bias in </a:t>
            </a: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who </a:t>
            </a:r>
            <a:r>
              <a:rPr sz="3600" kern="0" dirty="0">
                <a:solidFill>
                  <a:srgbClr val="000000"/>
                </a:solidFill>
                <a:latin typeface="Calibri" panose="020F0502020204030204" pitchFamily="34" charset="0"/>
                <a:ea typeface="Helvetica Neue"/>
                <a:cs typeface="Calibri" panose="020F0502020204030204" pitchFamily="34" charset="0"/>
                <a:sym typeface="Helvetica Neue"/>
              </a:rPr>
              <a:t>get</a:t>
            </a:r>
            <a:r>
              <a:rPr lang="en-US" sz="3600" kern="0" dirty="0">
                <a:solidFill>
                  <a:srgbClr val="000000"/>
                </a:solidFill>
                <a:latin typeface="Calibri" panose="020F0502020204030204" pitchFamily="34" charset="0"/>
                <a:ea typeface="Helvetica Neue"/>
                <a:cs typeface="Calibri" panose="020F0502020204030204" pitchFamily="34" charset="0"/>
                <a:sym typeface="Helvetica Neue"/>
              </a:rPr>
              <a:t>s</a:t>
            </a:r>
            <a:r>
              <a:rPr sz="3600" kern="0" dirty="0">
                <a:solidFill>
                  <a:srgbClr val="000000"/>
                </a:solidFill>
                <a:latin typeface="Calibri" panose="020F0502020204030204" pitchFamily="34" charset="0"/>
                <a:ea typeface="Helvetica Neue"/>
                <a:cs typeface="Calibri" panose="020F0502020204030204" pitchFamily="34" charset="0"/>
                <a:sym typeface="Helvetica Neue"/>
              </a:rPr>
              <a:t> mentioned</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animBg="1" advAuto="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D6273-7C85-D8BF-20D0-3CC67D69DE42}"/>
            </a:ext>
          </a:extLst>
        </p:cNvPr>
        <p:cNvGrpSpPr/>
        <p:nvPr/>
      </p:nvGrpSpPr>
      <p:grpSpPr>
        <a:xfrm>
          <a:off x="0" y="0"/>
          <a:ext cx="0" cy="0"/>
          <a:chOff x="0" y="0"/>
          <a:chExt cx="0" cy="0"/>
        </a:xfrm>
      </p:grpSpPr>
      <p:sp>
        <p:nvSpPr>
          <p:cNvPr id="252" name="Our goal: Test for bias in which authors get mentioned">
            <a:extLst>
              <a:ext uri="{FF2B5EF4-FFF2-40B4-BE49-F238E27FC236}">
                <a16:creationId xmlns:a16="http://schemas.microsoft.com/office/drawing/2014/main" id="{681A164F-2983-334B-FDEC-072425632612}"/>
              </a:ext>
            </a:extLst>
          </p:cNvPr>
          <p:cNvSpPr txBox="1"/>
          <p:nvPr/>
        </p:nvSpPr>
        <p:spPr>
          <a:xfrm>
            <a:off x="471222" y="498826"/>
            <a:ext cx="8932355" cy="6876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lvl1pPr defTabSz="584200">
              <a:lnSpc>
                <a:spcPct val="100000"/>
              </a:lnSpc>
              <a:spcBef>
                <a:spcPts val="400"/>
              </a:spcBef>
              <a:defRPr sz="4000"/>
            </a:lvl1pPr>
          </a:lstStyle>
          <a:p>
            <a:pPr defTabSz="410751" hangingPunct="0">
              <a:spcBef>
                <a:spcPts val="281"/>
              </a:spcBef>
            </a:pPr>
            <a:r>
              <a:rPr lang="en-US" kern="0" dirty="0">
                <a:solidFill>
                  <a:srgbClr val="000000"/>
                </a:solidFill>
                <a:latin typeface="Calibri" panose="020F0502020204030204" pitchFamily="34" charset="0"/>
                <a:ea typeface="Helvetica Neue"/>
                <a:cs typeface="Calibri" panose="020F0502020204030204" pitchFamily="34" charset="0"/>
                <a:sym typeface="Helvetica Neue"/>
              </a:rPr>
              <a:t>Design the regular expression</a:t>
            </a:r>
            <a:endParaRPr kern="0" dirty="0">
              <a:solidFill>
                <a:srgbClr val="000000"/>
              </a:solidFill>
              <a:latin typeface="Calibri" panose="020F0502020204030204" pitchFamily="34" charset="0"/>
              <a:ea typeface="Helvetica Neue"/>
              <a:cs typeface="Calibri" panose="020F0502020204030204" pitchFamily="34" charset="0"/>
              <a:sym typeface="Helvetica Neue"/>
            </a:endParaRPr>
          </a:p>
        </p:txBody>
      </p:sp>
      <p:sp>
        <p:nvSpPr>
          <p:cNvPr id="3" name="Content Placeholder 3">
            <a:extLst>
              <a:ext uri="{FF2B5EF4-FFF2-40B4-BE49-F238E27FC236}">
                <a16:creationId xmlns:a16="http://schemas.microsoft.com/office/drawing/2014/main" id="{8E26A5CE-867E-A893-EA59-76AE112A8864}"/>
              </a:ext>
            </a:extLst>
          </p:cNvPr>
          <p:cNvSpPr txBox="1">
            <a:spLocks/>
          </p:cNvSpPr>
          <p:nvPr/>
        </p:nvSpPr>
        <p:spPr>
          <a:xfrm>
            <a:off x="509197" y="1587369"/>
            <a:ext cx="8125606" cy="45800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M Sans 12" panose="000005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M Sans 12" panose="000005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M Sans 12" panose="000005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M Sans 12" panose="000005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M Sans 12"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tLang="zh-CN" sz="2400" dirty="0">
                <a:ea typeface="等线" panose="02010600030101010101" pitchFamily="2" charset="-122"/>
              </a:rPr>
              <a:t>Search the author’s last name using a regular expression with word boundaries around the name, </a:t>
            </a:r>
            <a:r>
              <a:rPr lang="en-US" altLang="zh-CN" sz="2400" dirty="0">
                <a:solidFill>
                  <a:srgbClr val="941100"/>
                </a:solidFill>
                <a:ea typeface="等线" panose="02010600030101010101" pitchFamily="2" charset="-122"/>
              </a:rPr>
              <a:t>requiring that the name’s initial letter be capitalized</a:t>
            </a:r>
            <a:r>
              <a:rPr lang="en-US" altLang="zh-CN" sz="2400" dirty="0">
                <a:ea typeface="等线" panose="02010600030101010101" pitchFamily="2" charset="-122"/>
              </a:rPr>
              <a:t>.</a:t>
            </a:r>
            <a:endParaRPr kumimoji="0" lang="en-US" sz="2400" b="0" i="0" u="none" strike="noStrike" kern="1200" cap="none" spc="0" normalizeH="0" baseline="0" noProof="0" dirty="0">
              <a:ln>
                <a:noFill/>
              </a:ln>
              <a:effectLst/>
              <a:uLnTx/>
              <a:uFillTx/>
            </a:endParaRPr>
          </a:p>
          <a:p>
            <a:pPr lvl="0"/>
            <a:r>
              <a:rPr kumimoji="0" lang="en-US" sz="2400" b="0" i="0" u="none" strike="noStrike" kern="1200" cap="none" spc="0" normalizeH="0" baseline="0" noProof="0" dirty="0">
                <a:ln>
                  <a:noFill/>
                </a:ln>
                <a:solidFill>
                  <a:sysClr val="windowText" lastClr="000000"/>
                </a:solidFill>
                <a:effectLst/>
                <a:uLnTx/>
                <a:uFillTx/>
                <a:latin typeface="LM Sans 12" panose="00000500000000000000" pitchFamily="50" charset="0"/>
                <a:ea typeface="+mn-ea"/>
                <a:cs typeface="+mn-cs"/>
              </a:rPr>
              <a:t>How about the</a:t>
            </a:r>
            <a:r>
              <a:rPr kumimoji="0" lang="en-US" sz="2400" b="0" i="0" u="none" strike="noStrike" kern="1200" cap="none" spc="0" normalizeH="0" noProof="0" dirty="0">
                <a:ln>
                  <a:noFill/>
                </a:ln>
                <a:solidFill>
                  <a:sysClr val="windowText" lastClr="000000"/>
                </a:solidFill>
                <a:effectLst/>
                <a:uLnTx/>
                <a:uFillTx/>
                <a:latin typeface="LM Sans 12" panose="00000500000000000000" pitchFamily="50" charset="0"/>
                <a:ea typeface="+mn-ea"/>
                <a:cs typeface="+mn-cs"/>
              </a:rPr>
              <a:t> author </a:t>
            </a:r>
            <a:r>
              <a:rPr lang="en-US" sz="2400" dirty="0">
                <a:solidFill>
                  <a:sysClr val="windowText" lastClr="000000"/>
                </a:solidFill>
              </a:rPr>
              <a:t>named “Walter </a:t>
            </a:r>
            <a:r>
              <a:rPr kumimoji="0" lang="en-US" sz="2400" b="0" i="0" u="none" strike="noStrike" kern="1200" cap="none" spc="0" normalizeH="0" noProof="0" dirty="0">
                <a:ln>
                  <a:noFill/>
                </a:ln>
                <a:solidFill>
                  <a:sysClr val="windowText" lastClr="000000"/>
                </a:solidFill>
                <a:effectLst/>
                <a:uLnTx/>
                <a:uFillTx/>
                <a:latin typeface="LM Sans 12" panose="00000500000000000000" pitchFamily="50" charset="0"/>
                <a:ea typeface="+mn-ea"/>
                <a:cs typeface="+mn-cs"/>
              </a:rPr>
              <a:t>White”?</a:t>
            </a:r>
          </a:p>
          <a:p>
            <a:pPr lvl="1"/>
            <a:r>
              <a:rPr lang="en-US" sz="2000" noProof="0" dirty="0">
                <a:solidFill>
                  <a:sysClr val="windowText" lastClr="000000"/>
                </a:solidFill>
              </a:rPr>
              <a:t>News sentence “The city is famous for </a:t>
            </a:r>
            <a:r>
              <a:rPr lang="en-US" sz="2000" u="sng" noProof="0" dirty="0">
                <a:solidFill>
                  <a:sysClr val="windowText" lastClr="000000"/>
                </a:solidFill>
              </a:rPr>
              <a:t>white</a:t>
            </a:r>
            <a:r>
              <a:rPr lang="en-US" sz="2000" noProof="0" dirty="0">
                <a:solidFill>
                  <a:sysClr val="windowText" lastClr="000000"/>
                </a:solidFill>
              </a:rPr>
              <a:t> color”.</a:t>
            </a:r>
          </a:p>
          <a:p>
            <a:pPr lvl="1"/>
            <a:r>
              <a:rPr kumimoji="0" lang="en-US" sz="2000" b="0" i="0" u="none" strike="noStrike" kern="1200" cap="none" spc="0" normalizeH="0" baseline="0" dirty="0">
                <a:ln>
                  <a:noFill/>
                </a:ln>
                <a:solidFill>
                  <a:srgbClr val="C00000"/>
                </a:solidFill>
                <a:effectLst/>
                <a:uLnTx/>
                <a:uFillTx/>
                <a:latin typeface="LM Sans 12" panose="00000500000000000000" pitchFamily="50" charset="0"/>
                <a:ea typeface="+mn-ea"/>
                <a:cs typeface="+mn-cs"/>
              </a:rPr>
              <a:t>Would</a:t>
            </a:r>
            <a:r>
              <a:rPr kumimoji="0" lang="en-US" sz="2000" b="0" i="0" u="none" strike="noStrike" kern="1200" cap="none" spc="0" normalizeH="0" dirty="0">
                <a:ln>
                  <a:noFill/>
                </a:ln>
                <a:solidFill>
                  <a:srgbClr val="C00000"/>
                </a:solidFill>
                <a:effectLst/>
                <a:uLnTx/>
                <a:uFillTx/>
                <a:latin typeface="LM Sans 12" panose="00000500000000000000" pitchFamily="50" charset="0"/>
                <a:ea typeface="+mn-ea"/>
                <a:cs typeface="+mn-cs"/>
              </a:rPr>
              <a:t> the above rule produce a false positive?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LM Sans 12" panose="00000500000000000000" pitchFamily="50" charset="0"/>
                <a:ea typeface="+mn-ea"/>
                <a:cs typeface="+mn-cs"/>
              </a:rPr>
              <a:t>Special consideration</a:t>
            </a:r>
            <a:r>
              <a:rPr kumimoji="0" lang="en-US" sz="2400" b="0" i="0" u="none" strike="noStrike" kern="1200" cap="none" spc="0" normalizeH="0" noProof="0" dirty="0">
                <a:ln>
                  <a:noFill/>
                </a:ln>
                <a:solidFill>
                  <a:sysClr val="windowText" lastClr="000000"/>
                </a:solidFill>
                <a:effectLst/>
                <a:uLnTx/>
                <a:uFillTx/>
                <a:latin typeface="LM Sans 12" panose="00000500000000000000" pitchFamily="50" charset="0"/>
                <a:ea typeface="+mn-ea"/>
                <a:cs typeface="+mn-cs"/>
              </a:rPr>
              <a:t> for two Chinese last names “He”, “She”.</a:t>
            </a:r>
          </a:p>
          <a:p>
            <a:pPr lvl="1"/>
            <a:r>
              <a:rPr lang="en-US" sz="2000" dirty="0">
                <a:solidFill>
                  <a:sysClr val="windowText" lastClr="000000"/>
                </a:solidFill>
              </a:rPr>
              <a:t>They can appear as third person pronouns at the start of sentences.</a:t>
            </a:r>
          </a:p>
          <a:p>
            <a:pPr lvl="1"/>
            <a:r>
              <a:rPr kumimoji="0" lang="en-US" sz="2000" b="0" i="0" u="none" strike="noStrike" kern="1200" cap="none" spc="0" normalizeH="0" baseline="0" noProof="0" dirty="0">
                <a:ln>
                  <a:noFill/>
                </a:ln>
                <a:solidFill>
                  <a:sysClr val="windowText" lastClr="000000"/>
                </a:solidFill>
                <a:effectLst/>
                <a:uLnTx/>
                <a:uFillTx/>
              </a:rPr>
              <a:t>E.g., “</a:t>
            </a:r>
            <a:r>
              <a:rPr kumimoji="0" lang="en-US" sz="2000" b="0" i="0" u="sng" strike="noStrike" kern="1200" cap="none" spc="0" normalizeH="0" baseline="0" noProof="0" dirty="0">
                <a:ln>
                  <a:noFill/>
                </a:ln>
                <a:solidFill>
                  <a:sysClr val="windowText" lastClr="000000"/>
                </a:solidFill>
                <a:effectLst/>
                <a:uLnTx/>
                <a:uFillTx/>
              </a:rPr>
              <a:t>She</a:t>
            </a:r>
            <a:r>
              <a:rPr kumimoji="0" lang="en-US" sz="2000" b="0" i="0" u="none" strike="noStrike" kern="1200" cap="none" spc="0" normalizeH="0" baseline="0" noProof="0" dirty="0">
                <a:ln>
                  <a:noFill/>
                </a:ln>
                <a:solidFill>
                  <a:sysClr val="windowText" lastClr="000000"/>
                </a:solidFill>
                <a:effectLst/>
                <a:uLnTx/>
                <a:uFillTx/>
              </a:rPr>
              <a:t> enjoys</a:t>
            </a:r>
            <a:r>
              <a:rPr kumimoji="0" lang="en-US" sz="2000" b="0" i="0" u="none" strike="noStrike" kern="1200" cap="none" spc="0" normalizeH="0" noProof="0" dirty="0">
                <a:ln>
                  <a:noFill/>
                </a:ln>
                <a:solidFill>
                  <a:sysClr val="windowText" lastClr="000000"/>
                </a:solidFill>
                <a:effectLst/>
                <a:uLnTx/>
                <a:uFillTx/>
              </a:rPr>
              <a:t> teaching social media courses.”</a:t>
            </a:r>
          </a:p>
          <a:p>
            <a:pPr lvl="1"/>
            <a:r>
              <a:rPr lang="en-US" sz="2000" dirty="0">
                <a:solidFill>
                  <a:srgbClr val="0078B9"/>
                </a:solidFill>
              </a:rPr>
              <a:t>Impose additional constraints for these two names such that they must be immediately preceded with one of the following titles </a:t>
            </a:r>
            <a:r>
              <a:rPr lang="en-US" sz="2000" dirty="0">
                <a:solidFill>
                  <a:sysClr val="windowText" lastClr="000000"/>
                </a:solidFill>
              </a:rPr>
              <a:t>to be considered as a name mention: “Professor”, “Prof.”, “Doctor”, “Dr.”, “Mr.”, “Miss”, “Ms.”, ‘Mrs.”</a:t>
            </a:r>
            <a:endParaRPr kumimoji="0" lang="en-US" sz="2000" b="0" i="0" u="none" strike="noStrike" kern="120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778713509"/>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63862B59-9D91-1BC6-D553-5265797A54BD}"/>
              </a:ext>
            </a:extLst>
          </p:cNvPr>
          <p:cNvPicPr>
            <a:picLocks noChangeAspect="1"/>
          </p:cNvPicPr>
          <p:nvPr/>
        </p:nvPicPr>
        <p:blipFill>
          <a:blip r:embed="rId2"/>
          <a:stretch>
            <a:fillRect/>
          </a:stretch>
        </p:blipFill>
        <p:spPr>
          <a:xfrm>
            <a:off x="219640" y="1022888"/>
            <a:ext cx="8924360" cy="5104595"/>
          </a:xfrm>
          <a:prstGeom prst="rect">
            <a:avLst/>
          </a:prstGeom>
        </p:spPr>
      </p:pic>
      <p:sp>
        <p:nvSpPr>
          <p:cNvPr id="7" name="Our goal: Test for bias in which authors get mentioned">
            <a:extLst>
              <a:ext uri="{FF2B5EF4-FFF2-40B4-BE49-F238E27FC236}">
                <a16:creationId xmlns:a16="http://schemas.microsoft.com/office/drawing/2014/main" id="{404CEE10-2CEE-B050-9670-E69C4AEF81A9}"/>
              </a:ext>
            </a:extLst>
          </p:cNvPr>
          <p:cNvSpPr txBox="1"/>
          <p:nvPr/>
        </p:nvSpPr>
        <p:spPr>
          <a:xfrm>
            <a:off x="219640" y="203859"/>
            <a:ext cx="8932355" cy="6876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lvl1pPr defTabSz="584200">
              <a:lnSpc>
                <a:spcPct val="100000"/>
              </a:lnSpc>
              <a:spcBef>
                <a:spcPts val="400"/>
              </a:spcBef>
              <a:defRPr sz="4000"/>
            </a:lvl1pPr>
          </a:lstStyle>
          <a:p>
            <a:pPr defTabSz="410751" hangingPunct="0">
              <a:spcBef>
                <a:spcPts val="281"/>
              </a:spcBef>
            </a:pPr>
            <a:r>
              <a:rPr lang="en-US" kern="0" dirty="0">
                <a:solidFill>
                  <a:srgbClr val="000000"/>
                </a:solidFill>
                <a:latin typeface="Calibri" panose="020F0502020204030204" pitchFamily="34" charset="0"/>
                <a:ea typeface="Helvetica Neue"/>
                <a:cs typeface="Calibri" panose="020F0502020204030204" pitchFamily="34" charset="0"/>
                <a:sym typeface="Helvetica Neue"/>
              </a:rPr>
              <a:t>Code by DeepSeek</a:t>
            </a:r>
            <a:endParaRPr kern="0" dirty="0">
              <a:solidFill>
                <a:srgbClr val="000000"/>
              </a:solidFill>
              <a:latin typeface="Calibri" panose="020F0502020204030204" pitchFamily="34" charset="0"/>
              <a:ea typeface="Helvetica Neue"/>
              <a:cs typeface="Calibri" panose="020F0502020204030204" pitchFamily="34" charset="0"/>
              <a:sym typeface="Helvetica Neue"/>
            </a:endParaRPr>
          </a:p>
        </p:txBody>
      </p:sp>
    </p:spTree>
    <p:extLst>
      <p:ext uri="{BB962C8B-B14F-4D97-AF65-F5344CB8AC3E}">
        <p14:creationId xmlns:p14="http://schemas.microsoft.com/office/powerpoint/2010/main" val="3981869099"/>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4470-13D5-035E-DDD6-4F0FBFBC2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96DA3-4290-D639-EFE8-3458392E90AD}"/>
              </a:ext>
            </a:extLst>
          </p:cNvPr>
          <p:cNvSpPr>
            <a:spLocks noGrp="1"/>
          </p:cNvSpPr>
          <p:nvPr>
            <p:ph type="title"/>
          </p:nvPr>
        </p:nvSpPr>
        <p:spPr>
          <a:xfrm>
            <a:off x="408292" y="276797"/>
            <a:ext cx="8215546" cy="1325563"/>
          </a:xfrm>
        </p:spPr>
        <p:txBody>
          <a:bodyPr>
            <a:normAutofit/>
          </a:bodyPr>
          <a:lstStyle/>
          <a:p>
            <a:r>
              <a:rPr lang="en-US" b="0" dirty="0"/>
              <a:t>Identify news topics by politicians</a:t>
            </a:r>
          </a:p>
        </p:txBody>
      </p:sp>
      <p:sp>
        <p:nvSpPr>
          <p:cNvPr id="4" name="Content Placeholder 3">
            <a:extLst>
              <a:ext uri="{FF2B5EF4-FFF2-40B4-BE49-F238E27FC236}">
                <a16:creationId xmlns:a16="http://schemas.microsoft.com/office/drawing/2014/main" id="{4AE2153F-4D97-D453-4EE8-9CCAF1970781}"/>
              </a:ext>
            </a:extLst>
          </p:cNvPr>
          <p:cNvSpPr>
            <a:spLocks noGrp="1"/>
          </p:cNvSpPr>
          <p:nvPr>
            <p:ph idx="1"/>
          </p:nvPr>
        </p:nvSpPr>
        <p:spPr>
          <a:xfrm>
            <a:off x="509197" y="1602360"/>
            <a:ext cx="7886700" cy="4351338"/>
          </a:xfrm>
        </p:spPr>
        <p:txBody>
          <a:bodyPr>
            <a:normAutofit lnSpcReduction="10000"/>
          </a:bodyPr>
          <a:lstStyle/>
          <a:p>
            <a:r>
              <a:rPr lang="en-US" altLang="zh-CN" sz="2400" dirty="0">
                <a:solidFill>
                  <a:srgbClr val="C00000"/>
                </a:solidFill>
              </a:rPr>
              <a:t>Extract</a:t>
            </a:r>
            <a:r>
              <a:rPr lang="zh-CN" altLang="en-US" sz="2400" dirty="0">
                <a:solidFill>
                  <a:srgbClr val="C00000"/>
                </a:solidFill>
              </a:rPr>
              <a:t> </a:t>
            </a:r>
            <a:r>
              <a:rPr lang="en-US" altLang="zh-CN" sz="2400" dirty="0">
                <a:solidFill>
                  <a:srgbClr val="C00000"/>
                </a:solidFill>
              </a:rPr>
              <a:t>text</a:t>
            </a:r>
            <a:r>
              <a:rPr lang="zh-CN" altLang="en-US" sz="2400" dirty="0">
                <a:solidFill>
                  <a:srgbClr val="C00000"/>
                </a:solidFill>
              </a:rPr>
              <a:t> </a:t>
            </a:r>
            <a:r>
              <a:rPr lang="en-US" altLang="zh-CN" sz="2400" dirty="0">
                <a:solidFill>
                  <a:srgbClr val="C00000"/>
                </a:solidFill>
              </a:rPr>
              <a:t>in</a:t>
            </a:r>
            <a:r>
              <a:rPr lang="zh-CN" altLang="en-US" sz="2400" dirty="0">
                <a:solidFill>
                  <a:srgbClr val="C00000"/>
                </a:solidFill>
              </a:rPr>
              <a:t> </a:t>
            </a:r>
            <a:r>
              <a:rPr lang="en-US" altLang="zh-CN" sz="2400" dirty="0">
                <a:solidFill>
                  <a:srgbClr val="C00000"/>
                </a:solidFill>
              </a:rPr>
              <a:t>quotation marks</a:t>
            </a:r>
            <a:r>
              <a:rPr lang="zh-CN" altLang="en-US" sz="2400" dirty="0">
                <a:solidFill>
                  <a:srgbClr val="C00000"/>
                </a:solidFill>
              </a:rPr>
              <a:t> </a:t>
            </a:r>
            <a:r>
              <a:rPr lang="en-US" altLang="zh-CN" sz="2400" dirty="0">
                <a:solidFill>
                  <a:srgbClr val="C00000"/>
                </a:solidFill>
              </a:rPr>
              <a:t>that</a:t>
            </a:r>
            <a:r>
              <a:rPr lang="zh-CN" altLang="en-US" sz="2400" dirty="0">
                <a:solidFill>
                  <a:srgbClr val="C00000"/>
                </a:solidFill>
              </a:rPr>
              <a:t> </a:t>
            </a:r>
            <a:r>
              <a:rPr lang="en-US" altLang="zh-CN" sz="2400" dirty="0">
                <a:solidFill>
                  <a:srgbClr val="C00000"/>
                </a:solidFill>
              </a:rPr>
              <a:t>follow</a:t>
            </a:r>
            <a:r>
              <a:rPr lang="zh-CN" altLang="en-US" sz="2400" dirty="0">
                <a:solidFill>
                  <a:srgbClr val="C00000"/>
                </a:solidFill>
              </a:rPr>
              <a:t> </a:t>
            </a:r>
            <a:r>
              <a:rPr lang="en-US" altLang="zh-CN" sz="2400" dirty="0">
                <a:solidFill>
                  <a:srgbClr val="C00000"/>
                </a:solidFill>
              </a:rPr>
              <a:t>some</a:t>
            </a:r>
            <a:r>
              <a:rPr lang="zh-CN" altLang="en-US" sz="2400" dirty="0">
                <a:solidFill>
                  <a:srgbClr val="C00000"/>
                </a:solidFill>
              </a:rPr>
              <a:t> </a:t>
            </a:r>
            <a:r>
              <a:rPr lang="en-US" altLang="zh-CN" sz="2400" dirty="0">
                <a:solidFill>
                  <a:srgbClr val="C00000"/>
                </a:solidFill>
              </a:rPr>
              <a:t>patterns.</a:t>
            </a:r>
            <a:endParaRPr lang="en-US" sz="2400" dirty="0">
              <a:solidFill>
                <a:srgbClr val="C00000"/>
              </a:solidFill>
            </a:endParaRPr>
          </a:p>
          <a:p>
            <a:r>
              <a:rPr lang="en-US" sz="2400" dirty="0"/>
              <a:t>Design a regular expression to capture phrases that include these quote-signaling words (18 out of top 50 verbs): </a:t>
            </a:r>
          </a:p>
          <a:p>
            <a:pPr lvl="1"/>
            <a:r>
              <a:rPr lang="en-US" sz="2000" i="1" dirty="0">
                <a:solidFill>
                  <a:schemeClr val="accent1"/>
                </a:solidFill>
              </a:rPr>
              <a:t>“describe”, “explain”, “say”, “tell”, “note”, “add”, “acknowledge”, “oﬀer”, “point”, “caution”, “advise”, “emphasize”, “see”, “suggest”, “comment”, “continue”, “conﬁrm”, “accord”.</a:t>
            </a:r>
          </a:p>
          <a:p>
            <a:r>
              <a:rPr lang="en-US" sz="2400" dirty="0"/>
              <a:t>If any of the 18 verbs (or their verb tenses) appears within ﬁve tokens before or after a person’s f</a:t>
            </a:r>
            <a:r>
              <a:rPr lang="en-US" altLang="zh-CN" sz="2400" dirty="0"/>
              <a:t>ull</a:t>
            </a:r>
            <a:r>
              <a:rPr lang="zh-CN" altLang="en-US" sz="2400" dirty="0"/>
              <a:t> </a:t>
            </a:r>
            <a:r>
              <a:rPr lang="en-US" altLang="zh-CN" sz="2400" dirty="0"/>
              <a:t>or</a:t>
            </a:r>
            <a:r>
              <a:rPr lang="zh-CN" altLang="en-US" sz="2400" dirty="0"/>
              <a:t> </a:t>
            </a:r>
            <a:r>
              <a:rPr lang="en-US" sz="2400" dirty="0"/>
              <a:t>last name.</a:t>
            </a:r>
          </a:p>
          <a:p>
            <a:pPr lvl="1"/>
            <a:r>
              <a:rPr lang="en-US" sz="2000" dirty="0"/>
              <a:t>E.g., “We are getting close to the truth.” </a:t>
            </a:r>
            <a:r>
              <a:rPr lang="en-US" altLang="zh-CN" sz="2000" dirty="0">
                <a:solidFill>
                  <a:srgbClr val="C00000"/>
                </a:solidFill>
              </a:rPr>
              <a:t>according</a:t>
            </a:r>
            <a:r>
              <a:rPr lang="zh-CN" altLang="en-US" sz="2000" dirty="0">
                <a:solidFill>
                  <a:srgbClr val="C00000"/>
                </a:solidFill>
              </a:rPr>
              <a:t> </a:t>
            </a:r>
            <a:r>
              <a:rPr lang="en-US" altLang="zh-CN" sz="2000" dirty="0">
                <a:solidFill>
                  <a:srgbClr val="C00000"/>
                </a:solidFill>
              </a:rPr>
              <a:t>to</a:t>
            </a:r>
            <a:r>
              <a:rPr lang="zh-CN" altLang="en-US" sz="2000" dirty="0">
                <a:solidFill>
                  <a:srgbClr val="C00000"/>
                </a:solidFill>
              </a:rPr>
              <a:t> </a:t>
            </a:r>
            <a:r>
              <a:rPr lang="en-US" altLang="zh-CN" sz="2000" dirty="0">
                <a:solidFill>
                  <a:srgbClr val="C00000"/>
                </a:solidFill>
              </a:rPr>
              <a:t>the</a:t>
            </a:r>
            <a:r>
              <a:rPr lang="zh-CN" altLang="en-US" sz="2000" dirty="0">
                <a:solidFill>
                  <a:srgbClr val="C00000"/>
                </a:solidFill>
              </a:rPr>
              <a:t> </a:t>
            </a:r>
            <a:r>
              <a:rPr lang="en-US" altLang="zh-CN" sz="2000" dirty="0">
                <a:solidFill>
                  <a:srgbClr val="C00000"/>
                </a:solidFill>
              </a:rPr>
              <a:t>chief</a:t>
            </a:r>
            <a:r>
              <a:rPr lang="zh-CN" altLang="en-US" sz="2000" dirty="0">
                <a:solidFill>
                  <a:srgbClr val="C00000"/>
                </a:solidFill>
              </a:rPr>
              <a:t> </a:t>
            </a:r>
            <a:r>
              <a:rPr lang="en-US" altLang="zh-CN" sz="2000" dirty="0">
                <a:solidFill>
                  <a:srgbClr val="C00000"/>
                </a:solidFill>
              </a:rPr>
              <a:t>executive</a:t>
            </a:r>
            <a:r>
              <a:rPr lang="zh-CN" altLang="en-US" sz="2000" dirty="0">
                <a:solidFill>
                  <a:srgbClr val="C00000"/>
                </a:solidFill>
              </a:rPr>
              <a:t> </a:t>
            </a:r>
            <a:r>
              <a:rPr lang="en-US" altLang="zh-CN" sz="2000" dirty="0">
                <a:solidFill>
                  <a:srgbClr val="C00000"/>
                </a:solidFill>
              </a:rPr>
              <a:t>John</a:t>
            </a:r>
            <a:r>
              <a:rPr lang="zh-CN" altLang="en-US" sz="2000" dirty="0">
                <a:solidFill>
                  <a:srgbClr val="C00000"/>
                </a:solidFill>
              </a:rPr>
              <a:t> </a:t>
            </a:r>
            <a:r>
              <a:rPr lang="en-US" sz="2000" dirty="0">
                <a:solidFill>
                  <a:srgbClr val="C00000"/>
                </a:solidFill>
              </a:rPr>
              <a:t>Lee</a:t>
            </a:r>
            <a:r>
              <a:rPr lang="en-US" sz="2000" dirty="0"/>
              <a:t>.</a:t>
            </a:r>
          </a:p>
          <a:p>
            <a:pPr lvl="1"/>
            <a:r>
              <a:rPr lang="en-US" altLang="zh-CN" sz="2000" dirty="0">
                <a:solidFill>
                  <a:srgbClr val="C00000"/>
                </a:solidFill>
              </a:rPr>
              <a:t>John</a:t>
            </a:r>
            <a:r>
              <a:rPr lang="zh-CN" altLang="en-US" sz="2000" dirty="0">
                <a:solidFill>
                  <a:srgbClr val="C00000"/>
                </a:solidFill>
              </a:rPr>
              <a:t> </a:t>
            </a:r>
            <a:r>
              <a:rPr lang="en-US" altLang="zh-CN" sz="2000" dirty="0">
                <a:solidFill>
                  <a:srgbClr val="C00000"/>
                </a:solidFill>
              </a:rPr>
              <a:t>Lee,</a:t>
            </a:r>
            <a:r>
              <a:rPr lang="zh-CN" altLang="en-US" sz="2000" dirty="0">
                <a:solidFill>
                  <a:srgbClr val="C00000"/>
                </a:solidFill>
              </a:rPr>
              <a:t> </a:t>
            </a:r>
            <a:r>
              <a:rPr lang="en-US" altLang="zh-CN" sz="2000" dirty="0">
                <a:solidFill>
                  <a:srgbClr val="C00000"/>
                </a:solidFill>
              </a:rPr>
              <a:t>the</a:t>
            </a:r>
            <a:r>
              <a:rPr lang="zh-CN" altLang="en-US" sz="2000" dirty="0">
                <a:solidFill>
                  <a:srgbClr val="C00000"/>
                </a:solidFill>
              </a:rPr>
              <a:t> </a:t>
            </a:r>
            <a:r>
              <a:rPr lang="en-US" altLang="zh-CN" sz="2000" dirty="0">
                <a:solidFill>
                  <a:srgbClr val="C00000"/>
                </a:solidFill>
              </a:rPr>
              <a:t>chief</a:t>
            </a:r>
            <a:r>
              <a:rPr lang="zh-CN" altLang="en-US" sz="2000" dirty="0">
                <a:solidFill>
                  <a:srgbClr val="C00000"/>
                </a:solidFill>
              </a:rPr>
              <a:t> </a:t>
            </a:r>
            <a:r>
              <a:rPr lang="en-US" altLang="zh-CN" sz="2000" dirty="0">
                <a:solidFill>
                  <a:srgbClr val="C00000"/>
                </a:solidFill>
              </a:rPr>
              <a:t>executive</a:t>
            </a:r>
            <a:r>
              <a:rPr lang="zh-CN" altLang="en-US" sz="2000" dirty="0">
                <a:solidFill>
                  <a:srgbClr val="C00000"/>
                </a:solidFill>
              </a:rPr>
              <a:t> </a:t>
            </a:r>
            <a:r>
              <a:rPr lang="en-US" altLang="zh-CN" sz="2000" dirty="0">
                <a:solidFill>
                  <a:srgbClr val="C00000"/>
                </a:solidFill>
              </a:rPr>
              <a:t>of</a:t>
            </a:r>
            <a:r>
              <a:rPr lang="zh-CN" altLang="en-US" sz="2000" dirty="0">
                <a:solidFill>
                  <a:srgbClr val="C00000"/>
                </a:solidFill>
              </a:rPr>
              <a:t> </a:t>
            </a:r>
            <a:r>
              <a:rPr lang="en-US" altLang="zh-CN" sz="2000" dirty="0">
                <a:solidFill>
                  <a:srgbClr val="C00000"/>
                </a:solidFill>
              </a:rPr>
              <a:t>HK</a:t>
            </a:r>
            <a:r>
              <a:rPr lang="zh-CN" altLang="en-US" sz="2000" dirty="0">
                <a:solidFill>
                  <a:srgbClr val="C00000"/>
                </a:solidFill>
              </a:rPr>
              <a:t> </a:t>
            </a:r>
            <a:r>
              <a:rPr lang="en-US" altLang="zh-CN" sz="2000" dirty="0">
                <a:solidFill>
                  <a:srgbClr val="C00000"/>
                </a:solidFill>
              </a:rPr>
              <a:t>says</a:t>
            </a:r>
            <a:r>
              <a:rPr lang="en-US" altLang="zh-CN" sz="2000" dirty="0"/>
              <a:t>:</a:t>
            </a:r>
            <a:r>
              <a:rPr lang="zh-CN" altLang="en-US" sz="2000" dirty="0"/>
              <a:t> </a:t>
            </a:r>
            <a:r>
              <a:rPr lang="en-US" altLang="zh-CN" sz="2000" dirty="0"/>
              <a:t>“</a:t>
            </a:r>
            <a:r>
              <a:rPr lang="en-US" altLang="zh-CN" sz="2000" dirty="0" err="1"/>
              <a:t>CityU</a:t>
            </a:r>
            <a:r>
              <a:rPr lang="en-US" altLang="zh-CN" sz="2000" dirty="0"/>
              <a:t> is awesome.”</a:t>
            </a:r>
          </a:p>
          <a:p>
            <a:r>
              <a:rPr lang="en-US" altLang="zh-CN" sz="2400" dirty="0">
                <a:highlight>
                  <a:srgbClr val="FFFF00"/>
                </a:highlight>
              </a:rPr>
              <a:t>Demo using DeepSeek to generate working code.</a:t>
            </a:r>
          </a:p>
          <a:p>
            <a:r>
              <a:rPr lang="en-US" sz="2400" dirty="0">
                <a:solidFill>
                  <a:prstClr val="black"/>
                </a:solidFill>
              </a:rPr>
              <a:t>Do LDA topic modeling on all quotes.</a:t>
            </a:r>
            <a:endParaRPr lang="en-US" altLang="zh-CN" sz="2000" dirty="0"/>
          </a:p>
        </p:txBody>
      </p:sp>
    </p:spTree>
    <p:extLst>
      <p:ext uri="{BB962C8B-B14F-4D97-AF65-F5344CB8AC3E}">
        <p14:creationId xmlns:p14="http://schemas.microsoft.com/office/powerpoint/2010/main" val="35439509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AF36C-A54F-FF5D-7EB9-602352F02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CA11D-3CD9-8634-0220-CF3428C46716}"/>
              </a:ext>
            </a:extLst>
          </p:cNvPr>
          <p:cNvSpPr>
            <a:spLocks noGrp="1"/>
          </p:cNvSpPr>
          <p:nvPr>
            <p:ph type="title"/>
          </p:nvPr>
        </p:nvSpPr>
        <p:spPr>
          <a:xfrm>
            <a:off x="255722" y="212595"/>
            <a:ext cx="8632556" cy="1325563"/>
          </a:xfrm>
        </p:spPr>
        <p:txBody>
          <a:bodyPr>
            <a:normAutofit/>
          </a:bodyPr>
          <a:lstStyle/>
          <a:p>
            <a:r>
              <a:rPr lang="en-US" sz="4000" b="0" dirty="0"/>
              <a:t>Beyond Regex: Language style matching</a:t>
            </a:r>
          </a:p>
        </p:txBody>
      </p:sp>
      <p:grpSp>
        <p:nvGrpSpPr>
          <p:cNvPr id="4" name="Group 3">
            <a:extLst>
              <a:ext uri="{FF2B5EF4-FFF2-40B4-BE49-F238E27FC236}">
                <a16:creationId xmlns:a16="http://schemas.microsoft.com/office/drawing/2014/main" id="{FEE60595-33B3-4856-7D34-BD8C25C5CE8B}"/>
              </a:ext>
            </a:extLst>
          </p:cNvPr>
          <p:cNvGrpSpPr/>
          <p:nvPr/>
        </p:nvGrpSpPr>
        <p:grpSpPr>
          <a:xfrm>
            <a:off x="519144" y="1403210"/>
            <a:ext cx="8046720" cy="1530846"/>
            <a:chOff x="519144" y="1403210"/>
            <a:chExt cx="8046720" cy="1530846"/>
          </a:xfrm>
        </p:grpSpPr>
        <p:sp>
          <p:nvSpPr>
            <p:cNvPr id="6" name="Rectangle 5">
              <a:extLst>
                <a:ext uri="{FF2B5EF4-FFF2-40B4-BE49-F238E27FC236}">
                  <a16:creationId xmlns:a16="http://schemas.microsoft.com/office/drawing/2014/main" id="{35D50E03-7FB4-B423-D775-3BA2D1A2964D}"/>
                </a:ext>
              </a:extLst>
            </p:cNvPr>
            <p:cNvSpPr/>
            <p:nvPr/>
          </p:nvSpPr>
          <p:spPr>
            <a:xfrm>
              <a:off x="519144" y="1403210"/>
              <a:ext cx="8046720" cy="1530846"/>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70DAF58-D055-36B3-E4A1-A97A8D37361E}"/>
                </a:ext>
              </a:extLst>
            </p:cNvPr>
            <p:cNvSpPr txBox="1"/>
            <p:nvPr/>
          </p:nvSpPr>
          <p:spPr>
            <a:xfrm>
              <a:off x="793464" y="1494650"/>
              <a:ext cx="7498079" cy="457200"/>
            </a:xfrm>
            <a:prstGeom prst="rect">
              <a:avLst/>
            </a:prstGeom>
            <a:noFill/>
          </p:spPr>
          <p:txBody>
            <a:bodyPr wrap="square">
              <a:spAutoFit/>
            </a:bodyPr>
            <a:lstStyle/>
            <a:p>
              <a:pPr algn="l">
                <a:defRPr sz="2000" b="1">
                  <a:solidFill>
                    <a:srgbClr val="4C72B0"/>
                  </a:solidFill>
                  <a:latin typeface="Latin Modern Sans"/>
                </a:defRPr>
              </a:pPr>
              <a:r>
                <a:rPr sz="2400" dirty="0"/>
                <a:t>Definition:</a:t>
              </a:r>
            </a:p>
          </p:txBody>
        </p:sp>
        <p:sp>
          <p:nvSpPr>
            <p:cNvPr id="8" name="TextBox 7">
              <a:extLst>
                <a:ext uri="{FF2B5EF4-FFF2-40B4-BE49-F238E27FC236}">
                  <a16:creationId xmlns:a16="http://schemas.microsoft.com/office/drawing/2014/main" id="{E9641344-9DF3-74DD-CB42-84ABF974C52A}"/>
                </a:ext>
              </a:extLst>
            </p:cNvPr>
            <p:cNvSpPr txBox="1"/>
            <p:nvPr/>
          </p:nvSpPr>
          <p:spPr>
            <a:xfrm>
              <a:off x="793464" y="1860410"/>
              <a:ext cx="7772400" cy="923330"/>
            </a:xfrm>
            <a:prstGeom prst="rect">
              <a:avLst/>
            </a:prstGeom>
            <a:noFill/>
          </p:spPr>
          <p:txBody>
            <a:bodyPr wrap="square">
              <a:spAutoFit/>
            </a:bodyPr>
            <a:lstStyle/>
            <a:p>
              <a:pPr>
                <a:defRPr sz="1800" b="0">
                  <a:solidFill>
                    <a:srgbClr val="1A1A2E"/>
                  </a:solidFill>
                  <a:latin typeface="Latin Modern Sans"/>
                </a:defRPr>
              </a:pPr>
              <a:r>
                <a:rPr lang="en-US" dirty="0"/>
                <a:t>Language Style Matching (LSM) is a metric that measures the degree two or more text samples match in their writing styles by calculating people’s similarity in the use of function words (e.g., articles, prepositions, conjunctions, and so on).</a:t>
              </a:r>
              <a:endParaRPr dirty="0"/>
            </a:p>
          </p:txBody>
        </p:sp>
      </p:grpSp>
      <p:sp>
        <p:nvSpPr>
          <p:cNvPr id="3" name="TextBox 2">
            <a:extLst>
              <a:ext uri="{FF2B5EF4-FFF2-40B4-BE49-F238E27FC236}">
                <a16:creationId xmlns:a16="http://schemas.microsoft.com/office/drawing/2014/main" id="{AA230F5B-A332-3414-D8F3-4217E6BBE787}"/>
              </a:ext>
            </a:extLst>
          </p:cNvPr>
          <p:cNvSpPr txBox="1"/>
          <p:nvPr/>
        </p:nvSpPr>
        <p:spPr>
          <a:xfrm>
            <a:off x="657128" y="3091224"/>
            <a:ext cx="8046720" cy="2803332"/>
          </a:xfrm>
          <a:prstGeom prst="rect">
            <a:avLst/>
          </a:prstGeom>
          <a:noFill/>
        </p:spPr>
        <p:txBody>
          <a:bodyPr wrap="square">
            <a:spAutoFit/>
          </a:bodyPr>
          <a:lstStyle/>
          <a:p>
            <a:pPr algn="l">
              <a:spcAft>
                <a:spcPts val="600"/>
              </a:spcAft>
              <a:defRPr sz="2400" b="0">
                <a:solidFill>
                  <a:srgbClr val="1A1A2E"/>
                </a:solidFill>
                <a:latin typeface="Latin Modern Sans"/>
              </a:defRPr>
            </a:pPr>
            <a:r>
              <a:rPr dirty="0"/>
              <a:t>- Explains why some political messages resonate more</a:t>
            </a:r>
          </a:p>
          <a:p>
            <a:pPr algn="l">
              <a:spcAft>
                <a:spcPts val="1000"/>
              </a:spcAft>
              <a:defRPr sz="2400" b="0">
                <a:solidFill>
                  <a:srgbClr val="1A1A2E"/>
                </a:solidFill>
                <a:latin typeface="Latin Modern Sans"/>
              </a:defRPr>
            </a:pPr>
            <a:r>
              <a:rPr lang="en-US" dirty="0"/>
              <a:t>- </a:t>
            </a:r>
            <a:r>
              <a:rPr dirty="0"/>
              <a:t>Predicts persuasion, negotiation outcomes, and polling shifts</a:t>
            </a:r>
          </a:p>
          <a:p>
            <a:pPr algn="l">
              <a:spcAft>
                <a:spcPts val="400"/>
              </a:spcAft>
              <a:defRPr sz="2400" b="1">
                <a:solidFill>
                  <a:srgbClr val="4C72B0"/>
                </a:solidFill>
                <a:latin typeface="Latin Modern Sans"/>
              </a:defRPr>
            </a:pPr>
            <a:r>
              <a:rPr dirty="0"/>
              <a:t>Applicable to:</a:t>
            </a:r>
          </a:p>
          <a:p>
            <a:pPr>
              <a:spcAft>
                <a:spcPts val="300"/>
              </a:spcAft>
              <a:defRPr sz="1800" b="0">
                <a:solidFill>
                  <a:srgbClr val="1A1A2E"/>
                </a:solidFill>
                <a:latin typeface="Latin Modern Sans"/>
              </a:defRPr>
            </a:pPr>
            <a:r>
              <a:rPr lang="en-US" sz="2000" dirty="0"/>
              <a:t>- Negotiation transcripts (pairwise)</a:t>
            </a:r>
          </a:p>
          <a:p>
            <a:pPr>
              <a:spcAft>
                <a:spcPts val="300"/>
              </a:spcAft>
              <a:defRPr sz="1800" b="0">
                <a:solidFill>
                  <a:srgbClr val="1A1A2E"/>
                </a:solidFill>
                <a:latin typeface="Latin Modern Sans"/>
              </a:defRPr>
            </a:pPr>
            <a:r>
              <a:rPr lang="en-US" sz="2000" dirty="0"/>
              <a:t>- Presidential debates (pairwise; interactive)</a:t>
            </a:r>
            <a:endParaRPr sz="2000" dirty="0"/>
          </a:p>
          <a:p>
            <a:pPr algn="l">
              <a:spcAft>
                <a:spcPts val="300"/>
              </a:spcAft>
              <a:defRPr sz="1800" b="0">
                <a:solidFill>
                  <a:srgbClr val="1A1A2E"/>
                </a:solidFill>
                <a:latin typeface="Latin Modern Sans"/>
              </a:defRPr>
            </a:pPr>
            <a:r>
              <a:rPr sz="2000" dirty="0"/>
              <a:t>- Reddit comment threads</a:t>
            </a:r>
            <a:r>
              <a:rPr lang="en-US" sz="2000" dirty="0"/>
              <a:t> (one to many; </a:t>
            </a:r>
            <a:r>
              <a:rPr lang="en-US" sz="2000" dirty="0">
                <a:hlinkClick r:id="rId3"/>
              </a:rPr>
              <a:t>r/changemyview</a:t>
            </a:r>
            <a:r>
              <a:rPr lang="en-US" sz="2000" dirty="0"/>
              <a:t>)</a:t>
            </a:r>
          </a:p>
          <a:p>
            <a:pPr>
              <a:spcAft>
                <a:spcPts val="300"/>
              </a:spcAft>
              <a:defRPr sz="1800" b="0">
                <a:solidFill>
                  <a:srgbClr val="1A1A2E"/>
                </a:solidFill>
                <a:latin typeface="Latin Modern Sans"/>
              </a:defRPr>
            </a:pPr>
            <a:r>
              <a:rPr lang="en-US" sz="2000" dirty="0"/>
              <a:t>- Twitter exchanges between politicians (many to many)</a:t>
            </a:r>
          </a:p>
        </p:txBody>
      </p:sp>
    </p:spTree>
    <p:extLst>
      <p:ext uri="{BB962C8B-B14F-4D97-AF65-F5344CB8AC3E}">
        <p14:creationId xmlns:p14="http://schemas.microsoft.com/office/powerpoint/2010/main" val="6334889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Theoretical Foundations</a:t>
            </a:r>
          </a:p>
        </p:txBody>
      </p:sp>
      <p:sp>
        <p:nvSpPr>
          <p:cNvPr id="3" name="TextBox 2"/>
          <p:cNvSpPr txBox="1"/>
          <p:nvPr/>
        </p:nvSpPr>
        <p:spPr>
          <a:xfrm>
            <a:off x="548639" y="1280160"/>
            <a:ext cx="8424879" cy="2805896"/>
          </a:xfrm>
          <a:prstGeom prst="rect">
            <a:avLst/>
          </a:prstGeom>
          <a:noFill/>
        </p:spPr>
        <p:txBody>
          <a:bodyPr wrap="square">
            <a:spAutoFit/>
          </a:bodyPr>
          <a:lstStyle/>
          <a:p>
            <a:pPr algn="l">
              <a:spcAft>
                <a:spcPts val="600"/>
              </a:spcAft>
              <a:defRPr sz="2400" b="1">
                <a:solidFill>
                  <a:srgbClr val="1A1A2E"/>
                </a:solidFill>
                <a:latin typeface="Latin Modern Sans"/>
              </a:defRPr>
            </a:pPr>
            <a:r>
              <a:rPr dirty="0"/>
              <a:t>LSM builds on three theories:</a:t>
            </a:r>
          </a:p>
          <a:p>
            <a:pPr algn="l">
              <a:spcAft>
                <a:spcPts val="800"/>
              </a:spcAft>
              <a:defRPr sz="1800" b="0">
                <a:solidFill>
                  <a:srgbClr val="1A1A2E"/>
                </a:solidFill>
                <a:latin typeface="Latin Modern Sans"/>
              </a:defRPr>
            </a:pPr>
            <a:r>
              <a:rPr sz="2000" dirty="0"/>
              <a:t>- </a:t>
            </a:r>
            <a:r>
              <a:rPr sz="2000" u="sng" dirty="0"/>
              <a:t>Communication Accommodation Theory</a:t>
            </a:r>
            <a:r>
              <a:rPr sz="2000" dirty="0"/>
              <a:t> (CAT): Speakers adjust their style toward or away from their interlocutor.</a:t>
            </a:r>
          </a:p>
          <a:p>
            <a:pPr algn="l">
              <a:spcAft>
                <a:spcPts val="800"/>
              </a:spcAft>
              <a:defRPr sz="1800" b="0">
                <a:solidFill>
                  <a:srgbClr val="1A1A2E"/>
                </a:solidFill>
                <a:latin typeface="Latin Modern Sans"/>
              </a:defRPr>
            </a:pPr>
            <a:r>
              <a:rPr sz="2000" dirty="0"/>
              <a:t>- </a:t>
            </a:r>
            <a:r>
              <a:rPr sz="2000" u="sng" dirty="0"/>
              <a:t>Interaction Alignment Theory</a:t>
            </a:r>
            <a:r>
              <a:rPr sz="2000" dirty="0"/>
              <a:t> (IAT): Conversation partners converge on shared linguistic representations.</a:t>
            </a:r>
          </a:p>
          <a:p>
            <a:pPr algn="l">
              <a:spcAft>
                <a:spcPts val="1200"/>
              </a:spcAft>
              <a:defRPr sz="1800" b="0">
                <a:solidFill>
                  <a:srgbClr val="1A1A2E"/>
                </a:solidFill>
                <a:latin typeface="Latin Modern Sans"/>
              </a:defRPr>
            </a:pPr>
            <a:r>
              <a:rPr sz="2000" dirty="0"/>
              <a:t>- </a:t>
            </a:r>
            <a:r>
              <a:rPr sz="2000" u="sng" dirty="0"/>
              <a:t>Processing Fluency</a:t>
            </a:r>
            <a:r>
              <a:rPr sz="2000" dirty="0"/>
              <a:t>: Matched style is easier to process, increasing favorability.</a:t>
            </a:r>
          </a:p>
          <a:p>
            <a:pPr algn="l">
              <a:spcAft>
                <a:spcPts val="400"/>
              </a:spcAft>
              <a:defRPr sz="1800" b="1">
                <a:solidFill>
                  <a:srgbClr val="4C72B0"/>
                </a:solidFill>
                <a:latin typeface="Latin Modern Sans"/>
              </a:defRPr>
            </a:pPr>
            <a:r>
              <a:rPr sz="2400" dirty="0"/>
              <a:t>Tension with status inference: Matching may signal </a:t>
            </a:r>
            <a:r>
              <a:rPr lang="en-US" sz="2400" dirty="0"/>
              <a:t>obedience</a:t>
            </a:r>
            <a:r>
              <a:rPr sz="2400"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707886"/>
          </a:xfrm>
          <a:prstGeom prst="rect">
            <a:avLst/>
          </a:prstGeom>
          <a:noFill/>
        </p:spPr>
        <p:txBody>
          <a:bodyPr wrap="square">
            <a:spAutoFit/>
          </a:bodyPr>
          <a:lstStyle/>
          <a:p>
            <a:pPr algn="l">
              <a:defRPr sz="4400" b="0">
                <a:solidFill>
                  <a:srgbClr val="1A1A2E"/>
                </a:solidFill>
                <a:latin typeface="Latin Modern Sans"/>
              </a:defRPr>
            </a:pPr>
            <a:r>
              <a:rPr lang="en-US" sz="4000" dirty="0"/>
              <a:t>8 LIWC</a:t>
            </a:r>
            <a:r>
              <a:rPr sz="4000" dirty="0"/>
              <a:t> Categories</a:t>
            </a:r>
            <a:r>
              <a:rPr lang="en-US" sz="4000" dirty="0"/>
              <a:t> for Measuring LSM</a:t>
            </a:r>
            <a:endParaRPr sz="4000" dirty="0"/>
          </a:p>
        </p:txBody>
      </p:sp>
      <p:pic>
        <p:nvPicPr>
          <p:cNvPr id="35" name="Picture 34" descr="A table with text and numbers&#10;&#10;AI-generated content may be incorrect.">
            <a:extLst>
              <a:ext uri="{FF2B5EF4-FFF2-40B4-BE49-F238E27FC236}">
                <a16:creationId xmlns:a16="http://schemas.microsoft.com/office/drawing/2014/main" id="{ECDCBB89-0AEA-06BC-BE1D-E02F287CA8CF}"/>
              </a:ext>
            </a:extLst>
          </p:cNvPr>
          <p:cNvPicPr>
            <a:picLocks noChangeAspect="1"/>
          </p:cNvPicPr>
          <p:nvPr/>
        </p:nvPicPr>
        <p:blipFill>
          <a:blip r:embed="rId2"/>
          <a:stretch>
            <a:fillRect/>
          </a:stretch>
        </p:blipFill>
        <p:spPr>
          <a:xfrm>
            <a:off x="462440" y="1501682"/>
            <a:ext cx="6087982" cy="3332521"/>
          </a:xfrm>
          <a:prstGeom prst="rect">
            <a:avLst/>
          </a:prstGeom>
        </p:spPr>
      </p:pic>
      <p:pic>
        <p:nvPicPr>
          <p:cNvPr id="4" name="Picture 3" descr="A table of text with black text&#10;&#10;AI-generated content may be incorrect.">
            <a:extLst>
              <a:ext uri="{FF2B5EF4-FFF2-40B4-BE49-F238E27FC236}">
                <a16:creationId xmlns:a16="http://schemas.microsoft.com/office/drawing/2014/main" id="{55C34FC2-96A0-DAAF-FC6A-88EBD80E4F2E}"/>
              </a:ext>
            </a:extLst>
          </p:cNvPr>
          <p:cNvPicPr>
            <a:picLocks noChangeAspect="1"/>
          </p:cNvPicPr>
          <p:nvPr/>
        </p:nvPicPr>
        <p:blipFill>
          <a:blip r:embed="rId3"/>
          <a:stretch>
            <a:fillRect/>
          </a:stretch>
        </p:blipFill>
        <p:spPr>
          <a:xfrm>
            <a:off x="5935780" y="3580108"/>
            <a:ext cx="2941362" cy="2817592"/>
          </a:xfrm>
          <a:prstGeom prst="rect">
            <a:avLst/>
          </a:prstGeom>
        </p:spPr>
      </p:pic>
      <p:sp>
        <p:nvSpPr>
          <p:cNvPr id="6" name="TextBox 5">
            <a:extLst>
              <a:ext uri="{FF2B5EF4-FFF2-40B4-BE49-F238E27FC236}">
                <a16:creationId xmlns:a16="http://schemas.microsoft.com/office/drawing/2014/main" id="{AD767DD4-010B-1279-8959-2753CF9BC52A}"/>
              </a:ext>
            </a:extLst>
          </p:cNvPr>
          <p:cNvSpPr txBox="1"/>
          <p:nvPr/>
        </p:nvSpPr>
        <p:spPr>
          <a:xfrm>
            <a:off x="548640" y="1043761"/>
            <a:ext cx="4679743" cy="369332"/>
          </a:xfrm>
          <a:prstGeom prst="rect">
            <a:avLst/>
          </a:prstGeom>
          <a:noFill/>
        </p:spPr>
        <p:txBody>
          <a:bodyPr wrap="none" rtlCol="0">
            <a:spAutoFit/>
          </a:bodyPr>
          <a:lstStyle/>
          <a:p>
            <a:r>
              <a:rPr lang="en-US" b="1" dirty="0">
                <a:solidFill>
                  <a:srgbClr val="0078B9"/>
                </a:solidFill>
              </a:rPr>
              <a:t>Function words, not content words, carry style.</a:t>
            </a:r>
          </a:p>
        </p:txBody>
      </p:sp>
      <p:sp>
        <p:nvSpPr>
          <p:cNvPr id="8" name="TextBox 7">
            <a:extLst>
              <a:ext uri="{FF2B5EF4-FFF2-40B4-BE49-F238E27FC236}">
                <a16:creationId xmlns:a16="http://schemas.microsoft.com/office/drawing/2014/main" id="{B09BE82D-078B-76F6-614B-D164D63472A3}"/>
              </a:ext>
            </a:extLst>
          </p:cNvPr>
          <p:cNvSpPr txBox="1"/>
          <p:nvPr/>
        </p:nvSpPr>
        <p:spPr>
          <a:xfrm>
            <a:off x="733804" y="5629573"/>
            <a:ext cx="4572000" cy="1200329"/>
          </a:xfrm>
          <a:prstGeom prst="rect">
            <a:avLst/>
          </a:prstGeom>
          <a:noFill/>
        </p:spPr>
        <p:txBody>
          <a:bodyPr wrap="square">
            <a:spAutoFit/>
          </a:bodyPr>
          <a:lstStyle/>
          <a:p>
            <a:r>
              <a:rPr lang="en-US" dirty="0">
                <a:hlinkClick r:id="rId4"/>
              </a:rPr>
              <a:t>https://www.liwc.app/</a:t>
            </a:r>
            <a:endParaRPr lang="en-US" dirty="0"/>
          </a:p>
          <a:p>
            <a:r>
              <a:rPr lang="en-US" dirty="0">
                <a:hlinkClick r:id="rId5"/>
              </a:rPr>
              <a:t>https://www.liwc.app/help/lsm</a:t>
            </a:r>
            <a:endParaRPr lang="en-US" dirty="0"/>
          </a:p>
          <a:p>
            <a:endParaRPr lang="en-US" dirty="0"/>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769441"/>
          </a:xfrm>
          <a:prstGeom prst="rect">
            <a:avLst/>
          </a:prstGeom>
          <a:noFill/>
        </p:spPr>
        <p:txBody>
          <a:bodyPr wrap="square">
            <a:spAutoFit/>
          </a:bodyPr>
          <a:lstStyle/>
          <a:p>
            <a:pPr algn="l">
              <a:defRPr sz="4400" b="0">
                <a:solidFill>
                  <a:srgbClr val="1A1A2E"/>
                </a:solidFill>
                <a:latin typeface="Latin Modern Sans"/>
              </a:defRPr>
            </a:pPr>
            <a:r>
              <a:rPr dirty="0"/>
              <a:t>LSM Formula</a:t>
            </a:r>
          </a:p>
        </p:txBody>
      </p:sp>
      <p:sp>
        <p:nvSpPr>
          <p:cNvPr id="6" name="TextBox 5">
            <a:extLst>
              <a:ext uri="{FF2B5EF4-FFF2-40B4-BE49-F238E27FC236}">
                <a16:creationId xmlns:a16="http://schemas.microsoft.com/office/drawing/2014/main" id="{F374E5BB-10E2-F211-D5F0-2FD6BE923967}"/>
              </a:ext>
            </a:extLst>
          </p:cNvPr>
          <p:cNvSpPr txBox="1"/>
          <p:nvPr/>
        </p:nvSpPr>
        <p:spPr>
          <a:xfrm>
            <a:off x="648656" y="2671227"/>
            <a:ext cx="8046720" cy="3647152"/>
          </a:xfrm>
          <a:prstGeom prst="rect">
            <a:avLst/>
          </a:prstGeom>
          <a:noFill/>
        </p:spPr>
        <p:txBody>
          <a:bodyPr wrap="square">
            <a:spAutoFit/>
          </a:bodyPr>
          <a:lstStyle/>
          <a:p>
            <a:pPr>
              <a:defRPr sz="2400" b="1">
                <a:solidFill>
                  <a:srgbClr val="4C72B0"/>
                </a:solidFill>
                <a:latin typeface="Latin Modern Sans"/>
              </a:defRPr>
            </a:pPr>
            <a:r>
              <a:rPr lang="en-US" dirty="0"/>
              <a:t>Where:</a:t>
            </a:r>
            <a:endParaRPr dirty="0"/>
          </a:p>
          <a:p>
            <a:pPr algn="l">
              <a:spcAft>
                <a:spcPts val="400"/>
              </a:spcAft>
              <a:defRPr sz="1800" b="0">
                <a:solidFill>
                  <a:srgbClr val="1A1A2E"/>
                </a:solidFill>
                <a:latin typeface="Latin Modern Sans"/>
              </a:defRPr>
            </a:pPr>
            <a:r>
              <a:rPr lang="en-US" sz="2000" dirty="0"/>
              <a:t>- c</a:t>
            </a:r>
            <a:r>
              <a:rPr lang="en-US" sz="2000" baseline="-25000" dirty="0"/>
              <a:t>1</a:t>
            </a:r>
            <a:r>
              <a:rPr lang="en-US" sz="2000" dirty="0"/>
              <a:t> = proportion of category c words used by speaker 1</a:t>
            </a:r>
          </a:p>
          <a:p>
            <a:pPr algn="l">
              <a:spcAft>
                <a:spcPts val="400"/>
              </a:spcAft>
              <a:defRPr sz="1800" b="0">
                <a:solidFill>
                  <a:srgbClr val="1A1A2E"/>
                </a:solidFill>
                <a:latin typeface="Latin Modern Sans"/>
              </a:defRPr>
            </a:pPr>
            <a:r>
              <a:rPr lang="en-US" sz="2000" dirty="0"/>
              <a:t>- c</a:t>
            </a:r>
            <a:r>
              <a:rPr lang="en-US" sz="2000" baseline="-25000" dirty="0"/>
              <a:t>2</a:t>
            </a:r>
            <a:r>
              <a:rPr lang="en-US" sz="2000" dirty="0"/>
              <a:t> = proportion of category c words used by speaker 2</a:t>
            </a:r>
          </a:p>
          <a:p>
            <a:pPr algn="l">
              <a:spcAft>
                <a:spcPts val="400"/>
              </a:spcAft>
              <a:defRPr sz="1800" b="0">
                <a:solidFill>
                  <a:srgbClr val="1A1A2E"/>
                </a:solidFill>
                <a:latin typeface="Latin Modern Sans"/>
              </a:defRPr>
            </a:pPr>
            <a:r>
              <a:rPr lang="en-US" sz="2000" dirty="0"/>
              <a:t>- eps = small constant to avoid division by zero; e.g., 0.0001</a:t>
            </a:r>
          </a:p>
          <a:p>
            <a:pPr algn="l">
              <a:spcAft>
                <a:spcPts val="400"/>
              </a:spcAft>
              <a:defRPr sz="1800" b="0">
                <a:solidFill>
                  <a:srgbClr val="1A1A2E"/>
                </a:solidFill>
                <a:latin typeface="Latin Modern Sans"/>
              </a:defRPr>
            </a:pPr>
            <a:r>
              <a:rPr lang="en-US" sz="2000" dirty="0"/>
              <a:t>- The overall LSM is the mean of the 8 category-level scores.</a:t>
            </a:r>
          </a:p>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4C72B0"/>
                </a:solidFill>
                <a:latin typeface="Latin Modern Sans"/>
              </a:defRPr>
            </a:pPr>
            <a:r>
              <a:rPr kumimoji="0" lang="en-US" sz="2400" b="1" i="0" u="none" strike="noStrike" kern="1200" cap="none" spc="0" normalizeH="0" baseline="0" noProof="0" dirty="0">
                <a:ln>
                  <a:noFill/>
                </a:ln>
                <a:solidFill>
                  <a:srgbClr val="4C72B0"/>
                </a:solidFill>
                <a:effectLst/>
                <a:uLnTx/>
                <a:uFillTx/>
                <a:latin typeface="Latin Modern Sans"/>
                <a:ea typeface="+mn-ea"/>
                <a:cs typeface="+mn-cs"/>
              </a:rPr>
              <a:t>Range: 0 (no matching) to 1 (perfect matching)</a:t>
            </a:r>
          </a:p>
          <a:p>
            <a:pPr>
              <a:spcAft>
                <a:spcPts val="600"/>
              </a:spcAft>
              <a:defRPr sz="2400" b="1">
                <a:solidFill>
                  <a:srgbClr val="4C72B0"/>
                </a:solidFill>
                <a:latin typeface="Latin Modern Sans"/>
              </a:defRPr>
            </a:pPr>
            <a:r>
              <a:rPr lang="en-US" dirty="0">
                <a:solidFill>
                  <a:srgbClr val="C00000"/>
                </a:solidFill>
              </a:rPr>
              <a:t>Interpretation:</a:t>
            </a:r>
            <a:endParaRPr lang="en-US" dirty="0"/>
          </a:p>
          <a:p>
            <a:pPr>
              <a:spcAft>
                <a:spcPts val="400"/>
              </a:spcAft>
              <a:defRPr sz="1800" b="0">
                <a:solidFill>
                  <a:srgbClr val="1A1A2E"/>
                </a:solidFill>
                <a:latin typeface="Latin Modern Sans"/>
              </a:defRPr>
            </a:pPr>
            <a:r>
              <a:rPr lang="en-US" dirty="0"/>
              <a:t>- LSM &gt; 0.85 = high matching</a:t>
            </a:r>
          </a:p>
          <a:p>
            <a:pPr>
              <a:spcAft>
                <a:spcPts val="400"/>
              </a:spcAft>
              <a:defRPr sz="1800" b="0">
                <a:solidFill>
                  <a:srgbClr val="1A1A2E"/>
                </a:solidFill>
                <a:latin typeface="Latin Modern Sans"/>
              </a:defRPr>
            </a:pPr>
            <a:r>
              <a:rPr lang="en-US" dirty="0"/>
              <a:t>- LSM 0.70 - 0.85 = moderate</a:t>
            </a:r>
          </a:p>
          <a:p>
            <a:pPr>
              <a:spcAft>
                <a:spcPts val="1000"/>
              </a:spcAft>
              <a:defRPr sz="1800" b="0">
                <a:solidFill>
                  <a:srgbClr val="1A1A2E"/>
                </a:solidFill>
                <a:latin typeface="Latin Modern Sans"/>
              </a:defRPr>
            </a:pPr>
            <a:r>
              <a:rPr lang="en-US" dirty="0"/>
              <a:t>- LSM &lt; 0.70 = low matching</a:t>
            </a:r>
          </a:p>
        </p:txBody>
      </p:sp>
      <p:pic>
        <p:nvPicPr>
          <p:cNvPr id="1026" name="Picture 2">
            <a:extLst>
              <a:ext uri="{FF2B5EF4-FFF2-40B4-BE49-F238E27FC236}">
                <a16:creationId xmlns:a16="http://schemas.microsoft.com/office/drawing/2014/main" id="{E40994D4-D207-2EBC-F426-B14C16DA5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7" y="1157288"/>
            <a:ext cx="5600700" cy="1513939"/>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Computing LSM Step by Step</a:t>
            </a:r>
          </a:p>
        </p:txBody>
      </p:sp>
      <p:sp>
        <p:nvSpPr>
          <p:cNvPr id="3" name="TextBox 2"/>
          <p:cNvSpPr txBox="1"/>
          <p:nvPr/>
        </p:nvSpPr>
        <p:spPr>
          <a:xfrm>
            <a:off x="610632" y="1528133"/>
            <a:ext cx="8046720" cy="2949525"/>
          </a:xfrm>
          <a:prstGeom prst="rect">
            <a:avLst/>
          </a:prstGeom>
          <a:noFill/>
        </p:spPr>
        <p:txBody>
          <a:bodyPr wrap="square">
            <a:spAutoFit/>
          </a:bodyPr>
          <a:lstStyle/>
          <a:p>
            <a:pPr algn="l">
              <a:spcAft>
                <a:spcPts val="1000"/>
              </a:spcAft>
              <a:defRPr sz="2000" b="0">
                <a:solidFill>
                  <a:srgbClr val="1A1A2E"/>
                </a:solidFill>
                <a:latin typeface="Latin Modern Sans"/>
              </a:defRPr>
            </a:pPr>
            <a:r>
              <a:rPr sz="2400" dirty="0"/>
              <a:t>Step 1: Split each speaker's text into tokens</a:t>
            </a:r>
          </a:p>
          <a:p>
            <a:pPr algn="l">
              <a:spcAft>
                <a:spcPts val="1000"/>
              </a:spcAft>
              <a:defRPr sz="2000" b="0">
                <a:solidFill>
                  <a:srgbClr val="1A1A2E"/>
                </a:solidFill>
                <a:latin typeface="Latin Modern Sans"/>
              </a:defRPr>
            </a:pPr>
            <a:r>
              <a:rPr sz="2400" dirty="0"/>
              <a:t>Step 2: Count words per LIWC category</a:t>
            </a:r>
          </a:p>
          <a:p>
            <a:pPr algn="l">
              <a:spcAft>
                <a:spcPts val="1000"/>
              </a:spcAft>
              <a:defRPr sz="2000" b="0">
                <a:solidFill>
                  <a:srgbClr val="1A1A2E"/>
                </a:solidFill>
                <a:latin typeface="Latin Modern Sans"/>
              </a:defRPr>
            </a:pPr>
            <a:r>
              <a:rPr sz="2400" dirty="0"/>
              <a:t>Step 3: Convert counts to proportions</a:t>
            </a:r>
          </a:p>
          <a:p>
            <a:pPr algn="l">
              <a:spcAft>
                <a:spcPts val="1000"/>
              </a:spcAft>
              <a:defRPr sz="2000" b="0">
                <a:solidFill>
                  <a:srgbClr val="1A1A2E"/>
                </a:solidFill>
                <a:latin typeface="Latin Modern Sans"/>
              </a:defRPr>
            </a:pPr>
            <a:r>
              <a:rPr sz="2400" dirty="0"/>
              <a:t>Step 4: Compute category-level LSM</a:t>
            </a:r>
          </a:p>
          <a:p>
            <a:pPr algn="l">
              <a:spcAft>
                <a:spcPts val="1000"/>
              </a:spcAft>
              <a:defRPr sz="2000" b="0">
                <a:solidFill>
                  <a:srgbClr val="1A1A2E"/>
                </a:solidFill>
                <a:latin typeface="Latin Modern Sans"/>
              </a:defRPr>
            </a:pPr>
            <a:r>
              <a:rPr sz="2400" dirty="0"/>
              <a:t>Step 5: Average across the nine categories</a:t>
            </a:r>
          </a:p>
          <a:p>
            <a:pPr algn="l">
              <a:spcAft>
                <a:spcPts val="400"/>
              </a:spcAft>
              <a:defRPr sz="2000" b="1">
                <a:solidFill>
                  <a:srgbClr val="4C72B0"/>
                </a:solidFill>
                <a:latin typeface="Latin Modern Sans"/>
              </a:defRPr>
            </a:pPr>
            <a:r>
              <a:rPr sz="2400" dirty="0"/>
              <a:t>Result: A single LSM score for the exchange.</a:t>
            </a:r>
          </a:p>
        </p:txBody>
      </p:sp>
      <p:sp>
        <p:nvSpPr>
          <p:cNvPr id="4" name="TextBox 3">
            <a:extLst>
              <a:ext uri="{FF2B5EF4-FFF2-40B4-BE49-F238E27FC236}">
                <a16:creationId xmlns:a16="http://schemas.microsoft.com/office/drawing/2014/main" id="{C79DAB7A-4CFA-B252-4FE7-EA975CFD89D5}"/>
              </a:ext>
            </a:extLst>
          </p:cNvPr>
          <p:cNvSpPr txBox="1"/>
          <p:nvPr/>
        </p:nvSpPr>
        <p:spPr>
          <a:xfrm>
            <a:off x="741786" y="4908511"/>
            <a:ext cx="7171259" cy="461665"/>
          </a:xfrm>
          <a:prstGeom prst="rect">
            <a:avLst/>
          </a:prstGeom>
          <a:noFill/>
          <a:ln w="25400">
            <a:solidFill>
              <a:schemeClr val="tx1"/>
            </a:solidFill>
          </a:ln>
        </p:spPr>
        <p:txBody>
          <a:bodyPr wrap="none" rtlCol="0">
            <a:spAutoFit/>
          </a:bodyPr>
          <a:lstStyle/>
          <a:p>
            <a:r>
              <a:rPr lang="en-US" sz="2400" dirty="0">
                <a:solidFill>
                  <a:srgbClr val="C00000"/>
                </a:solidFill>
              </a:rPr>
              <a:t>Shall we do text pre-processing like remove </a:t>
            </a:r>
            <a:r>
              <a:rPr lang="en-US" sz="2400" dirty="0" err="1">
                <a:solidFill>
                  <a:srgbClr val="C00000"/>
                </a:solidFill>
              </a:rPr>
              <a:t>stopwords</a:t>
            </a:r>
            <a:r>
              <a:rPr lang="en-US" sz="2400" dirty="0">
                <a:solidFill>
                  <a:srgbClr val="C00000"/>
                </a:solidFill>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48640" y="2468880"/>
            <a:ext cx="8046720" cy="461665"/>
          </a:xfrm>
          <a:prstGeom prst="rect">
            <a:avLst/>
          </a:prstGeom>
          <a:noFill/>
        </p:spPr>
        <p:txBody>
          <a:bodyPr wrap="square">
            <a:spAutoFit/>
          </a:bodyPr>
          <a:lstStyle/>
          <a:p>
            <a:pPr algn="l">
              <a:defRPr sz="1800" b="1">
                <a:solidFill>
                  <a:srgbClr val="4C72B0"/>
                </a:solidFill>
                <a:latin typeface="Latin Modern Sans"/>
              </a:defRPr>
            </a:pPr>
            <a:r>
              <a:rPr sz="2400" dirty="0"/>
              <a:t>Personal pronouns </a:t>
            </a:r>
            <a:r>
              <a:rPr lang="en-US" sz="2400" dirty="0"/>
              <a:t>category </a:t>
            </a:r>
            <a:r>
              <a:rPr sz="2400" dirty="0"/>
              <a:t>(I, we</a:t>
            </a:r>
            <a:r>
              <a:rPr lang="en-US" sz="2400" dirty="0"/>
              <a:t>, our</a:t>
            </a:r>
            <a:r>
              <a:rPr sz="2400" dirty="0"/>
              <a:t>):</a:t>
            </a:r>
          </a:p>
        </p:txBody>
      </p:sp>
      <p:sp>
        <p:nvSpPr>
          <p:cNvPr id="2" name="TextBox 1"/>
          <p:cNvSpPr txBox="1"/>
          <p:nvPr/>
        </p:nvSpPr>
        <p:spPr>
          <a:xfrm>
            <a:off x="548640" y="274320"/>
            <a:ext cx="8046720" cy="769441"/>
          </a:xfrm>
          <a:prstGeom prst="rect">
            <a:avLst/>
          </a:prstGeom>
          <a:noFill/>
        </p:spPr>
        <p:txBody>
          <a:bodyPr wrap="square">
            <a:spAutoFit/>
          </a:bodyPr>
          <a:lstStyle/>
          <a:p>
            <a:pPr algn="l">
              <a:defRPr sz="4400" b="0">
                <a:solidFill>
                  <a:srgbClr val="1A1A2E"/>
                </a:solidFill>
                <a:latin typeface="Latin Modern Sans"/>
              </a:defRPr>
            </a:pPr>
            <a:r>
              <a:rPr dirty="0"/>
              <a:t>Example - Simplified LSM</a:t>
            </a:r>
          </a:p>
        </p:txBody>
      </p:sp>
      <p:sp>
        <p:nvSpPr>
          <p:cNvPr id="3" name="Rectangle 2"/>
          <p:cNvSpPr/>
          <p:nvPr/>
        </p:nvSpPr>
        <p:spPr>
          <a:xfrm>
            <a:off x="591504" y="1125856"/>
            <a:ext cx="8046720" cy="118872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dirty="0">
                <a:solidFill>
                  <a:schemeClr val="tx1"/>
                </a:solidFill>
              </a:rPr>
              <a:t>Speaker A:  "I think our plan is good, we can do it."</a:t>
            </a:r>
            <a:br>
              <a:rPr lang="en-US" sz="2000" dirty="0">
                <a:solidFill>
                  <a:schemeClr val="tx1"/>
                </a:solidFill>
              </a:rPr>
            </a:br>
            <a:r>
              <a:rPr lang="en-US" sz="2000" dirty="0">
                <a:solidFill>
                  <a:schemeClr val="tx1"/>
                </a:solidFill>
              </a:rPr>
              <a:t>Speaker B:  "I agree, and we should act now."</a:t>
            </a:r>
          </a:p>
        </p:txBody>
      </p:sp>
      <p:sp>
        <p:nvSpPr>
          <p:cNvPr id="8" name="TextBox 7">
            <a:extLst>
              <a:ext uri="{FF2B5EF4-FFF2-40B4-BE49-F238E27FC236}">
                <a16:creationId xmlns:a16="http://schemas.microsoft.com/office/drawing/2014/main" id="{5CC8FC80-3D6A-9C44-2E95-350427EFF4A7}"/>
              </a:ext>
            </a:extLst>
          </p:cNvPr>
          <p:cNvSpPr txBox="1"/>
          <p:nvPr/>
        </p:nvSpPr>
        <p:spPr>
          <a:xfrm>
            <a:off x="814388" y="3214688"/>
            <a:ext cx="5028941" cy="1477328"/>
          </a:xfrm>
          <a:prstGeom prst="rect">
            <a:avLst/>
          </a:prstGeom>
          <a:noFill/>
        </p:spPr>
        <p:txBody>
          <a:bodyPr wrap="none" rtlCol="0">
            <a:spAutoFit/>
          </a:bodyPr>
          <a:lstStyle/>
          <a:p>
            <a:r>
              <a:rPr lang="en-US" dirty="0"/>
              <a:t>- A:  3 / 10  =  0.30</a:t>
            </a:r>
          </a:p>
          <a:p>
            <a:r>
              <a:rPr lang="en-US" dirty="0"/>
              <a:t>- B:  2 / 7  =  0.29</a:t>
            </a:r>
          </a:p>
          <a:p>
            <a:endParaRPr lang="en-US" dirty="0"/>
          </a:p>
          <a:p>
            <a:r>
              <a:rPr lang="en-US" b="1" dirty="0" err="1">
                <a:solidFill>
                  <a:srgbClr val="0078B9"/>
                </a:solidFill>
              </a:rPr>
              <a:t>LSMc</a:t>
            </a:r>
            <a:r>
              <a:rPr lang="en-US" b="1" dirty="0">
                <a:solidFill>
                  <a:srgbClr val="0078B9"/>
                </a:solidFill>
              </a:rPr>
              <a:t>  =  1 - ( |0.30 - 0.29| / (0.30 + 0.29) )  =  0.983</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046720" cy="822960"/>
          </a:xfrm>
          <a:prstGeom prst="rect">
            <a:avLst/>
          </a:prstGeom>
          <a:noFill/>
        </p:spPr>
        <p:txBody>
          <a:bodyPr wrap="square">
            <a:spAutoFit/>
          </a:bodyPr>
          <a:lstStyle/>
          <a:p>
            <a:pPr algn="l">
              <a:defRPr sz="4400" b="0">
                <a:solidFill>
                  <a:srgbClr val="1A1A2E"/>
                </a:solidFill>
                <a:latin typeface="Latin Modern Sans"/>
              </a:defRPr>
            </a:pPr>
            <a:r>
              <a:t>Applying LSM to Social Media</a:t>
            </a:r>
          </a:p>
        </p:txBody>
      </p:sp>
      <p:sp>
        <p:nvSpPr>
          <p:cNvPr id="3" name="TextBox 2"/>
          <p:cNvSpPr txBox="1"/>
          <p:nvPr/>
        </p:nvSpPr>
        <p:spPr>
          <a:xfrm>
            <a:off x="548640" y="1280160"/>
            <a:ext cx="8046720" cy="2000548"/>
          </a:xfrm>
          <a:prstGeom prst="rect">
            <a:avLst/>
          </a:prstGeom>
          <a:noFill/>
        </p:spPr>
        <p:txBody>
          <a:bodyPr wrap="square">
            <a:spAutoFit/>
          </a:bodyPr>
          <a:lstStyle/>
          <a:p>
            <a:pPr algn="l">
              <a:spcAft>
                <a:spcPts val="600"/>
              </a:spcAft>
              <a:defRPr sz="2400" b="1">
                <a:solidFill>
                  <a:srgbClr val="4C72B0"/>
                </a:solidFill>
                <a:latin typeface="Latin Modern Sans"/>
              </a:defRPr>
            </a:pPr>
            <a:r>
              <a:rPr dirty="0"/>
              <a:t>Research ideas:</a:t>
            </a:r>
          </a:p>
          <a:p>
            <a:pPr algn="l">
              <a:spcAft>
                <a:spcPts val="600"/>
              </a:spcAft>
              <a:defRPr sz="1800" b="0">
                <a:solidFill>
                  <a:srgbClr val="1A1A2E"/>
                </a:solidFill>
                <a:latin typeface="Latin Modern Sans"/>
              </a:defRPr>
            </a:pPr>
            <a:r>
              <a:rPr sz="2000" dirty="0"/>
              <a:t>- Twitter debates: LSM between candidate replies</a:t>
            </a:r>
          </a:p>
          <a:p>
            <a:pPr algn="l">
              <a:spcAft>
                <a:spcPts val="600"/>
              </a:spcAft>
              <a:defRPr sz="1800" b="0">
                <a:solidFill>
                  <a:srgbClr val="1A1A2E"/>
                </a:solidFill>
                <a:latin typeface="Latin Modern Sans"/>
              </a:defRPr>
            </a:pPr>
            <a:r>
              <a:rPr sz="2000" dirty="0"/>
              <a:t>- </a:t>
            </a:r>
            <a:r>
              <a:rPr lang="en-US" sz="2000" dirty="0"/>
              <a:t>Q&amp;A sites</a:t>
            </a:r>
            <a:r>
              <a:rPr sz="2000" dirty="0"/>
              <a:t>: LSM between </a:t>
            </a:r>
            <a:r>
              <a:rPr lang="en-US" sz="2000" dirty="0"/>
              <a:t>askers </a:t>
            </a:r>
            <a:r>
              <a:rPr sz="2000" dirty="0"/>
              <a:t>and top</a:t>
            </a:r>
            <a:r>
              <a:rPr lang="en-US" sz="2000" dirty="0"/>
              <a:t> answers (picked)</a:t>
            </a:r>
            <a:endParaRPr sz="2000" dirty="0"/>
          </a:p>
          <a:p>
            <a:pPr algn="l">
              <a:spcAft>
                <a:spcPts val="600"/>
              </a:spcAft>
              <a:defRPr sz="1800" b="0">
                <a:solidFill>
                  <a:srgbClr val="1A1A2E"/>
                </a:solidFill>
                <a:latin typeface="Latin Modern Sans"/>
              </a:defRPr>
            </a:pPr>
            <a:r>
              <a:rPr sz="2000" dirty="0"/>
              <a:t>- Customer service: LSM between agent and customer messages</a:t>
            </a:r>
          </a:p>
          <a:p>
            <a:pPr algn="l">
              <a:spcAft>
                <a:spcPts val="600"/>
              </a:spcAft>
              <a:defRPr sz="1800" b="0">
                <a:solidFill>
                  <a:srgbClr val="1A1A2E"/>
                </a:solidFill>
                <a:latin typeface="Latin Modern Sans"/>
              </a:defRPr>
            </a:pPr>
            <a:r>
              <a:rPr sz="2000" dirty="0"/>
              <a:t>- Online communities: LSM within subreddit </a:t>
            </a:r>
            <a:r>
              <a:rPr lang="en-US" sz="2000" dirty="0"/>
              <a:t>posts / threads</a:t>
            </a:r>
            <a:r>
              <a:rPr sz="2000" dirty="0"/>
              <a:t> over time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C72DF-DC63-09E5-E4F2-3E26D56E30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34E13E-CC94-67A6-B93F-F4ECF1DFBB74}"/>
              </a:ext>
            </a:extLst>
          </p:cNvPr>
          <p:cNvSpPr txBox="1"/>
          <p:nvPr/>
        </p:nvSpPr>
        <p:spPr>
          <a:xfrm>
            <a:off x="548640" y="274320"/>
            <a:ext cx="8046720" cy="769441"/>
          </a:xfrm>
          <a:prstGeom prst="rect">
            <a:avLst/>
          </a:prstGeom>
          <a:noFill/>
        </p:spPr>
        <p:txBody>
          <a:bodyPr wrap="square">
            <a:spAutoFit/>
          </a:bodyPr>
          <a:lstStyle/>
          <a:p>
            <a:pPr algn="l">
              <a:defRPr sz="4400" b="0">
                <a:solidFill>
                  <a:srgbClr val="1A1A2E"/>
                </a:solidFill>
                <a:latin typeface="Latin Modern Sans"/>
              </a:defRPr>
            </a:pPr>
            <a:r>
              <a:rPr dirty="0"/>
              <a:t>LSM</a:t>
            </a:r>
            <a:r>
              <a:rPr lang="en-US" dirty="0"/>
              <a:t> variations</a:t>
            </a:r>
            <a:endParaRPr dirty="0"/>
          </a:p>
        </p:txBody>
      </p:sp>
      <p:sp>
        <p:nvSpPr>
          <p:cNvPr id="6" name="TextBox 5">
            <a:extLst>
              <a:ext uri="{FF2B5EF4-FFF2-40B4-BE49-F238E27FC236}">
                <a16:creationId xmlns:a16="http://schemas.microsoft.com/office/drawing/2014/main" id="{F22C8322-A286-84BE-EADA-9F4D4684CEE9}"/>
              </a:ext>
            </a:extLst>
          </p:cNvPr>
          <p:cNvSpPr txBox="1"/>
          <p:nvPr/>
        </p:nvSpPr>
        <p:spPr>
          <a:xfrm>
            <a:off x="731520" y="1188720"/>
            <a:ext cx="7680960" cy="707886"/>
          </a:xfrm>
          <a:prstGeom prst="rect">
            <a:avLst/>
          </a:prstGeom>
          <a:noFill/>
        </p:spPr>
        <p:txBody>
          <a:bodyPr wrap="square">
            <a:spAutoFit/>
          </a:bodyPr>
          <a:lstStyle/>
          <a:p>
            <a:pPr marL="174625" indent="-174625">
              <a:spcAft>
                <a:spcPts val="600"/>
              </a:spcAft>
              <a:buFont typeface="Arial" panose="020B0604020202020204" pitchFamily="34" charset="0"/>
              <a:buChar char="•"/>
              <a:defRPr sz="1600" b="0">
                <a:solidFill>
                  <a:srgbClr val="1A1A2E"/>
                </a:solidFill>
                <a:latin typeface="Latin Modern Sans"/>
              </a:defRPr>
            </a:pPr>
            <a:r>
              <a:rPr lang="en-US" sz="2000" b="1" dirty="0">
                <a:solidFill>
                  <a:srgbClr val="0078B9"/>
                </a:solidFill>
              </a:rPr>
              <a:t>Data</a:t>
            </a:r>
            <a:r>
              <a:rPr lang="en-US" sz="2000" dirty="0"/>
              <a:t>: All transcribed U.S. presidential debates between 1976 and 2012 and third-party evaluations (i.e., subsequent poll ratings).</a:t>
            </a:r>
          </a:p>
        </p:txBody>
      </p:sp>
      <p:sp>
        <p:nvSpPr>
          <p:cNvPr id="8" name="TextBox 7">
            <a:extLst>
              <a:ext uri="{FF2B5EF4-FFF2-40B4-BE49-F238E27FC236}">
                <a16:creationId xmlns:a16="http://schemas.microsoft.com/office/drawing/2014/main" id="{6297D74E-BFFA-31DF-E18A-D31E763BFB74}"/>
              </a:ext>
            </a:extLst>
          </p:cNvPr>
          <p:cNvSpPr txBox="1"/>
          <p:nvPr/>
        </p:nvSpPr>
        <p:spPr>
          <a:xfrm>
            <a:off x="1164022" y="6169813"/>
            <a:ext cx="7680960" cy="338554"/>
          </a:xfrm>
          <a:prstGeom prst="rect">
            <a:avLst/>
          </a:prstGeom>
          <a:noFill/>
        </p:spPr>
        <p:txBody>
          <a:bodyPr wrap="square">
            <a:spAutoFit/>
          </a:bodyPr>
          <a:lstStyle/>
          <a:p>
            <a:pPr algn="l">
              <a:spcAft>
                <a:spcPts val="400"/>
              </a:spcAft>
              <a:defRPr sz="1400" b="0">
                <a:solidFill>
                  <a:srgbClr val="1A1A2E"/>
                </a:solidFill>
                <a:latin typeface="Latin Modern Sans"/>
              </a:defRPr>
            </a:pPr>
            <a:r>
              <a:rPr lang="en-US" sz="1600" dirty="0"/>
              <a:t>Romero et al. (2015). Mimicry Is Presidential. Personality and Social Psychology Bulletin.</a:t>
            </a:r>
          </a:p>
        </p:txBody>
      </p:sp>
      <p:pic>
        <p:nvPicPr>
          <p:cNvPr id="4" name="Picture 3" descr="A screenshot of a cell phone&#10;&#10;AI-generated content may be incorrect.">
            <a:extLst>
              <a:ext uri="{FF2B5EF4-FFF2-40B4-BE49-F238E27FC236}">
                <a16:creationId xmlns:a16="http://schemas.microsoft.com/office/drawing/2014/main" id="{7E54A5E1-A781-6EE6-C31B-4F345E724272}"/>
              </a:ext>
            </a:extLst>
          </p:cNvPr>
          <p:cNvPicPr>
            <a:picLocks noChangeAspect="1"/>
          </p:cNvPicPr>
          <p:nvPr/>
        </p:nvPicPr>
        <p:blipFill>
          <a:blip r:embed="rId3"/>
          <a:stretch>
            <a:fillRect/>
          </a:stretch>
        </p:blipFill>
        <p:spPr>
          <a:xfrm>
            <a:off x="731520" y="2210015"/>
            <a:ext cx="7772400" cy="3459265"/>
          </a:xfrm>
          <a:prstGeom prst="rect">
            <a:avLst/>
          </a:prstGeom>
          <a:noFill/>
          <a:ln w="19050">
            <a:solidFill>
              <a:schemeClr val="tx1"/>
            </a:solidFill>
          </a:ln>
        </p:spPr>
      </p:pic>
      <p:sp>
        <p:nvSpPr>
          <p:cNvPr id="7" name="Rectangle">
            <a:extLst>
              <a:ext uri="{FF2B5EF4-FFF2-40B4-BE49-F238E27FC236}">
                <a16:creationId xmlns:a16="http://schemas.microsoft.com/office/drawing/2014/main" id="{EDE1C48D-196D-DC87-FA2C-40BCACC86977}"/>
              </a:ext>
            </a:extLst>
          </p:cNvPr>
          <p:cNvSpPr/>
          <p:nvPr/>
        </p:nvSpPr>
        <p:spPr>
          <a:xfrm>
            <a:off x="3717325" y="2637248"/>
            <a:ext cx="4026499" cy="534577"/>
          </a:xfrm>
          <a:prstGeom prst="rect">
            <a:avLst/>
          </a:prstGeom>
          <a:ln w="38100">
            <a:solidFill>
              <a:srgbClr val="C00000"/>
            </a:solidFill>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
        <p:nvSpPr>
          <p:cNvPr id="9" name="Rectangle">
            <a:extLst>
              <a:ext uri="{FF2B5EF4-FFF2-40B4-BE49-F238E27FC236}">
                <a16:creationId xmlns:a16="http://schemas.microsoft.com/office/drawing/2014/main" id="{E1ECDAAA-B57D-12BB-A168-8DBA72791B6E}"/>
              </a:ext>
            </a:extLst>
          </p:cNvPr>
          <p:cNvSpPr/>
          <p:nvPr/>
        </p:nvSpPr>
        <p:spPr>
          <a:xfrm>
            <a:off x="3717324" y="3672358"/>
            <a:ext cx="1926239" cy="534577"/>
          </a:xfrm>
          <a:prstGeom prst="rect">
            <a:avLst/>
          </a:prstGeom>
          <a:ln w="38100">
            <a:solidFill>
              <a:srgbClr val="C00000"/>
            </a:solidFill>
            <a:miter lim="400000"/>
          </a:ln>
        </p:spPr>
        <p:txBody>
          <a:bodyPr lIns="35719" tIns="35719" rIns="35719" bIns="35719" anchor="ctr"/>
          <a:lstStyle/>
          <a:p>
            <a:pPr algn="ctr" defTabSz="410751" hangingPunct="0">
              <a:defRPr sz="2200">
                <a:solidFill>
                  <a:srgbClr val="FFFFFF"/>
                </a:solidFill>
                <a:latin typeface="Helvetica Neue Medium"/>
                <a:ea typeface="Helvetica Neue Medium"/>
                <a:cs typeface="Helvetica Neue Medium"/>
                <a:sym typeface="Helvetica Neue Medium"/>
              </a:defRPr>
            </a:pPr>
            <a:endParaRPr sz="1547" kern="0">
              <a:solidFill>
                <a:srgbClr val="FFFFFF"/>
              </a:solidFill>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65198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dvAuto="0"/>
      <p:bldP spid="9" grpId="0" animBg="1" advAuto="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54B9-A132-F54C-624E-67A322CFE4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0AF356-76E7-A8E4-56C1-FAF4DAC3313F}"/>
              </a:ext>
            </a:extLst>
          </p:cNvPr>
          <p:cNvSpPr txBox="1"/>
          <p:nvPr/>
        </p:nvSpPr>
        <p:spPr>
          <a:xfrm>
            <a:off x="548640" y="274320"/>
            <a:ext cx="8046720" cy="769441"/>
          </a:xfrm>
          <a:prstGeom prst="rect">
            <a:avLst/>
          </a:prstGeom>
          <a:noFill/>
        </p:spPr>
        <p:txBody>
          <a:bodyPr wrap="square">
            <a:spAutoFit/>
          </a:bodyPr>
          <a:lstStyle/>
          <a:p>
            <a:pPr algn="l">
              <a:defRPr sz="4400" b="0">
                <a:solidFill>
                  <a:srgbClr val="1A1A2E"/>
                </a:solidFill>
                <a:latin typeface="Latin Modern Sans"/>
              </a:defRPr>
            </a:pPr>
            <a:r>
              <a:rPr dirty="0"/>
              <a:t>LSM </a:t>
            </a:r>
            <a:r>
              <a:rPr lang="en-US" dirty="0"/>
              <a:t>predicts election polls</a:t>
            </a:r>
            <a:endParaRPr dirty="0"/>
          </a:p>
        </p:txBody>
      </p:sp>
      <p:pic>
        <p:nvPicPr>
          <p:cNvPr id="5" name="Picture 4" descr="A graph of a graph with red and blue dots&#10;&#10;AI-generated content may be incorrect.">
            <a:extLst>
              <a:ext uri="{FF2B5EF4-FFF2-40B4-BE49-F238E27FC236}">
                <a16:creationId xmlns:a16="http://schemas.microsoft.com/office/drawing/2014/main" id="{8CF150A9-371D-1AE8-1E5E-FCBF7C457BE6}"/>
              </a:ext>
            </a:extLst>
          </p:cNvPr>
          <p:cNvPicPr>
            <a:picLocks noChangeAspect="1"/>
          </p:cNvPicPr>
          <p:nvPr/>
        </p:nvPicPr>
        <p:blipFill>
          <a:blip r:embed="rId2"/>
          <a:stretch>
            <a:fillRect/>
          </a:stretch>
        </p:blipFill>
        <p:spPr>
          <a:xfrm>
            <a:off x="731520" y="2426286"/>
            <a:ext cx="4906696" cy="3838677"/>
          </a:xfrm>
          <a:prstGeom prst="rect">
            <a:avLst/>
          </a:prstGeom>
        </p:spPr>
      </p:pic>
      <p:sp>
        <p:nvSpPr>
          <p:cNvPr id="6" name="TextBox 5">
            <a:extLst>
              <a:ext uri="{FF2B5EF4-FFF2-40B4-BE49-F238E27FC236}">
                <a16:creationId xmlns:a16="http://schemas.microsoft.com/office/drawing/2014/main" id="{2452C617-AC17-5AFE-48D3-87619677D724}"/>
              </a:ext>
            </a:extLst>
          </p:cNvPr>
          <p:cNvSpPr txBox="1"/>
          <p:nvPr/>
        </p:nvSpPr>
        <p:spPr>
          <a:xfrm>
            <a:off x="731520" y="1188720"/>
            <a:ext cx="7680960" cy="1092607"/>
          </a:xfrm>
          <a:prstGeom prst="rect">
            <a:avLst/>
          </a:prstGeom>
          <a:noFill/>
        </p:spPr>
        <p:txBody>
          <a:bodyPr wrap="square">
            <a:spAutoFit/>
          </a:bodyPr>
          <a:lstStyle/>
          <a:p>
            <a:pPr marL="174625" indent="-174625">
              <a:spcAft>
                <a:spcPts val="600"/>
              </a:spcAft>
              <a:buFont typeface="Arial" panose="020B0604020202020204" pitchFamily="34" charset="0"/>
              <a:buChar char="•"/>
              <a:defRPr sz="1600" b="0">
                <a:solidFill>
                  <a:srgbClr val="1A1A2E"/>
                </a:solidFill>
                <a:latin typeface="Latin Modern Sans"/>
              </a:defRPr>
            </a:pPr>
            <a:r>
              <a:rPr lang="en-US" sz="2000" b="1" dirty="0">
                <a:solidFill>
                  <a:srgbClr val="0078B9"/>
                </a:solidFill>
              </a:rPr>
              <a:t>Data</a:t>
            </a:r>
            <a:r>
              <a:rPr lang="en-US" sz="2000" dirty="0"/>
              <a:t>: All transcribed U.S. presidential debates between 1976 and 2012 and third-party evaluations (i.e., subsequent poll ratings).</a:t>
            </a:r>
          </a:p>
          <a:p>
            <a:pPr marL="174625" indent="-174625">
              <a:buFont typeface="Arial" panose="020B0604020202020204" pitchFamily="34" charset="0"/>
              <a:buChar char="•"/>
              <a:defRPr sz="1600" b="0">
                <a:solidFill>
                  <a:srgbClr val="1A1A2E"/>
                </a:solidFill>
                <a:latin typeface="Latin Modern Sans"/>
              </a:defRPr>
            </a:pPr>
            <a:r>
              <a:rPr lang="en-US" sz="2000" b="1" dirty="0">
                <a:solidFill>
                  <a:srgbClr val="0078B9"/>
                </a:solidFill>
              </a:rPr>
              <a:t>Finding</a:t>
            </a:r>
            <a:r>
              <a:rPr lang="en-US" sz="2000" dirty="0"/>
              <a:t>: High LSM is linked with candidate’s subsequent poll increase.</a:t>
            </a:r>
            <a:endParaRPr sz="2000" dirty="0"/>
          </a:p>
        </p:txBody>
      </p:sp>
      <p:sp>
        <p:nvSpPr>
          <p:cNvPr id="8" name="TextBox 7">
            <a:extLst>
              <a:ext uri="{FF2B5EF4-FFF2-40B4-BE49-F238E27FC236}">
                <a16:creationId xmlns:a16="http://schemas.microsoft.com/office/drawing/2014/main" id="{AC77CE51-5B23-6310-9F76-0CF05378DEB6}"/>
              </a:ext>
            </a:extLst>
          </p:cNvPr>
          <p:cNvSpPr txBox="1"/>
          <p:nvPr/>
        </p:nvSpPr>
        <p:spPr>
          <a:xfrm>
            <a:off x="1150374" y="6409922"/>
            <a:ext cx="7680960" cy="338554"/>
          </a:xfrm>
          <a:prstGeom prst="rect">
            <a:avLst/>
          </a:prstGeom>
          <a:noFill/>
        </p:spPr>
        <p:txBody>
          <a:bodyPr wrap="square">
            <a:spAutoFit/>
          </a:bodyPr>
          <a:lstStyle/>
          <a:p>
            <a:pPr algn="l">
              <a:spcAft>
                <a:spcPts val="400"/>
              </a:spcAft>
              <a:defRPr sz="1400" b="0">
                <a:solidFill>
                  <a:srgbClr val="1A1A2E"/>
                </a:solidFill>
                <a:latin typeface="Latin Modern Sans"/>
              </a:defRPr>
            </a:pPr>
            <a:r>
              <a:rPr lang="en-US" sz="1600" dirty="0"/>
              <a:t>Romero et al. (2015). Mimicry Is Presidential. Personality and Social Psychology Bulletin.</a:t>
            </a:r>
          </a:p>
        </p:txBody>
      </p:sp>
    </p:spTree>
    <p:extLst>
      <p:ext uri="{BB962C8B-B14F-4D97-AF65-F5344CB8AC3E}">
        <p14:creationId xmlns:p14="http://schemas.microsoft.com/office/powerpoint/2010/main" val="34203239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C2E87-3832-C459-21B8-59C699209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BF088-2D02-E636-E199-2D8DCC12FBAE}"/>
              </a:ext>
            </a:extLst>
          </p:cNvPr>
          <p:cNvSpPr>
            <a:spLocks noGrp="1"/>
          </p:cNvSpPr>
          <p:nvPr>
            <p:ph type="title"/>
          </p:nvPr>
        </p:nvSpPr>
        <p:spPr/>
        <p:txBody>
          <a:bodyPr/>
          <a:lstStyle/>
          <a:p>
            <a:r>
              <a:rPr lang="en-US" b="0" dirty="0"/>
              <a:t>Sentiment Analysis</a:t>
            </a:r>
          </a:p>
        </p:txBody>
      </p:sp>
      <p:sp>
        <p:nvSpPr>
          <p:cNvPr id="3" name="Content Placeholder 2">
            <a:extLst>
              <a:ext uri="{FF2B5EF4-FFF2-40B4-BE49-F238E27FC236}">
                <a16:creationId xmlns:a16="http://schemas.microsoft.com/office/drawing/2014/main" id="{0ABB606F-D883-A1DF-54BB-245E1D53C762}"/>
              </a:ext>
            </a:extLst>
          </p:cNvPr>
          <p:cNvSpPr>
            <a:spLocks noGrp="1"/>
          </p:cNvSpPr>
          <p:nvPr>
            <p:ph idx="1"/>
          </p:nvPr>
        </p:nvSpPr>
        <p:spPr>
          <a:xfrm>
            <a:off x="628649" y="1825625"/>
            <a:ext cx="8302699" cy="4351338"/>
          </a:xfrm>
        </p:spPr>
        <p:txBody>
          <a:bodyPr>
            <a:normAutofit/>
          </a:bodyPr>
          <a:lstStyle/>
          <a:p>
            <a:r>
              <a:rPr lang="en-US" sz="2400" dirty="0"/>
              <a:t>Attempt to identify </a:t>
            </a:r>
            <a:r>
              <a:rPr lang="en-US" sz="2400" u="sng" dirty="0"/>
              <a:t>affective state of text</a:t>
            </a:r>
            <a:r>
              <a:rPr lang="en-US" sz="2400" dirty="0"/>
              <a:t> with NLP methods.</a:t>
            </a:r>
            <a:endParaRPr lang="en-US" dirty="0"/>
          </a:p>
          <a:p>
            <a:r>
              <a:rPr lang="en-US" sz="2400" dirty="0"/>
              <a:t>How do we measure sentiment (score or category)?</a:t>
            </a:r>
          </a:p>
          <a:p>
            <a:r>
              <a:rPr lang="en-US" sz="2400" dirty="0"/>
              <a:t>At what level? Word or sentence?</a:t>
            </a:r>
          </a:p>
          <a:p>
            <a:endParaRPr lang="en-US" sz="2400" dirty="0"/>
          </a:p>
        </p:txBody>
      </p:sp>
    </p:spTree>
    <p:extLst>
      <p:ext uri="{BB962C8B-B14F-4D97-AF65-F5344CB8AC3E}">
        <p14:creationId xmlns:p14="http://schemas.microsoft.com/office/powerpoint/2010/main" val="28351077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367"/>
            <a:ext cx="7886700" cy="1325563"/>
          </a:xfrm>
        </p:spPr>
        <p:txBody>
          <a:bodyPr/>
          <a:lstStyle/>
          <a:p>
            <a:r>
              <a:rPr lang="en-US" b="0" dirty="0"/>
              <a:t>Sentiment Analysis</a:t>
            </a:r>
          </a:p>
        </p:txBody>
      </p:sp>
      <p:sp>
        <p:nvSpPr>
          <p:cNvPr id="3" name="Content Placeholder 2"/>
          <p:cNvSpPr>
            <a:spLocks noGrp="1"/>
          </p:cNvSpPr>
          <p:nvPr>
            <p:ph idx="1"/>
          </p:nvPr>
        </p:nvSpPr>
        <p:spPr>
          <a:xfrm>
            <a:off x="636390" y="1160570"/>
            <a:ext cx="8507610" cy="4351338"/>
          </a:xfrm>
        </p:spPr>
        <p:txBody>
          <a:bodyPr>
            <a:normAutofit/>
          </a:bodyPr>
          <a:lstStyle/>
          <a:p>
            <a:pPr marL="0" indent="0">
              <a:buNone/>
            </a:pPr>
            <a:r>
              <a:rPr lang="en-US" sz="2400" b="1" dirty="0"/>
              <a:t>Lexicon-based approach</a:t>
            </a:r>
          </a:p>
          <a:p>
            <a:r>
              <a:rPr lang="en-US" sz="2000" dirty="0">
                <a:solidFill>
                  <a:srgbClr val="545D7E"/>
                </a:solidFill>
                <a:latin typeface="Google Sans"/>
              </a:rPr>
              <a:t>Lexicon: each word is assigned a sentiment score.</a:t>
            </a:r>
          </a:p>
          <a:p>
            <a:r>
              <a:rPr lang="en-US" sz="2000" dirty="0"/>
              <a:t>Sum sentiment score of all words in the given text.</a:t>
            </a:r>
          </a:p>
        </p:txBody>
      </p:sp>
      <p:pic>
        <p:nvPicPr>
          <p:cNvPr id="4" name="Picture 2" descr="Three text sentiment analysis methods — and why ours is better">
            <a:extLst>
              <a:ext uri="{FF2B5EF4-FFF2-40B4-BE49-F238E27FC236}">
                <a16:creationId xmlns:a16="http://schemas.microsoft.com/office/drawing/2014/main" id="{085BFD05-1528-DC80-576C-974A93CC2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517" y="2486133"/>
            <a:ext cx="7408965" cy="4087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6044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F3F21-4E6B-5D66-BBC1-4B782AF38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381C0-E7D2-7D7A-EE8A-B13A63D7EACE}"/>
              </a:ext>
            </a:extLst>
          </p:cNvPr>
          <p:cNvSpPr>
            <a:spLocks noGrp="1"/>
          </p:cNvSpPr>
          <p:nvPr>
            <p:ph type="title"/>
          </p:nvPr>
        </p:nvSpPr>
        <p:spPr>
          <a:xfrm>
            <a:off x="344774" y="366201"/>
            <a:ext cx="8170576" cy="1325563"/>
          </a:xfrm>
        </p:spPr>
        <p:txBody>
          <a:bodyPr/>
          <a:lstStyle/>
          <a:p>
            <a:r>
              <a:rPr lang="en-US" b="0" dirty="0"/>
              <a:t>Hedonometer of happiness</a:t>
            </a:r>
          </a:p>
        </p:txBody>
      </p:sp>
      <p:pic>
        <p:nvPicPr>
          <p:cNvPr id="8" name="Picture 7" descr="A graph showing the time of the year&#10;&#10;AI-generated content may be incorrect.">
            <a:extLst>
              <a:ext uri="{FF2B5EF4-FFF2-40B4-BE49-F238E27FC236}">
                <a16:creationId xmlns:a16="http://schemas.microsoft.com/office/drawing/2014/main" id="{55EC5B14-1FDD-1F2B-87EB-95D4AE7F0D2F}"/>
              </a:ext>
            </a:extLst>
          </p:cNvPr>
          <p:cNvPicPr>
            <a:picLocks noChangeAspect="1"/>
          </p:cNvPicPr>
          <p:nvPr/>
        </p:nvPicPr>
        <p:blipFill>
          <a:blip r:embed="rId2"/>
          <a:stretch>
            <a:fillRect/>
          </a:stretch>
        </p:blipFill>
        <p:spPr>
          <a:xfrm>
            <a:off x="449705" y="1752020"/>
            <a:ext cx="8546276" cy="4042745"/>
          </a:xfrm>
          <a:prstGeom prst="rect">
            <a:avLst/>
          </a:prstGeom>
          <a:ln w="19050">
            <a:solidFill>
              <a:schemeClr val="tx1"/>
            </a:solidFill>
          </a:ln>
        </p:spPr>
      </p:pic>
      <p:sp>
        <p:nvSpPr>
          <p:cNvPr id="10" name="TextBox 9">
            <a:extLst>
              <a:ext uri="{FF2B5EF4-FFF2-40B4-BE49-F238E27FC236}">
                <a16:creationId xmlns:a16="http://schemas.microsoft.com/office/drawing/2014/main" id="{88392CA6-9824-80A3-01DA-8260762E63EB}"/>
              </a:ext>
            </a:extLst>
          </p:cNvPr>
          <p:cNvSpPr txBox="1"/>
          <p:nvPr/>
        </p:nvSpPr>
        <p:spPr>
          <a:xfrm>
            <a:off x="565175" y="6035197"/>
            <a:ext cx="8185566" cy="584775"/>
          </a:xfrm>
          <a:prstGeom prst="rect">
            <a:avLst/>
          </a:prstGeom>
          <a:noFill/>
        </p:spPr>
        <p:txBody>
          <a:bodyPr wrap="square">
            <a:spAutoFit/>
          </a:bodyPr>
          <a:lstStyle/>
          <a:p>
            <a:r>
              <a:rPr lang="en-US" sz="1600" dirty="0">
                <a:hlinkClick r:id="rId3"/>
              </a:rPr>
              <a:t>https://hedonometer.org/timeseries/en_all/?from=2022-12-03&amp;to=2023-05-26&amp;viz=wordshift</a:t>
            </a:r>
            <a:endParaRPr lang="en-US" sz="1600" dirty="0"/>
          </a:p>
          <a:p>
            <a:endParaRPr lang="en-US" sz="1600" dirty="0"/>
          </a:p>
        </p:txBody>
      </p:sp>
    </p:spTree>
    <p:extLst>
      <p:ext uri="{BB962C8B-B14F-4D97-AF65-F5344CB8AC3E}">
        <p14:creationId xmlns:p14="http://schemas.microsoft.com/office/powerpoint/2010/main" val="26435041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6C175-0DBF-38DD-06DE-FBF601A73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D2062-C95F-3E54-1730-F8E7DFEA908E}"/>
              </a:ext>
            </a:extLst>
          </p:cNvPr>
          <p:cNvSpPr>
            <a:spLocks noGrp="1"/>
          </p:cNvSpPr>
          <p:nvPr>
            <p:ph type="title"/>
          </p:nvPr>
        </p:nvSpPr>
        <p:spPr>
          <a:xfrm>
            <a:off x="344773" y="366201"/>
            <a:ext cx="8663759" cy="1325563"/>
          </a:xfrm>
        </p:spPr>
        <p:txBody>
          <a:bodyPr/>
          <a:lstStyle/>
          <a:p>
            <a:r>
              <a:rPr lang="en-US" b="0" dirty="0"/>
              <a:t>Measured via word change</a:t>
            </a:r>
          </a:p>
        </p:txBody>
      </p:sp>
      <p:pic>
        <p:nvPicPr>
          <p:cNvPr id="4" name="Picture 3" descr="A graph with text and numbers&#10;&#10;AI-generated content may be incorrect.">
            <a:extLst>
              <a:ext uri="{FF2B5EF4-FFF2-40B4-BE49-F238E27FC236}">
                <a16:creationId xmlns:a16="http://schemas.microsoft.com/office/drawing/2014/main" id="{6DBCF052-4089-244B-38F4-E2E0771C9D78}"/>
              </a:ext>
            </a:extLst>
          </p:cNvPr>
          <p:cNvPicPr>
            <a:picLocks noChangeAspect="1"/>
          </p:cNvPicPr>
          <p:nvPr/>
        </p:nvPicPr>
        <p:blipFill>
          <a:blip r:embed="rId2"/>
          <a:stretch>
            <a:fillRect/>
          </a:stretch>
        </p:blipFill>
        <p:spPr>
          <a:xfrm>
            <a:off x="920750" y="1629058"/>
            <a:ext cx="6454411" cy="4871677"/>
          </a:xfrm>
          <a:prstGeom prst="rect">
            <a:avLst/>
          </a:prstGeom>
          <a:ln w="19050">
            <a:solidFill>
              <a:schemeClr val="tx1"/>
            </a:solidFill>
          </a:ln>
        </p:spPr>
      </p:pic>
    </p:spTree>
    <p:extLst>
      <p:ext uri="{BB962C8B-B14F-4D97-AF65-F5344CB8AC3E}">
        <p14:creationId xmlns:p14="http://schemas.microsoft.com/office/powerpoint/2010/main" val="5110080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9457" y="492686"/>
            <a:ext cx="8046720" cy="584775"/>
          </a:xfrm>
          <a:prstGeom prst="rect">
            <a:avLst/>
          </a:prstGeom>
          <a:noFill/>
        </p:spPr>
        <p:txBody>
          <a:bodyPr wrap="square">
            <a:spAutoFit/>
          </a:bodyPr>
          <a:lstStyle/>
          <a:p>
            <a:pPr algn="l">
              <a:defRPr sz="3000" b="0">
                <a:solidFill>
                  <a:srgbClr val="1A1A2E"/>
                </a:solidFill>
                <a:latin typeface="Latin Modern Sans"/>
              </a:defRPr>
            </a:pPr>
            <a:r>
              <a:rPr sz="3200" dirty="0"/>
              <a:t>Exercise 1 - Hashtag and Mention Extraction</a:t>
            </a:r>
          </a:p>
        </p:txBody>
      </p:sp>
      <p:sp>
        <p:nvSpPr>
          <p:cNvPr id="3" name="Rectangle 2"/>
          <p:cNvSpPr/>
          <p:nvPr/>
        </p:nvSpPr>
        <p:spPr>
          <a:xfrm>
            <a:off x="548640" y="1280160"/>
            <a:ext cx="8046720" cy="1681404"/>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657600"/>
            <a:ext cx="8046720" cy="2743200"/>
          </a:xfrm>
          <a:prstGeom prst="rect">
            <a:avLst/>
          </a:prstGeom>
          <a:noFill/>
        </p:spPr>
        <p:txBody>
          <a:bodyPr wrap="square">
            <a:spAutoFit/>
          </a:bodyPr>
          <a:lstStyle/>
          <a:p>
            <a:pPr algn="l">
              <a:defRPr sz="2400" b="1">
                <a:solidFill>
                  <a:srgbClr val="4C72B0"/>
                </a:solidFill>
                <a:latin typeface="Latin Modern Sans"/>
              </a:defRPr>
            </a:pPr>
            <a:r>
              <a:t>Deliverables:</a:t>
            </a:r>
          </a:p>
          <a:p>
            <a:pPr algn="l">
              <a:spcAft>
                <a:spcPts val="600"/>
              </a:spcAft>
              <a:defRPr sz="1800" b="0">
                <a:solidFill>
                  <a:srgbClr val="1A1A2E"/>
                </a:solidFill>
                <a:latin typeface="Latin Modern Sans"/>
              </a:defRPr>
            </a:pPr>
            <a:r>
              <a:t>- List of hashtags</a:t>
            </a:r>
          </a:p>
          <a:p>
            <a:pPr algn="l">
              <a:spcAft>
                <a:spcPts val="600"/>
              </a:spcAft>
              <a:defRPr sz="1800" b="0">
                <a:solidFill>
                  <a:srgbClr val="1A1A2E"/>
                </a:solidFill>
                <a:latin typeface="Latin Modern Sans"/>
              </a:defRPr>
            </a:pPr>
            <a:r>
              <a:t>- List of mentions</a:t>
            </a:r>
          </a:p>
          <a:p>
            <a:pPr algn="l">
              <a:spcAft>
                <a:spcPts val="600"/>
              </a:spcAft>
              <a:defRPr sz="1800" b="0">
                <a:solidFill>
                  <a:srgbClr val="1A1A2E"/>
                </a:solidFill>
                <a:latin typeface="Latin Modern Sans"/>
              </a:defRPr>
            </a:pPr>
            <a:r>
              <a:t>- Count of unique accounts mentioned</a:t>
            </a:r>
          </a:p>
        </p:txBody>
      </p:sp>
      <p:sp>
        <p:nvSpPr>
          <p:cNvPr id="6" name="TextBox 5">
            <a:extLst>
              <a:ext uri="{FF2B5EF4-FFF2-40B4-BE49-F238E27FC236}">
                <a16:creationId xmlns:a16="http://schemas.microsoft.com/office/drawing/2014/main" id="{0EC69E7A-C72B-84F9-30DB-C8836B2270E9}"/>
              </a:ext>
            </a:extLst>
          </p:cNvPr>
          <p:cNvSpPr txBox="1"/>
          <p:nvPr/>
        </p:nvSpPr>
        <p:spPr>
          <a:xfrm>
            <a:off x="731520" y="1531961"/>
            <a:ext cx="7680960" cy="646331"/>
          </a:xfrm>
          <a:prstGeom prst="rect">
            <a:avLst/>
          </a:prstGeom>
          <a:noFill/>
        </p:spPr>
        <p:txBody>
          <a:bodyPr wrap="square">
            <a:spAutoFit/>
          </a:bodyPr>
          <a:lstStyle/>
          <a:p>
            <a:pPr algn="l">
              <a:defRPr sz="1800" b="0">
                <a:solidFill>
                  <a:srgbClr val="1A1A2E"/>
                </a:solidFill>
                <a:latin typeface="Latin Modern Sans"/>
              </a:defRPr>
            </a:pPr>
            <a:r>
              <a:rPr lang="en-US" dirty="0"/>
              <a:t>"Big thanks to @</a:t>
            </a:r>
            <a:r>
              <a:rPr lang="en-US" dirty="0" err="1"/>
              <a:t>nytimes</a:t>
            </a:r>
            <a:r>
              <a:rPr lang="en-US" dirty="0"/>
              <a:t> and @</a:t>
            </a:r>
            <a:r>
              <a:rPr lang="en-US" dirty="0" err="1"/>
              <a:t>washingtonpost</a:t>
            </a:r>
            <a:r>
              <a:rPr lang="en-US" dirty="0"/>
              <a:t> for covering #</a:t>
            </a:r>
            <a:r>
              <a:rPr lang="en-US" dirty="0" err="1"/>
              <a:t>ClimateAction</a:t>
            </a:r>
            <a:r>
              <a:rPr lang="en-US" dirty="0"/>
              <a:t> and #</a:t>
            </a:r>
            <a:r>
              <a:rPr lang="en-US" dirty="0" err="1"/>
              <a:t>GreenEnergy</a:t>
            </a:r>
            <a:r>
              <a:rPr lang="en-US" dirty="0"/>
              <a:t>. Follow @UN for updates. #</a:t>
            </a:r>
            <a:r>
              <a:rPr lang="en-US" dirty="0" err="1"/>
              <a:t>ActOnClimate</a:t>
            </a:r>
            <a:r>
              <a:rPr lang="en-US" dirty="0"/>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9456" y="425841"/>
            <a:ext cx="8046720" cy="584775"/>
          </a:xfrm>
          <a:prstGeom prst="rect">
            <a:avLst/>
          </a:prstGeom>
          <a:noFill/>
        </p:spPr>
        <p:txBody>
          <a:bodyPr wrap="square">
            <a:spAutoFit/>
          </a:bodyPr>
          <a:lstStyle/>
          <a:p>
            <a:pPr algn="l">
              <a:defRPr sz="3000" b="0">
                <a:solidFill>
                  <a:srgbClr val="1A1A2E"/>
                </a:solidFill>
                <a:latin typeface="Latin Modern Sans"/>
              </a:defRPr>
            </a:pPr>
            <a:r>
              <a:rPr sz="3200" dirty="0"/>
              <a:t>Exercise </a:t>
            </a:r>
            <a:r>
              <a:rPr lang="en-US" sz="3200" dirty="0"/>
              <a:t>2</a:t>
            </a:r>
            <a:r>
              <a:rPr sz="3200" dirty="0"/>
              <a:t> - Compute Simplified LSM</a:t>
            </a:r>
          </a:p>
        </p:txBody>
      </p:sp>
      <p:sp>
        <p:nvSpPr>
          <p:cNvPr id="3" name="Rectangle 2"/>
          <p:cNvSpPr/>
          <p:nvPr/>
        </p:nvSpPr>
        <p:spPr>
          <a:xfrm>
            <a:off x="562288" y="1270608"/>
            <a:ext cx="8046720" cy="1636367"/>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7872" y="1389344"/>
            <a:ext cx="7680960" cy="923330"/>
          </a:xfrm>
          <a:prstGeom prst="rect">
            <a:avLst/>
          </a:prstGeom>
          <a:noFill/>
        </p:spPr>
        <p:txBody>
          <a:bodyPr wrap="square">
            <a:spAutoFit/>
          </a:bodyPr>
          <a:lstStyle/>
          <a:p>
            <a:pPr algn="l">
              <a:defRPr sz="1800" b="0">
                <a:solidFill>
                  <a:srgbClr val="1A1A2E"/>
                </a:solidFill>
                <a:latin typeface="Latin Modern Sans"/>
              </a:defRPr>
            </a:pPr>
            <a:r>
              <a:rPr dirty="0"/>
              <a:t>Speaker A:  "I think we should act, and I mean now."</a:t>
            </a:r>
            <a:br>
              <a:rPr dirty="0"/>
            </a:br>
            <a:br>
              <a:rPr dirty="0"/>
            </a:br>
            <a:r>
              <a:rPr dirty="0"/>
              <a:t>Speaker B:  "</a:t>
            </a:r>
            <a:r>
              <a:rPr lang="en-US" dirty="0"/>
              <a:t>Trump</a:t>
            </a:r>
            <a:r>
              <a:rPr dirty="0"/>
              <a:t> agree</a:t>
            </a:r>
            <a:r>
              <a:rPr lang="en-US" dirty="0"/>
              <a:t>s</a:t>
            </a:r>
            <a:r>
              <a:rPr dirty="0"/>
              <a:t>, and </a:t>
            </a:r>
            <a:r>
              <a:rPr lang="en-US" dirty="0"/>
              <a:t>the party</a:t>
            </a:r>
            <a:r>
              <a:rPr dirty="0"/>
              <a:t> support</a:t>
            </a:r>
            <a:r>
              <a:rPr lang="en-US" dirty="0"/>
              <a:t>s</a:t>
            </a:r>
            <a:r>
              <a:rPr dirty="0"/>
              <a:t> the plan."</a:t>
            </a:r>
          </a:p>
        </p:txBody>
      </p:sp>
      <p:sp>
        <p:nvSpPr>
          <p:cNvPr id="5" name="TextBox 4"/>
          <p:cNvSpPr txBox="1"/>
          <p:nvPr/>
        </p:nvSpPr>
        <p:spPr>
          <a:xfrm>
            <a:off x="548640" y="3566160"/>
            <a:ext cx="8046720" cy="2926080"/>
          </a:xfrm>
          <a:prstGeom prst="rect">
            <a:avLst/>
          </a:prstGeom>
          <a:noFill/>
        </p:spPr>
        <p:txBody>
          <a:bodyPr wrap="square">
            <a:spAutoFit/>
          </a:bodyPr>
          <a:lstStyle/>
          <a:p>
            <a:pPr algn="l">
              <a:defRPr sz="2400" b="1">
                <a:solidFill>
                  <a:srgbClr val="4C72B0"/>
                </a:solidFill>
                <a:latin typeface="Latin Modern Sans"/>
              </a:defRPr>
            </a:pPr>
            <a:r>
              <a:t>Deliverables:</a:t>
            </a:r>
          </a:p>
          <a:p>
            <a:pPr algn="l">
              <a:spcAft>
                <a:spcPts val="600"/>
              </a:spcAft>
              <a:defRPr sz="1800" b="0">
                <a:solidFill>
                  <a:srgbClr val="1A1A2E"/>
                </a:solidFill>
                <a:latin typeface="Latin Modern Sans"/>
              </a:defRPr>
            </a:pPr>
            <a:r>
              <a:t>- Proportions of personal pronouns for each speaker</a:t>
            </a:r>
          </a:p>
          <a:p>
            <a:pPr algn="l">
              <a:spcAft>
                <a:spcPts val="600"/>
              </a:spcAft>
              <a:defRPr sz="1800" b="0">
                <a:solidFill>
                  <a:srgbClr val="1A1A2E"/>
                </a:solidFill>
                <a:latin typeface="Latin Modern Sans"/>
              </a:defRPr>
            </a:pPr>
            <a:r>
              <a:t>- LSM score for the personal pronoun category</a:t>
            </a:r>
          </a:p>
          <a:p>
            <a:pPr algn="l">
              <a:spcAft>
                <a:spcPts val="600"/>
              </a:spcAft>
              <a:defRPr sz="1800" b="0">
                <a:solidFill>
                  <a:srgbClr val="1A1A2E"/>
                </a:solidFill>
                <a:latin typeface="Latin Modern Sans"/>
              </a:defRPr>
            </a:pPr>
            <a:r>
              <a:t>- Interpretation of the result (high, moderate, low)</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4A8D3-4A42-D9AC-1F4A-1C0A968F78AB}"/>
              </a:ext>
            </a:extLst>
          </p:cNvPr>
          <p:cNvSpPr>
            <a:spLocks noGrp="1"/>
          </p:cNvSpPr>
          <p:nvPr>
            <p:ph type="title"/>
          </p:nvPr>
        </p:nvSpPr>
        <p:spPr/>
        <p:txBody>
          <a:bodyPr/>
          <a:lstStyle/>
          <a:p>
            <a:r>
              <a:rPr lang="en-US" b="0" dirty="0"/>
              <a:t>Course Notes</a:t>
            </a:r>
          </a:p>
        </p:txBody>
      </p:sp>
      <p:sp>
        <p:nvSpPr>
          <p:cNvPr id="3" name="Content Placeholder 2">
            <a:extLst>
              <a:ext uri="{FF2B5EF4-FFF2-40B4-BE49-F238E27FC236}">
                <a16:creationId xmlns:a16="http://schemas.microsoft.com/office/drawing/2014/main" id="{356CEBD3-2916-268F-45C1-00552DB41379}"/>
              </a:ext>
            </a:extLst>
          </p:cNvPr>
          <p:cNvSpPr>
            <a:spLocks noGrp="1"/>
          </p:cNvSpPr>
          <p:nvPr>
            <p:ph idx="1"/>
          </p:nvPr>
        </p:nvSpPr>
        <p:spPr>
          <a:xfrm>
            <a:off x="755187" y="1690689"/>
            <a:ext cx="7886700" cy="4351338"/>
          </a:xfrm>
        </p:spPr>
        <p:txBody>
          <a:bodyPr/>
          <a:lstStyle/>
          <a:p>
            <a:pPr algn="just"/>
            <a:r>
              <a:rPr lang="en-US" sz="2400" dirty="0">
                <a:solidFill>
                  <a:srgbClr val="0078B9"/>
                </a:solidFill>
                <a:latin typeface="+mn-lt"/>
              </a:rPr>
              <a:t>“NLP Models in SMA” next week</a:t>
            </a:r>
          </a:p>
          <a:p>
            <a:pPr lvl="1" algn="just"/>
            <a:r>
              <a:rPr lang="en-US" sz="2000" dirty="0">
                <a:solidFill>
                  <a:srgbClr val="424242"/>
                </a:solidFill>
                <a:latin typeface="+mn-lt"/>
              </a:rPr>
              <a:t>Recap on LIWC, LDA features</a:t>
            </a:r>
          </a:p>
          <a:p>
            <a:pPr lvl="1" algn="just"/>
            <a:r>
              <a:rPr lang="en-US" sz="2000" dirty="0">
                <a:solidFill>
                  <a:srgbClr val="424242"/>
                </a:solidFill>
                <a:latin typeface="+mn-lt"/>
              </a:rPr>
              <a:t>Word2vec, Doc2vec</a:t>
            </a:r>
          </a:p>
          <a:p>
            <a:pPr lvl="1" algn="just"/>
            <a:r>
              <a:rPr lang="en-US" sz="2000" dirty="0">
                <a:solidFill>
                  <a:srgbClr val="424242"/>
                </a:solidFill>
                <a:latin typeface="+mn-lt"/>
              </a:rPr>
              <a:t>Emotion, Language detection, Fake news</a:t>
            </a:r>
          </a:p>
          <a:p>
            <a:pPr algn="just"/>
            <a:r>
              <a:rPr lang="en-US" altLang="zh-CN" sz="2400" dirty="0">
                <a:solidFill>
                  <a:srgbClr val="0078B9"/>
                </a:solidFill>
                <a:latin typeface="+mn-lt"/>
              </a:rPr>
              <a:t>Tutorial next week</a:t>
            </a:r>
          </a:p>
          <a:p>
            <a:pPr lvl="1" algn="just"/>
            <a:r>
              <a:rPr lang="en-US" sz="2000" dirty="0">
                <a:solidFill>
                  <a:srgbClr val="424242"/>
                </a:solidFill>
                <a:latin typeface="+mn-lt"/>
              </a:rPr>
              <a:t>Predict user attributes using NLP models</a:t>
            </a:r>
          </a:p>
          <a:p>
            <a:pPr lvl="1" algn="just"/>
            <a:r>
              <a:rPr lang="en-US" sz="2000" dirty="0">
                <a:solidFill>
                  <a:srgbClr val="424242"/>
                </a:solidFill>
                <a:latin typeface="+mn-lt"/>
              </a:rPr>
              <a:t>TF-IDF (baseline), LIWC, LDA, W2v</a:t>
            </a:r>
          </a:p>
          <a:p>
            <a:pPr lvl="1" algn="just"/>
            <a:r>
              <a:rPr lang="en-US" sz="2000" dirty="0">
                <a:solidFill>
                  <a:srgbClr val="424242"/>
                </a:solidFill>
                <a:latin typeface="+mn-lt"/>
              </a:rPr>
              <a:t>Regression vs. Classification</a:t>
            </a:r>
            <a:endParaRPr lang="en-US" sz="2400" dirty="0">
              <a:solidFill>
                <a:srgbClr val="424242"/>
              </a:solidFill>
              <a:latin typeface="+mn-lt"/>
            </a:endParaRPr>
          </a:p>
          <a:p>
            <a:pPr algn="just"/>
            <a:r>
              <a:rPr lang="en-US" sz="2400" i="0" dirty="0">
                <a:solidFill>
                  <a:srgbClr val="424242"/>
                </a:solidFill>
                <a:effectLst/>
                <a:latin typeface="+mn-lt"/>
              </a:rPr>
              <a:t>Homework 1 will be released next week</a:t>
            </a:r>
          </a:p>
          <a:p>
            <a:pPr lvl="1" algn="just"/>
            <a:r>
              <a:rPr lang="en-US" sz="2000" dirty="0">
                <a:solidFill>
                  <a:srgbClr val="C00000"/>
                </a:solidFill>
                <a:latin typeface="+mn-lt"/>
              </a:rPr>
              <a:t>Due in two weeks!</a:t>
            </a:r>
            <a:endParaRPr lang="en-US" sz="2000" i="0" dirty="0">
              <a:solidFill>
                <a:srgbClr val="C00000"/>
              </a:solidFill>
              <a:effectLst/>
              <a:latin typeface="+mn-lt"/>
            </a:endParaRPr>
          </a:p>
          <a:p>
            <a:pPr marL="0" indent="0" algn="just">
              <a:buNone/>
            </a:pPr>
            <a:endParaRPr lang="en-US" dirty="0">
              <a:latin typeface="+mn-lt"/>
            </a:endParaRPr>
          </a:p>
        </p:txBody>
      </p:sp>
    </p:spTree>
    <p:extLst>
      <p:ext uri="{BB962C8B-B14F-4D97-AF65-F5344CB8AC3E}">
        <p14:creationId xmlns:p14="http://schemas.microsoft.com/office/powerpoint/2010/main" val="19130941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hang" id="{16B57925-4BF1-1F47-9CC9-F9B8FF84AD2B}" vid="{9FDA24BC-AEBA-8448-BDDE-8ACFED393888}"/>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hang" id="{16B57925-4BF1-1F47-9CC9-F9B8FF84AD2B}" vid="{9FDA24BC-AEBA-8448-BDDE-8ACFED39388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hang" id="{16B57925-4BF1-1F47-9CC9-F9B8FF84AD2B}" vid="{9FDA24BC-AEBA-8448-BDDE-8ACFED39388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5441</TotalTime>
  <Words>4575</Words>
  <Application>Microsoft Macintosh PowerPoint</Application>
  <PresentationFormat>On-screen Show (4:3)</PresentationFormat>
  <Paragraphs>517</Paragraphs>
  <Slides>65</Slides>
  <Notes>34</Notes>
  <HiddenSlides>3</HiddenSlides>
  <MMClips>0</MMClips>
  <ScaleCrop>false</ScaleCrop>
  <HeadingPairs>
    <vt:vector size="6" baseType="variant">
      <vt:variant>
        <vt:lpstr>Fonts Used</vt:lpstr>
      </vt:variant>
      <vt:variant>
        <vt:i4>17</vt:i4>
      </vt:variant>
      <vt:variant>
        <vt:lpstr>Theme</vt:lpstr>
      </vt:variant>
      <vt:variant>
        <vt:i4>4</vt:i4>
      </vt:variant>
      <vt:variant>
        <vt:lpstr>Slide Titles</vt:lpstr>
      </vt:variant>
      <vt:variant>
        <vt:i4>65</vt:i4>
      </vt:variant>
    </vt:vector>
  </HeadingPairs>
  <TitlesOfParts>
    <vt:vector size="86" baseType="lpstr">
      <vt:lpstr>等线</vt:lpstr>
      <vt:lpstr>Google Sans</vt:lpstr>
      <vt:lpstr>Latin Modern Sans</vt:lpstr>
      <vt:lpstr>LM Sans 12</vt:lpstr>
      <vt:lpstr>Abadi MT Condensed Extra Bold</vt:lpstr>
      <vt:lpstr>Abadi MT Condensed Light</vt:lpstr>
      <vt:lpstr>Arial</vt:lpstr>
      <vt:lpstr>Calibri</vt:lpstr>
      <vt:lpstr>Cambria Math</vt:lpstr>
      <vt:lpstr>Consolas</vt:lpstr>
      <vt:lpstr>Corbel</vt:lpstr>
      <vt:lpstr>Courier New</vt:lpstr>
      <vt:lpstr>Helvetica Neue</vt:lpstr>
      <vt:lpstr>Helvetica Neue Light</vt:lpstr>
      <vt:lpstr>Helvetica Neue Medium</vt:lpstr>
      <vt:lpstr>Verdana</vt:lpstr>
      <vt:lpstr>Wingdings</vt:lpstr>
      <vt:lpstr>Office Theme</vt:lpstr>
      <vt:lpstr>21_BasicWhite</vt:lpstr>
      <vt:lpstr>2_Office Theme</vt:lpstr>
      <vt:lpstr>1_Office Theme</vt:lpstr>
      <vt:lpstr>DSC3013 Intro. to Social Media Analytics (Lec. 4)</vt:lpstr>
      <vt:lpstr>PowerPoint Presentation</vt:lpstr>
      <vt:lpstr>PowerPoint Presentation</vt:lpstr>
      <vt:lpstr>PowerPoint Presentation</vt:lpstr>
      <vt:lpstr>PowerPoint Presentation</vt:lpstr>
      <vt:lpstr>PowerPoint Presentation</vt:lpstr>
      <vt:lpstr>PowerPoint Presentation</vt:lpstr>
      <vt:lpstr>Regular Expressions (or 'regex')</vt:lpstr>
      <vt:lpstr>The Python re module</vt:lpstr>
      <vt:lpstr>re.search</vt:lpstr>
      <vt:lpstr>re.match</vt:lpstr>
      <vt:lpstr>Most methods return match objects</vt:lpstr>
      <vt:lpstr>Basic matching patterns</vt:lpstr>
      <vt:lpstr>Symbols for matching single char</vt:lpstr>
      <vt:lpstr>Symbols for matching single char</vt:lpstr>
      <vt:lpstr>Symbols for matching single char</vt:lpstr>
      <vt:lpstr>Symbols for matching single char</vt:lpstr>
      <vt:lpstr>Why use \B instead of \w?</vt:lpstr>
      <vt:lpstr>Escape special symbols with \</vt:lpstr>
      <vt:lpstr>Quantifiers: match multiple chars</vt:lpstr>
      <vt:lpstr>Repeating pattern examples</vt:lpstr>
      <vt:lpstr>A set of characters:  [ ]</vt:lpstr>
      <vt:lpstr>Define a range with dash “-”</vt:lpstr>
      <vt:lpstr>Negation of ranges</vt:lpstr>
      <vt:lpstr>Raw string notation: r'text'</vt:lpstr>
      <vt:lpstr>Greedy matching: The Default</vt:lpstr>
      <vt:lpstr>Non-greedy matching by adding an extra ? to the end of wildcard</vt:lpstr>
      <vt:lpstr>Defining alternatives using pipe |</vt:lpstr>
      <vt:lpstr>Optional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Useful online debugging tools </vt:lpstr>
      <vt:lpstr>What you should know</vt:lpstr>
      <vt:lpstr>Content moderation on Reddit </vt:lpstr>
      <vt:lpstr>Cross-platform user identification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Identify news topics by politicians</vt:lpstr>
      <vt:lpstr>Beyond Regex: Language style matching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Sentiment Analysis</vt:lpstr>
      <vt:lpstr>Sentiment Analysis</vt:lpstr>
      <vt:lpstr>Hedonometer of happiness</vt:lpstr>
      <vt:lpstr>Measured via word change</vt:lpstr>
      <vt:lpstr>PowerPoint Presentation</vt:lpstr>
      <vt:lpstr>PowerPoint Presentation</vt:lpstr>
      <vt:lpstr>Course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SEEM4112 Computing Methods in Data Analytics 1. Introduction</dc:title>
  <dc:creator>Q Z</dc:creator>
  <cp:lastModifiedBy>Hao PENG</cp:lastModifiedBy>
  <cp:revision>285</cp:revision>
  <dcterms:created xsi:type="dcterms:W3CDTF">2019-01-16T16:49:18Z</dcterms:created>
  <dcterms:modified xsi:type="dcterms:W3CDTF">2026-09-21T07:31:40Z</dcterms:modified>
</cp:coreProperties>
</file>