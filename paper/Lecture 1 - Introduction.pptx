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58"/>
  </p:notesMasterIdLst>
  <p:sldIdLst>
    <p:sldId id="594" r:id="rId2"/>
    <p:sldId id="260" r:id="rId3"/>
    <p:sldId id="300" r:id="rId4"/>
    <p:sldId id="319" r:id="rId5"/>
    <p:sldId id="599" r:id="rId6"/>
    <p:sldId id="600" r:id="rId7"/>
    <p:sldId id="325" r:id="rId8"/>
    <p:sldId id="595" r:id="rId9"/>
    <p:sldId id="598" r:id="rId10"/>
    <p:sldId id="340" r:id="rId11"/>
    <p:sldId id="580" r:id="rId12"/>
    <p:sldId id="392" r:id="rId13"/>
    <p:sldId id="593" r:id="rId14"/>
    <p:sldId id="331" r:id="rId15"/>
    <p:sldId id="259" r:id="rId16"/>
    <p:sldId id="359" r:id="rId17"/>
    <p:sldId id="360" r:id="rId18"/>
    <p:sldId id="361" r:id="rId19"/>
    <p:sldId id="362" r:id="rId20"/>
    <p:sldId id="351" r:id="rId21"/>
    <p:sldId id="363" r:id="rId22"/>
    <p:sldId id="345" r:id="rId23"/>
    <p:sldId id="354" r:id="rId24"/>
    <p:sldId id="356" r:id="rId25"/>
    <p:sldId id="357" r:id="rId26"/>
    <p:sldId id="358" r:id="rId27"/>
    <p:sldId id="364" r:id="rId28"/>
    <p:sldId id="365" r:id="rId29"/>
    <p:sldId id="366" r:id="rId30"/>
    <p:sldId id="367" r:id="rId31"/>
    <p:sldId id="342" r:id="rId32"/>
    <p:sldId id="350" r:id="rId33"/>
    <p:sldId id="381" r:id="rId34"/>
    <p:sldId id="347" r:id="rId35"/>
    <p:sldId id="370" r:id="rId36"/>
    <p:sldId id="371" r:id="rId37"/>
    <p:sldId id="372" r:id="rId38"/>
    <p:sldId id="373" r:id="rId39"/>
    <p:sldId id="349" r:id="rId40"/>
    <p:sldId id="388" r:id="rId41"/>
    <p:sldId id="389" r:id="rId42"/>
    <p:sldId id="391" r:id="rId43"/>
    <p:sldId id="390" r:id="rId44"/>
    <p:sldId id="382" r:id="rId45"/>
    <p:sldId id="374" r:id="rId46"/>
    <p:sldId id="375" r:id="rId47"/>
    <p:sldId id="376" r:id="rId48"/>
    <p:sldId id="377" r:id="rId49"/>
    <p:sldId id="346" r:id="rId50"/>
    <p:sldId id="301" r:id="rId51"/>
    <p:sldId id="386" r:id="rId52"/>
    <p:sldId id="387" r:id="rId53"/>
    <p:sldId id="596" r:id="rId54"/>
    <p:sldId id="279" r:id="rId55"/>
    <p:sldId id="353" r:id="rId56"/>
    <p:sldId id="341" r:id="rId5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8B9"/>
    <a:srgbClr val="0019FF"/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336732-C8B6-1247-BB98-8D90FCEB993F}" v="1" dt="2021-01-12T06:42:57.855"/>
  </p1510:revLst>
</p1510:revInfo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948"/>
    <p:restoredTop sz="81019"/>
  </p:normalViewPr>
  <p:slideViewPr>
    <p:cSldViewPr snapToGrid="0" snapToObjects="1">
      <p:cViewPr varScale="1">
        <p:scale>
          <a:sx n="85" d="100"/>
          <a:sy n="85" d="100"/>
        </p:scale>
        <p:origin x="144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72524C-7966-684C-BDC9-CFD451BFAD4B}" type="datetimeFigureOut">
              <a:rPr lang="en-US" smtClean="0"/>
              <a:t>8/31/26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06C42A-5AA1-B144-8688-E824ABDD91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254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7553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3477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7924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Observational studies: descriptive &amp; predictive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516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Obs</a:t>
            </a:r>
            <a:r>
              <a:rPr lang="en-US" dirty="0"/>
              <a:t> design: descriptive (correlation) and predictive (forecasting).</a:t>
            </a:r>
          </a:p>
          <a:p>
            <a:r>
              <a:rPr lang="en-US" dirty="0"/>
              <a:t>Exp design: real exp vs. causal inference</a:t>
            </a:r>
          </a:p>
          <a:p>
            <a:endParaRPr lang="en-US" dirty="0"/>
          </a:p>
          <a:p>
            <a:r>
              <a:rPr lang="en-US" sz="1200" dirty="0"/>
              <a:t>Word- and Topic-level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8900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Self-selection in two days, random assignment this Friday.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9152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0E0A3-9BF8-4DB2-8CB8-4256C0A802C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0958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0857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282A4-44C6-CBD6-6CC5-330D3F89A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840DFC-EA8F-3B8D-8DBE-CF95BE2FE9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3A287E-9D32-C6B6-0D61-62EED650D0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007E3A-0782-3DBB-BEAD-CAB5EFE58F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5976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788C2-BC8E-7C36-6274-9A3FEA506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43330B-6195-5B69-FFDB-FF2C3D290B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6663E7-AE3F-9019-E8C5-2D2CF3D232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Internet co-evolves with WWW.  WWW is one virtual service running on the Internet, which is a physical infra.</a:t>
            </a:r>
          </a:p>
          <a:p>
            <a:r>
              <a:rPr lang="en-US" dirty="0"/>
              <a:t>Internet as MTR; WWW as shops (e.g., K11, </a:t>
            </a:r>
            <a:r>
              <a:rPr lang="en-US" dirty="0" err="1"/>
              <a:t>FestivalWalk</a:t>
            </a:r>
            <a:r>
              <a:rPr lang="en-US" dirty="0"/>
              <a:t>). Going through different webpages on the Internet (or surfing the Internet) is like visiting different shops via the MTR.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Email is another service running on Internet. Think of it as apartments: you can also build apartments and travel through them via the MTR.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D11BE3-9D34-EC07-207E-07E5008E74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2186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9ED46-0234-01D6-4010-82CB232E6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2A3C63-5A2B-BF4B-0FC2-A2AC3BCBAA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AE820B-9ECC-726D-F40F-932F2D3997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14457C-2D87-728E-88B4-62ADCF46D1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6979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20A44-F473-FE84-DFA7-855C81150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8E7C18-EF00-00F9-DE44-132198F92F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75B8A4-21DC-85A4-D463-89CB3F8511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may not realize this if you always interact with SM platforms via smart phone apps. </a:t>
            </a:r>
          </a:p>
          <a:p>
            <a:r>
              <a:rPr lang="en-US" dirty="0"/>
              <a:t>But they all have web-based interfaces (Fb, X, YouTube, </a:t>
            </a:r>
            <a:r>
              <a:rPr lang="en-US" dirty="0" err="1"/>
              <a:t>Whats</a:t>
            </a:r>
            <a:r>
              <a:rPr lang="en-US" dirty="0"/>
              <a:t> up).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50ABC5-92F7-4341-939D-A9705C1493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3609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Stage 0 – Internet development (blogs)</a:t>
            </a:r>
          </a:p>
          <a:p>
            <a:endParaRPr lang="en-US" dirty="0"/>
          </a:p>
          <a:p>
            <a:r>
              <a:rPr lang="en-US" dirty="0"/>
              <a:t>Stage 1: Web 1.0 version (Friendster and </a:t>
            </a:r>
            <a:r>
              <a:rPr lang="en-US" dirty="0" err="1"/>
              <a:t>MySpace</a:t>
            </a:r>
            <a:r>
              <a:rPr lang="en-US" dirty="0"/>
              <a:t>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Video-blogging, micro-blogging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EBA26-8CA9-75B5-A46E-5F68D3F19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0505A5-182C-9749-17DF-939B4CEC5E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390A4F-BDEF-8828-0E3B-4261E5EFD0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 even Desktop</a:t>
            </a:r>
          </a:p>
          <a:p>
            <a:endParaRPr lang="en-US" dirty="0"/>
          </a:p>
          <a:p>
            <a:r>
              <a:rPr lang="en-US" dirty="0"/>
              <a:t>Who uses </a:t>
            </a:r>
            <a:r>
              <a:rPr lang="en-US" dirty="0" err="1"/>
              <a:t>Whats</a:t>
            </a:r>
            <a:r>
              <a:rPr lang="en-US" dirty="0"/>
              <a:t> up on Desktop?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C43FB6-7A42-E677-B195-88C404C888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0933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203B8-9A9B-EA5F-FE67-73A79F978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B09B5F-D354-5CE4-61A7-92A7986D4E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756683-9032-FCF2-2A0B-36D0885E54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Which one belongs to Google? Microsoft?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4AEE5D-441C-79A4-D784-7F20D6E952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8647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55B23-D0F5-48D2-5CF1-E36F324C2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56E671-52FF-BF18-4B19-AD91423FB8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14DE68-170A-7497-ACC6-457129CFFA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dating apps do you use in HK?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32ACB6-9FBA-50DD-AADD-7219D51418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4484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98B48-55EF-0CD5-D0FF-B3F75BB69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529469-231B-77C3-B146-91BCE85CBE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53DC46-E463-F871-997B-3EA0A982AD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View history, bio, profile photo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144D0C-B6D8-88CC-F86B-7BF82B0711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7603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3D153-8C0B-E37C-1791-D85A25491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FE288D-5533-8E24-5B9D-A80BBB079F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3DC934-CAF2-EA17-CE16-3D525E9D98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8D12DF-2EBE-7A97-0853-104DCAED7E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0331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05568-399C-8E02-F807-AABB7B42C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97F6D0-9445-E875-C9F6-A286691E0B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0AD9A3-1BC3-7382-ED19-C076148298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FDD56C-2D01-0466-F2BB-53C6A2CD32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2062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D0176-3329-32A2-72CF-9CEDCE5AE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9D0134-8A3D-A578-BFB7-ACF650BB17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DB0724-1F2C-2B3A-AA00-2B93E2F5BB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3262A5-7B51-1C4D-61F5-8B47441DE9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02568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15D48-7118-BB67-F2DE-A27C074FF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04DBA7-A827-215B-BCE5-0654C7058C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9DCC95-25C2-A754-0DB8-55423ADD35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970EEA-5164-95DC-7AF2-5348BDBFAB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46047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86E01-1128-C3FD-3BB4-75CAFE837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53E353-30ED-340F-4187-55399A7782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EFFDBC-D555-9703-EA10-8ED04F9EB6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5DE2D7-DEAD-5E25-E7D1-7D82B6E40F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4294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4B7D7-5580-6928-F5D9-8D6BFD251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DB6FD2-68F6-053F-736C-EC931EDABD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54F6CE-3099-8D3C-8375-9D478DFBC9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601F0C-3FF2-B696-3F36-D87750C745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22148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04644-E251-242C-98DB-375855A00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8D2606-9178-DB27-672F-37A1FCA498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8D9A4F-5E92-018E-4C76-D54960DB34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Double-edged swords</a:t>
            </a:r>
          </a:p>
          <a:p>
            <a:r>
              <a:rPr lang="en-US" dirty="0"/>
              <a:t>Side effects </a:t>
            </a:r>
            <a:r>
              <a:rPr lang="en-US" dirty="0" err="1"/>
              <a:t>outweight</a:t>
            </a:r>
            <a:r>
              <a:rPr lang="en-US" dirty="0"/>
              <a:t> its benefit we gain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7DC12A-47C0-84DF-661B-37FB964401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48883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0A03A-B224-BEE1-6096-33BB9879A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18591B-C86F-6E76-0247-C9E12EEF72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CDEA75-E137-F091-2CAC-1B83D80F80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Once a platform knows more info about you, they can deliver better marketing campaign and content to you.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EFEE84-009A-FA58-48D8-211B3E767C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56350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BAC0D-0B7B-8437-50E2-D04FD66F4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7A5C4A-3BAE-53F3-C7C7-FFCC2710BE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4A55D1-38F5-624C-B064-B687144D4B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3DDCF-D057-5DC2-1650-6E07B9103F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74438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8F0B6-D20B-E5B6-DC95-83C7E8A98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0F225B-4595-B62C-145E-6834067619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B9C775-506D-3C4E-E820-5CB276B707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Political hashtag cloud.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Election poll graphic.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401BF2-967D-8341-B215-91723C5961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90289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FB5CD-ECA4-7C8A-94FA-A0CBA787E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A4D7BC-23C4-46F9-6776-A46B646D55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8B96EF-E887-10FA-26F4-16046853BE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EB945A-DE0C-CC59-7FA9-5B7031C048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42025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C6A6B-934B-BA2E-87E1-AB14B5978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2A1721-048B-A1FD-0EF6-C808BE7916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B2FB34-0BB4-7419-998F-E1FFA5265A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C4C7A6-58EE-54E7-5690-E6482724F0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97332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DF30C-EA5D-6D7B-D1B5-9C23F5C0E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5CC5B8-A6F7-3C41-CFBB-FE68EA99C1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16C3AC-5001-0174-031F-8E0A06944E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1D1DD1-1FEB-BAE4-7F1F-F8F6DA2F30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23435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2BF0E-CD18-9950-FE77-8552F6C5D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5DFD38-2454-74F8-8346-E2A48B8EF1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6A1847-E98B-D809-B6FD-7AB7F4CFF2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E74003-C1A2-8448-7022-0E04C30C9C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0439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327C4-0720-3F7D-A53F-7B5CECFD4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46B4D1-E282-16A7-083A-162CE8F4C8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4DCC60-3DED-37CE-71E3-62B4F6ED95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Map of outbreak mentions.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Disaster response map.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9BB4FA-6EEF-0692-C1C4-F2416064DA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3169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0D389-0BB6-FC0F-C333-A0A48208D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E93EE5-67F8-A69D-0E08-0C88F9AB85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F7B932-C80F-286F-3D9F-6F4FB8D8AB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32C9C9-FB16-17CF-30FF-F0C79B3C10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10973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990FE-CE26-E031-D9E2-36DAB49AF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E85B23-BD76-DD53-64F0-654C7C9143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049A41-6CAF-9147-2716-F4489D9527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180307-D31F-5921-6C79-FBDAE76AA8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90867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27443-BFE2-8FED-BCAC-486302DA5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1CCD46-1AD0-4041-A7D7-878F65C58B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CACE95-C520-6F0B-2397-C8C2C2CD51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 is segmented into 4 groups (horizontal lines)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6872A2-285C-27AF-6276-32B731AA49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11814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26305-342E-D4AF-E40C-0B40CD981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D9DE90-3E2D-F703-673E-811F85B8E1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A46CD4-A8E2-3678-A3DD-E660A7623B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1B03B8-C539-A068-E22D-77042D0D33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89186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13FAC-E2E2-4F6E-79D5-E317E3935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8EC825-7D19-02B3-9B16-E609A53CCE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6D4707-EC30-3AD8-8F5A-2BB0402CFD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D82804-613E-BEBC-B74B-EA2B08D3EA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54684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C3D8A-8CBA-D764-9B58-EA91185D8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BAC7D1-217B-9E47-AAD7-4577D02A4F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5ED4BB-BDA8-929B-C772-8411971555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B1DA3D-0E91-27A8-BD33-AEA709D450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78215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87A33-E29E-F5FD-5793-280402874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D3C15B-D47D-6C89-FFB8-D0553AD395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2D0FF2-A894-1131-4FBF-B540183BB3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Sandy</a:t>
            </a:r>
          </a:p>
          <a:p>
            <a:endParaRPr lang="en-US" dirty="0"/>
          </a:p>
          <a:p>
            <a:r>
              <a:rPr lang="en-US" dirty="0"/>
              <a:t>Each candidate tweet shares some info. about its location. Voting to determine its precise location.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F05647-82D7-1453-9CE1-C4DE3AF04A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32344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F6002-E59F-3843-7F79-69DAF6871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CF7E2C-8CA2-339E-9CD0-2645CAEDE5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B15A37-6B01-2F80-1899-87693ED67A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F8C3B-DD62-0656-0EB9-F2607C622D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50271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D492C-D748-864F-4D11-55A20909E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D670DD-8390-33F6-5017-67F30F3FFC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AB3274-6AC8-2D63-5B6F-121E97EFFB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6A1795-096C-4F04-3F2A-C25B447B75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81416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1F8AF-0F78-DB7E-E0F6-990261961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817760-68E7-6912-B67B-C0C22DD58E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76113B-B1A7-B42D-A5A3-8232A3DEBC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0AE5F7-8592-DBC1-4671-7455C2DEFC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60624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Metric icons.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75502754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A15BD-B46A-3AD4-B749-D8D3CB253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C54DE6-069B-042E-0B3D-8438B5C1AA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1FB193-D116-B5EC-D579-8B3A948EED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BAA275-CCF6-7853-1D56-A49EC7E833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99728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6CD67-EDA2-57FE-45DB-BEAA7596A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C5E295-2CBA-4131-31F0-3148249270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C612B6-8962-5C7D-317E-C0F1279B8E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observe that the popularity distribution of low-credibility articles is almost indistinguishable from that of fact-checking articles, meaning that low-credibility content is equally or more likely to spread virally.</a:t>
            </a:r>
          </a:p>
          <a:p>
            <a:endParaRPr lang="en-US" dirty="0"/>
          </a:p>
          <a:p>
            <a:r>
              <a:rPr lang="en-US" dirty="0"/>
              <a:t>B and C are two fake articles of dramatically different virality. Nodes and links represent Twitter accounts and retweets of the article.</a:t>
            </a:r>
          </a:p>
          <a:p>
            <a:endParaRPr lang="en-US" dirty="0"/>
          </a:p>
          <a:p>
            <a:r>
              <a:rPr lang="en-US" dirty="0"/>
              <a:t>Node color represents bot score, from blue (likely human) to red (likely bot); yellow nodes cannot be evaluated because they have either been suspended or deleted.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81A8C6-E371-3D16-A2CC-FB9B225F65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44211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E7FFB-CB0D-7D5D-EB84-EBD368419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552D73-79A8-42EF-5FC9-9DE1D0A9E6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4C5FE6-86B0-6B83-DE6C-30CEF690B5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Which one is a fake news?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Top is a fake news: Node color represents bot score, from blue (likely human) to red (likely bot); yellow nodes cannot be evaluated because they have either been suspended or deleted.</a:t>
            </a:r>
          </a:p>
          <a:p>
            <a:endParaRPr lang="en-US" dirty="0"/>
          </a:p>
          <a:p>
            <a:r>
              <a:rPr lang="en-US" dirty="0"/>
              <a:t>Bottom is a true news: Blue color means early adopter. Red means late adopter.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AE5751-6FC0-DEBE-ABA1-110D407132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66783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Icon-based visuals for each challenge.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4747960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 b="1" i="0">
                <a:latin typeface="LM Sans 12" panose="00000500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>
                <a:latin typeface="LM Sans 12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LM Sans 12" panose="00000500000000000000" pitchFamily="50" charset="0"/>
              </a:defRPr>
            </a:lvl1pPr>
          </a:lstStyle>
          <a:p>
            <a:fld id="{3F61BB81-E92A-AC43-843A-E4F6CBA4F63C}" type="datetimeFigureOut">
              <a:rPr lang="en-US" smtClean="0"/>
              <a:pPr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LM Sans 12" panose="000005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LM Sans 12" panose="00000500000000000000" pitchFamily="50" charset="0"/>
              </a:defRPr>
            </a:lvl1pPr>
          </a:lstStyle>
          <a:p>
            <a:fld id="{6DCFA791-3060-7643-8677-86D470F575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153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latin typeface="LM Sans 12" panose="00000500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LM Sans 12" panose="00000500000000000000" pitchFamily="50" charset="0"/>
              </a:defRPr>
            </a:lvl1pPr>
            <a:lvl2pPr>
              <a:defRPr>
                <a:latin typeface="LM Sans 12" panose="00000500000000000000" pitchFamily="50" charset="0"/>
              </a:defRPr>
            </a:lvl2pPr>
            <a:lvl3pPr>
              <a:defRPr>
                <a:latin typeface="LM Sans 12" panose="00000500000000000000" pitchFamily="50" charset="0"/>
              </a:defRPr>
            </a:lvl3pPr>
            <a:lvl4pPr>
              <a:defRPr>
                <a:latin typeface="LM Sans 12" panose="00000500000000000000" pitchFamily="50" charset="0"/>
              </a:defRPr>
            </a:lvl4pPr>
            <a:lvl5pPr>
              <a:defRPr>
                <a:latin typeface="LM Sans 12" panose="00000500000000000000" pitchFamily="50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LM Sans 12" panose="00000500000000000000" pitchFamily="50" charset="0"/>
              </a:defRPr>
            </a:lvl1pPr>
          </a:lstStyle>
          <a:p>
            <a:fld id="{3F61BB81-E92A-AC43-843A-E4F6CBA4F63C}" type="datetimeFigureOut">
              <a:rPr lang="en-US" smtClean="0"/>
              <a:pPr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LM Sans 12" panose="000005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LM Sans 12" panose="00000500000000000000" pitchFamily="50" charset="0"/>
              </a:defRPr>
            </a:lvl1pPr>
          </a:lstStyle>
          <a:p>
            <a:fld id="{6DCFA791-3060-7643-8677-86D470F575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038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1BB81-E92A-AC43-843A-E4F6CBA4F63C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750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latin typeface="Abadi MT Condensed Extra Bold" panose="020B0306030101010103" pitchFamily="34" charset="7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>
            <a:lvl1pPr>
              <a:defRPr>
                <a:latin typeface="Abadi MT Condensed Light" panose="020B0306030101010103" pitchFamily="34" charset="77"/>
              </a:defRPr>
            </a:lvl1pPr>
            <a:lvl2pPr>
              <a:defRPr>
                <a:latin typeface="Abadi MT Condensed Light" panose="020B0306030101010103" pitchFamily="34" charset="77"/>
              </a:defRPr>
            </a:lvl2pPr>
            <a:lvl3pPr>
              <a:defRPr>
                <a:latin typeface="Abadi MT Condensed Light" panose="020B0306030101010103" pitchFamily="34" charset="77"/>
              </a:defRPr>
            </a:lvl3pPr>
            <a:lvl4pPr>
              <a:defRPr>
                <a:latin typeface="Abadi MT Condensed Light" panose="020B0306030101010103" pitchFamily="34" charset="77"/>
              </a:defRPr>
            </a:lvl4pPr>
            <a:lvl5pPr>
              <a:defRPr>
                <a:latin typeface="Abadi MT Condensed Light" panose="020B0306030101010103" pitchFamily="34" charset="77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>
            <a:lvl1pPr>
              <a:defRPr>
                <a:latin typeface="Abadi MT Condensed Light" panose="020B0306030101010103" pitchFamily="34" charset="77"/>
              </a:defRPr>
            </a:lvl1pPr>
            <a:lvl2pPr>
              <a:defRPr>
                <a:latin typeface="Abadi MT Condensed Light" panose="020B0306030101010103" pitchFamily="34" charset="77"/>
              </a:defRPr>
            </a:lvl2pPr>
            <a:lvl3pPr>
              <a:defRPr>
                <a:latin typeface="Abadi MT Condensed Light" panose="020B0306030101010103" pitchFamily="34" charset="77"/>
              </a:defRPr>
            </a:lvl3pPr>
            <a:lvl4pPr>
              <a:defRPr>
                <a:latin typeface="Abadi MT Condensed Light" panose="020B0306030101010103" pitchFamily="34" charset="77"/>
              </a:defRPr>
            </a:lvl4pPr>
            <a:lvl5pPr>
              <a:defRPr>
                <a:latin typeface="Abadi MT Condensed Light" panose="020B0306030101010103" pitchFamily="34" charset="77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badi MT Condensed Light" panose="020B0306030101010103" pitchFamily="34" charset="77"/>
              </a:defRPr>
            </a:lvl1pPr>
          </a:lstStyle>
          <a:p>
            <a:fld id="{3F61BB81-E92A-AC43-843A-E4F6CBA4F63C}" type="datetimeFigureOut">
              <a:rPr lang="en-US" smtClean="0"/>
              <a:pPr/>
              <a:t>8/31/26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badi MT Condensed Light" panose="020B0306030101010103" pitchFamily="34" charset="77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badi MT Condensed Light" panose="020B0306030101010103" pitchFamily="34" charset="77"/>
              </a:defRPr>
            </a:lvl1pPr>
          </a:lstStyle>
          <a:p>
            <a:fld id="{6DCFA791-3060-7643-8677-86D470F575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213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1BB81-E92A-AC43-843A-E4F6CBA4F63C}" type="datetimeFigureOut">
              <a:rPr lang="en-US" smtClean="0"/>
              <a:t>8/31/26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950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1BB81-E92A-AC43-843A-E4F6CBA4F63C}" type="datetimeFigureOut">
              <a:rPr lang="en-US" smtClean="0"/>
              <a:t>8/31/26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124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1BB81-E92A-AC43-843A-E4F6CBA4F63C}" type="datetimeFigureOut">
              <a:rPr lang="en-US" smtClean="0"/>
              <a:t>8/31/26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540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1BB81-E92A-AC43-843A-E4F6CBA4F63C}" type="datetimeFigureOut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822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1BB81-E92A-AC43-843A-E4F6CBA4F63C}" type="datetimeFigureOut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010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1BB81-E92A-AC43-843A-E4F6CBA4F63C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405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1BB81-E92A-AC43-843A-E4F6CBA4F63C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215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badi MT Condensed Light" panose="020B0306030101010103" pitchFamily="34" charset="77"/>
              </a:defRPr>
            </a:lvl1pPr>
          </a:lstStyle>
          <a:p>
            <a:fld id="{3F61BB81-E92A-AC43-843A-E4F6CBA4F63C}" type="datetimeFigureOut">
              <a:rPr lang="en-US" smtClean="0"/>
              <a:pPr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badi MT Condensed Light" panose="020B0306030101010103" pitchFamily="34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badi MT Condensed Light" panose="020B0306030101010103" pitchFamily="34" charset="77"/>
              </a:defRPr>
            </a:lvl1pPr>
          </a:lstStyle>
          <a:p>
            <a:fld id="{6DCFA791-3060-7643-8677-86D470F575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948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Abadi MT Condensed Extra Bold" panose="020B0306030101010103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badi MT Condensed Light" panose="020B0306030101010103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badi MT Condensed Light" panose="020B0306030101010103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badi MT Condensed Light" panose="020B0306030101010103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badi MT Condensed Light" panose="020B0306030101010103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badi MT Condensed Light" panose="020B0306030101010103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hyperlink" Target="mailto:menghashi4-c@my.cityu.edu.hk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haypal5/awesome-twitter-data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fatalencounters.org/our-visualizations/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lephrame.com/charts/BLM" TargetMode="Externa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hyperlink" Target="https://botometer.osome.iu.edu/" TargetMode="Externa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B6359-AFC8-5749-ABD8-D22C31534A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7848" y="1373809"/>
            <a:ext cx="7648303" cy="1729289"/>
          </a:xfrm>
        </p:spPr>
        <p:txBody>
          <a:bodyPr>
            <a:normAutofit/>
          </a:bodyPr>
          <a:lstStyle/>
          <a:p>
            <a:r>
              <a:rPr lang="en-HK" sz="5300" dirty="0">
                <a:latin typeface="+mn-lt"/>
              </a:rPr>
              <a:t>DSC3013 Intro. to Social Media Analytics (</a:t>
            </a:r>
            <a:r>
              <a:rPr lang="en-HK" sz="5300" dirty="0" err="1">
                <a:latin typeface="+mn-lt"/>
              </a:rPr>
              <a:t>Lec</a:t>
            </a:r>
            <a:r>
              <a:rPr lang="en-HK" sz="5300" dirty="0">
                <a:latin typeface="+mn-lt"/>
              </a:rPr>
              <a:t>. 1)</a:t>
            </a:r>
            <a:endParaRPr lang="en-US" b="1" dirty="0">
              <a:latin typeface="+mn-lt"/>
              <a:cs typeface="Al Nile" pitchFamily="2" charset="-78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BB8D86-7309-C04C-901B-36514C3810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2999" y="3429000"/>
            <a:ext cx="6858000" cy="2136153"/>
          </a:xfrm>
        </p:spPr>
        <p:txBody>
          <a:bodyPr>
            <a:normAutofit lnSpcReduction="10000"/>
          </a:bodyPr>
          <a:lstStyle/>
          <a:p>
            <a:endParaRPr lang="en-US" dirty="0">
              <a:latin typeface="LM Sans 12" panose="00000500000000000000" pitchFamily="50" charset="0"/>
              <a:ea typeface="Apple Symbols" panose="02000000000000000000" pitchFamily="2" charset="-79"/>
              <a:cs typeface="Apple Symbols" panose="02000000000000000000" pitchFamily="2" charset="-79"/>
            </a:endParaRPr>
          </a:p>
          <a:p>
            <a:r>
              <a:rPr lang="en-US" dirty="0">
                <a:latin typeface="LM Sans 12" panose="00000500000000000000" pitchFamily="50" charset="0"/>
                <a:ea typeface="Apple Symbols" panose="02000000000000000000" pitchFamily="2" charset="-79"/>
                <a:cs typeface="Apple Symbols" panose="02000000000000000000" pitchFamily="2" charset="-79"/>
              </a:rPr>
              <a:t>Hao PENG</a:t>
            </a:r>
          </a:p>
          <a:p>
            <a:r>
              <a:rPr lang="en-US" dirty="0">
                <a:latin typeface="LM Sans 12" panose="00000500000000000000" pitchFamily="50" charset="0"/>
                <a:ea typeface="Apple Symbols" panose="02000000000000000000" pitchFamily="2" charset="-79"/>
                <a:cs typeface="Apple Symbols" panose="02000000000000000000" pitchFamily="2" charset="-79"/>
              </a:rPr>
              <a:t>Department of Data Science</a:t>
            </a:r>
          </a:p>
          <a:p>
            <a:r>
              <a:rPr lang="en-US" dirty="0">
                <a:latin typeface="LM Sans 12" panose="00000500000000000000" pitchFamily="50" charset="0"/>
                <a:ea typeface="Apple Symbols" panose="02000000000000000000" pitchFamily="2" charset="-79"/>
                <a:cs typeface="Apple Symbols" panose="02000000000000000000" pitchFamily="2" charset="-79"/>
              </a:rPr>
              <a:t>City University of Hong Kong</a:t>
            </a:r>
          </a:p>
          <a:p>
            <a:r>
              <a:rPr lang="en-US" dirty="0">
                <a:solidFill>
                  <a:srgbClr val="0019FF"/>
                </a:solidFill>
                <a:latin typeface="LM Sans 12" panose="00000500000000000000" pitchFamily="50" charset="0"/>
                <a:ea typeface="Apple Symbols" panose="02000000000000000000" pitchFamily="2" charset="-79"/>
                <a:cs typeface="Apple Symbols" panose="02000000000000000000" pitchFamily="2" charset="-79"/>
              </a:rPr>
              <a:t>https://</a:t>
            </a:r>
            <a:r>
              <a:rPr lang="en-US" dirty="0" err="1">
                <a:solidFill>
                  <a:srgbClr val="0019FF"/>
                </a:solidFill>
                <a:latin typeface="LM Sans 12" panose="00000500000000000000" pitchFamily="50" charset="0"/>
                <a:ea typeface="Apple Symbols" panose="02000000000000000000" pitchFamily="2" charset="-79"/>
                <a:cs typeface="Apple Symbols" panose="02000000000000000000" pitchFamily="2" charset="-79"/>
              </a:rPr>
              <a:t>haoopeng.github.io</a:t>
            </a:r>
            <a:r>
              <a:rPr lang="en-US" dirty="0">
                <a:solidFill>
                  <a:srgbClr val="0019FF"/>
                </a:solidFill>
                <a:latin typeface="LM Sans 12" panose="00000500000000000000" pitchFamily="50" charset="0"/>
                <a:ea typeface="Apple Symbols" panose="02000000000000000000" pitchFamily="2" charset="-79"/>
                <a:cs typeface="Apple Symbols" panose="02000000000000000000" pitchFamily="2" charset="-79"/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3852969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4B037-1F5D-A842-B384-8B3475B49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Hao PENG </a:t>
            </a:r>
            <a:r>
              <a:rPr lang="en-US" b="0" dirty="0">
                <a:latin typeface="STSong" panose="02010600040101010101" pitchFamily="2" charset="-122"/>
                <a:ea typeface="STSong" panose="02010600040101010101" pitchFamily="2" charset="-122"/>
              </a:rPr>
              <a:t>(</a:t>
            </a:r>
            <a:r>
              <a:rPr lang="en-US" b="0" dirty="0" err="1">
                <a:latin typeface="STSong" panose="02010600040101010101" pitchFamily="2" charset="-122"/>
                <a:ea typeface="STSong" panose="02010600040101010101" pitchFamily="2" charset="-122"/>
              </a:rPr>
              <a:t>彭浩</a:t>
            </a:r>
            <a:r>
              <a:rPr lang="en-US" b="0" dirty="0">
                <a:latin typeface="STSong" panose="02010600040101010101" pitchFamily="2" charset="-122"/>
                <a:ea typeface="STSong" panose="02010600040101010101" pitchFamily="2" charset="-122"/>
              </a:rPr>
              <a:t>)</a:t>
            </a:r>
            <a:endParaRPr lang="en-US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FDFE8-5660-3142-B97F-1D1C17F05F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r>
              <a:rPr lang="en-US" sz="2400" dirty="0"/>
              <a:t>Ass</a:t>
            </a:r>
            <a:r>
              <a:rPr lang="en-US" altLang="zh-CN" sz="2400" dirty="0"/>
              <a:t>istant</a:t>
            </a:r>
            <a:r>
              <a:rPr lang="en-US" sz="2400" dirty="0"/>
              <a:t> Professor</a:t>
            </a:r>
          </a:p>
          <a:p>
            <a:pPr lvl="1"/>
            <a:r>
              <a:rPr lang="en-US" altLang="zh-CN" sz="2000" u="sng" dirty="0"/>
              <a:t>Department</a:t>
            </a:r>
            <a:r>
              <a:rPr lang="en-US" sz="2000" u="sng" dirty="0"/>
              <a:t> of Data Science</a:t>
            </a:r>
          </a:p>
          <a:p>
            <a:pPr lvl="1"/>
            <a:r>
              <a:rPr lang="en-US" altLang="zh-CN" sz="2000" dirty="0"/>
              <a:t>College</a:t>
            </a:r>
            <a:r>
              <a:rPr lang="zh-CN" altLang="en-US" sz="2000" dirty="0"/>
              <a:t> </a:t>
            </a:r>
            <a:r>
              <a:rPr lang="en-US" altLang="zh-CN" sz="2000" dirty="0"/>
              <a:t>of</a:t>
            </a:r>
            <a:r>
              <a:rPr lang="zh-CN" altLang="en-US" sz="2000" dirty="0"/>
              <a:t> </a:t>
            </a:r>
            <a:r>
              <a:rPr lang="en-US" altLang="zh-CN" sz="2000" dirty="0"/>
              <a:t>Computing, </a:t>
            </a:r>
            <a:r>
              <a:rPr lang="en-US" altLang="zh-CN" sz="2000" dirty="0" err="1"/>
              <a:t>CityU</a:t>
            </a:r>
            <a:endParaRPr lang="en-US" sz="2400" dirty="0"/>
          </a:p>
          <a:p>
            <a:r>
              <a:rPr lang="en-US" altLang="zh-CN" sz="2400" b="1" dirty="0"/>
              <a:t>Postdoc</a:t>
            </a:r>
            <a:r>
              <a:rPr lang="en-US" altLang="zh-CN" sz="2400" dirty="0"/>
              <a:t>:</a:t>
            </a:r>
            <a:r>
              <a:rPr lang="zh-CN" altLang="en-US" sz="2400" dirty="0"/>
              <a:t> </a:t>
            </a:r>
            <a:r>
              <a:rPr lang="en-US" altLang="zh-CN" sz="2400" dirty="0"/>
              <a:t>Kellogg</a:t>
            </a:r>
            <a:r>
              <a:rPr lang="zh-CN" altLang="en-US" sz="2400" dirty="0"/>
              <a:t> </a:t>
            </a:r>
            <a:r>
              <a:rPr lang="en-US" altLang="zh-CN" sz="2400" dirty="0"/>
              <a:t>School</a:t>
            </a:r>
            <a:r>
              <a:rPr lang="zh-CN" altLang="en-US" sz="2400" dirty="0"/>
              <a:t> </a:t>
            </a:r>
            <a:r>
              <a:rPr lang="en-US" altLang="zh-CN" sz="2400" dirty="0"/>
              <a:t>of</a:t>
            </a:r>
            <a:r>
              <a:rPr lang="zh-CN" altLang="en-US" sz="2400" dirty="0"/>
              <a:t> </a:t>
            </a:r>
            <a:r>
              <a:rPr lang="en-US" altLang="zh-CN" sz="2400" dirty="0"/>
              <a:t>Management,</a:t>
            </a:r>
            <a:r>
              <a:rPr lang="zh-CN" altLang="en-US" sz="2400" dirty="0"/>
              <a:t> </a:t>
            </a:r>
            <a:r>
              <a:rPr lang="en-US" altLang="zh-CN" sz="2400" u="sng" dirty="0"/>
              <a:t>Northwestern</a:t>
            </a:r>
            <a:r>
              <a:rPr lang="zh-CN" altLang="en-US" sz="2400" u="sng" dirty="0"/>
              <a:t> </a:t>
            </a:r>
            <a:r>
              <a:rPr lang="en-US" altLang="zh-CN" sz="2400" u="sng" dirty="0"/>
              <a:t>U</a:t>
            </a:r>
            <a:endParaRPr lang="en-US" sz="2400" u="sng" dirty="0"/>
          </a:p>
          <a:p>
            <a:r>
              <a:rPr lang="en-US" sz="2400" b="1" dirty="0"/>
              <a:t>PhD</a:t>
            </a:r>
            <a:r>
              <a:rPr lang="en-US" altLang="zh-CN" sz="2400" dirty="0"/>
              <a:t>:</a:t>
            </a:r>
            <a:r>
              <a:rPr lang="en-US" sz="2400" dirty="0"/>
              <a:t> </a:t>
            </a:r>
            <a:r>
              <a:rPr lang="en-US" altLang="zh-CN" sz="2400" dirty="0"/>
              <a:t>Information</a:t>
            </a:r>
            <a:r>
              <a:rPr lang="zh-CN" altLang="en-US" sz="2400" dirty="0"/>
              <a:t> </a:t>
            </a:r>
            <a:r>
              <a:rPr lang="en-US" altLang="zh-CN" sz="2400" dirty="0"/>
              <a:t>Science</a:t>
            </a:r>
            <a:r>
              <a:rPr lang="en-US" sz="2400" dirty="0"/>
              <a:t>, </a:t>
            </a:r>
            <a:r>
              <a:rPr lang="en-US" sz="2400" u="sng" dirty="0"/>
              <a:t>Univ. of </a:t>
            </a:r>
            <a:r>
              <a:rPr lang="en-US" altLang="zh-CN" sz="2400" u="sng" dirty="0"/>
              <a:t>Michigan</a:t>
            </a:r>
            <a:endParaRPr lang="en-US" sz="2400" u="sng" dirty="0"/>
          </a:p>
          <a:p>
            <a:r>
              <a:rPr lang="en-US" sz="2400" b="1" dirty="0"/>
              <a:t>B</a:t>
            </a:r>
            <a:r>
              <a:rPr lang="en-US" altLang="zh-CN" sz="2400" b="1" dirty="0"/>
              <a:t>S</a:t>
            </a:r>
            <a:r>
              <a:rPr lang="en-US" altLang="zh-CN" sz="2400" dirty="0"/>
              <a:t>:</a:t>
            </a:r>
            <a:r>
              <a:rPr lang="en-US" sz="2400" dirty="0"/>
              <a:t> </a:t>
            </a:r>
            <a:r>
              <a:rPr lang="en-US" altLang="zh-CN" sz="2400" dirty="0"/>
              <a:t>Information</a:t>
            </a:r>
            <a:r>
              <a:rPr lang="zh-CN" altLang="en-US" sz="2400" dirty="0"/>
              <a:t> </a:t>
            </a:r>
            <a:r>
              <a:rPr lang="en-US" altLang="zh-CN" sz="2400" dirty="0"/>
              <a:t>Management</a:t>
            </a:r>
            <a:r>
              <a:rPr lang="en-US" sz="2400" dirty="0"/>
              <a:t>, </a:t>
            </a:r>
            <a:r>
              <a:rPr lang="en-US" altLang="zh-CN" sz="2400" u="sng" dirty="0"/>
              <a:t>Sun</a:t>
            </a:r>
            <a:r>
              <a:rPr lang="zh-CN" altLang="en-US" sz="2400" u="sng" dirty="0"/>
              <a:t> </a:t>
            </a:r>
            <a:r>
              <a:rPr lang="en-US" altLang="zh-CN" sz="2400" u="sng" dirty="0"/>
              <a:t>Yat-sen</a:t>
            </a:r>
            <a:r>
              <a:rPr lang="zh-CN" altLang="en-US" sz="2400" u="sng" dirty="0"/>
              <a:t> </a:t>
            </a:r>
            <a:r>
              <a:rPr lang="en-US" altLang="zh-CN" sz="2400" u="sng" dirty="0"/>
              <a:t>Univ.</a:t>
            </a:r>
            <a:endParaRPr lang="en-US" sz="2400" u="sng" dirty="0"/>
          </a:p>
          <a:p>
            <a:r>
              <a:rPr lang="en-US" sz="2400" b="1" dirty="0"/>
              <a:t>Research interests</a:t>
            </a:r>
            <a:r>
              <a:rPr lang="en-US" sz="2400" dirty="0"/>
              <a:t>:</a:t>
            </a:r>
          </a:p>
          <a:p>
            <a:pPr marL="0" indent="0">
              <a:buNone/>
            </a:pPr>
            <a:r>
              <a:rPr lang="en-US" altLang="zh-CN" sz="2400" i="1" dirty="0"/>
              <a:t>Computational</a:t>
            </a:r>
            <a:r>
              <a:rPr lang="zh-CN" altLang="en-US" sz="2400" i="1" dirty="0"/>
              <a:t> </a:t>
            </a:r>
            <a:r>
              <a:rPr lang="en-US" altLang="zh-CN" sz="2400" i="1" dirty="0"/>
              <a:t>Social</a:t>
            </a:r>
            <a:r>
              <a:rPr lang="zh-CN" altLang="en-US" sz="2400" i="1" dirty="0"/>
              <a:t> </a:t>
            </a:r>
            <a:r>
              <a:rPr lang="en-US" altLang="zh-CN" sz="2400" i="1" dirty="0"/>
              <a:t>Science,</a:t>
            </a:r>
            <a:r>
              <a:rPr lang="zh-CN" altLang="en-US" sz="2400" i="1" dirty="0"/>
              <a:t> </a:t>
            </a:r>
            <a:r>
              <a:rPr lang="en-US" altLang="zh-CN" sz="2400" i="1" dirty="0"/>
              <a:t>Social</a:t>
            </a:r>
            <a:r>
              <a:rPr lang="zh-CN" altLang="en-US" sz="2400" i="1" dirty="0"/>
              <a:t> </a:t>
            </a:r>
            <a:r>
              <a:rPr lang="en-US" altLang="zh-CN" sz="2400" i="1" dirty="0"/>
              <a:t>Networks,</a:t>
            </a:r>
            <a:r>
              <a:rPr lang="zh-CN" altLang="en-US" sz="2400" i="1" dirty="0"/>
              <a:t> </a:t>
            </a:r>
            <a:r>
              <a:rPr lang="en-US" altLang="zh-CN" sz="2400" i="1" dirty="0"/>
              <a:t>Science</a:t>
            </a:r>
            <a:r>
              <a:rPr lang="zh-CN" altLang="en-US" sz="2400" i="1" dirty="0"/>
              <a:t> </a:t>
            </a:r>
            <a:r>
              <a:rPr lang="en-US" altLang="zh-CN" sz="2400" i="1" dirty="0"/>
              <a:t>of</a:t>
            </a:r>
            <a:r>
              <a:rPr lang="zh-CN" altLang="en-US" sz="2400" i="1" dirty="0"/>
              <a:t> </a:t>
            </a:r>
            <a:r>
              <a:rPr lang="en-US" altLang="zh-CN" sz="2400" i="1" dirty="0"/>
              <a:t>Innovation,</a:t>
            </a:r>
            <a:r>
              <a:rPr lang="zh-CN" altLang="en-US" sz="2400" i="1" dirty="0"/>
              <a:t> </a:t>
            </a:r>
            <a:r>
              <a:rPr lang="en-US" altLang="zh-CN" sz="2400" i="1" dirty="0"/>
              <a:t>Social</a:t>
            </a:r>
            <a:r>
              <a:rPr lang="zh-CN" altLang="en-US" sz="2400" i="1" dirty="0"/>
              <a:t> </a:t>
            </a:r>
            <a:r>
              <a:rPr lang="en-US" altLang="zh-CN" sz="2400" i="1" dirty="0"/>
              <a:t>Media,</a:t>
            </a:r>
            <a:r>
              <a:rPr lang="zh-CN" altLang="en-US" sz="2400" i="1" dirty="0"/>
              <a:t> </a:t>
            </a:r>
            <a:r>
              <a:rPr lang="en-US" altLang="zh-CN" sz="2400" i="1" dirty="0"/>
              <a:t>Management</a:t>
            </a:r>
            <a:r>
              <a:rPr lang="zh-CN" altLang="en-US" sz="2400" i="1" dirty="0"/>
              <a:t> </a:t>
            </a:r>
            <a:r>
              <a:rPr lang="en-US" altLang="zh-CN" sz="2400" i="1" dirty="0"/>
              <a:t>Science,</a:t>
            </a:r>
            <a:r>
              <a:rPr lang="zh-CN" altLang="en-US" sz="2400" i="1" dirty="0"/>
              <a:t> </a:t>
            </a:r>
            <a:r>
              <a:rPr lang="en-US" altLang="zh-CN" sz="2400" i="1" dirty="0"/>
              <a:t>Complex</a:t>
            </a:r>
            <a:r>
              <a:rPr lang="zh-CN" altLang="en-US" sz="2400" i="1" dirty="0"/>
              <a:t> </a:t>
            </a:r>
            <a:r>
              <a:rPr lang="en-US" altLang="zh-CN" sz="2400" i="1" dirty="0"/>
              <a:t>Systems</a:t>
            </a:r>
            <a:r>
              <a:rPr lang="en-US" sz="2400" i="1" dirty="0"/>
              <a:t>, </a:t>
            </a:r>
            <a:r>
              <a:rPr lang="en-US" altLang="zh-CN" sz="2400" i="1" dirty="0"/>
              <a:t>N</a:t>
            </a:r>
            <a:r>
              <a:rPr lang="en-US" sz="2400" i="1" dirty="0"/>
              <a:t>etwork </a:t>
            </a:r>
            <a:r>
              <a:rPr lang="en-US" altLang="zh-CN" sz="2400" i="1" dirty="0"/>
              <a:t>S</a:t>
            </a:r>
            <a:r>
              <a:rPr lang="en-US" sz="2400" i="1" dirty="0"/>
              <a:t>cience, LLM, </a:t>
            </a:r>
            <a:r>
              <a:rPr lang="en-US" altLang="zh-CN" sz="2400" i="1" dirty="0"/>
              <a:t>NLP</a:t>
            </a:r>
            <a:r>
              <a:rPr lang="en-US" sz="2400" i="1" dirty="0"/>
              <a:t>, AI, Gender, Diversity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909111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23312-ADDD-294E-B56B-9CB472D01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About this course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CAB00-106C-FD48-80DB-4E60597D50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9"/>
            <a:ext cx="8099714" cy="4351338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/>
              <a:t>You will learn full pipeline of conducting social media analytics (</a:t>
            </a:r>
            <a:r>
              <a:rPr lang="en-US" b="1" dirty="0"/>
              <a:t>SMA</a:t>
            </a:r>
            <a:r>
              <a:rPr lang="en-US" dirty="0"/>
              <a:t>) in business, economics, politics, marketing, etc.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Data, methods, visualization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Domain applications, ethics, etc.</a:t>
            </a:r>
          </a:p>
          <a:p>
            <a:r>
              <a:rPr lang="en-US" dirty="0"/>
              <a:t>The main coding environment is </a:t>
            </a:r>
            <a:r>
              <a:rPr lang="en-US" dirty="0">
                <a:solidFill>
                  <a:srgbClr val="0432FF"/>
                </a:solidFill>
              </a:rPr>
              <a:t>Python &amp; R</a:t>
            </a:r>
            <a:endParaRPr lang="en-US" dirty="0"/>
          </a:p>
          <a:p>
            <a:r>
              <a:rPr lang="en-US" dirty="0"/>
              <a:t>Instructor: PENG Hao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16F-274, AC3</a:t>
            </a:r>
          </a:p>
          <a:p>
            <a:pPr lvl="1">
              <a:lnSpc>
                <a:spcPct val="120000"/>
              </a:lnSpc>
            </a:pPr>
            <a:r>
              <a:rPr lang="en-US" dirty="0">
                <a:solidFill>
                  <a:srgbClr val="0432FF"/>
                </a:solidFill>
              </a:rPr>
              <a:t>Office hour: Email or by appointment</a:t>
            </a:r>
          </a:p>
          <a:p>
            <a:r>
              <a:rPr lang="en-US" dirty="0"/>
              <a:t>TA: LI Wenwen (BS from NYU, MS from Columbia U.)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Research: economics of science funding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Email: </a:t>
            </a:r>
            <a:r>
              <a:rPr lang="en-US" dirty="0">
                <a:solidFill>
                  <a:srgbClr val="0432FF"/>
                </a:solidFill>
                <a:hlinkClick r:id="rId4"/>
              </a:rPr>
              <a:t>wenweli9-c@my.cityu.edu.hk</a:t>
            </a:r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83238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C5667-D50F-3E47-A4DA-BC797509A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Key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2105E-677A-EF4D-B7AC-71CF684792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96291"/>
            <a:ext cx="7886700" cy="5203767"/>
          </a:xfrm>
        </p:spPr>
        <p:txBody>
          <a:bodyPr>
            <a:normAutofit/>
          </a:bodyPr>
          <a:lstStyle/>
          <a:p>
            <a:r>
              <a:rPr lang="en-US" sz="2400" dirty="0"/>
              <a:t>Weeks 1-3: Methodological foundations of SMA</a:t>
            </a:r>
          </a:p>
          <a:p>
            <a:pPr lvl="1"/>
            <a:r>
              <a:rPr lang="en-US" sz="2000" dirty="0"/>
              <a:t>Data foundations, predictive models</a:t>
            </a:r>
          </a:p>
          <a:p>
            <a:r>
              <a:rPr lang="en-US" sz="2400" dirty="0"/>
              <a:t>Weeks 4-5: NLP &amp; Text analytics</a:t>
            </a:r>
          </a:p>
          <a:p>
            <a:pPr lvl="1"/>
            <a:r>
              <a:rPr lang="en-US" sz="2000" dirty="0"/>
              <a:t>Content analysis, sentiment, emotion, bot, misinformation, etc.</a:t>
            </a:r>
          </a:p>
          <a:p>
            <a:r>
              <a:rPr lang="en-US" sz="2400" dirty="0"/>
              <a:t>Weeks 6-7: Modeling user behavior</a:t>
            </a:r>
          </a:p>
          <a:p>
            <a:pPr lvl="1"/>
            <a:r>
              <a:rPr lang="en-US" sz="2000" dirty="0"/>
              <a:t>Demographics, psychological traits, online engagement, etc.</a:t>
            </a:r>
          </a:p>
          <a:p>
            <a:r>
              <a:rPr lang="en-US" sz="2400" dirty="0"/>
              <a:t>Weeks 8-9: Social network analysis</a:t>
            </a:r>
          </a:p>
          <a:p>
            <a:pPr lvl="1"/>
            <a:r>
              <a:rPr lang="en-US" sz="2000" dirty="0"/>
              <a:t>Centrality measures, weak tie, small world, homophily</a:t>
            </a:r>
          </a:p>
          <a:p>
            <a:pPr lvl="1"/>
            <a:r>
              <a:rPr lang="en-US" sz="2000" dirty="0"/>
              <a:t>Social influence, info. diffusion, viral marketing, cascade prediction</a:t>
            </a:r>
          </a:p>
          <a:p>
            <a:r>
              <a:rPr lang="en-US" sz="2400" dirty="0"/>
              <a:t>Weeks 10-11: Visualization, ethics</a:t>
            </a:r>
          </a:p>
          <a:p>
            <a:pPr lvl="1"/>
            <a:r>
              <a:rPr lang="en-US" sz="2000" dirty="0" err="1"/>
              <a:t>NetworkX</a:t>
            </a:r>
            <a:r>
              <a:rPr lang="en-US" sz="2000" dirty="0"/>
              <a:t>, Gephi</a:t>
            </a:r>
          </a:p>
          <a:p>
            <a:pPr lvl="1"/>
            <a:r>
              <a:rPr lang="en-US" sz="2000" dirty="0"/>
              <a:t>Limitations of SMA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58459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A12CE-6948-1A03-67A8-CDE4B14A0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AA1A6-6C0A-943C-2B59-F363858AC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Tutorials (in-class)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9154D-73B6-72A6-E3E3-A4C5D88F98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96291"/>
            <a:ext cx="7886700" cy="5203767"/>
          </a:xfrm>
        </p:spPr>
        <p:txBody>
          <a:bodyPr>
            <a:normAutofit/>
          </a:bodyPr>
          <a:lstStyle/>
          <a:p>
            <a:r>
              <a:rPr lang="en-US" sz="2400" dirty="0"/>
              <a:t>Week 1</a:t>
            </a:r>
          </a:p>
          <a:p>
            <a:pPr lvl="1"/>
            <a:r>
              <a:rPr lang="en-US" sz="2000" dirty="0"/>
              <a:t>Tutorial 1: Setup Python &amp; R</a:t>
            </a:r>
          </a:p>
          <a:p>
            <a:r>
              <a:rPr lang="en-US" sz="2400" dirty="0"/>
              <a:t>Week 3</a:t>
            </a:r>
          </a:p>
          <a:p>
            <a:pPr lvl="1"/>
            <a:r>
              <a:rPr lang="en-US" sz="2000" dirty="0"/>
              <a:t>Tutorial 2: Predictive analysis</a:t>
            </a:r>
          </a:p>
          <a:p>
            <a:r>
              <a:rPr lang="en-US" sz="2400" dirty="0"/>
              <a:t>Week 5</a:t>
            </a:r>
          </a:p>
          <a:p>
            <a:pPr lvl="1"/>
            <a:r>
              <a:rPr lang="en-US" sz="2000" dirty="0"/>
              <a:t>Tutorial 3: Descriptive (correlation) analysis</a:t>
            </a:r>
          </a:p>
          <a:p>
            <a:r>
              <a:rPr lang="en-US" sz="2400" dirty="0"/>
              <a:t>Week 7</a:t>
            </a:r>
          </a:p>
          <a:p>
            <a:pPr lvl="1"/>
            <a:r>
              <a:rPr lang="en-US" sz="2000" dirty="0"/>
              <a:t>Tutorial 4: Bot / fake news detection</a:t>
            </a:r>
          </a:p>
          <a:p>
            <a:r>
              <a:rPr lang="en-US" sz="2400" dirty="0"/>
              <a:t>Week 9</a:t>
            </a:r>
          </a:p>
          <a:p>
            <a:pPr lvl="1"/>
            <a:r>
              <a:rPr lang="en-US" sz="2000" dirty="0"/>
              <a:t>Tutorial 5: Cascade prediction</a:t>
            </a:r>
          </a:p>
          <a:p>
            <a:r>
              <a:rPr lang="en-US" sz="2400" dirty="0"/>
              <a:t>Week 11</a:t>
            </a:r>
          </a:p>
          <a:p>
            <a:pPr lvl="1"/>
            <a:r>
              <a:rPr lang="en-US" sz="2000" dirty="0"/>
              <a:t>Tutorial 6: </a:t>
            </a:r>
            <a:r>
              <a:rPr lang="en-US" sz="2000" dirty="0" err="1"/>
              <a:t>NetworkX</a:t>
            </a:r>
            <a:endParaRPr lang="en-US" sz="20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58043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0F6AA-D0F7-DDC3-0ED5-08B5C47AB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CDBC1-258F-4BFB-03C5-13CA16BCC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Difference with DSC 2005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41D1D-FE91-B33F-E149-7D6CAFFCDF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434299"/>
            <a:ext cx="8338888" cy="5203767"/>
          </a:xfrm>
        </p:spPr>
        <p:txBody>
          <a:bodyPr>
            <a:normAutofit/>
          </a:bodyPr>
          <a:lstStyle/>
          <a:p>
            <a:r>
              <a:rPr lang="en-US" sz="2400" dirty="0"/>
              <a:t>Method difference</a:t>
            </a:r>
          </a:p>
          <a:p>
            <a:pPr lvl="1"/>
            <a:r>
              <a:rPr lang="en-US" sz="2000" dirty="0"/>
              <a:t>2005: CSS methodologies (observational vs. exp analysis, etc.)</a:t>
            </a:r>
          </a:p>
          <a:p>
            <a:pPr lvl="1"/>
            <a:r>
              <a:rPr lang="en-US" sz="2000" dirty="0"/>
              <a:t>3013: applications of CSS in social media (predictive models)</a:t>
            </a:r>
          </a:p>
          <a:p>
            <a:r>
              <a:rPr lang="en-US" sz="2400" dirty="0"/>
              <a:t>Domain difference</a:t>
            </a:r>
          </a:p>
          <a:p>
            <a:pPr lvl="1"/>
            <a:r>
              <a:rPr lang="en-US" sz="2000" dirty="0"/>
              <a:t>2005: all social science areas (including, innovation analytics)</a:t>
            </a:r>
          </a:p>
          <a:p>
            <a:pPr lvl="1"/>
            <a:r>
              <a:rPr lang="en-US" sz="2000" dirty="0"/>
              <a:t>3013: all aspects of social media environment</a:t>
            </a:r>
          </a:p>
          <a:p>
            <a:pPr lvl="2"/>
            <a:r>
              <a:rPr lang="en-US" dirty="0"/>
              <a:t>Social media platforms (User behavior)</a:t>
            </a:r>
          </a:p>
          <a:p>
            <a:pPr lvl="2"/>
            <a:r>
              <a:rPr lang="en-US" dirty="0"/>
              <a:t>Social networking sites (Info. diffusion)</a:t>
            </a:r>
            <a:endParaRPr lang="en-US" sz="1600" dirty="0"/>
          </a:p>
          <a:p>
            <a:r>
              <a:rPr lang="en-US" sz="2400" dirty="0"/>
              <a:t>Overlapping topics</a:t>
            </a:r>
          </a:p>
          <a:p>
            <a:pPr lvl="1"/>
            <a:r>
              <a:rPr lang="en-US" sz="2000" dirty="0"/>
              <a:t>“Small” Language Models (n-grams, LIWC, LDA, </a:t>
            </a:r>
            <a:r>
              <a:rPr lang="en-US" sz="2000" u="sng" dirty="0"/>
              <a:t>w2v</a:t>
            </a:r>
            <a:r>
              <a:rPr lang="en-US" sz="2000" dirty="0"/>
              <a:t>, etc.)</a:t>
            </a:r>
          </a:p>
          <a:p>
            <a:pPr lvl="2"/>
            <a:r>
              <a:rPr lang="en-US" dirty="0"/>
              <a:t>3013: beyond sentiment: content analysis, emotion, personality</a:t>
            </a:r>
          </a:p>
          <a:p>
            <a:pPr lvl="1"/>
            <a:r>
              <a:rPr lang="en-US" sz="2000" dirty="0"/>
              <a:t>User behavior analysis</a:t>
            </a:r>
            <a:endParaRPr lang="en-US" sz="1600" dirty="0"/>
          </a:p>
          <a:p>
            <a:pPr lvl="2"/>
            <a:r>
              <a:rPr lang="en-US" dirty="0"/>
              <a:t>2005: community level success (online communities, norms)</a:t>
            </a:r>
          </a:p>
          <a:p>
            <a:pPr lvl="2"/>
            <a:r>
              <a:rPr lang="en-US" dirty="0"/>
              <a:t>3013: user/meme attributes (demographics, traits, engagement)</a:t>
            </a:r>
            <a:endParaRPr lang="en-US" sz="2400" dirty="0"/>
          </a:p>
          <a:p>
            <a:pPr lvl="1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220092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 dirty="0"/>
              <a:t>Grading</a:t>
            </a:r>
            <a:endParaRPr lang="en-US" b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11998"/>
            <a:ext cx="7886700" cy="5117402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Take-home assignments: 20%</a:t>
            </a:r>
          </a:p>
          <a:p>
            <a:pPr lvl="1"/>
            <a:r>
              <a:rPr lang="en-US" sz="2000" dirty="0"/>
              <a:t>2 homework (individual work) in total</a:t>
            </a:r>
          </a:p>
          <a:p>
            <a:pPr lvl="1"/>
            <a:r>
              <a:rPr lang="en-US" sz="2000" u="sng" dirty="0"/>
              <a:t>AI tools allowed (disclose how it is used)</a:t>
            </a:r>
          </a:p>
          <a:p>
            <a:pPr lvl="1"/>
            <a:r>
              <a:rPr lang="en-US" sz="2000" dirty="0">
                <a:solidFill>
                  <a:srgbClr val="0432FF"/>
                </a:solidFill>
              </a:rPr>
              <a:t>Due two weeks after release </a:t>
            </a:r>
            <a:r>
              <a:rPr lang="en-US" sz="2000" dirty="0">
                <a:solidFill>
                  <a:srgbClr val="FF0000"/>
                </a:solidFill>
              </a:rPr>
              <a:t>(submit HTML file)</a:t>
            </a:r>
          </a:p>
          <a:p>
            <a:r>
              <a:rPr lang="en-US" sz="2400" dirty="0"/>
              <a:t>Paper presentation “assignment”: 10%</a:t>
            </a:r>
          </a:p>
          <a:p>
            <a:pPr lvl="1"/>
            <a:r>
              <a:rPr lang="en-US" sz="2000" dirty="0"/>
              <a:t>Each group </a:t>
            </a:r>
            <a:r>
              <a:rPr lang="en-US" sz="2000" dirty="0">
                <a:solidFill>
                  <a:srgbClr val="0432FF"/>
                </a:solidFill>
              </a:rPr>
              <a:t>(3-4 students)</a:t>
            </a:r>
            <a:r>
              <a:rPr lang="en-US" sz="2000" dirty="0"/>
              <a:t> presents one paper (18 groups)</a:t>
            </a:r>
          </a:p>
          <a:p>
            <a:pPr lvl="1"/>
            <a:r>
              <a:rPr lang="en-US" sz="2000" dirty="0"/>
              <a:t>A “hybrid” team formation mechanism (self-selection + random)</a:t>
            </a:r>
          </a:p>
          <a:p>
            <a:pPr lvl="1"/>
            <a:r>
              <a:rPr lang="en-US" sz="2000" dirty="0">
                <a:highlight>
                  <a:srgbClr val="FFFF00"/>
                </a:highlight>
              </a:rPr>
              <a:t>Paper selection &amp; presentation order: Week = (Group Num. // 2) + 1</a:t>
            </a:r>
          </a:p>
          <a:p>
            <a:pPr marL="457200" lvl="1" indent="0">
              <a:buNone/>
            </a:pPr>
            <a:r>
              <a:rPr lang="en-US" sz="2000" dirty="0"/>
              <a:t>    (E.g., </a:t>
            </a:r>
            <a:r>
              <a:rPr lang="en-US" sz="2000" u="sng" dirty="0">
                <a:solidFill>
                  <a:srgbClr val="FF0000"/>
                </a:solidFill>
              </a:rPr>
              <a:t>Group 2 &amp; 3 on Week 2</a:t>
            </a:r>
            <a:r>
              <a:rPr lang="en-US" sz="2000" dirty="0">
                <a:solidFill>
                  <a:srgbClr val="FF0000"/>
                </a:solidFill>
              </a:rPr>
              <a:t>; </a:t>
            </a:r>
            <a:r>
              <a:rPr lang="en-US" sz="2000" u="sng" dirty="0">
                <a:solidFill>
                  <a:srgbClr val="FF0000"/>
                </a:solidFill>
              </a:rPr>
              <a:t>Group 18 &amp; 19 on Week 10</a:t>
            </a:r>
            <a:r>
              <a:rPr lang="en-US" sz="2000" dirty="0"/>
              <a:t>)</a:t>
            </a:r>
          </a:p>
          <a:p>
            <a:r>
              <a:rPr lang="en-US" sz="2400" dirty="0"/>
              <a:t>Group project: 20%</a:t>
            </a:r>
          </a:p>
          <a:p>
            <a:pPr lvl="1"/>
            <a:r>
              <a:rPr lang="en-US" sz="2000" dirty="0"/>
              <a:t>The same team as in paper presentation</a:t>
            </a:r>
          </a:p>
          <a:p>
            <a:pPr lvl="1"/>
            <a:r>
              <a:rPr lang="en-US" sz="2000" dirty="0"/>
              <a:t>Class presentation in Week 12 and 13</a:t>
            </a:r>
          </a:p>
          <a:p>
            <a:r>
              <a:rPr lang="en-US" altLang="zh-CN" sz="2400" dirty="0"/>
              <a:t>Final exam: 50%</a:t>
            </a:r>
            <a:endParaRPr lang="en-US" altLang="zh-CN" sz="2000" dirty="0"/>
          </a:p>
          <a:p>
            <a:pPr lvl="1"/>
            <a:r>
              <a:rPr lang="en-US" altLang="zh-CN" sz="2000" dirty="0"/>
              <a:t>Close-book written test</a:t>
            </a:r>
          </a:p>
          <a:p>
            <a:pPr lvl="1"/>
            <a:r>
              <a:rPr lang="en-US" altLang="zh-CN" sz="2000" dirty="0"/>
              <a:t>No coding task, all conceptual Qs (Similar to 2005 final)</a:t>
            </a:r>
          </a:p>
          <a:p>
            <a:pPr lvl="1"/>
            <a:r>
              <a:rPr lang="en-US" sz="2000" dirty="0" err="1">
                <a:solidFill>
                  <a:srgbClr val="0432FF"/>
                </a:solidFill>
              </a:rPr>
              <a:t>CheatSheet</a:t>
            </a:r>
            <a:r>
              <a:rPr lang="en-US" sz="2000" dirty="0">
                <a:solidFill>
                  <a:srgbClr val="0432FF"/>
                </a:solidFill>
              </a:rPr>
              <a:t> allowed (up to 5 double-sided A4 papers)</a:t>
            </a:r>
          </a:p>
        </p:txBody>
      </p:sp>
    </p:spTree>
    <p:extLst>
      <p:ext uri="{BB962C8B-B14F-4D97-AF65-F5344CB8AC3E}">
        <p14:creationId xmlns:p14="http://schemas.microsoft.com/office/powerpoint/2010/main" val="3752408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00EE9-E369-A3DC-9FB3-8EEDEDBEE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D4D42-77D7-B915-3E55-A93139366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/>
              <a:t>Paper presentation (teamwork)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D31A48-8867-5AF7-7DAC-803CFC6A0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946" y="1475795"/>
            <a:ext cx="7886700" cy="4351338"/>
          </a:xfrm>
        </p:spPr>
        <p:txBody>
          <a:bodyPr>
            <a:normAutofit/>
          </a:bodyPr>
          <a:lstStyle/>
          <a:p>
            <a:r>
              <a:rPr lang="en-US" sz="2400" dirty="0"/>
              <a:t>Form your team on Canvas – People – Groups:</a:t>
            </a:r>
          </a:p>
          <a:p>
            <a:pPr lvl="1"/>
            <a:r>
              <a:rPr lang="en-US" sz="2000" dirty="0"/>
              <a:t>Pick </a:t>
            </a:r>
            <a:r>
              <a:rPr lang="en-US" sz="2000" dirty="0">
                <a:solidFill>
                  <a:srgbClr val="0432FF"/>
                </a:solidFill>
              </a:rPr>
              <a:t>one paper </a:t>
            </a:r>
            <a:r>
              <a:rPr lang="en-US" sz="2000" dirty="0"/>
              <a:t>from the week your group is presenting</a:t>
            </a:r>
          </a:p>
          <a:p>
            <a:pPr lvl="1"/>
            <a:r>
              <a:rPr lang="en-US" sz="2000" dirty="0">
                <a:solidFill>
                  <a:srgbClr val="0432FF"/>
                </a:solidFill>
              </a:rPr>
              <a:t>Email me your choice one week before your presentation</a:t>
            </a:r>
          </a:p>
          <a:p>
            <a:pPr lvl="1"/>
            <a:r>
              <a:rPr lang="en-US" sz="2000" u="sng" dirty="0"/>
              <a:t>2 Groups for each week (Next week: Group 2 &amp; 3; No Group 1)</a:t>
            </a:r>
            <a:endParaRPr lang="en-US" sz="2000" b="1" u="sng" dirty="0">
              <a:solidFill>
                <a:srgbClr val="0432FF"/>
              </a:solidFill>
            </a:endParaRPr>
          </a:p>
          <a:p>
            <a:pPr lvl="1"/>
            <a:r>
              <a:rPr lang="en-US" sz="2000" dirty="0"/>
              <a:t>Submit slides under Canvas - Assignments, after presentation</a:t>
            </a:r>
          </a:p>
          <a:p>
            <a:r>
              <a:rPr lang="en-US" sz="2400" dirty="0"/>
              <a:t>The pres. (~15 mins) should contain 5 sections:</a:t>
            </a:r>
          </a:p>
          <a:p>
            <a:pPr lvl="1">
              <a:spcAft>
                <a:spcPts val="450"/>
              </a:spcAft>
            </a:pPr>
            <a:r>
              <a:rPr lang="en-US" sz="2000" dirty="0">
                <a:solidFill>
                  <a:srgbClr val="0019FF"/>
                </a:solidFill>
              </a:rPr>
              <a:t>study context &amp; motivation</a:t>
            </a:r>
          </a:p>
          <a:p>
            <a:pPr lvl="1">
              <a:spcAft>
                <a:spcPts val="450"/>
              </a:spcAft>
            </a:pPr>
            <a:r>
              <a:rPr lang="en-US" sz="2000" dirty="0">
                <a:solidFill>
                  <a:srgbClr val="0019FF"/>
                </a:solidFill>
              </a:rPr>
              <a:t>research questions</a:t>
            </a:r>
          </a:p>
          <a:p>
            <a:pPr lvl="1">
              <a:spcAft>
                <a:spcPts val="450"/>
              </a:spcAft>
            </a:pPr>
            <a:r>
              <a:rPr lang="en-US" sz="2000" dirty="0">
                <a:solidFill>
                  <a:srgbClr val="0019FF"/>
                </a:solidFill>
              </a:rPr>
              <a:t>data &amp; methods</a:t>
            </a:r>
          </a:p>
          <a:p>
            <a:pPr lvl="1">
              <a:spcAft>
                <a:spcPts val="450"/>
              </a:spcAft>
            </a:pPr>
            <a:r>
              <a:rPr lang="en-US" sz="2000" dirty="0">
                <a:solidFill>
                  <a:srgbClr val="0019FF"/>
                </a:solidFill>
              </a:rPr>
              <a:t>key findings &amp; takeaways</a:t>
            </a:r>
          </a:p>
          <a:p>
            <a:pPr lvl="1">
              <a:spcAft>
                <a:spcPts val="450"/>
              </a:spcAft>
            </a:pPr>
            <a:r>
              <a:rPr lang="en-US" sz="2000" dirty="0">
                <a:solidFill>
                  <a:srgbClr val="0019FF"/>
                </a:solidFill>
              </a:rPr>
              <a:t>implications &amp; limitations &amp; QA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01885D-1610-7AAB-130D-C8A73A18F98B}"/>
              </a:ext>
            </a:extLst>
          </p:cNvPr>
          <p:cNvSpPr txBox="1"/>
          <p:nvPr/>
        </p:nvSpPr>
        <p:spPr>
          <a:xfrm>
            <a:off x="739491" y="5794959"/>
            <a:ext cx="7988874" cy="646331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P</a:t>
            </a:r>
            <a:r>
              <a:rPr lang="en-US" b="0" dirty="0"/>
              <a:t>repare </a:t>
            </a:r>
            <a:r>
              <a:rPr lang="en-US" b="0" dirty="0">
                <a:solidFill>
                  <a:srgbClr val="0019FF"/>
                </a:solidFill>
              </a:rPr>
              <a:t>at least 3 interesting questions to spark discussion </a:t>
            </a:r>
            <a:r>
              <a:rPr lang="en-US" b="0" dirty="0"/>
              <a:t>among your audiences.</a:t>
            </a:r>
          </a:p>
          <a:p>
            <a:r>
              <a:rPr lang="en-US" b="0" dirty="0">
                <a:solidFill>
                  <a:srgbClr val="C00000"/>
                </a:solidFill>
              </a:rPr>
              <a:t>All students need to read the paper before class &amp; actively participate in discussion.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6113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00EE9-E369-A3DC-9FB3-8EEDEDBEE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D4D42-77D7-B915-3E55-A93139366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/>
              <a:t>Group project (teamwork)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D31A48-8867-5AF7-7DAC-803CFC6A0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945" y="1545070"/>
            <a:ext cx="8328271" cy="5312930"/>
          </a:xfrm>
        </p:spPr>
        <p:txBody>
          <a:bodyPr>
            <a:normAutofit/>
          </a:bodyPr>
          <a:lstStyle/>
          <a:p>
            <a:r>
              <a:rPr lang="en-US" sz="2400" dirty="0"/>
              <a:t>Proposal due in Week 7 (</a:t>
            </a:r>
            <a:r>
              <a:rPr lang="en-US" sz="2400" u="sng" dirty="0"/>
              <a:t>2%, 1-2 pages</a:t>
            </a:r>
            <a:r>
              <a:rPr lang="en-US" sz="2400" dirty="0"/>
              <a:t>)</a:t>
            </a:r>
          </a:p>
          <a:p>
            <a:pPr lvl="1"/>
            <a:r>
              <a:rPr lang="en-US" sz="2000" dirty="0"/>
              <a:t>Study motivation &amp; importance</a:t>
            </a:r>
          </a:p>
          <a:p>
            <a:pPr lvl="1"/>
            <a:r>
              <a:rPr lang="en-US" sz="2000" dirty="0"/>
              <a:t>Dataset &amp; proposed methods</a:t>
            </a:r>
          </a:p>
          <a:p>
            <a:pPr lvl="1"/>
            <a:r>
              <a:rPr lang="en-US" sz="2000" dirty="0"/>
              <a:t>Research design &amp; expectations</a:t>
            </a:r>
          </a:p>
          <a:p>
            <a:r>
              <a:rPr lang="en-US" sz="2400" dirty="0"/>
              <a:t>Final report due before the final exam date (</a:t>
            </a:r>
            <a:r>
              <a:rPr lang="en-US" sz="2400" u="sng" dirty="0"/>
              <a:t>6%, 8-10 pages</a:t>
            </a:r>
            <a:r>
              <a:rPr lang="en-US" sz="2400" dirty="0"/>
              <a:t>)</a:t>
            </a:r>
            <a:endParaRPr lang="en-US" sz="2400" dirty="0">
              <a:solidFill>
                <a:srgbClr val="0432FF"/>
              </a:solidFill>
            </a:endParaRPr>
          </a:p>
          <a:p>
            <a:r>
              <a:rPr lang="en-US" sz="2400" dirty="0"/>
              <a:t>Submit slides one day before class in Week 12 (</a:t>
            </a:r>
            <a:r>
              <a:rPr lang="en-US" sz="2400" u="sng" dirty="0"/>
              <a:t>12%, 20 mins</a:t>
            </a:r>
            <a:r>
              <a:rPr lang="en-US" sz="2400" dirty="0"/>
              <a:t>)</a:t>
            </a:r>
          </a:p>
          <a:p>
            <a:r>
              <a:rPr lang="en-US" sz="2400" dirty="0"/>
              <a:t>Presentation (Week 12-13; </a:t>
            </a:r>
            <a:r>
              <a:rPr lang="en-US" sz="2400" b="1" dirty="0"/>
              <a:t>15 mins</a:t>
            </a:r>
            <a:r>
              <a:rPr lang="en-US" sz="2400" dirty="0"/>
              <a:t>) should contain 5 sections:</a:t>
            </a:r>
          </a:p>
          <a:p>
            <a:pPr lvl="1">
              <a:spcAft>
                <a:spcPts val="450"/>
              </a:spcAft>
            </a:pPr>
            <a:r>
              <a:rPr lang="en-US" sz="2000" dirty="0">
                <a:solidFill>
                  <a:srgbClr val="0019FF"/>
                </a:solidFill>
              </a:rPr>
              <a:t>Study context &amp; motivation</a:t>
            </a:r>
          </a:p>
          <a:p>
            <a:pPr lvl="1">
              <a:spcAft>
                <a:spcPts val="450"/>
              </a:spcAft>
            </a:pPr>
            <a:r>
              <a:rPr lang="en-US" sz="2000" dirty="0">
                <a:solidFill>
                  <a:srgbClr val="0019FF"/>
                </a:solidFill>
              </a:rPr>
              <a:t>Research questions</a:t>
            </a:r>
          </a:p>
          <a:p>
            <a:pPr lvl="1">
              <a:spcAft>
                <a:spcPts val="450"/>
              </a:spcAft>
            </a:pPr>
            <a:r>
              <a:rPr lang="en-US" sz="2000" dirty="0">
                <a:solidFill>
                  <a:srgbClr val="0019FF"/>
                </a:solidFill>
              </a:rPr>
              <a:t>Dataset &amp; methods</a:t>
            </a:r>
          </a:p>
          <a:p>
            <a:pPr lvl="1">
              <a:spcAft>
                <a:spcPts val="450"/>
              </a:spcAft>
            </a:pPr>
            <a:r>
              <a:rPr lang="en-US" sz="2000" dirty="0">
                <a:solidFill>
                  <a:srgbClr val="0019FF"/>
                </a:solidFill>
              </a:rPr>
              <a:t>Key findings &amp; takeaways</a:t>
            </a:r>
          </a:p>
          <a:p>
            <a:pPr lvl="1">
              <a:spcAft>
                <a:spcPts val="450"/>
              </a:spcAft>
            </a:pPr>
            <a:r>
              <a:rPr lang="en-US" sz="2000" dirty="0">
                <a:solidFill>
                  <a:srgbClr val="0019FF"/>
                </a:solidFill>
              </a:rPr>
              <a:t>Implications &amp; limitations &amp; QA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0ADEE6-7732-7940-DC9F-3834BDD7008E}"/>
              </a:ext>
            </a:extLst>
          </p:cNvPr>
          <p:cNvSpPr txBox="1"/>
          <p:nvPr/>
        </p:nvSpPr>
        <p:spPr>
          <a:xfrm>
            <a:off x="4207602" y="4764910"/>
            <a:ext cx="4737615" cy="83099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17463" lvl="1"/>
            <a:r>
              <a:rPr lang="en-US" sz="2400" b="1" dirty="0">
                <a:solidFill>
                  <a:srgbClr val="C00000"/>
                </a:solidFill>
              </a:rPr>
              <a:t>No free rider:</a:t>
            </a:r>
            <a:r>
              <a:rPr lang="en-US" sz="2400" dirty="0">
                <a:solidFill>
                  <a:srgbClr val="C00000"/>
                </a:solidFill>
              </a:rPr>
              <a:t> each group member must make meaningful contribution!</a:t>
            </a:r>
          </a:p>
        </p:txBody>
      </p:sp>
    </p:spTree>
    <p:extLst>
      <p:ext uri="{BB962C8B-B14F-4D97-AF65-F5344CB8AC3E}">
        <p14:creationId xmlns:p14="http://schemas.microsoft.com/office/powerpoint/2010/main" val="9277829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 dirty="0"/>
              <a:t>Suggested books</a:t>
            </a:r>
            <a:endParaRPr lang="en-US" b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025" y="1446366"/>
            <a:ext cx="8515350" cy="4351338"/>
          </a:xfrm>
        </p:spPr>
        <p:txBody>
          <a:bodyPr/>
          <a:lstStyle/>
          <a:p>
            <a:r>
              <a:rPr lang="en-US" altLang="zh-CN" dirty="0"/>
              <a:t>[Natural Language Processing with Python]</a:t>
            </a:r>
          </a:p>
          <a:p>
            <a:r>
              <a:rPr lang="en-US" altLang="zh-CN" dirty="0"/>
              <a:t>[Networks, Crowds, and Markets]</a:t>
            </a:r>
          </a:p>
          <a:p>
            <a:r>
              <a:rPr lang="en-US" altLang="zh-CN" dirty="0"/>
              <a:t>[Working with Network Data]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58DBB7-1086-9D83-EC05-F9615B3566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333" y="3166470"/>
            <a:ext cx="2272359" cy="29820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8A6439B-678D-FE51-CDB8-B11782ADAD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2558" y="3166470"/>
            <a:ext cx="2040339" cy="29867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0EEA335-DBC1-6246-5A1C-BCBD2993F9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8763" y="2533675"/>
            <a:ext cx="2505630" cy="3614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266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/>
              <a:t>Late 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Late submission is not graded</a:t>
            </a:r>
          </a:p>
          <a:p>
            <a:pPr lvl="1"/>
            <a:r>
              <a:rPr lang="en-US" b="1" dirty="0"/>
              <a:t>1 min late is still late</a:t>
            </a:r>
            <a:endParaRPr lang="en-US" dirty="0"/>
          </a:p>
          <a:p>
            <a:pPr lvl="1"/>
            <a:r>
              <a:rPr lang="en-US" dirty="0"/>
              <a:t>You can still submit after due date (but no grading)</a:t>
            </a:r>
          </a:p>
          <a:p>
            <a:r>
              <a:rPr lang="en-US" dirty="0"/>
              <a:t>1 penalty-free late submission is allowed</a:t>
            </a:r>
          </a:p>
          <a:p>
            <a:pPr lvl="1"/>
            <a:r>
              <a:rPr lang="en-US" dirty="0"/>
              <a:t>Every student gets one chance</a:t>
            </a:r>
          </a:p>
          <a:p>
            <a:pPr lvl="1"/>
            <a:r>
              <a:rPr lang="en-US" dirty="0"/>
              <a:t>No excuse needed (no need to ask)</a:t>
            </a:r>
          </a:p>
          <a:p>
            <a:pPr lvl="1"/>
            <a:r>
              <a:rPr lang="en-US" dirty="0">
                <a:solidFill>
                  <a:srgbClr val="00B0F0"/>
                </a:solidFill>
              </a:rPr>
              <a:t>Acceptable up to 3 days after due date</a:t>
            </a:r>
          </a:p>
          <a:p>
            <a:pPr lvl="1"/>
            <a:r>
              <a:rPr lang="en-US" dirty="0"/>
              <a:t>Can only apply it to a single assignment</a:t>
            </a:r>
          </a:p>
          <a:p>
            <a:pPr lvl="1"/>
            <a:r>
              <a:rPr lang="en-US" dirty="0"/>
              <a:t>Use it cautiously (for sick, family issues, etc.)</a:t>
            </a:r>
          </a:p>
        </p:txBody>
      </p:sp>
    </p:spTree>
    <p:extLst>
      <p:ext uri="{BB962C8B-B14F-4D97-AF65-F5344CB8AC3E}">
        <p14:creationId xmlns:p14="http://schemas.microsoft.com/office/powerpoint/2010/main" val="12677979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/>
              <a:t>Original work 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26754"/>
            <a:ext cx="8037368" cy="486612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/>
              <a:t>Unless otherwise specified in an assignment, </a:t>
            </a:r>
            <a:r>
              <a:rPr lang="en-US" u="sng" dirty="0"/>
              <a:t>all</a:t>
            </a:r>
            <a:r>
              <a:rPr lang="en-US" dirty="0"/>
              <a:t> submitted work must be </a:t>
            </a:r>
            <a:r>
              <a:rPr lang="en-US" u="sng" dirty="0"/>
              <a:t>your own, original work (disclose AI usage)</a:t>
            </a:r>
            <a:r>
              <a:rPr lang="en-US" dirty="0"/>
              <a:t>.</a:t>
            </a:r>
          </a:p>
          <a:p>
            <a:pPr>
              <a:lnSpc>
                <a:spcPct val="120000"/>
              </a:lnSpc>
            </a:pPr>
            <a:r>
              <a:rPr lang="en-US" dirty="0"/>
              <a:t>You may discuss approaches with others on individual assignments, but </a:t>
            </a:r>
            <a:r>
              <a:rPr lang="en-US" u="sng" dirty="0"/>
              <a:t>you may not copy code or other work wholesale.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u="sng" dirty="0"/>
              <a:t>Any</a:t>
            </a:r>
            <a:r>
              <a:rPr lang="en-US" dirty="0"/>
              <a:t> excerpt or reference from the work of others must be clearly identified as a quotation, and a proper citation provided.</a:t>
            </a:r>
          </a:p>
          <a:p>
            <a:pPr>
              <a:lnSpc>
                <a:spcPct val="120000"/>
              </a:lnSpc>
            </a:pPr>
            <a:r>
              <a:rPr lang="en-US" dirty="0"/>
              <a:t>Any violation of the Department’s policy on Academic Integrity will result in severe penalties, which might range from:</a:t>
            </a:r>
          </a:p>
          <a:p>
            <a:pPr lvl="1">
              <a:lnSpc>
                <a:spcPct val="120000"/>
              </a:lnSpc>
            </a:pPr>
            <a:r>
              <a:rPr lang="en-US" sz="2600" dirty="0"/>
              <a:t>failing an assignment</a:t>
            </a:r>
          </a:p>
          <a:p>
            <a:pPr lvl="1">
              <a:lnSpc>
                <a:spcPct val="120000"/>
              </a:lnSpc>
            </a:pPr>
            <a:r>
              <a:rPr lang="en-US" sz="2600" dirty="0"/>
              <a:t>failing the course</a:t>
            </a:r>
          </a:p>
          <a:p>
            <a:pPr lvl="1">
              <a:lnSpc>
                <a:spcPct val="120000"/>
              </a:lnSpc>
            </a:pPr>
            <a:r>
              <a:rPr lang="en-US" sz="2600" dirty="0"/>
              <a:t>being expelled from the program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7788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3659" y="2836717"/>
            <a:ext cx="7886700" cy="842530"/>
          </a:xfrm>
        </p:spPr>
        <p:txBody>
          <a:bodyPr>
            <a:normAutofit/>
          </a:bodyPr>
          <a:lstStyle/>
          <a:p>
            <a:r>
              <a:rPr lang="en-US" sz="4400" b="0" dirty="0">
                <a:latin typeface="LM Sans 12" panose="00000500000000000000" pitchFamily="50" charset="0"/>
              </a:rPr>
              <a:t>Questions about class logistics?</a:t>
            </a:r>
          </a:p>
        </p:txBody>
      </p:sp>
    </p:spTree>
    <p:extLst>
      <p:ext uri="{BB962C8B-B14F-4D97-AF65-F5344CB8AC3E}">
        <p14:creationId xmlns:p14="http://schemas.microsoft.com/office/powerpoint/2010/main" val="23709570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FE3BA-AE12-3F45-86DC-CA082AD8D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Agenda for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30828-5CE0-BC4B-9D54-707C0B699C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HK" dirty="0"/>
              <a:t>What, Why, Where, and How of SMA</a:t>
            </a:r>
          </a:p>
          <a:p>
            <a:r>
              <a:rPr lang="en-HK" dirty="0"/>
              <a:t>Overview of social media platforms</a:t>
            </a:r>
          </a:p>
          <a:p>
            <a:r>
              <a:rPr lang="en-HK" dirty="0"/>
              <a:t>Applications of SMA in various domains</a:t>
            </a:r>
          </a:p>
          <a:p>
            <a:r>
              <a:rPr lang="en-HK" dirty="0"/>
              <a:t>Challenges and opportunities of social media</a:t>
            </a:r>
          </a:p>
          <a:p>
            <a:r>
              <a:rPr lang="en-HK" dirty="0"/>
              <a:t>Emerging technologies in SMA</a:t>
            </a:r>
          </a:p>
          <a:p>
            <a:r>
              <a:rPr lang="en-HK" dirty="0"/>
              <a:t>Setup the coding environment</a:t>
            </a:r>
          </a:p>
        </p:txBody>
      </p:sp>
    </p:spTree>
    <p:extLst>
      <p:ext uri="{BB962C8B-B14F-4D97-AF65-F5344CB8AC3E}">
        <p14:creationId xmlns:p14="http://schemas.microsoft.com/office/powerpoint/2010/main" val="37300865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DA0F3-0EB3-9A4E-A092-7B4EDE35B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5517"/>
            <a:ext cx="9150350" cy="1325563"/>
          </a:xfrm>
        </p:spPr>
        <p:txBody>
          <a:bodyPr>
            <a:normAutofit/>
          </a:bodyPr>
          <a:lstStyle/>
          <a:p>
            <a:r>
              <a:rPr lang="en-US" sz="3600" b="0" dirty="0"/>
              <a:t>What is Social Media Analytics (SMA)?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4B3FA4-4D05-DF38-996E-200A57C11C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91713"/>
            <a:ext cx="7928264" cy="4525963"/>
          </a:xfrm>
        </p:spPr>
        <p:txBody>
          <a:bodyPr/>
          <a:lstStyle/>
          <a:p>
            <a:endParaRPr dirty="0"/>
          </a:p>
          <a:p>
            <a:pPr>
              <a:defRPr sz="1800"/>
            </a:pPr>
            <a:r>
              <a:rPr sz="2400" dirty="0"/>
              <a:t>Definition: </a:t>
            </a:r>
            <a:r>
              <a:rPr lang="en-US" sz="2400" dirty="0">
                <a:effectLst/>
              </a:rPr>
              <a:t>SMA is the practice of </a:t>
            </a:r>
            <a:r>
              <a:rPr lang="en-US" sz="2400" u="sng" dirty="0">
                <a:effectLst/>
              </a:rPr>
              <a:t>collecting, analyzing, and interpreting data</a:t>
            </a:r>
            <a:r>
              <a:rPr lang="en-US" sz="2400" dirty="0">
                <a:effectLst/>
              </a:rPr>
              <a:t> from social media platforms to extract insights on user behavior, trends, opinion, engagement, performance, often to support the decision makings in </a:t>
            </a:r>
            <a:r>
              <a:rPr lang="en-US" sz="2400" u="sng" dirty="0">
                <a:effectLst/>
              </a:rPr>
              <a:t>business, marketing, policy, and research</a:t>
            </a:r>
            <a:r>
              <a:rPr lang="en-US" sz="2400" dirty="0">
                <a:effectLst/>
              </a:rPr>
              <a:t>.</a:t>
            </a:r>
            <a:endParaRPr sz="2400" dirty="0"/>
          </a:p>
          <a:p>
            <a:pPr>
              <a:defRPr sz="1800"/>
            </a:pPr>
            <a:r>
              <a:rPr sz="2400" dirty="0"/>
              <a:t>Importance: </a:t>
            </a:r>
            <a:r>
              <a:rPr lang="en-US" sz="2400" dirty="0">
                <a:effectLst/>
              </a:rPr>
              <a:t>SMA is crucial for businesses, marketers, and researchers as it </a:t>
            </a:r>
            <a:r>
              <a:rPr lang="en-US" sz="2400" u="sng" dirty="0">
                <a:effectLst/>
              </a:rPr>
              <a:t>transforms raw social data into actionable insights</a:t>
            </a:r>
            <a:r>
              <a:rPr lang="en-US" sz="2400" dirty="0">
                <a:effectLst/>
              </a:rPr>
              <a:t>, driving strategic decisions and growth.</a:t>
            </a:r>
          </a:p>
          <a:p>
            <a:pPr algn="l">
              <a:defRPr sz="1800"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854013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7317E-F096-080A-C8EE-39AF740D0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4628D-0345-1D91-D05B-A952642A3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5908"/>
            <a:ext cx="9150350" cy="1325563"/>
          </a:xfrm>
        </p:spPr>
        <p:txBody>
          <a:bodyPr>
            <a:normAutofit/>
          </a:bodyPr>
          <a:lstStyle/>
          <a:p>
            <a:r>
              <a:rPr lang="en-US" b="0" dirty="0"/>
              <a:t>Primer (why does it matter?)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E7A65-6780-F15C-D2E7-C7A67A73E2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4224"/>
            <a:ext cx="7928264" cy="4525963"/>
          </a:xfrm>
        </p:spPr>
        <p:txBody>
          <a:bodyPr/>
          <a:lstStyle/>
          <a:p>
            <a:endParaRPr dirty="0"/>
          </a:p>
          <a:p>
            <a:r>
              <a:rPr lang="en-US" sz="2400" dirty="0"/>
              <a:t>Social media has fundamentally transformed our daily lives and the very fabric of modern society, </a:t>
            </a:r>
            <a:r>
              <a:rPr lang="en-US" sz="2400" u="sng" dirty="0"/>
              <a:t>revolutionizing how information is created, shared, and consumed</a:t>
            </a:r>
            <a:r>
              <a:rPr lang="en-US" sz="2400" dirty="0"/>
              <a:t>. </a:t>
            </a:r>
          </a:p>
          <a:p>
            <a:r>
              <a:rPr lang="en-US" sz="2400" dirty="0"/>
              <a:t>Today, billions of individuals gravitate towards platforms like X, Instagram, TikTok, </a:t>
            </a:r>
            <a:r>
              <a:rPr lang="en-US" sz="2400" dirty="0" err="1"/>
              <a:t>RedNote</a:t>
            </a:r>
            <a:r>
              <a:rPr lang="en-US" sz="2400" dirty="0"/>
              <a:t>, YouTube, engaging in a digital footprint of </a:t>
            </a:r>
            <a:r>
              <a:rPr lang="en-US" sz="2400" u="sng" dirty="0"/>
              <a:t>scrolling, posting, sharing, and liking</a:t>
            </a:r>
            <a:r>
              <a:rPr lang="en-US" sz="2400" dirty="0"/>
              <a:t>. </a:t>
            </a:r>
          </a:p>
          <a:p>
            <a:r>
              <a:rPr lang="en-US" sz="2400" dirty="0"/>
              <a:t>This digital revolution stands as </a:t>
            </a:r>
            <a:r>
              <a:rPr lang="en-US" sz="2400" u="sng" dirty="0"/>
              <a:t>one of the most significant technological advancements</a:t>
            </a:r>
            <a:r>
              <a:rPr lang="en-US" sz="2400" dirty="0"/>
              <a:t> in the modern history, weaving itself so deeply into our human existence.</a:t>
            </a:r>
          </a:p>
        </p:txBody>
      </p:sp>
    </p:spTree>
    <p:extLst>
      <p:ext uri="{BB962C8B-B14F-4D97-AF65-F5344CB8AC3E}">
        <p14:creationId xmlns:p14="http://schemas.microsoft.com/office/powerpoint/2010/main" val="968334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6DC94-3122-85A2-7BCF-09C608D62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D8BD1-93EF-9D75-657E-EFB4689D6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50" y="465487"/>
            <a:ext cx="9150350" cy="1325563"/>
          </a:xfrm>
        </p:spPr>
        <p:txBody>
          <a:bodyPr>
            <a:normAutofit/>
          </a:bodyPr>
          <a:lstStyle/>
          <a:p>
            <a:r>
              <a:rPr lang="en-US" b="0" dirty="0"/>
              <a:t>The evolution of the Internet</a:t>
            </a:r>
            <a:br>
              <a:rPr lang="en-US" sz="3600" b="0" dirty="0"/>
            </a:br>
            <a:endParaRPr lang="en-US" sz="3600" b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53A05C9-FC86-FFED-D9FD-355634A7E9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3988084"/>
              </p:ext>
            </p:extLst>
          </p:nvPr>
        </p:nvGraphicFramePr>
        <p:xfrm>
          <a:off x="401443" y="1690689"/>
          <a:ext cx="7951677" cy="2174027"/>
        </p:xfrm>
        <a:graphic>
          <a:graphicData uri="http://schemas.openxmlformats.org/drawingml/2006/table">
            <a:tbl>
              <a:tblPr firstRow="1" firstCol="1" bandRow="1">
                <a:tableStyleId>{00A15C55-8517-42AA-B614-E9B94910E393}</a:tableStyleId>
              </a:tblPr>
              <a:tblGrid>
                <a:gridCol w="889508">
                  <a:extLst>
                    <a:ext uri="{9D8B030D-6E8A-4147-A177-3AD203B41FA5}">
                      <a16:colId xmlns:a16="http://schemas.microsoft.com/office/drawing/2014/main" val="2558881958"/>
                    </a:ext>
                  </a:extLst>
                </a:gridCol>
                <a:gridCol w="7062169">
                  <a:extLst>
                    <a:ext uri="{9D8B030D-6E8A-4147-A177-3AD203B41FA5}">
                      <a16:colId xmlns:a16="http://schemas.microsoft.com/office/drawing/2014/main" val="2164054014"/>
                    </a:ext>
                  </a:extLst>
                </a:gridCol>
              </a:tblGrid>
              <a:tr h="230583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Year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709" marR="5270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Event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709" marR="52709" marT="0" marB="0"/>
                </a:tc>
                <a:extLst>
                  <a:ext uri="{0D108BD9-81ED-4DB2-BD59-A6C34878D82A}">
                    <a16:rowId xmlns:a16="http://schemas.microsoft.com/office/drawing/2014/main" val="605051287"/>
                  </a:ext>
                </a:extLst>
              </a:tr>
              <a:tr h="464935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1950s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709" marR="52709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After WWII, the Cold War spawns the need for new ways to communicate more quickly—hence, Arpanet originated for military uses.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Adobe Garamond Pro"/>
                        <a:ea typeface="Times New Roman" panose="02020603050405020304" pitchFamily="18" charset="0"/>
                        <a:cs typeface="Adobe Garamond Pro"/>
                      </a:endParaRPr>
                    </a:p>
                  </a:txBody>
                  <a:tcPr marL="52709" marR="52709" marT="0" marB="0"/>
                </a:tc>
                <a:extLst>
                  <a:ext uri="{0D108BD9-81ED-4DB2-BD59-A6C34878D82A}">
                    <a16:rowId xmlns:a16="http://schemas.microsoft.com/office/drawing/2014/main" val="1800317499"/>
                  </a:ext>
                </a:extLst>
              </a:tr>
              <a:tr h="232467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1960s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709" marR="52709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Arpanet became available to researchers around the world.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Adobe Garamond Pro"/>
                        <a:ea typeface="Times New Roman" panose="02020603050405020304" pitchFamily="18" charset="0"/>
                        <a:cs typeface="Adobe Garamond Pro"/>
                      </a:endParaRPr>
                    </a:p>
                  </a:txBody>
                  <a:tcPr marL="52709" marR="52709" marT="0" marB="0"/>
                </a:tc>
                <a:extLst>
                  <a:ext uri="{0D108BD9-81ED-4DB2-BD59-A6C34878D82A}">
                    <a16:rowId xmlns:a16="http://schemas.microsoft.com/office/drawing/2014/main" val="2614325921"/>
                  </a:ext>
                </a:extLst>
              </a:tr>
              <a:tr h="464935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1970s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709" marR="52709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Apple and IBM developed personal computers in the late 1970's, which appeal to the masses who can run simple word processing and spreadsheet applications on them.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Adobe Garamond Pro"/>
                        <a:ea typeface="Times New Roman" panose="02020603050405020304" pitchFamily="18" charset="0"/>
                        <a:cs typeface="Adobe Garamond Pro"/>
                      </a:endParaRPr>
                    </a:p>
                  </a:txBody>
                  <a:tcPr marL="52709" marR="52709" marT="0" marB="0"/>
                </a:tc>
                <a:extLst>
                  <a:ext uri="{0D108BD9-81ED-4DB2-BD59-A6C34878D82A}">
                    <a16:rowId xmlns:a16="http://schemas.microsoft.com/office/drawing/2014/main" val="3988138401"/>
                  </a:ext>
                </a:extLst>
              </a:tr>
              <a:tr h="232467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1980s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709" marR="52709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effectLst/>
                        </a:rPr>
                        <a:t>TCP/IP was developed as a language for computers to communicate over the Internet.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effectLst/>
                        </a:rPr>
                        <a:t>Web 1.0, or the initial version of the World Wide Web, developed and was entirely made up of static, non-interactive Web pages connected by hyperlinks.  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Adobe Garamond Pro"/>
                        <a:ea typeface="Times New Roman" panose="02020603050405020304" pitchFamily="18" charset="0"/>
                        <a:cs typeface="Adobe Garamond Pro"/>
                      </a:endParaRPr>
                    </a:p>
                  </a:txBody>
                  <a:tcPr marL="52709" marR="52709" marT="0" marB="0"/>
                </a:tc>
                <a:extLst>
                  <a:ext uri="{0D108BD9-81ED-4DB2-BD59-A6C34878D82A}">
                    <a16:rowId xmlns:a16="http://schemas.microsoft.com/office/drawing/2014/main" val="2339062843"/>
                  </a:ext>
                </a:extLst>
              </a:tr>
              <a:tr h="232467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1990s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709" marR="52709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The creation of Web 1.0 led to new Internet-based business models.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Adobe Garamond Pro"/>
                        <a:ea typeface="Times New Roman" panose="02020603050405020304" pitchFamily="18" charset="0"/>
                        <a:cs typeface="Adobe Garamond Pro"/>
                      </a:endParaRPr>
                    </a:p>
                  </a:txBody>
                  <a:tcPr marL="52709" marR="52709" marT="0" marB="0"/>
                </a:tc>
                <a:extLst>
                  <a:ext uri="{0D108BD9-81ED-4DB2-BD59-A6C34878D82A}">
                    <a16:rowId xmlns:a16="http://schemas.microsoft.com/office/drawing/2014/main" val="296483042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6C05453-7566-AD17-EF96-A8833DBE0BEA}"/>
              </a:ext>
            </a:extLst>
          </p:cNvPr>
          <p:cNvSpPr txBox="1"/>
          <p:nvPr/>
        </p:nvSpPr>
        <p:spPr>
          <a:xfrm>
            <a:off x="726945" y="4257819"/>
            <a:ext cx="7264115" cy="461665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400" b="0" dirty="0">
                <a:solidFill>
                  <a:srgbClr val="C00000"/>
                </a:solidFill>
              </a:rPr>
              <a:t>What are the differences between Internet and WWW?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504EB8-A5D3-5B0B-F60F-CD671755B171}"/>
              </a:ext>
            </a:extLst>
          </p:cNvPr>
          <p:cNvSpPr txBox="1"/>
          <p:nvPr/>
        </p:nvSpPr>
        <p:spPr>
          <a:xfrm>
            <a:off x="726945" y="5167311"/>
            <a:ext cx="47219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000" dirty="0"/>
              <a:t>Internet -&gt; MTR</a:t>
            </a:r>
          </a:p>
          <a:p>
            <a:pPr lvl="1"/>
            <a:r>
              <a:rPr lang="en-US" sz="2000" dirty="0"/>
              <a:t>WWW -&gt; Shops</a:t>
            </a:r>
          </a:p>
          <a:p>
            <a:pPr lvl="1"/>
            <a:r>
              <a:rPr lang="en-US" sz="2000" dirty="0"/>
              <a:t>Email -&gt; Apartments</a:t>
            </a:r>
          </a:p>
        </p:txBody>
      </p:sp>
    </p:spTree>
    <p:extLst>
      <p:ext uri="{BB962C8B-B14F-4D97-AF65-F5344CB8AC3E}">
        <p14:creationId xmlns:p14="http://schemas.microsoft.com/office/powerpoint/2010/main" val="2485631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EE01D-73B6-2F6E-F811-C79693667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AA070B7-312E-29FA-A784-34C055CDBF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4286021"/>
              </p:ext>
            </p:extLst>
          </p:nvPr>
        </p:nvGraphicFramePr>
        <p:xfrm>
          <a:off x="492760" y="1415038"/>
          <a:ext cx="8158480" cy="463295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89356">
                  <a:extLst>
                    <a:ext uri="{9D8B030D-6E8A-4147-A177-3AD203B41FA5}">
                      <a16:colId xmlns:a16="http://schemas.microsoft.com/office/drawing/2014/main" val="1884520764"/>
                    </a:ext>
                  </a:extLst>
                </a:gridCol>
                <a:gridCol w="1555422">
                  <a:extLst>
                    <a:ext uri="{9D8B030D-6E8A-4147-A177-3AD203B41FA5}">
                      <a16:colId xmlns:a16="http://schemas.microsoft.com/office/drawing/2014/main" val="355254634"/>
                    </a:ext>
                  </a:extLst>
                </a:gridCol>
                <a:gridCol w="1651006">
                  <a:extLst>
                    <a:ext uri="{9D8B030D-6E8A-4147-A177-3AD203B41FA5}">
                      <a16:colId xmlns:a16="http://schemas.microsoft.com/office/drawing/2014/main" val="1587903858"/>
                    </a:ext>
                  </a:extLst>
                </a:gridCol>
                <a:gridCol w="1737900">
                  <a:extLst>
                    <a:ext uri="{9D8B030D-6E8A-4147-A177-3AD203B41FA5}">
                      <a16:colId xmlns:a16="http://schemas.microsoft.com/office/drawing/2014/main" val="1998899957"/>
                    </a:ext>
                  </a:extLst>
                </a:gridCol>
                <a:gridCol w="1824796">
                  <a:extLst>
                    <a:ext uri="{9D8B030D-6E8A-4147-A177-3AD203B41FA5}">
                      <a16:colId xmlns:a16="http://schemas.microsoft.com/office/drawing/2014/main" val="2832084336"/>
                    </a:ext>
                  </a:extLst>
                </a:gridCol>
              </a:tblGrid>
              <a:tr h="185318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Feature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462" marR="40462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Web 1.0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462" marR="40462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Web 2.0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462" marR="40462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Web 3.0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462" marR="40462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Web 4.0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462" marR="40462" marT="0" marB="0" anchor="b"/>
                </a:tc>
                <a:extLst>
                  <a:ext uri="{0D108BD9-81ED-4DB2-BD59-A6C34878D82A}">
                    <a16:rowId xmlns:a16="http://schemas.microsoft.com/office/drawing/2014/main" val="3544731087"/>
                  </a:ext>
                </a:extLst>
              </a:tr>
              <a:tr h="370637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Definition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462" marR="40462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The "read-only" web.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462" marR="40462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The "participatory" or "social" web.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462" marR="40462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The "semantic" / "data" web.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462" marR="40462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The "symbiotic" web.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462" marR="40462" marT="0" marB="0" anchor="ctr"/>
                </a:tc>
                <a:extLst>
                  <a:ext uri="{0D108BD9-81ED-4DB2-BD59-A6C34878D82A}">
                    <a16:rowId xmlns:a16="http://schemas.microsoft.com/office/drawing/2014/main" val="734122271"/>
                  </a:ext>
                </a:extLst>
              </a:tr>
              <a:tr h="741273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Content Creation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462" marR="40462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Static content created by webmasters.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462" marR="40462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Dynamic content and user-generated content.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462" marR="40462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Content linked across platforms, understandable by machines.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462" marR="40462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AI-generated content, highly personalized and anticipatory.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462" marR="40462" marT="0" marB="0" anchor="ctr"/>
                </a:tc>
                <a:extLst>
                  <a:ext uri="{0D108BD9-81ED-4DB2-BD59-A6C34878D82A}">
                    <a16:rowId xmlns:a16="http://schemas.microsoft.com/office/drawing/2014/main" val="4290391413"/>
                  </a:ext>
                </a:extLst>
              </a:tr>
              <a:tr h="926592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User Interaction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462" marR="40462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Limited to reading.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462" marR="40462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Interactive, with users contributing content and engaging with each other.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462" marR="40462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Users and machines interact seamlessly, with intelligent search and data integration.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462" marR="40462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Deeply immersive experiences with AR, VR, and AI enabling natural interactions.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462" marR="40462" marT="0" marB="0" anchor="ctr"/>
                </a:tc>
                <a:extLst>
                  <a:ext uri="{0D108BD9-81ED-4DB2-BD59-A6C34878D82A}">
                    <a16:rowId xmlns:a16="http://schemas.microsoft.com/office/drawing/2014/main" val="2418531019"/>
                  </a:ext>
                </a:extLst>
              </a:tr>
              <a:tr h="555955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Technologies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462" marR="40462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HTML, CSS.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462" marR="40462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AJAX, RSS, Web APIs.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462" marR="40462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RDF, OWL, SPARQL, Semantic Web technologies.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462" marR="40462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AI, IoT, blockchain, advanced encryption.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462" marR="40462" marT="0" marB="0" anchor="ctr"/>
                </a:tc>
                <a:extLst>
                  <a:ext uri="{0D108BD9-81ED-4DB2-BD59-A6C34878D82A}">
                    <a16:rowId xmlns:a16="http://schemas.microsoft.com/office/drawing/2014/main" val="2274872529"/>
                  </a:ext>
                </a:extLst>
              </a:tr>
              <a:tr h="741273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Connectivity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462" marR="40462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Low. Web pages are mostly isolated.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462" marR="40462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High. Social media and wikis link people and content.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462" marR="40462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Very high. Data from multiple sources is connected.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462" marR="40462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Ubiquitous. Everything is connected, often in real-time.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462" marR="40462" marT="0" marB="0" anchor="ctr"/>
                </a:tc>
                <a:extLst>
                  <a:ext uri="{0D108BD9-81ED-4DB2-BD59-A6C34878D82A}">
                    <a16:rowId xmlns:a16="http://schemas.microsoft.com/office/drawing/2014/main" val="1004304771"/>
                  </a:ext>
                </a:extLst>
              </a:tr>
              <a:tr h="370637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Data Flow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462" marR="40462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One-way.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462" marR="40462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Two-way, with feedback loops.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462" marR="40462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Multi-directional, context-aware.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462" marR="40462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Autonomous, predictive.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462" marR="40462" marT="0" marB="0" anchor="ctr"/>
                </a:tc>
                <a:extLst>
                  <a:ext uri="{0D108BD9-81ED-4DB2-BD59-A6C34878D82A}">
                    <a16:rowId xmlns:a16="http://schemas.microsoft.com/office/drawing/2014/main" val="422361184"/>
                  </a:ext>
                </a:extLst>
              </a:tr>
              <a:tr h="741273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Privacy and Security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462" marR="40462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Basic.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462" marR="40462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Increased focus due to social nature.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462" marR="40462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Significant concern, with emphasis on standards and protocols.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462" marR="40462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Critical, with advanced solutions required for safety and ethics.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462" marR="40462" marT="0" marB="0" anchor="ctr"/>
                </a:tc>
                <a:extLst>
                  <a:ext uri="{0D108BD9-81ED-4DB2-BD59-A6C34878D82A}">
                    <a16:rowId xmlns:a16="http://schemas.microsoft.com/office/drawing/2014/main" val="4190604649"/>
                  </a:ext>
                </a:extLst>
              </a:tr>
            </a:tbl>
          </a:graphicData>
        </a:graphic>
      </p:graphicFrame>
      <p:sp>
        <p:nvSpPr>
          <p:cNvPr id="10" name="Title 1">
            <a:extLst>
              <a:ext uri="{FF2B5EF4-FFF2-40B4-BE49-F238E27FC236}">
                <a16:creationId xmlns:a16="http://schemas.microsoft.com/office/drawing/2014/main" id="{C2A89A36-A16C-29B0-B9E1-BE79493A6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877" y="475878"/>
            <a:ext cx="8504959" cy="1325563"/>
          </a:xfrm>
        </p:spPr>
        <p:txBody>
          <a:bodyPr>
            <a:normAutofit/>
          </a:bodyPr>
          <a:lstStyle/>
          <a:p>
            <a:r>
              <a:rPr lang="en-US" b="0" dirty="0"/>
              <a:t>The evolution of WWW</a:t>
            </a:r>
            <a:br>
              <a:rPr lang="en-US" sz="3600" b="0" dirty="0"/>
            </a:br>
            <a:endParaRPr lang="en-US" sz="3600" b="0" dirty="0"/>
          </a:p>
        </p:txBody>
      </p:sp>
    </p:spTree>
    <p:extLst>
      <p:ext uri="{BB962C8B-B14F-4D97-AF65-F5344CB8AC3E}">
        <p14:creationId xmlns:p14="http://schemas.microsoft.com/office/powerpoint/2010/main" val="26603662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E2770-4B42-38FE-EDF4-843A563C3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8A4CC-FAD6-89D5-E762-DE1372E0B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095" y="375517"/>
            <a:ext cx="9150350" cy="1325563"/>
          </a:xfrm>
        </p:spPr>
        <p:txBody>
          <a:bodyPr>
            <a:normAutofit/>
          </a:bodyPr>
          <a:lstStyle/>
          <a:p>
            <a:r>
              <a:rPr lang="en-US" b="0" dirty="0"/>
              <a:t>Understanding social media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655C9-344B-D848-1C9B-F031C07B78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597347"/>
            <a:ext cx="8338705" cy="4107262"/>
          </a:xfrm>
        </p:spPr>
        <p:txBody>
          <a:bodyPr>
            <a:normAutofit fontScale="92500"/>
          </a:bodyPr>
          <a:lstStyle/>
          <a:p>
            <a:pPr>
              <a:lnSpc>
                <a:spcPct val="110000"/>
              </a:lnSpc>
            </a:pPr>
            <a:r>
              <a:rPr lang="en-US" sz="2600" dirty="0">
                <a:highlight>
                  <a:srgbClr val="FFFF00"/>
                </a:highlight>
              </a:rPr>
              <a:t>Social media is built on the </a:t>
            </a:r>
            <a:r>
              <a:rPr lang="en-US" sz="2600" i="1" dirty="0">
                <a:highlight>
                  <a:srgbClr val="FFFF00"/>
                </a:highlight>
              </a:rPr>
              <a:t>Web 2.0 philosophy</a:t>
            </a:r>
            <a:r>
              <a:rPr lang="en-US" sz="2600" dirty="0"/>
              <a:t>, that is, to give more control to the user over the content. It can be defined as </a:t>
            </a:r>
            <a:r>
              <a:rPr lang="en-US" sz="2600" u="sng" dirty="0"/>
              <a:t>an easy-to-use Internet-based platform that provides users with opportunities to create and exchange content in a one-to-one, one-to-many, and many-to-many context</a:t>
            </a:r>
            <a:r>
              <a:rPr lang="en-US" sz="2600" dirty="0"/>
              <a:t>.</a:t>
            </a:r>
          </a:p>
          <a:p>
            <a:r>
              <a:rPr lang="en-US" sz="2600" dirty="0"/>
              <a:t>Key features of Web 2.0</a:t>
            </a:r>
          </a:p>
          <a:p>
            <a:pPr lvl="1"/>
            <a:r>
              <a:rPr lang="en-US" dirty="0"/>
              <a:t>Interactivity and Participation</a:t>
            </a:r>
          </a:p>
          <a:p>
            <a:pPr lvl="1"/>
            <a:r>
              <a:rPr lang="en-US" dirty="0"/>
              <a:t>Everyone can be a producer</a:t>
            </a:r>
          </a:p>
          <a:p>
            <a:pPr lvl="1"/>
            <a:r>
              <a:rPr lang="en-US" dirty="0"/>
              <a:t>Collaboration &amp; Crowdsourcing</a:t>
            </a:r>
          </a:p>
          <a:p>
            <a:pPr lvl="1"/>
            <a:r>
              <a:rPr lang="en-US" dirty="0"/>
              <a:t>Rich User Experiences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8123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93A556F-A429-D887-AA45-7537031CA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185" y="0"/>
            <a:ext cx="9150350" cy="1325563"/>
          </a:xfrm>
        </p:spPr>
        <p:txBody>
          <a:bodyPr>
            <a:normAutofit/>
          </a:bodyPr>
          <a:lstStyle/>
          <a:p>
            <a:r>
              <a:rPr lang="en-US" b="0" dirty="0"/>
              <a:t>History of social media</a:t>
            </a:r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6FB7A06F-A37F-978B-624A-59B4128E70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8499716"/>
              </p:ext>
            </p:extLst>
          </p:nvPr>
        </p:nvGraphicFramePr>
        <p:xfrm>
          <a:off x="404185" y="1163448"/>
          <a:ext cx="8520527" cy="5253726"/>
        </p:xfrm>
        <a:graphic>
          <a:graphicData uri="http://schemas.openxmlformats.org/drawingml/2006/table">
            <a:tbl>
              <a:tblPr firstRow="1" firstCol="1" bandRow="1">
                <a:tableStyleId>{93296810-A885-4BE3-A3E7-6D5BEEA58F35}</a:tableStyleId>
              </a:tblPr>
              <a:tblGrid>
                <a:gridCol w="957811">
                  <a:extLst>
                    <a:ext uri="{9D8B030D-6E8A-4147-A177-3AD203B41FA5}">
                      <a16:colId xmlns:a16="http://schemas.microsoft.com/office/drawing/2014/main" val="481907737"/>
                    </a:ext>
                  </a:extLst>
                </a:gridCol>
                <a:gridCol w="7562716">
                  <a:extLst>
                    <a:ext uri="{9D8B030D-6E8A-4147-A177-3AD203B41FA5}">
                      <a16:colId xmlns:a16="http://schemas.microsoft.com/office/drawing/2014/main" val="2641843469"/>
                    </a:ext>
                  </a:extLst>
                </a:gridCol>
              </a:tblGrid>
              <a:tr h="2108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Year(s)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177" marR="31177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Description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177" marR="31177" marT="0" marB="0" anchor="b"/>
                </a:tc>
                <a:extLst>
                  <a:ext uri="{0D108BD9-81ED-4DB2-BD59-A6C34878D82A}">
                    <a16:rowId xmlns:a16="http://schemas.microsoft.com/office/drawing/2014/main" val="90804792"/>
                  </a:ext>
                </a:extLst>
              </a:tr>
              <a:tr h="15737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dirty="0">
                          <a:solidFill>
                            <a:srgbClr val="C00000"/>
                          </a:solidFill>
                          <a:effectLst/>
                        </a:rPr>
                        <a:t>1990s:</a:t>
                      </a:r>
                      <a:r>
                        <a:rPr lang="en-US" sz="1050" b="0" dirty="0">
                          <a:solidFill>
                            <a:srgbClr val="C00000"/>
                          </a:solidFill>
                          <a:effectLst/>
                        </a:rPr>
                        <a:t> </a:t>
                      </a:r>
                      <a:endParaRPr lang="en-US" sz="1050" b="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177" marR="31177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dirty="0">
                          <a:solidFill>
                            <a:srgbClr val="C00000"/>
                          </a:solidFill>
                          <a:effectLst/>
                        </a:rPr>
                        <a:t>The Internet Goes Public</a:t>
                      </a:r>
                      <a:endParaRPr lang="en-US" sz="1050" b="1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177" marR="31177" marT="0" marB="0" anchor="ctr"/>
                </a:tc>
                <a:extLst>
                  <a:ext uri="{0D108BD9-81ED-4DB2-BD59-A6C34878D82A}">
                    <a16:rowId xmlns:a16="http://schemas.microsoft.com/office/drawing/2014/main" val="1979954887"/>
                  </a:ext>
                </a:extLst>
              </a:tr>
              <a:tr h="28637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1991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177" marR="31177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The World Wide Web goes live to the public, transforming the internet from a scientific and academic tool into a comprehensive network accessible to the masses.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177" marR="31177" marT="0" marB="0" anchor="ctr"/>
                </a:tc>
                <a:extLst>
                  <a:ext uri="{0D108BD9-81ED-4DB2-BD59-A6C34878D82A}">
                    <a16:rowId xmlns:a16="http://schemas.microsoft.com/office/drawing/2014/main" val="2654052263"/>
                  </a:ext>
                </a:extLst>
              </a:tr>
              <a:tr h="32456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1994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177" marR="31177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  <a:highlight>
                            <a:srgbClr val="FFFF00"/>
                          </a:highlight>
                        </a:rPr>
                        <a:t>GeoCities</a:t>
                      </a:r>
                      <a:r>
                        <a:rPr lang="en-US" sz="1050" dirty="0">
                          <a:effectLst/>
                        </a:rPr>
                        <a:t>, a web hosting service, allows users to create their own websites, grouping them into "neighborhoods" based on content themes, resembling early social networking.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177" marR="31177" marT="0" marB="0" anchor="ctr"/>
                </a:tc>
                <a:extLst>
                  <a:ext uri="{0D108BD9-81ED-4DB2-BD59-A6C34878D82A}">
                    <a16:rowId xmlns:a16="http://schemas.microsoft.com/office/drawing/2014/main" val="1577149941"/>
                  </a:ext>
                </a:extLst>
              </a:tr>
              <a:tr h="28614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1997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177" marR="31177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 err="1">
                          <a:effectLst/>
                          <a:highlight>
                            <a:srgbClr val="FFFF00"/>
                          </a:highlight>
                        </a:rPr>
                        <a:t>SixDegrees.com</a:t>
                      </a:r>
                      <a:r>
                        <a:rPr lang="en-US" sz="1050" dirty="0">
                          <a:effectLst/>
                        </a:rPr>
                        <a:t> launches as one of the first recognizable social networking sites, enabling users to create profiles and friend other users.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177" marR="31177" marT="0" marB="0" anchor="ctr"/>
                </a:tc>
                <a:extLst>
                  <a:ext uri="{0D108BD9-81ED-4DB2-BD59-A6C34878D82A}">
                    <a16:rowId xmlns:a16="http://schemas.microsoft.com/office/drawing/2014/main" val="1288611303"/>
                  </a:ext>
                </a:extLst>
              </a:tr>
              <a:tr h="15737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solidFill>
                            <a:srgbClr val="C00000"/>
                          </a:solidFill>
                          <a:effectLst/>
                        </a:rPr>
                        <a:t>2000s: </a:t>
                      </a:r>
                      <a:endParaRPr lang="en-US" sz="105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177" marR="31177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dirty="0">
                          <a:solidFill>
                            <a:srgbClr val="C00000"/>
                          </a:solidFill>
                          <a:effectLst/>
                        </a:rPr>
                        <a:t>Social Networking Expansion</a:t>
                      </a:r>
                      <a:endParaRPr lang="en-US" sz="1050" b="1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177" marR="31177" marT="0" marB="0" anchor="ctr"/>
                </a:tc>
                <a:extLst>
                  <a:ext uri="{0D108BD9-81ED-4DB2-BD59-A6C34878D82A}">
                    <a16:rowId xmlns:a16="http://schemas.microsoft.com/office/drawing/2014/main" val="2536060681"/>
                  </a:ext>
                </a:extLst>
              </a:tr>
              <a:tr h="28614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2002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177" marR="31177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  <a:highlight>
                            <a:srgbClr val="FFFF00"/>
                          </a:highlight>
                        </a:rPr>
                        <a:t>Friendster</a:t>
                      </a:r>
                      <a:r>
                        <a:rPr lang="en-US" sz="1050" dirty="0">
                          <a:effectLst/>
                        </a:rPr>
                        <a:t> is launched, aimed at creating a safer, more realistic online community environment, influencing future social networking sites.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177" marR="31177" marT="0" marB="0" anchor="ctr"/>
                </a:tc>
                <a:extLst>
                  <a:ext uri="{0D108BD9-81ED-4DB2-BD59-A6C34878D82A}">
                    <a16:rowId xmlns:a16="http://schemas.microsoft.com/office/drawing/2014/main" val="926715624"/>
                  </a:ext>
                </a:extLst>
              </a:tr>
              <a:tr h="28614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2003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177" marR="31177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LinkedIn goes live, offering a networking solution for business professionals, while </a:t>
                      </a:r>
                      <a:r>
                        <a:rPr lang="en-US" sz="1050" dirty="0" err="1">
                          <a:effectLst/>
                          <a:highlight>
                            <a:srgbClr val="FFFF00"/>
                          </a:highlight>
                        </a:rPr>
                        <a:t>MySpace</a:t>
                      </a:r>
                      <a:r>
                        <a:rPr lang="en-US" sz="1050" dirty="0">
                          <a:effectLst/>
                        </a:rPr>
                        <a:t> quickly becomes the most popular social network in the U.S.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177" marR="31177" marT="0" marB="0" anchor="ctr"/>
                </a:tc>
                <a:extLst>
                  <a:ext uri="{0D108BD9-81ED-4DB2-BD59-A6C34878D82A}">
                    <a16:rowId xmlns:a16="http://schemas.microsoft.com/office/drawing/2014/main" val="3659105338"/>
                  </a:ext>
                </a:extLst>
              </a:tr>
              <a:tr h="18886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2004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177" marR="31177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Facebook launches, initially restricted to Harvard students before expanding to other universities and eventually the public in 2006.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177" marR="31177" marT="0" marB="0" anchor="ctr"/>
                </a:tc>
                <a:extLst>
                  <a:ext uri="{0D108BD9-81ED-4DB2-BD59-A6C34878D82A}">
                    <a16:rowId xmlns:a16="http://schemas.microsoft.com/office/drawing/2014/main" val="1732461843"/>
                  </a:ext>
                </a:extLst>
              </a:tr>
              <a:tr h="18864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2005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177" marR="31177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YouTube is created, revolutionizing online video sharing and consumption.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177" marR="31177" marT="0" marB="0" anchor="ctr"/>
                </a:tc>
                <a:extLst>
                  <a:ext uri="{0D108BD9-81ED-4DB2-BD59-A6C34878D82A}">
                    <a16:rowId xmlns:a16="http://schemas.microsoft.com/office/drawing/2014/main" val="1506031473"/>
                  </a:ext>
                </a:extLst>
              </a:tr>
              <a:tr h="18886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2006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177" marR="31177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X launches, introducing a microblogging platform that limits posts to 140 characters, later expanded to 280.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177" marR="31177" marT="0" marB="0" anchor="ctr"/>
                </a:tc>
                <a:extLst>
                  <a:ext uri="{0D108BD9-81ED-4DB2-BD59-A6C34878D82A}">
                    <a16:rowId xmlns:a16="http://schemas.microsoft.com/office/drawing/2014/main" val="3833807559"/>
                  </a:ext>
                </a:extLst>
              </a:tr>
              <a:tr h="28614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2007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177" marR="31177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The introduction of iPhone marks a significant shift toward mobile internet use, greatly influencing social media accessibility and design.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177" marR="31177" marT="0" marB="0" anchor="ctr"/>
                </a:tc>
                <a:extLst>
                  <a:ext uri="{0D108BD9-81ED-4DB2-BD59-A6C34878D82A}">
                    <a16:rowId xmlns:a16="http://schemas.microsoft.com/office/drawing/2014/main" val="4238589761"/>
                  </a:ext>
                </a:extLst>
              </a:tr>
              <a:tr h="15737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solidFill>
                            <a:srgbClr val="C00000"/>
                          </a:solidFill>
                          <a:effectLst/>
                        </a:rPr>
                        <a:t>2010s: </a:t>
                      </a:r>
                      <a:endParaRPr lang="en-US" sz="105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177" marR="31177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dirty="0">
                          <a:solidFill>
                            <a:srgbClr val="C00000"/>
                          </a:solidFill>
                          <a:effectLst/>
                        </a:rPr>
                        <a:t>The Mobile and Multimedia Era</a:t>
                      </a:r>
                      <a:endParaRPr lang="en-US" sz="1050" b="1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177" marR="31177" marT="0" marB="0" anchor="ctr"/>
                </a:tc>
                <a:extLst>
                  <a:ext uri="{0D108BD9-81ED-4DB2-BD59-A6C34878D82A}">
                    <a16:rowId xmlns:a16="http://schemas.microsoft.com/office/drawing/2014/main" val="1348907302"/>
                  </a:ext>
                </a:extLst>
              </a:tr>
              <a:tr h="18886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2010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177" marR="31177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Instagram launches, focusing on mobile photo and later video sharing, quickly becoming one of the most popular social platforms.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177" marR="31177" marT="0" marB="0" anchor="ctr"/>
                </a:tc>
                <a:extLst>
                  <a:ext uri="{0D108BD9-81ED-4DB2-BD59-A6C34878D82A}">
                    <a16:rowId xmlns:a16="http://schemas.microsoft.com/office/drawing/2014/main" val="2427972959"/>
                  </a:ext>
                </a:extLst>
              </a:tr>
              <a:tr h="18886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2011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177" marR="31177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Snapchat is released, introducing ephemeral content and multimedia messaging, popularizing the concept of stories.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177" marR="31177" marT="0" marB="0" anchor="ctr"/>
                </a:tc>
                <a:extLst>
                  <a:ext uri="{0D108BD9-81ED-4DB2-BD59-A6C34878D82A}">
                    <a16:rowId xmlns:a16="http://schemas.microsoft.com/office/drawing/2014/main" val="2037360484"/>
                  </a:ext>
                </a:extLst>
              </a:tr>
              <a:tr h="18886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2012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177" marR="31177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Facebook acquires Instagram, further consolidating its presence in the social media sphere.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177" marR="31177" marT="0" marB="0" anchor="ctr"/>
                </a:tc>
                <a:extLst>
                  <a:ext uri="{0D108BD9-81ED-4DB2-BD59-A6C34878D82A}">
                    <a16:rowId xmlns:a16="http://schemas.microsoft.com/office/drawing/2014/main" val="499935693"/>
                  </a:ext>
                </a:extLst>
              </a:tr>
              <a:tr h="28614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2013-2014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177" marR="31177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The rise of messaging apps like WhatsApp and Telegram, emphasizing privacy and encryption, diversifies the social media landscape.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177" marR="31177" marT="0" marB="0" anchor="ctr"/>
                </a:tc>
                <a:extLst>
                  <a:ext uri="{0D108BD9-81ED-4DB2-BD59-A6C34878D82A}">
                    <a16:rowId xmlns:a16="http://schemas.microsoft.com/office/drawing/2014/main" val="583725907"/>
                  </a:ext>
                </a:extLst>
              </a:tr>
              <a:tr h="28614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2016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177" marR="31177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TikTok launches internationally, bringing short-form video content to the forefront of social media trends.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177" marR="31177" marT="0" marB="0" anchor="ctr"/>
                </a:tc>
                <a:extLst>
                  <a:ext uri="{0D108BD9-81ED-4DB2-BD59-A6C34878D82A}">
                    <a16:rowId xmlns:a16="http://schemas.microsoft.com/office/drawing/2014/main" val="3466967791"/>
                  </a:ext>
                </a:extLst>
              </a:tr>
              <a:tr h="15737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solidFill>
                            <a:srgbClr val="C00000"/>
                          </a:solidFill>
                          <a:effectLst/>
                        </a:rPr>
                        <a:t>2020s: </a:t>
                      </a:r>
                      <a:endParaRPr lang="en-US" sz="105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177" marR="31177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dirty="0">
                          <a:solidFill>
                            <a:srgbClr val="C00000"/>
                          </a:solidFill>
                          <a:effectLst/>
                        </a:rPr>
                        <a:t>Evolution and New Horizons</a:t>
                      </a:r>
                      <a:endParaRPr lang="en-US" sz="1050" b="1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177" marR="31177" marT="0" marB="0" anchor="ctr"/>
                </a:tc>
                <a:extLst>
                  <a:ext uri="{0D108BD9-81ED-4DB2-BD59-A6C34878D82A}">
                    <a16:rowId xmlns:a16="http://schemas.microsoft.com/office/drawing/2014/main" val="3698701209"/>
                  </a:ext>
                </a:extLst>
              </a:tr>
              <a:tr h="32456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2020-2021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177" marR="31177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The COVID-19 pandemic leads to unprecedented growth in social media use, as individuals and businesses rely more heavily on digital platforms for communication, entertainment, and commerce.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177" marR="31177" marT="0" marB="0" anchor="ctr"/>
                </a:tc>
                <a:extLst>
                  <a:ext uri="{0D108BD9-81ED-4DB2-BD59-A6C34878D82A}">
                    <a16:rowId xmlns:a16="http://schemas.microsoft.com/office/drawing/2014/main" val="1900242734"/>
                  </a:ext>
                </a:extLst>
              </a:tr>
              <a:tr h="32456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2022-2026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177" marR="31177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Augmented reality (AR) and virtual reality (VR) integrations in social media platforms enhance user engagement, paving the way for more immersive social experiences. </a:t>
                      </a:r>
                      <a:r>
                        <a:rPr lang="en-US" sz="1050" dirty="0" err="1">
                          <a:effectLst/>
                        </a:rPr>
                        <a:t>DeepFake</a:t>
                      </a:r>
                      <a:r>
                        <a:rPr lang="en-US" sz="1050" dirty="0">
                          <a:effectLst/>
                        </a:rPr>
                        <a:t>. AIGC videos.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177" marR="31177" marT="0" marB="0" anchor="ctr"/>
                </a:tc>
                <a:extLst>
                  <a:ext uri="{0D108BD9-81ED-4DB2-BD59-A6C34878D82A}">
                    <a16:rowId xmlns:a16="http://schemas.microsoft.com/office/drawing/2014/main" val="99658595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B52A5-9BDA-91FB-0CB1-C0123D795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80E48-2B1E-978A-CF0F-DD8093C72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050" y="365126"/>
            <a:ext cx="9150350" cy="1325563"/>
          </a:xfrm>
        </p:spPr>
        <p:txBody>
          <a:bodyPr>
            <a:normAutofit/>
          </a:bodyPr>
          <a:lstStyle/>
          <a:p>
            <a:r>
              <a:rPr lang="en-US" b="0" dirty="0"/>
              <a:t>Characteristics of social media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EAF3A-22A2-773E-A42C-5B324989E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560" y="1887279"/>
            <a:ext cx="8229600" cy="4525963"/>
          </a:xfrm>
        </p:spPr>
        <p:txBody>
          <a:bodyPr/>
          <a:lstStyle/>
          <a:p>
            <a:pPr lvl="0"/>
            <a:r>
              <a:rPr lang="en-US" dirty="0"/>
              <a:t>User-Generated Content (UGC)</a:t>
            </a:r>
          </a:p>
          <a:p>
            <a:pPr lvl="0"/>
            <a:r>
              <a:rPr lang="en-US" dirty="0"/>
              <a:t>Connectivity and Interactivity</a:t>
            </a:r>
          </a:p>
          <a:p>
            <a:pPr lvl="0"/>
            <a:r>
              <a:rPr lang="en-US" dirty="0"/>
              <a:t>Personalization &amp; Privacy</a:t>
            </a:r>
          </a:p>
          <a:p>
            <a:pPr lvl="0"/>
            <a:r>
              <a:rPr lang="en-US" dirty="0"/>
              <a:t>Real-Time Communication</a:t>
            </a:r>
          </a:p>
          <a:p>
            <a:pPr lvl="0"/>
            <a:r>
              <a:rPr lang="en-US" dirty="0"/>
              <a:t>Multimedia Content</a:t>
            </a:r>
          </a:p>
          <a:p>
            <a:pPr lvl="0"/>
            <a:r>
              <a:rPr lang="en-US" dirty="0"/>
              <a:t>Accessibility (Web &amp; App)</a:t>
            </a:r>
          </a:p>
        </p:txBody>
      </p:sp>
      <p:pic>
        <p:nvPicPr>
          <p:cNvPr id="2050" name="Picture 2" descr="Social media - Wikipedia">
            <a:extLst>
              <a:ext uri="{FF2B5EF4-FFF2-40B4-BE49-F238E27FC236}">
                <a16:creationId xmlns:a16="http://schemas.microsoft.com/office/drawing/2014/main" id="{96E43826-6AA1-AD60-A32F-1000D495E5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979068"/>
            <a:ext cx="4000500" cy="2250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7290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BE9D9-4E29-7995-A99B-13AD29D56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9890B-0B26-D1F3-FDEC-3E298D34D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125" y="458644"/>
            <a:ext cx="8248650" cy="1325563"/>
          </a:xfrm>
        </p:spPr>
        <p:txBody>
          <a:bodyPr/>
          <a:lstStyle/>
          <a:p>
            <a:r>
              <a:rPr lang="en-US" b="0" dirty="0"/>
              <a:t>Major social media platforms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E59BFA-DAF1-4C30-C3E5-8996FD1505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175" y="1341187"/>
            <a:ext cx="8229600" cy="4525963"/>
          </a:xfrm>
        </p:spPr>
        <p:txBody>
          <a:bodyPr/>
          <a:lstStyle/>
          <a:p>
            <a:endParaRPr dirty="0"/>
          </a:p>
          <a:p>
            <a:pPr algn="l">
              <a:defRPr sz="1800"/>
            </a:pPr>
            <a:r>
              <a:rPr lang="en-US" sz="2400" dirty="0"/>
              <a:t>Top platforms by user base in 2025</a:t>
            </a:r>
          </a:p>
          <a:p>
            <a:pPr lvl="1">
              <a:defRPr sz="1800"/>
            </a:pPr>
            <a:r>
              <a:rPr lang="en-US" sz="2000" dirty="0"/>
              <a:t>Facebook, YouTube, Instagram, WeChat, TikTok, LinkedIn, X, Reddit</a:t>
            </a:r>
            <a:endParaRPr sz="2000" dirty="0"/>
          </a:p>
          <a:p>
            <a:pPr algn="l">
              <a:defRPr sz="1800"/>
            </a:pPr>
            <a:r>
              <a:rPr lang="en-US" sz="2400" dirty="0"/>
              <a:t>Each has &gt; 500 million monthly active users (MAU)</a:t>
            </a:r>
          </a:p>
          <a:p>
            <a:pPr algn="l">
              <a:defRPr sz="1800"/>
            </a:pPr>
            <a:r>
              <a:rPr lang="en-US" sz="2400" dirty="0"/>
              <a:t>Owned mostly by Tech companies</a:t>
            </a:r>
          </a:p>
          <a:p>
            <a:pPr lvl="1">
              <a:defRPr sz="1800"/>
            </a:pPr>
            <a:r>
              <a:rPr lang="en-US" sz="2000" dirty="0"/>
              <a:t>Meta, Google, ByteDance, Microsoft, Tencent</a:t>
            </a:r>
          </a:p>
          <a:p>
            <a:pPr algn="l">
              <a:defRPr sz="1800"/>
            </a:pPr>
            <a:endParaRPr lang="en-US" sz="2400" dirty="0"/>
          </a:p>
        </p:txBody>
      </p:sp>
      <p:pic>
        <p:nvPicPr>
          <p:cNvPr id="1026" name="Picture 2" descr="Social media - Wikipedia">
            <a:extLst>
              <a:ext uri="{FF2B5EF4-FFF2-40B4-BE49-F238E27FC236}">
                <a16:creationId xmlns:a16="http://schemas.microsoft.com/office/drawing/2014/main" id="{91868C28-88EF-DDB5-B3E7-73557BA385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8346" y="4101811"/>
            <a:ext cx="4281055" cy="2408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67138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E1F95-A41A-465D-BEEE-5C795A384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41BFF-4EAF-56DB-E6C8-3699C0008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8248650" cy="1325563"/>
          </a:xfrm>
        </p:spPr>
        <p:txBody>
          <a:bodyPr/>
          <a:lstStyle/>
          <a:p>
            <a:r>
              <a:rPr lang="en-US" b="0" dirty="0"/>
              <a:t>Types of social media platforms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DF69B9-1833-A39D-8984-A1C979FEB7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557670"/>
            <a:ext cx="8229600" cy="4935204"/>
          </a:xfrm>
        </p:spPr>
        <p:txBody>
          <a:bodyPr>
            <a:normAutofit/>
          </a:bodyPr>
          <a:lstStyle/>
          <a:p>
            <a:pPr algn="l">
              <a:defRPr sz="1800"/>
            </a:pPr>
            <a:r>
              <a:rPr lang="en-US" sz="2400" dirty="0">
                <a:solidFill>
                  <a:srgbClr val="C00000"/>
                </a:solidFill>
              </a:rPr>
              <a:t>Social networking sites</a:t>
            </a:r>
          </a:p>
          <a:p>
            <a:pPr lvl="1">
              <a:defRPr sz="1800"/>
            </a:pPr>
            <a:r>
              <a:rPr lang="en-US" sz="2000" dirty="0"/>
              <a:t>Facebook, Twitter (X), Weibo, WeChat</a:t>
            </a:r>
          </a:p>
          <a:p>
            <a:pPr>
              <a:defRPr sz="1800"/>
            </a:pPr>
            <a:r>
              <a:rPr lang="en-US" sz="2400" dirty="0">
                <a:solidFill>
                  <a:srgbClr val="C00000"/>
                </a:solidFill>
              </a:rPr>
              <a:t>Media sharing (blogging)</a:t>
            </a:r>
          </a:p>
          <a:p>
            <a:pPr lvl="1">
              <a:defRPr sz="1800"/>
            </a:pPr>
            <a:r>
              <a:rPr lang="en-US" sz="2000" dirty="0"/>
              <a:t>YouTube, Instagram, TikTok, </a:t>
            </a:r>
            <a:r>
              <a:rPr lang="en-US" sz="2000" dirty="0" err="1"/>
              <a:t>RedNote</a:t>
            </a:r>
            <a:endParaRPr lang="en-US" sz="2000" dirty="0"/>
          </a:p>
          <a:p>
            <a:pPr>
              <a:defRPr sz="1800"/>
            </a:pPr>
            <a:r>
              <a:rPr lang="en-US" sz="2400" dirty="0"/>
              <a:t>Content communities</a:t>
            </a:r>
          </a:p>
          <a:p>
            <a:pPr lvl="1">
              <a:defRPr sz="1800"/>
            </a:pPr>
            <a:r>
              <a:rPr lang="en-US" sz="2000" dirty="0"/>
              <a:t>Discussion forum (Reddit, Douban, Flickr)</a:t>
            </a:r>
          </a:p>
          <a:p>
            <a:pPr lvl="1">
              <a:defRPr sz="1800"/>
            </a:pPr>
            <a:r>
              <a:rPr lang="en-US" sz="2000" dirty="0"/>
              <a:t>Customer review (Yelp, </a:t>
            </a:r>
            <a:r>
              <a:rPr lang="en-US" sz="2000" dirty="0" err="1"/>
              <a:t>DianPing</a:t>
            </a:r>
            <a:r>
              <a:rPr lang="en-US" sz="2000" dirty="0"/>
              <a:t>, TripAdvisor)</a:t>
            </a:r>
          </a:p>
          <a:p>
            <a:pPr lvl="1">
              <a:defRPr sz="1800"/>
            </a:pPr>
            <a:r>
              <a:rPr lang="en-US" sz="2000" dirty="0"/>
              <a:t>Community Q&amp;A (Quora, Stack Overflow, </a:t>
            </a:r>
            <a:r>
              <a:rPr lang="en-US" sz="2000" dirty="0" err="1"/>
              <a:t>Zhihu</a:t>
            </a:r>
            <a:r>
              <a:rPr lang="en-US" sz="2000" dirty="0"/>
              <a:t>)</a:t>
            </a:r>
          </a:p>
          <a:p>
            <a:pPr>
              <a:defRPr sz="1800"/>
            </a:pPr>
            <a:r>
              <a:rPr lang="en-US" sz="2400" dirty="0"/>
              <a:t>Online collaborative platforms</a:t>
            </a:r>
          </a:p>
          <a:p>
            <a:pPr lvl="1">
              <a:defRPr sz="1800"/>
            </a:pPr>
            <a:r>
              <a:rPr lang="en-US" sz="2000" dirty="0"/>
              <a:t>Wikipedia, </a:t>
            </a:r>
            <a:r>
              <a:rPr lang="en-US" sz="2000" dirty="0" err="1"/>
              <a:t>Github</a:t>
            </a:r>
            <a:r>
              <a:rPr lang="en-US" sz="2000" dirty="0"/>
              <a:t>, Overleaf</a:t>
            </a:r>
          </a:p>
          <a:p>
            <a:pPr>
              <a:defRPr sz="1800"/>
            </a:pPr>
            <a:r>
              <a:rPr lang="en-US" sz="2400" dirty="0"/>
              <a:t>Purpose-build platforms</a:t>
            </a:r>
          </a:p>
          <a:p>
            <a:pPr lvl="1">
              <a:defRPr sz="1800"/>
            </a:pPr>
            <a:r>
              <a:rPr lang="en-US" sz="2000" dirty="0"/>
              <a:t>Dating apps, LinkedIn, </a:t>
            </a:r>
            <a:r>
              <a:rPr lang="en-US" sz="2000" dirty="0" err="1"/>
              <a:t>Ebay</a:t>
            </a:r>
            <a:r>
              <a:rPr lang="en-US" sz="2000" dirty="0"/>
              <a:t>, Airbnb, etc.</a:t>
            </a:r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3818727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A3E9E-B247-EF39-8A7B-D0D960E79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2F911-A8AE-17D6-8DC2-365F58BFE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8248650" cy="1325563"/>
          </a:xfrm>
        </p:spPr>
        <p:txBody>
          <a:bodyPr/>
          <a:lstStyle/>
          <a:p>
            <a:r>
              <a:rPr lang="en-US" b="0" dirty="0"/>
              <a:t>Social networking sites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BB4AE-36AD-FB5C-7346-B09403270C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20525"/>
            <a:ext cx="8229600" cy="4947618"/>
          </a:xfrm>
        </p:spPr>
        <p:txBody>
          <a:bodyPr>
            <a:normAutofit/>
          </a:bodyPr>
          <a:lstStyle/>
          <a:p>
            <a:endParaRPr dirty="0"/>
          </a:p>
          <a:p>
            <a:pPr>
              <a:defRPr sz="1800"/>
            </a:pPr>
            <a:r>
              <a:rPr lang="en-US" sz="2400" dirty="0"/>
              <a:t>Network is the key</a:t>
            </a:r>
          </a:p>
          <a:p>
            <a:pPr algn="l">
              <a:defRPr sz="1800"/>
            </a:pPr>
            <a:r>
              <a:rPr lang="en-US" sz="2400" dirty="0"/>
              <a:t>Node: user</a:t>
            </a:r>
          </a:p>
          <a:p>
            <a:pPr lvl="1">
              <a:defRPr sz="1800"/>
            </a:pPr>
            <a:r>
              <a:rPr lang="en-US" sz="2000" dirty="0"/>
              <a:t>Multiple types of users</a:t>
            </a:r>
          </a:p>
          <a:p>
            <a:pPr marL="457200" lvl="1" indent="0">
              <a:buNone/>
              <a:defRPr sz="1800"/>
            </a:pPr>
            <a:r>
              <a:rPr lang="en-US" sz="2000" dirty="0"/>
              <a:t>	</a:t>
            </a:r>
            <a:r>
              <a:rPr lang="en-US" sz="1800" dirty="0"/>
              <a:t>organization vs. individual, verified vs. non-verified</a:t>
            </a:r>
          </a:p>
          <a:p>
            <a:pPr lvl="1">
              <a:defRPr sz="1800"/>
            </a:pPr>
            <a:r>
              <a:rPr lang="en-US" sz="2000" dirty="0"/>
              <a:t>Attributes of users</a:t>
            </a:r>
          </a:p>
          <a:p>
            <a:pPr marL="914400" lvl="2" indent="0">
              <a:buNone/>
              <a:defRPr sz="1800"/>
            </a:pPr>
            <a:r>
              <a:rPr lang="en-US" dirty="0"/>
              <a:t>gender, location, age, occupation, interests, joined date</a:t>
            </a:r>
          </a:p>
          <a:p>
            <a:pPr lvl="1">
              <a:defRPr sz="1800"/>
            </a:pPr>
            <a:r>
              <a:rPr lang="en-US" sz="2000" dirty="0"/>
              <a:t>Any others?</a:t>
            </a:r>
          </a:p>
        </p:txBody>
      </p:sp>
      <p:pic>
        <p:nvPicPr>
          <p:cNvPr id="3078" name="Picture 6" descr="Social Network Vector Art, Icons, and Graphics for Free Download">
            <a:extLst>
              <a:ext uri="{FF2B5EF4-FFF2-40B4-BE49-F238E27FC236}">
                <a16:creationId xmlns:a16="http://schemas.microsoft.com/office/drawing/2014/main" id="{19B6EAF3-B43B-91E7-0B0F-63A07D8DA4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5392" y="4289154"/>
            <a:ext cx="3240669" cy="2268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78007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ABD68-E9B1-778F-8484-66EFAE4F7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DC4D9-950E-6702-8FB3-0895CA2DF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8248650" cy="1325563"/>
          </a:xfrm>
        </p:spPr>
        <p:txBody>
          <a:bodyPr/>
          <a:lstStyle/>
          <a:p>
            <a:r>
              <a:rPr lang="en-US" b="0" dirty="0"/>
              <a:t>Social networking sites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E72F18-FB5F-EB34-77E8-C25A79D62E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420100" cy="4892674"/>
          </a:xfrm>
        </p:spPr>
        <p:txBody>
          <a:bodyPr>
            <a:normAutofit/>
          </a:bodyPr>
          <a:lstStyle/>
          <a:p>
            <a:pPr algn="l">
              <a:defRPr sz="1800"/>
            </a:pPr>
            <a:r>
              <a:rPr lang="en-US" sz="2400" dirty="0"/>
              <a:t>Edge: relations between users</a:t>
            </a:r>
          </a:p>
          <a:p>
            <a:pPr lvl="1">
              <a:defRPr sz="1800"/>
            </a:pPr>
            <a:r>
              <a:rPr lang="en-US" sz="2000" dirty="0"/>
              <a:t>Follower</a:t>
            </a:r>
          </a:p>
          <a:p>
            <a:pPr lvl="1">
              <a:defRPr sz="1800"/>
            </a:pPr>
            <a:r>
              <a:rPr lang="en-US" sz="2000" dirty="0"/>
              <a:t>Mention</a:t>
            </a:r>
          </a:p>
          <a:p>
            <a:pPr lvl="1">
              <a:defRPr sz="1800"/>
            </a:pPr>
            <a:r>
              <a:rPr lang="en-US" sz="2000" dirty="0"/>
              <a:t>Reply</a:t>
            </a:r>
          </a:p>
          <a:p>
            <a:pPr lvl="1">
              <a:defRPr sz="1800"/>
            </a:pPr>
            <a:r>
              <a:rPr lang="en-US" sz="2000" dirty="0"/>
              <a:t>Repost</a:t>
            </a:r>
          </a:p>
          <a:p>
            <a:pPr lvl="1">
              <a:defRPr sz="1800"/>
            </a:pPr>
            <a:r>
              <a:rPr lang="en-US" sz="2000" dirty="0"/>
              <a:t>Like</a:t>
            </a:r>
          </a:p>
          <a:p>
            <a:pPr lvl="1">
              <a:defRPr sz="1800"/>
            </a:pPr>
            <a:r>
              <a:rPr lang="en-US" sz="2000" dirty="0"/>
              <a:t>Comment</a:t>
            </a:r>
          </a:p>
          <a:p>
            <a:pPr>
              <a:defRPr sz="1800"/>
            </a:pPr>
            <a:r>
              <a:rPr lang="en-US" sz="2400" dirty="0"/>
              <a:t>Attributes of edges?</a:t>
            </a:r>
          </a:p>
          <a:p>
            <a:pPr lvl="1">
              <a:defRPr sz="1800"/>
            </a:pPr>
            <a:r>
              <a:rPr lang="en-US" sz="2000" dirty="0"/>
              <a:t>Frequency, Time, Strength, Direction</a:t>
            </a:r>
          </a:p>
          <a:p>
            <a:pPr>
              <a:defRPr sz="1800"/>
            </a:pPr>
            <a:r>
              <a:rPr lang="en-US" sz="2400" dirty="0"/>
              <a:t>Publicly hosted Twitter datasets:</a:t>
            </a:r>
          </a:p>
          <a:p>
            <a:pPr lvl="1">
              <a:defRPr sz="1800"/>
            </a:pPr>
            <a:r>
              <a:rPr lang="en-US" sz="2000" dirty="0">
                <a:hlinkClick r:id="rId3"/>
              </a:rPr>
              <a:t>https://github.com/shaypal5/awesome-twitter-data</a:t>
            </a:r>
            <a:endParaRPr lang="en-US" sz="2000" dirty="0"/>
          </a:p>
        </p:txBody>
      </p:sp>
      <p:pic>
        <p:nvPicPr>
          <p:cNvPr id="5" name="Picture 6" descr="Social Network Vector Art, Icons, and Graphics for Free Download">
            <a:extLst>
              <a:ext uri="{FF2B5EF4-FFF2-40B4-BE49-F238E27FC236}">
                <a16:creationId xmlns:a16="http://schemas.microsoft.com/office/drawing/2014/main" id="{C8B5AF7E-40D5-017B-6369-CB4172CC72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7712" y="1937437"/>
            <a:ext cx="3240669" cy="2268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6544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F7371-D8D6-C44F-A8E1-A4E902E08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CDF69-4A80-F375-625F-4AE6C0131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8248650" cy="1325563"/>
          </a:xfrm>
        </p:spPr>
        <p:txBody>
          <a:bodyPr/>
          <a:lstStyle/>
          <a:p>
            <a:r>
              <a:rPr lang="en-US" b="0" dirty="0"/>
              <a:t>Social networking sites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68222-BE95-650B-DD02-105BC0982B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27907"/>
            <a:ext cx="8229600" cy="4525963"/>
          </a:xfrm>
        </p:spPr>
        <p:txBody>
          <a:bodyPr>
            <a:normAutofit/>
          </a:bodyPr>
          <a:lstStyle/>
          <a:p>
            <a:endParaRPr dirty="0"/>
          </a:p>
          <a:p>
            <a:pPr algn="l">
              <a:defRPr sz="1800"/>
            </a:pPr>
            <a:r>
              <a:rPr lang="en-US" sz="2400" dirty="0"/>
              <a:t>What’s unique about it?</a:t>
            </a:r>
          </a:p>
          <a:p>
            <a:pPr lvl="1">
              <a:defRPr sz="1800"/>
            </a:pPr>
            <a:r>
              <a:rPr lang="en-US" sz="2000" dirty="0"/>
              <a:t>Full of UGC</a:t>
            </a:r>
            <a:r>
              <a:rPr lang="en-US" sz="2000" dirty="0">
                <a:effectLst/>
              </a:rPr>
              <a:t>, real-time information flow</a:t>
            </a:r>
          </a:p>
          <a:p>
            <a:pPr lvl="1">
              <a:defRPr sz="1800"/>
            </a:pPr>
            <a:r>
              <a:rPr lang="en-US" sz="2000" dirty="0">
                <a:effectLst/>
              </a:rPr>
              <a:t>Algorithmic feeds, instant messaging, and multimedia sharing</a:t>
            </a:r>
          </a:p>
          <a:p>
            <a:pPr lvl="1">
              <a:defRPr sz="1800"/>
            </a:pPr>
            <a:r>
              <a:rPr lang="en-US" sz="2000" dirty="0"/>
              <a:t>Complex user interactions and dynamics</a:t>
            </a:r>
          </a:p>
          <a:p>
            <a:pPr>
              <a:defRPr sz="1800"/>
            </a:pPr>
            <a:r>
              <a:rPr lang="en-US" sz="2400" dirty="0"/>
              <a:t>Platform usage trends since 2024</a:t>
            </a:r>
          </a:p>
          <a:p>
            <a:pPr lvl="1">
              <a:defRPr sz="1800"/>
            </a:pPr>
            <a:r>
              <a:rPr lang="en-US" sz="2000" dirty="0"/>
              <a:t>Short-form video dominates (e.g., </a:t>
            </a:r>
            <a:r>
              <a:rPr lang="en-US" dirty="0" err="1"/>
              <a:t>RedNote</a:t>
            </a:r>
            <a:r>
              <a:rPr lang="en-US" dirty="0"/>
              <a:t>)</a:t>
            </a:r>
          </a:p>
          <a:p>
            <a:pPr lvl="1">
              <a:defRPr sz="1800"/>
            </a:pPr>
            <a:r>
              <a:rPr lang="en-US" sz="2000" dirty="0"/>
              <a:t>E-commerce integration growing (e.g., </a:t>
            </a:r>
            <a:r>
              <a:rPr lang="en-US" dirty="0"/>
              <a:t>FB marketplace)</a:t>
            </a:r>
          </a:p>
          <a:p>
            <a:r>
              <a:rPr lang="en-US" sz="2400" dirty="0"/>
              <a:t>User demographics</a:t>
            </a:r>
          </a:p>
          <a:p>
            <a:pPr lvl="1">
              <a:defRPr sz="1800"/>
            </a:pPr>
            <a:r>
              <a:rPr lang="en-US" sz="2000" dirty="0"/>
              <a:t>Millennials: Facebook, LinkedIn</a:t>
            </a:r>
          </a:p>
          <a:p>
            <a:pPr lvl="1">
              <a:defRPr sz="1800"/>
            </a:pPr>
            <a:r>
              <a:rPr lang="en-US" sz="2000" dirty="0"/>
              <a:t>Gen Z: TikTok, Instagram</a:t>
            </a:r>
            <a:endParaRPr lang="en-US" sz="2000" dirty="0">
              <a:effectLst/>
            </a:endParaRPr>
          </a:p>
          <a:p>
            <a:pPr marL="457200" lvl="1" indent="0">
              <a:buNone/>
              <a:defRPr sz="1800"/>
            </a:pPr>
            <a:endParaRPr lang="en-US" sz="2000" dirty="0">
              <a:effectLst/>
            </a:endParaRPr>
          </a:p>
          <a:p>
            <a:pPr lvl="1">
              <a:defRPr sz="1800"/>
            </a:pPr>
            <a:endParaRPr lang="en-US" sz="2000" dirty="0"/>
          </a:p>
        </p:txBody>
      </p:sp>
      <p:pic>
        <p:nvPicPr>
          <p:cNvPr id="4" name="Picture 6" descr="Social Network Vector Art, Icons, and Graphics for Free Download">
            <a:extLst>
              <a:ext uri="{FF2B5EF4-FFF2-40B4-BE49-F238E27FC236}">
                <a16:creationId xmlns:a16="http://schemas.microsoft.com/office/drawing/2014/main" id="{0B912759-874B-59ED-B180-60BEA8E141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7382" y="4264500"/>
            <a:ext cx="3183391" cy="2228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1003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1F1EA-1048-A803-8BDC-59244192A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9183E-8C0A-D5D2-6D7C-F21F3DC12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8248650" cy="1325563"/>
          </a:xfrm>
        </p:spPr>
        <p:txBody>
          <a:bodyPr/>
          <a:lstStyle/>
          <a:p>
            <a:r>
              <a:rPr lang="en-US" b="0" dirty="0"/>
              <a:t>Media sharing sites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94E700-8DEE-2C79-2AA8-AF73AC4F2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pPr>
              <a:defRPr sz="1800"/>
            </a:pPr>
            <a:r>
              <a:rPr lang="en-US" sz="2400" dirty="0"/>
              <a:t>Media is more important than social interactions</a:t>
            </a:r>
          </a:p>
          <a:p>
            <a:pPr>
              <a:defRPr sz="1800"/>
            </a:pPr>
            <a:r>
              <a:rPr lang="en-US" sz="2400" dirty="0"/>
              <a:t>Mostly for business and marketing purposes</a:t>
            </a:r>
          </a:p>
          <a:p>
            <a:pPr>
              <a:defRPr sz="1800"/>
            </a:pPr>
            <a:r>
              <a:rPr lang="en-US" sz="2400" dirty="0"/>
              <a:t>Most users are un-verified / anonymized</a:t>
            </a:r>
          </a:p>
        </p:txBody>
      </p:sp>
      <p:pic>
        <p:nvPicPr>
          <p:cNvPr id="5" name="Picture 4" descr="A screenshot of a social media post&#10;&#10;AI-generated content may be incorrect.">
            <a:extLst>
              <a:ext uri="{FF2B5EF4-FFF2-40B4-BE49-F238E27FC236}">
                <a16:creationId xmlns:a16="http://schemas.microsoft.com/office/drawing/2014/main" id="{ED32231E-57C5-99B3-404C-45BD52DCD4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583" y="3304837"/>
            <a:ext cx="3746810" cy="2454286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754AFAD-6729-2EB3-9039-ABEFB16ED1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1662" y="972843"/>
            <a:ext cx="3866232" cy="2174756"/>
          </a:xfrm>
          <a:prstGeom prst="rect">
            <a:avLst/>
          </a:prstGeom>
        </p:spPr>
      </p:pic>
      <p:pic>
        <p:nvPicPr>
          <p:cNvPr id="8" name="Picture 7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EF190D38-A4D8-68A1-69BE-DE5354C921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9893" y="3863181"/>
            <a:ext cx="4352201" cy="2417252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40666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2EE81-71D9-DE24-3F81-FEB9D6B3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58C69-3390-4564-45B9-20AD44363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8248650" cy="1325563"/>
          </a:xfrm>
        </p:spPr>
        <p:txBody>
          <a:bodyPr/>
          <a:lstStyle/>
          <a:p>
            <a:r>
              <a:rPr lang="en-US" b="0" dirty="0"/>
              <a:t>One paper from Week 2</a:t>
            </a:r>
          </a:p>
        </p:txBody>
      </p:sp>
      <p:pic>
        <p:nvPicPr>
          <p:cNvPr id="7" name="Picture 6" descr="A close-up of a social network&#10;&#10;AI-generated content may be incorrect.">
            <a:extLst>
              <a:ext uri="{FF2B5EF4-FFF2-40B4-BE49-F238E27FC236}">
                <a16:creationId xmlns:a16="http://schemas.microsoft.com/office/drawing/2014/main" id="{97FC2D5D-D7D5-4ABC-041C-A777175288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55722"/>
            <a:ext cx="7772400" cy="2258129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293660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9EF6F-596E-C2C4-6237-39D9CAB1D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BA1FA-A5BD-4D4F-E808-896B0B867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8248650" cy="1325563"/>
          </a:xfrm>
        </p:spPr>
        <p:txBody>
          <a:bodyPr/>
          <a:lstStyle/>
          <a:p>
            <a:r>
              <a:rPr lang="en-US" b="0" dirty="0"/>
              <a:t>Content communities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EB5DF9-E9DD-6B72-A894-19077CA24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100" y="1550016"/>
            <a:ext cx="8686800" cy="2123500"/>
          </a:xfrm>
        </p:spPr>
        <p:txBody>
          <a:bodyPr>
            <a:normAutofit/>
          </a:bodyPr>
          <a:lstStyle/>
          <a:p>
            <a:r>
              <a:rPr lang="en-US" sz="2400" dirty="0"/>
              <a:t>They are communities organized based on common interest</a:t>
            </a:r>
            <a:endParaRPr sz="2400" dirty="0"/>
          </a:p>
          <a:p>
            <a:pPr lvl="1">
              <a:defRPr sz="1800"/>
            </a:pPr>
            <a:r>
              <a:rPr lang="en-US" sz="2000" dirty="0"/>
              <a:t>Discussion forum (organized by topics)</a:t>
            </a:r>
          </a:p>
          <a:p>
            <a:pPr lvl="1">
              <a:defRPr sz="1800"/>
            </a:pPr>
            <a:r>
              <a:rPr lang="en-US" sz="2000" dirty="0"/>
              <a:t>Online review sites (restaurants, hotels, travel, movies)</a:t>
            </a:r>
          </a:p>
          <a:p>
            <a:pPr lvl="1">
              <a:defRPr sz="1800"/>
            </a:pPr>
            <a:r>
              <a:rPr lang="en-US" sz="2000" dirty="0"/>
              <a:t>Q&amp;A sites (up vote answers, share knowledge/skills)</a:t>
            </a:r>
          </a:p>
          <a:p>
            <a:pPr>
              <a:defRPr sz="1800"/>
            </a:pPr>
            <a:r>
              <a:rPr lang="en-US" sz="2400" dirty="0"/>
              <a:t>Far fewer interactions, but very useful resource-wise</a:t>
            </a:r>
          </a:p>
          <a:p>
            <a:pPr>
              <a:defRPr sz="1800"/>
            </a:pPr>
            <a:endParaRPr lang="en-US" sz="2000" dirty="0"/>
          </a:p>
        </p:txBody>
      </p:sp>
      <p:pic>
        <p:nvPicPr>
          <p:cNvPr id="5" name="Picture 4" descr="A screenshot of a video&#10;&#10;AI-generated content may be incorrect.">
            <a:extLst>
              <a:ext uri="{FF2B5EF4-FFF2-40B4-BE49-F238E27FC236}">
                <a16:creationId xmlns:a16="http://schemas.microsoft.com/office/drawing/2014/main" id="{E5BB9AE6-192B-3884-3BE9-96DBA264CB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3673517"/>
            <a:ext cx="2570908" cy="281935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928ED2B-A2A8-7695-EA22-569FBE0CCC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8702" y="3673516"/>
            <a:ext cx="5243271" cy="281935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57C1C21-C716-3D15-0352-5DF9E660FA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2468" y="472962"/>
            <a:ext cx="2315838" cy="934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945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7A67B-A6AF-0E76-ACF5-EDD44A1AC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D7496-44BA-A7F4-E60A-98F859710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8248650" cy="1325563"/>
          </a:xfrm>
        </p:spPr>
        <p:txBody>
          <a:bodyPr/>
          <a:lstStyle/>
          <a:p>
            <a:r>
              <a:rPr lang="en-US" b="0" dirty="0"/>
              <a:t>Online collaborative platforms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DE602-7E4D-B809-2D4C-0F13B45E5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11352"/>
            <a:ext cx="8229600" cy="4525963"/>
          </a:xfrm>
        </p:spPr>
        <p:txBody>
          <a:bodyPr>
            <a:normAutofit/>
          </a:bodyPr>
          <a:lstStyle/>
          <a:p>
            <a:r>
              <a:rPr lang="en-US" sz="2400" dirty="0"/>
              <a:t>Crowdsourcing, crowd wisdom, team collaboration</a:t>
            </a:r>
          </a:p>
          <a:p>
            <a:r>
              <a:rPr lang="en-US" sz="2400" dirty="0"/>
              <a:t>Many are used for non-commercial purposes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ADA5BB-D583-C615-EE33-77FF7F2451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802" y="3248298"/>
            <a:ext cx="4139552" cy="23284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71F49CC-4F65-78B0-98CA-27B2F7B555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0047" y="2945926"/>
            <a:ext cx="4346753" cy="2933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539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86169-9416-EAA3-C96A-22867CB6A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2D571-32A6-F0F9-4198-E0469829A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Why should we study SMA?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D8F2B-A75C-623A-3B94-A6E8F84350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510530" cy="4525963"/>
          </a:xfrm>
        </p:spPr>
        <p:txBody>
          <a:bodyPr>
            <a:normAutofit/>
          </a:bodyPr>
          <a:lstStyle/>
          <a:p>
            <a:pPr>
              <a:defRPr sz="1800"/>
            </a:pPr>
            <a:r>
              <a:rPr sz="2000" dirty="0">
                <a:solidFill>
                  <a:srgbClr val="0070C0"/>
                </a:solidFill>
              </a:rPr>
              <a:t>Business</a:t>
            </a:r>
            <a:r>
              <a:rPr lang="en-US" sz="2000" dirty="0">
                <a:solidFill>
                  <a:srgbClr val="0070C0"/>
                </a:solidFill>
              </a:rPr>
              <a:t> insights</a:t>
            </a:r>
            <a:r>
              <a:rPr sz="2000" dirty="0">
                <a:solidFill>
                  <a:srgbClr val="0070C0"/>
                </a:solidFill>
              </a:rPr>
              <a:t>:</a:t>
            </a:r>
            <a:r>
              <a:rPr sz="2000" dirty="0"/>
              <a:t> </a:t>
            </a:r>
            <a:r>
              <a:rPr lang="en-US" sz="2000" dirty="0">
                <a:effectLst/>
              </a:rPr>
              <a:t>Companies leverage social media analytics to understand consumer preferences, optimize marketing campaigns, and enhance brand engagement.</a:t>
            </a:r>
            <a:endParaRPr sz="2000" dirty="0"/>
          </a:p>
          <a:p>
            <a:pPr>
              <a:defRPr sz="1800"/>
            </a:pPr>
            <a:r>
              <a:rPr lang="en-US" sz="2000" dirty="0">
                <a:solidFill>
                  <a:srgbClr val="0070C0"/>
                </a:solidFill>
              </a:rPr>
              <a:t>Advancing r</a:t>
            </a:r>
            <a:r>
              <a:rPr sz="2000" dirty="0">
                <a:solidFill>
                  <a:srgbClr val="0070C0"/>
                </a:solidFill>
              </a:rPr>
              <a:t>esearch:</a:t>
            </a:r>
            <a:r>
              <a:rPr sz="2000" dirty="0"/>
              <a:t> </a:t>
            </a:r>
            <a:r>
              <a:rPr lang="en-US" sz="2000" dirty="0">
                <a:effectLst/>
              </a:rPr>
              <a:t>In computational social science, social media data enables researchers to study topics like polarization, cultural trends, or network dynamics at scale, often in real time, complementing traditional methods like surveys.</a:t>
            </a:r>
          </a:p>
          <a:p>
            <a:pPr>
              <a:defRPr sz="1800"/>
            </a:pPr>
            <a:r>
              <a:rPr lang="en-US" sz="2000" dirty="0">
                <a:solidFill>
                  <a:srgbClr val="0070C0"/>
                </a:solidFill>
                <a:effectLst/>
              </a:rPr>
              <a:t>Informing public policy:</a:t>
            </a:r>
            <a:r>
              <a:rPr lang="en-US" sz="2000" dirty="0">
                <a:effectLst/>
              </a:rPr>
              <a:t> Governments and non-profit organizations use social media data and analytics to gauge public sentiment, monitor misinformation, predict social unrest, and mobilize political protests.</a:t>
            </a:r>
            <a:endParaRPr sz="2000" dirty="0"/>
          </a:p>
          <a:p>
            <a:pPr>
              <a:defRPr sz="1800"/>
            </a:pPr>
            <a:r>
              <a:rPr sz="2000" dirty="0">
                <a:solidFill>
                  <a:srgbClr val="0070C0"/>
                </a:solidFill>
              </a:rPr>
              <a:t>Personal</a:t>
            </a:r>
            <a:r>
              <a:rPr lang="en-US" sz="2000" dirty="0">
                <a:solidFill>
                  <a:srgbClr val="0070C0"/>
                </a:solidFill>
              </a:rPr>
              <a:t> development</a:t>
            </a:r>
            <a:r>
              <a:rPr sz="2000" dirty="0">
                <a:solidFill>
                  <a:srgbClr val="0070C0"/>
                </a:solidFill>
              </a:rPr>
              <a:t>: </a:t>
            </a:r>
            <a:r>
              <a:rPr lang="en-US" sz="2000" dirty="0">
                <a:effectLst/>
              </a:rPr>
              <a:t>learn technical skills (e.g., NLP tools, network analysis, machine learning) and critical thinking, which are transferable across careers in data science</a:t>
            </a:r>
            <a:r>
              <a:rPr lang="en-US" sz="2000" dirty="0"/>
              <a:t> including academia </a:t>
            </a:r>
            <a:r>
              <a:rPr lang="en-US" sz="2000" dirty="0">
                <a:effectLst/>
              </a:rPr>
              <a:t>and industry positions.</a:t>
            </a:r>
          </a:p>
          <a:p>
            <a:pPr algn="l">
              <a:defRPr sz="1800"/>
            </a:pPr>
            <a:endParaRPr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D1091F-44FC-1A6C-9587-C819DF6E2F0A}"/>
              </a:ext>
            </a:extLst>
          </p:cNvPr>
          <p:cNvSpPr txBox="1"/>
          <p:nvPr/>
        </p:nvSpPr>
        <p:spPr>
          <a:xfrm>
            <a:off x="754655" y="5837888"/>
            <a:ext cx="7634689" cy="369332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C00000"/>
                </a:solidFill>
              </a:rPr>
              <a:t>Where can we apply SMA to inform decision-making and drive economic value?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3246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9936A-AF55-87F4-4C36-82DB065F0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8A775-4F59-7159-1F12-12CBA1AEC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8248650" cy="1325563"/>
          </a:xfrm>
        </p:spPr>
        <p:txBody>
          <a:bodyPr/>
          <a:lstStyle/>
          <a:p>
            <a:r>
              <a:rPr lang="en-US" b="0" dirty="0"/>
              <a:t>SMA in business and economics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5C24C-FC97-9B41-F142-5E9EF79A09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305040"/>
            <a:ext cx="8229600" cy="4525963"/>
          </a:xfrm>
        </p:spPr>
        <p:txBody>
          <a:bodyPr>
            <a:normAutofit/>
          </a:bodyPr>
          <a:lstStyle/>
          <a:p>
            <a:endParaRPr dirty="0"/>
          </a:p>
          <a:p>
            <a:pPr algn="l">
              <a:defRPr sz="1800"/>
            </a:pPr>
            <a:r>
              <a:rPr lang="en-US" sz="2400" dirty="0"/>
              <a:t>Consumer behavior and spending prediction</a:t>
            </a:r>
          </a:p>
          <a:p>
            <a:pPr lvl="1">
              <a:defRPr sz="1800"/>
            </a:pPr>
            <a:r>
              <a:rPr lang="en-US" sz="2000" dirty="0"/>
              <a:t>Box office revenue, retail sales, market share, etc.</a:t>
            </a:r>
          </a:p>
          <a:p>
            <a:pPr>
              <a:defRPr sz="1800"/>
            </a:pPr>
            <a:r>
              <a:rPr lang="en-US" sz="2400" dirty="0"/>
              <a:t>Stock market prediction</a:t>
            </a:r>
          </a:p>
          <a:p>
            <a:pPr lvl="1">
              <a:defRPr sz="1800"/>
            </a:pPr>
            <a:r>
              <a:rPr lang="en-US" sz="2000" dirty="0"/>
              <a:t>Price movement, trading volumes, market index, etc.</a:t>
            </a:r>
          </a:p>
          <a:p>
            <a:pPr>
              <a:defRPr sz="1800"/>
            </a:pPr>
            <a:r>
              <a:rPr lang="en-US" sz="2400" dirty="0"/>
              <a:t>Macroeconomic indicators</a:t>
            </a:r>
          </a:p>
          <a:p>
            <a:pPr lvl="1">
              <a:defRPr sz="1800"/>
            </a:pPr>
            <a:r>
              <a:rPr lang="en-US" sz="2000" dirty="0"/>
              <a:t>Unemployment rates, GDP growth, consumer confidence, etc.</a:t>
            </a:r>
          </a:p>
          <a:p>
            <a:pPr>
              <a:defRPr sz="1800"/>
            </a:pPr>
            <a:r>
              <a:rPr lang="en-US" sz="2400" dirty="0"/>
              <a:t>Socioeconomic status and income prediction</a:t>
            </a:r>
          </a:p>
          <a:p>
            <a:pPr lvl="1">
              <a:defRPr sz="1800"/>
            </a:pPr>
            <a:r>
              <a:rPr lang="en-US" sz="2000" dirty="0"/>
              <a:t>Education, age, gender, race, marital status, income level, etc.</a:t>
            </a:r>
          </a:p>
          <a:p>
            <a:pPr>
              <a:defRPr sz="1800"/>
            </a:pPr>
            <a:r>
              <a:rPr lang="en-US" sz="2400" dirty="0"/>
              <a:t>More…</a:t>
            </a:r>
          </a:p>
          <a:p>
            <a:pPr lvl="1">
              <a:defRPr sz="1800"/>
            </a:pPr>
            <a:endParaRPr lang="en-US" b="1" dirty="0"/>
          </a:p>
          <a:p>
            <a:pPr algn="l">
              <a:defRPr sz="1800"/>
            </a:pP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22739103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3B926-EDE6-3739-D93A-7E6B250B6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E7069-5C10-35DC-2DC8-F24BBB8D8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8248650" cy="1325563"/>
          </a:xfrm>
        </p:spPr>
        <p:txBody>
          <a:bodyPr/>
          <a:lstStyle/>
          <a:p>
            <a:r>
              <a:rPr lang="en-US" b="0" dirty="0"/>
              <a:t>Business applications</a:t>
            </a:r>
          </a:p>
        </p:txBody>
      </p:sp>
      <p:pic>
        <p:nvPicPr>
          <p:cNvPr id="4" name="Picture 3" descr="A close up of black text&#10;&#10;AI-generated content may be incorrect.">
            <a:extLst>
              <a:ext uri="{FF2B5EF4-FFF2-40B4-BE49-F238E27FC236}">
                <a16:creationId xmlns:a16="http://schemas.microsoft.com/office/drawing/2014/main" id="{9EC50D62-3909-4790-6719-08FC11A08F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09" y="1867728"/>
            <a:ext cx="6934200" cy="102870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364D9F0-9DA2-0EBD-6219-31A27E96A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6189" y="4626259"/>
            <a:ext cx="7678807" cy="1675832"/>
          </a:xfrm>
        </p:spPr>
        <p:txBody>
          <a:bodyPr>
            <a:normAutofit/>
          </a:bodyPr>
          <a:lstStyle/>
          <a:p>
            <a:pPr>
              <a:defRPr sz="1800"/>
            </a:pPr>
            <a:r>
              <a:rPr lang="en-US" sz="2400" dirty="0"/>
              <a:t>Twitter users’ “future” words usage predicts income level</a:t>
            </a:r>
            <a:endParaRPr lang="en-US" sz="2000" dirty="0"/>
          </a:p>
          <a:p>
            <a:pPr>
              <a:defRPr sz="1800"/>
            </a:pPr>
            <a:r>
              <a:rPr lang="en-US" sz="2400" dirty="0"/>
              <a:t>Sentiment expressed in tweets correlates with abnormal stock returns during the peaks of Tweets volume.</a:t>
            </a:r>
          </a:p>
          <a:p>
            <a:pPr lvl="1">
              <a:defRPr sz="1800"/>
            </a:pPr>
            <a:endParaRPr lang="en-US" sz="2000" dirty="0"/>
          </a:p>
          <a:p>
            <a:pPr lvl="1">
              <a:defRPr sz="1800"/>
            </a:pPr>
            <a:endParaRPr lang="en-US" sz="2000" dirty="0"/>
          </a:p>
          <a:p>
            <a:pPr lvl="1">
              <a:defRPr sz="1800"/>
            </a:pPr>
            <a:endParaRPr lang="en-US" dirty="0"/>
          </a:p>
          <a:p>
            <a:pPr lvl="1">
              <a:defRPr sz="1800"/>
            </a:pPr>
            <a:endParaRPr lang="en-US" b="1" dirty="0"/>
          </a:p>
          <a:p>
            <a:pPr lvl="1">
              <a:defRPr sz="1800"/>
            </a:pPr>
            <a:endParaRPr lang="en-US" b="1" dirty="0"/>
          </a:p>
          <a:p>
            <a:pPr algn="l">
              <a:defRPr sz="1800"/>
            </a:pPr>
            <a:endParaRPr b="1" dirty="0"/>
          </a:p>
        </p:txBody>
      </p:sp>
      <p:pic>
        <p:nvPicPr>
          <p:cNvPr id="7" name="Picture 6" descr="A close up of a text&#10;&#10;AI-generated content may be incorrect.">
            <a:extLst>
              <a:ext uri="{FF2B5EF4-FFF2-40B4-BE49-F238E27FC236}">
                <a16:creationId xmlns:a16="http://schemas.microsoft.com/office/drawing/2014/main" id="{43A3AB8B-DFD0-3E3B-BA33-03AFE33D28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900" y="3187234"/>
            <a:ext cx="7772400" cy="1081001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205730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FA3AB-9F2C-2E5E-1915-DD9906A3E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A22EF-201E-6659-8039-E152817A6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8248650" cy="1325563"/>
          </a:xfrm>
        </p:spPr>
        <p:txBody>
          <a:bodyPr/>
          <a:lstStyle/>
          <a:p>
            <a:r>
              <a:rPr lang="en-US" b="0" dirty="0"/>
              <a:t>SMA in politics / policy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6C7CB-CAB0-774C-D2FB-2F8E559140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740" y="1690689"/>
            <a:ext cx="8229600" cy="4525963"/>
          </a:xfrm>
        </p:spPr>
        <p:txBody>
          <a:bodyPr/>
          <a:lstStyle/>
          <a:p>
            <a:pPr algn="l">
              <a:defRPr sz="1800"/>
            </a:pPr>
            <a:r>
              <a:rPr lang="en-US" sz="2400" dirty="0"/>
              <a:t>Political campaign</a:t>
            </a:r>
          </a:p>
          <a:p>
            <a:pPr lvl="1">
              <a:defRPr sz="1800"/>
            </a:pPr>
            <a:r>
              <a:rPr lang="en-US" dirty="0"/>
              <a:t>Voter sentiment analysis</a:t>
            </a:r>
          </a:p>
          <a:p>
            <a:pPr lvl="1">
              <a:defRPr sz="1800"/>
            </a:pPr>
            <a:r>
              <a:rPr lang="en-US" dirty="0"/>
              <a:t>Predict offline activities (protest, shooting, etc.)</a:t>
            </a:r>
          </a:p>
          <a:p>
            <a:pPr>
              <a:defRPr sz="1800"/>
            </a:pPr>
            <a:r>
              <a:rPr lang="en-US" sz="2400" dirty="0"/>
              <a:t>US presidential election</a:t>
            </a:r>
            <a:endParaRPr lang="en-US" dirty="0"/>
          </a:p>
          <a:p>
            <a:pPr lvl="1">
              <a:defRPr sz="1800"/>
            </a:pPr>
            <a:r>
              <a:rPr lang="en-US" dirty="0"/>
              <a:t>Predict supporting rate via social data</a:t>
            </a:r>
          </a:p>
          <a:p>
            <a:pPr lvl="1">
              <a:defRPr sz="1800"/>
            </a:pPr>
            <a:r>
              <a:rPr lang="en-US" dirty="0"/>
              <a:t>Estimate temporal and geographical trends</a:t>
            </a:r>
          </a:p>
          <a:p>
            <a:pPr>
              <a:defRPr sz="1800"/>
            </a:pPr>
            <a:r>
              <a:rPr lang="en-US" sz="2400" dirty="0"/>
              <a:t>Observatory of online social movement (OSM)</a:t>
            </a:r>
            <a:endParaRPr lang="en-US" dirty="0"/>
          </a:p>
          <a:p>
            <a:pPr lvl="1">
              <a:defRPr sz="1800"/>
            </a:pPr>
            <a:r>
              <a:rPr lang="en-US" dirty="0"/>
              <a:t>#MeToo</a:t>
            </a:r>
          </a:p>
          <a:p>
            <a:pPr lvl="1">
              <a:defRPr sz="1800"/>
            </a:pPr>
            <a:r>
              <a:rPr lang="en-US" dirty="0"/>
              <a:t>#BLM</a:t>
            </a:r>
          </a:p>
          <a:p>
            <a:pPr lvl="1">
              <a:defRPr sz="1800"/>
            </a:pPr>
            <a:r>
              <a:rPr lang="en-US" dirty="0"/>
              <a:t>#</a:t>
            </a:r>
            <a:r>
              <a:rPr lang="en-US" dirty="0" err="1"/>
              <a:t>HongKongProtest</a:t>
            </a:r>
            <a:endParaRPr lang="en-US" dirty="0"/>
          </a:p>
          <a:p>
            <a:pPr lvl="1">
              <a:defRPr sz="1800"/>
            </a:pPr>
            <a:r>
              <a:rPr lang="en-US" dirty="0"/>
              <a:t>……</a:t>
            </a:r>
          </a:p>
          <a:p>
            <a:pPr lvl="1">
              <a:defRPr sz="1800"/>
            </a:pPr>
            <a:endParaRPr lang="en-US" b="1" dirty="0"/>
          </a:p>
          <a:p>
            <a:pPr algn="l">
              <a:defRPr sz="1800"/>
            </a:pP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2406189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67A1E-0D1A-B9B8-1E59-4D2E2B078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A5A2F-3420-661F-29C6-848E6316E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8416198" cy="1325563"/>
          </a:xfrm>
        </p:spPr>
        <p:txBody>
          <a:bodyPr>
            <a:normAutofit/>
          </a:bodyPr>
          <a:lstStyle/>
          <a:p>
            <a:r>
              <a:rPr lang="en-US" sz="4000" b="0" dirty="0"/>
              <a:t>BLM OSM predicts offline events</a:t>
            </a:r>
          </a:p>
        </p:txBody>
      </p:sp>
      <p:pic>
        <p:nvPicPr>
          <p:cNvPr id="4" name="Picture 3" descr="A close up of a text&#10;&#10;AI-generated content may be incorrect.">
            <a:extLst>
              <a:ext uri="{FF2B5EF4-FFF2-40B4-BE49-F238E27FC236}">
                <a16:creationId xmlns:a16="http://schemas.microsoft.com/office/drawing/2014/main" id="{BDC6A28E-DD59-AEE8-E8B8-6707B33222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2246276"/>
            <a:ext cx="7772400" cy="1550113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782589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FFAEA-6B3D-59F9-424B-437BFAED5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D4170-E740-AFB6-E0CE-96B809D80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8416198" cy="1325563"/>
          </a:xfrm>
        </p:spPr>
        <p:txBody>
          <a:bodyPr>
            <a:normAutofit/>
          </a:bodyPr>
          <a:lstStyle/>
          <a:p>
            <a:r>
              <a:rPr lang="en-US" sz="4000" b="0" dirty="0"/>
              <a:t>BLM OSM predicts offline events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A721F9-ABFC-CA54-EF06-CE0250BE1A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917" y="1690688"/>
            <a:ext cx="8323932" cy="4202111"/>
          </a:xfrm>
        </p:spPr>
        <p:txBody>
          <a:bodyPr>
            <a:normAutofit/>
          </a:bodyPr>
          <a:lstStyle/>
          <a:p>
            <a:pPr algn="l">
              <a:defRPr sz="1800"/>
            </a:pPr>
            <a:r>
              <a:rPr lang="en-US" sz="2400" dirty="0"/>
              <a:t>BLM: a social movement of police violence against Blacks</a:t>
            </a:r>
          </a:p>
          <a:p>
            <a:pPr algn="l">
              <a:defRPr sz="1800"/>
            </a:pPr>
            <a:r>
              <a:rPr lang="en-US" sz="2400" dirty="0"/>
              <a:t>Research Qs:</a:t>
            </a:r>
          </a:p>
          <a:p>
            <a:pPr lvl="1">
              <a:defRPr sz="1800"/>
            </a:pPr>
            <a:r>
              <a:rPr lang="en-US" sz="2000" dirty="0"/>
              <a:t>Are there geographical variations in social media language used?</a:t>
            </a:r>
          </a:p>
          <a:p>
            <a:pPr lvl="1">
              <a:defRPr sz="1800"/>
            </a:pPr>
            <a:r>
              <a:rPr lang="en-US" sz="2000" dirty="0"/>
              <a:t>Can engagement and linguistic attributes predict offline events?</a:t>
            </a:r>
          </a:p>
          <a:p>
            <a:pPr>
              <a:defRPr sz="1800"/>
            </a:pPr>
            <a:r>
              <a:rPr lang="en-US" sz="2400" dirty="0">
                <a:solidFill>
                  <a:prstClr val="black"/>
                </a:solidFill>
              </a:rPr>
              <a:t>Online and offline datasets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 panose="00000500000000000000" pitchFamily="50" charset="0"/>
                <a:ea typeface="+mn-ea"/>
                <a:cs typeface="+mn-cs"/>
              </a:rPr>
              <a:t>:</a:t>
            </a:r>
            <a:endParaRPr lang="en-US" sz="1800" dirty="0"/>
          </a:p>
          <a:p>
            <a:pPr lvl="1">
              <a:defRPr sz="1800"/>
            </a:pPr>
            <a:r>
              <a:rPr lang="en-US" sz="2000" dirty="0"/>
              <a:t>Collected ~30M tweets by 6M users with #</a:t>
            </a:r>
            <a:r>
              <a:rPr lang="en-US" sz="2000" dirty="0" err="1"/>
              <a:t>blm</a:t>
            </a:r>
            <a:r>
              <a:rPr lang="en-US" sz="2000" dirty="0"/>
              <a:t> related hashtags</a:t>
            </a:r>
          </a:p>
          <a:p>
            <a:pPr lvl="1">
              <a:defRPr sz="1800"/>
            </a:pPr>
            <a:r>
              <a:rPr lang="en-US" sz="2000" dirty="0"/>
              <a:t>Police shooting data: </a:t>
            </a:r>
            <a:r>
              <a:rPr lang="en-US" sz="2000" dirty="0">
                <a:hlinkClick r:id="rId3"/>
              </a:rPr>
              <a:t>https://fatalencounters.org/our-visualizations/</a:t>
            </a:r>
            <a:endParaRPr lang="en-US" sz="2000" dirty="0"/>
          </a:p>
          <a:p>
            <a:pPr lvl="1">
              <a:defRPr sz="1800"/>
            </a:pPr>
            <a:r>
              <a:rPr lang="en-US" sz="2000" dirty="0"/>
              <a:t>Protest data: </a:t>
            </a:r>
            <a:r>
              <a:rPr lang="en-US" sz="2000" dirty="0">
                <a:hlinkClick r:id="rId4"/>
              </a:rPr>
              <a:t>https://elephrame.com/charts/BLM</a:t>
            </a:r>
            <a:endParaRPr lang="en-US" sz="2000" dirty="0"/>
          </a:p>
          <a:p>
            <a:pPr>
              <a:defRPr sz="1800"/>
            </a:pPr>
            <a:r>
              <a:rPr lang="en-US" sz="2400" dirty="0"/>
              <a:t>Methodology:</a:t>
            </a:r>
          </a:p>
          <a:p>
            <a:pPr lvl="1">
              <a:defRPr sz="1800"/>
            </a:pPr>
            <a:r>
              <a:rPr lang="en-US" sz="2000" dirty="0"/>
              <a:t>Use NLP models (LIWC) to calculate linguistic features of online Tweets</a:t>
            </a:r>
          </a:p>
          <a:p>
            <a:pPr lvl="1">
              <a:defRPr sz="1800"/>
            </a:pPr>
            <a:r>
              <a:rPr lang="en-US" sz="2000" dirty="0"/>
              <a:t>Leverage predictive/reg models to predict the volume of offline events</a:t>
            </a:r>
          </a:p>
          <a:p>
            <a:pPr>
              <a:defRPr sz="1800"/>
            </a:pPr>
            <a:endParaRPr lang="en-US" sz="2400" dirty="0"/>
          </a:p>
          <a:p>
            <a:pPr algn="l">
              <a:defRPr sz="1800"/>
            </a:pPr>
            <a:endParaRPr lang="en-US" dirty="0"/>
          </a:p>
          <a:p>
            <a:pPr lvl="1">
              <a:defRPr sz="1800"/>
            </a:pPr>
            <a:endParaRPr lang="en-US" b="1" dirty="0"/>
          </a:p>
          <a:p>
            <a:pPr algn="l">
              <a:defRPr sz="1800"/>
            </a:pPr>
            <a:endParaRPr b="1" dirty="0"/>
          </a:p>
          <a:p>
            <a:pPr lvl="4">
              <a:defRPr sz="1800"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757427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EB69E-1080-AF2B-CE2A-C333E49BB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9A37C-929B-F6B8-2DF1-7EC70F93E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8416198" cy="1325563"/>
          </a:xfrm>
        </p:spPr>
        <p:txBody>
          <a:bodyPr>
            <a:normAutofit/>
          </a:bodyPr>
          <a:lstStyle/>
          <a:p>
            <a:r>
              <a:rPr lang="en-US" sz="4000" b="0" dirty="0"/>
              <a:t>BLM OSM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766C5-F467-9B4E-F1F7-EB29906050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696" y="1589183"/>
            <a:ext cx="4720729" cy="1325563"/>
          </a:xfrm>
        </p:spPr>
        <p:txBody>
          <a:bodyPr>
            <a:normAutofit lnSpcReduction="10000"/>
          </a:bodyPr>
          <a:lstStyle/>
          <a:p>
            <a:pPr>
              <a:defRPr sz="1800"/>
            </a:pPr>
            <a:r>
              <a:rPr lang="en-US" sz="2400" dirty="0"/>
              <a:t>High PK states are associated with:</a:t>
            </a:r>
          </a:p>
          <a:p>
            <a:pPr lvl="1">
              <a:defRPr sz="1800"/>
            </a:pPr>
            <a:r>
              <a:rPr lang="en-US" sz="2000" dirty="0"/>
              <a:t>High negative reactions</a:t>
            </a:r>
          </a:p>
          <a:p>
            <a:pPr lvl="1">
              <a:defRPr sz="1800"/>
            </a:pPr>
            <a:r>
              <a:rPr lang="en-US" sz="2000" dirty="0"/>
              <a:t>Low social orientation</a:t>
            </a:r>
          </a:p>
          <a:p>
            <a:pPr lvl="1">
              <a:defRPr sz="1800"/>
            </a:pPr>
            <a:r>
              <a:rPr lang="en-US" sz="2000" dirty="0"/>
              <a:t>High psychological distance</a:t>
            </a:r>
          </a:p>
          <a:p>
            <a:pPr lvl="1">
              <a:defRPr sz="1800"/>
            </a:pPr>
            <a:endParaRPr lang="en-US" sz="2000" dirty="0"/>
          </a:p>
          <a:p>
            <a:pPr lvl="1">
              <a:defRPr sz="1800"/>
            </a:pPr>
            <a:endParaRPr lang="en-US" sz="2000" dirty="0"/>
          </a:p>
          <a:p>
            <a:pPr lvl="1">
              <a:defRPr sz="1800"/>
            </a:pPr>
            <a:endParaRPr lang="en-US" dirty="0"/>
          </a:p>
          <a:p>
            <a:pPr lvl="1">
              <a:defRPr sz="1800"/>
            </a:pPr>
            <a:endParaRPr lang="en-US" b="1" dirty="0"/>
          </a:p>
          <a:p>
            <a:pPr lvl="1">
              <a:defRPr sz="1800"/>
            </a:pPr>
            <a:endParaRPr lang="en-US" b="1" dirty="0"/>
          </a:p>
          <a:p>
            <a:pPr algn="l">
              <a:defRPr sz="1800"/>
            </a:pPr>
            <a:endParaRPr b="1" dirty="0"/>
          </a:p>
        </p:txBody>
      </p:sp>
      <p:pic>
        <p:nvPicPr>
          <p:cNvPr id="5" name="Picture 4" descr="A table of numbers and a few words&#10;&#10;AI-generated content may be incorrect.">
            <a:extLst>
              <a:ext uri="{FF2B5EF4-FFF2-40B4-BE49-F238E27FC236}">
                <a16:creationId xmlns:a16="http://schemas.microsoft.com/office/drawing/2014/main" id="{14601755-265A-82C1-057A-598E9E5608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7471" y="237648"/>
            <a:ext cx="3866360" cy="6492874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374EF264-A78A-2E31-DB0E-9A89CAE57C7E}"/>
              </a:ext>
            </a:extLst>
          </p:cNvPr>
          <p:cNvGrpSpPr/>
          <p:nvPr/>
        </p:nvGrpSpPr>
        <p:grpSpPr>
          <a:xfrm>
            <a:off x="628650" y="3183115"/>
            <a:ext cx="4068982" cy="3309759"/>
            <a:chOff x="628650" y="3183115"/>
            <a:chExt cx="4068982" cy="3309759"/>
          </a:xfrm>
        </p:grpSpPr>
        <p:pic>
          <p:nvPicPr>
            <p:cNvPr id="7" name="Picture 6" descr="A map of the united states&#10;&#10;AI-generated content may be incorrect.">
              <a:extLst>
                <a:ext uri="{FF2B5EF4-FFF2-40B4-BE49-F238E27FC236}">
                  <a16:creationId xmlns:a16="http://schemas.microsoft.com/office/drawing/2014/main" id="{0D2B3926-0703-A813-6FC6-80C4DB80B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8650" y="3183115"/>
              <a:ext cx="4068982" cy="1520279"/>
            </a:xfrm>
            <a:prstGeom prst="rect">
              <a:avLst/>
            </a:prstGeom>
          </p:spPr>
        </p:pic>
        <p:pic>
          <p:nvPicPr>
            <p:cNvPr id="10" name="Picture 9" descr="A map of the united states&#10;&#10;AI-generated content may be incorrect.">
              <a:extLst>
                <a:ext uri="{FF2B5EF4-FFF2-40B4-BE49-F238E27FC236}">
                  <a16:creationId xmlns:a16="http://schemas.microsoft.com/office/drawing/2014/main" id="{175B5DF5-4047-4749-F9AD-DAE1AB509F3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8650" y="4979248"/>
              <a:ext cx="4068982" cy="1513626"/>
            </a:xfrm>
            <a:prstGeom prst="rect">
              <a:avLst/>
            </a:prstGeom>
          </p:spPr>
        </p:pic>
      </p:grp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F0801A3-1317-8B90-7E75-F2723B08C1DC}"/>
              </a:ext>
            </a:extLst>
          </p:cNvPr>
          <p:cNvSpPr/>
          <p:nvPr/>
        </p:nvSpPr>
        <p:spPr>
          <a:xfrm>
            <a:off x="5167471" y="3311235"/>
            <a:ext cx="3877377" cy="942109"/>
          </a:xfrm>
          <a:prstGeom prst="round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147C3FA-4007-E965-2447-01F8D06FDAC8}"/>
              </a:ext>
            </a:extLst>
          </p:cNvPr>
          <p:cNvSpPr/>
          <p:nvPr/>
        </p:nvSpPr>
        <p:spPr>
          <a:xfrm>
            <a:off x="5149939" y="5662745"/>
            <a:ext cx="3877377" cy="195647"/>
          </a:xfrm>
          <a:prstGeom prst="round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815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AE95C-C3CF-186E-F7D7-342EA0471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B660A-95B0-15AD-149F-F4256D3EE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8416198" cy="1325563"/>
          </a:xfrm>
        </p:spPr>
        <p:txBody>
          <a:bodyPr>
            <a:normAutofit/>
          </a:bodyPr>
          <a:lstStyle/>
          <a:p>
            <a:r>
              <a:rPr lang="en-US" sz="4000" b="0" dirty="0"/>
              <a:t>BLM OSM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2F00E-ADB0-84C4-9548-2CA49D05E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696" y="1589183"/>
            <a:ext cx="4720729" cy="1325563"/>
          </a:xfrm>
        </p:spPr>
        <p:txBody>
          <a:bodyPr>
            <a:normAutofit fontScale="92500" lnSpcReduction="10000"/>
          </a:bodyPr>
          <a:lstStyle/>
          <a:p>
            <a:pPr>
              <a:defRPr sz="1800"/>
            </a:pPr>
            <a:r>
              <a:rPr lang="en-US" sz="2600" dirty="0"/>
              <a:t>High PV states are associated with:</a:t>
            </a:r>
          </a:p>
          <a:p>
            <a:pPr lvl="1">
              <a:defRPr sz="1800"/>
            </a:pPr>
            <a:r>
              <a:rPr lang="en-US" sz="2200" dirty="0"/>
              <a:t>High level of engagement</a:t>
            </a:r>
          </a:p>
          <a:p>
            <a:pPr lvl="1">
              <a:defRPr sz="1800"/>
            </a:pPr>
            <a:r>
              <a:rPr lang="en-US" sz="2200" dirty="0"/>
              <a:t>High collective identities</a:t>
            </a:r>
          </a:p>
          <a:p>
            <a:pPr lvl="1">
              <a:defRPr sz="1800"/>
            </a:pPr>
            <a:r>
              <a:rPr lang="en-US" sz="2200" dirty="0"/>
              <a:t>More futuristic inclination</a:t>
            </a:r>
          </a:p>
          <a:p>
            <a:pPr lvl="1">
              <a:defRPr sz="1800"/>
            </a:pPr>
            <a:endParaRPr lang="en-US" sz="2000" dirty="0"/>
          </a:p>
          <a:p>
            <a:pPr lvl="1">
              <a:defRPr sz="1800"/>
            </a:pPr>
            <a:endParaRPr lang="en-US" sz="2000" dirty="0"/>
          </a:p>
          <a:p>
            <a:pPr lvl="1">
              <a:defRPr sz="1800"/>
            </a:pPr>
            <a:endParaRPr lang="en-US" dirty="0"/>
          </a:p>
          <a:p>
            <a:pPr lvl="1">
              <a:defRPr sz="1800"/>
            </a:pPr>
            <a:endParaRPr lang="en-US" b="1" dirty="0"/>
          </a:p>
          <a:p>
            <a:pPr lvl="1">
              <a:defRPr sz="1800"/>
            </a:pPr>
            <a:endParaRPr lang="en-US" b="1" dirty="0"/>
          </a:p>
          <a:p>
            <a:pPr algn="l">
              <a:defRPr sz="1800"/>
            </a:pPr>
            <a:endParaRPr b="1" dirty="0"/>
          </a:p>
        </p:txBody>
      </p:sp>
      <p:pic>
        <p:nvPicPr>
          <p:cNvPr id="6" name="Picture 5" descr="A table of numbers with black text&#10;&#10;AI-generated content may be incorrect.">
            <a:extLst>
              <a:ext uri="{FF2B5EF4-FFF2-40B4-BE49-F238E27FC236}">
                <a16:creationId xmlns:a16="http://schemas.microsoft.com/office/drawing/2014/main" id="{238F2082-CF1E-0724-CA67-43BCDD5ED0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8425" y="52753"/>
            <a:ext cx="3715658" cy="6752494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9" name="Picture 8" descr="A table with numbers and text&#10;&#10;AI-generated content may be incorrect.">
            <a:extLst>
              <a:ext uri="{FF2B5EF4-FFF2-40B4-BE49-F238E27FC236}">
                <a16:creationId xmlns:a16="http://schemas.microsoft.com/office/drawing/2014/main" id="{A3A4B6E0-6525-17A8-77FD-73CE72A373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3312672"/>
            <a:ext cx="4405365" cy="3056354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DEC0856-719B-193C-0F24-219706B10367}"/>
              </a:ext>
            </a:extLst>
          </p:cNvPr>
          <p:cNvSpPr/>
          <p:nvPr/>
        </p:nvSpPr>
        <p:spPr>
          <a:xfrm>
            <a:off x="5258426" y="3470565"/>
            <a:ext cx="3715658" cy="1101436"/>
          </a:xfrm>
          <a:prstGeom prst="round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972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4C3F3-C93A-E181-AA90-50B93412F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1851F-3B08-4FA9-CDDA-602E30B66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8248650" cy="1325563"/>
          </a:xfrm>
        </p:spPr>
        <p:txBody>
          <a:bodyPr/>
          <a:lstStyle/>
          <a:p>
            <a:r>
              <a:rPr lang="en-US" b="0" dirty="0"/>
              <a:t>SMA in public health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2E589-CC7B-AD27-175E-062190D95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785730"/>
            <a:ext cx="8229600" cy="4525963"/>
          </a:xfrm>
        </p:spPr>
        <p:txBody>
          <a:bodyPr/>
          <a:lstStyle/>
          <a:p>
            <a:pPr algn="l">
              <a:defRPr sz="1800"/>
            </a:pPr>
            <a:r>
              <a:rPr lang="en-US" sz="2400" dirty="0"/>
              <a:t>Predicting personal attributes</a:t>
            </a:r>
          </a:p>
          <a:p>
            <a:pPr algn="l">
              <a:defRPr sz="1800"/>
            </a:pPr>
            <a:r>
              <a:rPr lang="en-US" sz="2400" dirty="0"/>
              <a:t>Health surveillance and outbreak detection</a:t>
            </a:r>
          </a:p>
          <a:p>
            <a:pPr lvl="1">
              <a:defRPr sz="1800"/>
            </a:pPr>
            <a:r>
              <a:rPr lang="en-US" dirty="0"/>
              <a:t>Tracking disease outbreaks via posts (e.g., COVID-19 monitoring)</a:t>
            </a:r>
          </a:p>
          <a:p>
            <a:pPr>
              <a:defRPr sz="1800"/>
            </a:pPr>
            <a:r>
              <a:rPr lang="en-US" sz="2400" dirty="0"/>
              <a:t>Mental health monitoring and intervention</a:t>
            </a:r>
          </a:p>
          <a:p>
            <a:pPr lvl="1">
              <a:defRPr sz="1800"/>
            </a:pPr>
            <a:r>
              <a:rPr lang="en-US" sz="2000" dirty="0"/>
              <a:t>Identify depression, suicide, loneliness, etc.</a:t>
            </a:r>
          </a:p>
          <a:p>
            <a:pPr>
              <a:defRPr sz="1800"/>
            </a:pPr>
            <a:r>
              <a:rPr lang="en-US" sz="2400" dirty="0"/>
              <a:t>Health behavior and lifestyle</a:t>
            </a:r>
          </a:p>
          <a:p>
            <a:pPr lvl="1">
              <a:defRPr sz="1800"/>
            </a:pPr>
            <a:r>
              <a:rPr lang="en-US" sz="2000" dirty="0"/>
              <a:t>Public opinion of “mask wearing”</a:t>
            </a:r>
          </a:p>
          <a:p>
            <a:pPr lvl="1">
              <a:defRPr sz="1800"/>
            </a:pPr>
            <a:r>
              <a:rPr lang="en-US" sz="2000" dirty="0"/>
              <a:t>Track diet, exercise, fitness, smoking, substance use, etc.</a:t>
            </a:r>
          </a:p>
          <a:p>
            <a:pPr algn="l">
              <a:defRPr sz="1800"/>
            </a:pPr>
            <a:r>
              <a:rPr lang="en-US" sz="2400" dirty="0"/>
              <a:t>Disaster management</a:t>
            </a:r>
          </a:p>
          <a:p>
            <a:pPr lvl="1">
              <a:defRPr sz="1800"/>
            </a:pPr>
            <a:r>
              <a:rPr lang="en-US" dirty="0"/>
              <a:t>Real-time event tracking</a:t>
            </a:r>
          </a:p>
          <a:p>
            <a:pPr lvl="1">
              <a:defRPr sz="1800"/>
            </a:pPr>
            <a:r>
              <a:rPr lang="en-US" dirty="0"/>
              <a:t>Hashtag analysis for aid coordination during natural disasters</a:t>
            </a:r>
            <a:endParaRPr lang="en-US" b="1" dirty="0"/>
          </a:p>
          <a:p>
            <a:pPr lvl="1">
              <a:defRPr sz="1800"/>
            </a:pPr>
            <a:endParaRPr lang="en-US" b="1" dirty="0"/>
          </a:p>
          <a:p>
            <a:pPr algn="l">
              <a:defRPr sz="1800"/>
            </a:pP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3978676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E1E48-07E4-1DCD-39D9-6663F981F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1F161-D4C3-C586-FAD2-43F299C02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8416198" cy="1325563"/>
          </a:xfrm>
        </p:spPr>
        <p:txBody>
          <a:bodyPr>
            <a:normAutofit/>
          </a:bodyPr>
          <a:lstStyle/>
          <a:p>
            <a:r>
              <a:rPr lang="en-US" sz="4000" b="0" dirty="0"/>
              <a:t>Predict demographic identities</a:t>
            </a: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4B18240-98AD-00C3-4CA0-77CA471359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523" y="1799871"/>
            <a:ext cx="7890953" cy="361829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5B4E92C-9B6D-8585-B366-75BA71828CBE}"/>
              </a:ext>
            </a:extLst>
          </p:cNvPr>
          <p:cNvSpPr txBox="1"/>
          <p:nvPr/>
        </p:nvSpPr>
        <p:spPr>
          <a:xfrm>
            <a:off x="626523" y="5893553"/>
            <a:ext cx="82020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Schwartz, H. A., Eichstaedt, J. C., Kern, M. L., Dziurzynski, L., Ramones, S. M., Agrawal, M., ... &amp; Ungar, L. H. (2013). Personality, gender, and age in the language of social media: The open-vocabulary approach. </a:t>
            </a:r>
            <a:r>
              <a:rPr lang="en-US" sz="1200" b="0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PloS</a:t>
            </a:r>
            <a:r>
              <a:rPr lang="en-US" sz="12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One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sz="12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8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(9), e73791.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01480628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70938-E7E5-2E42-A3AE-62399EC82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A group of words in a shape of circles&#10;&#10;AI-generated content may be incorrect.">
            <a:extLst>
              <a:ext uri="{FF2B5EF4-FFF2-40B4-BE49-F238E27FC236}">
                <a16:creationId xmlns:a16="http://schemas.microsoft.com/office/drawing/2014/main" id="{15119A13-0F70-2B7D-4706-2F91B76806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5527" y="1090929"/>
            <a:ext cx="4185125" cy="5401946"/>
          </a:xfrm>
          <a:prstGeom prst="rect">
            <a:avLst/>
          </a:prstGeo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8431F093-59EE-EECF-0CA5-FB49AC67F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901" y="0"/>
            <a:ext cx="8416198" cy="1325563"/>
          </a:xfrm>
        </p:spPr>
        <p:txBody>
          <a:bodyPr>
            <a:normAutofit/>
          </a:bodyPr>
          <a:lstStyle/>
          <a:p>
            <a:r>
              <a:rPr lang="en-US" sz="4000" b="0" dirty="0"/>
              <a:t>Our key topics change as we grow up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9C3287-B8F2-0D99-492A-8CDB3F567178}"/>
              </a:ext>
            </a:extLst>
          </p:cNvPr>
          <p:cNvSpPr txBox="1"/>
          <p:nvPr/>
        </p:nvSpPr>
        <p:spPr>
          <a:xfrm>
            <a:off x="528256" y="2828835"/>
            <a:ext cx="2695127" cy="1200329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C00000"/>
                </a:solidFill>
              </a:rPr>
              <a:t>We will learn the LDA topic modeling later in the class. </a:t>
            </a:r>
          </a:p>
          <a:p>
            <a:endParaRPr lang="en-US" dirty="0">
              <a:solidFill>
                <a:srgbClr val="C00000"/>
              </a:solidFill>
            </a:endParaRPr>
          </a:p>
          <a:p>
            <a:r>
              <a:rPr lang="en-US" b="0" dirty="0">
                <a:solidFill>
                  <a:srgbClr val="C00000"/>
                </a:solidFill>
              </a:rPr>
              <a:t>No worry for now!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9416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73EB8-B23A-3073-504C-1EC45B461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F74CDDE-1A4B-1C98-955B-D82FD6E69EB9}"/>
              </a:ext>
            </a:extLst>
          </p:cNvPr>
          <p:cNvSpPr txBox="1"/>
          <p:nvPr/>
        </p:nvSpPr>
        <p:spPr>
          <a:xfrm>
            <a:off x="626523" y="5893553"/>
            <a:ext cx="82020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Schwartz, H. A., Eichstaedt, J. C., Kern, M. L., Dziurzynski, L., Ramones, S. M., Agrawal, M., ... &amp; Ungar, L. H. (2013). Personality, gender, and age in the language of social media: The open-vocabulary approach. </a:t>
            </a:r>
            <a:r>
              <a:rPr lang="en-US" sz="1200" b="0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PloS</a:t>
            </a:r>
            <a:r>
              <a:rPr lang="en-US" sz="12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One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sz="12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8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(9), e73791.</a:t>
            </a:r>
            <a:endParaRPr lang="en-US" sz="12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4AB5D81-F0C6-1B5B-8E5D-BE084922A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8416198" cy="1325563"/>
          </a:xfrm>
        </p:spPr>
        <p:txBody>
          <a:bodyPr>
            <a:normAutofit/>
          </a:bodyPr>
          <a:lstStyle/>
          <a:p>
            <a:r>
              <a:rPr lang="en-US" sz="4000" b="0" dirty="0"/>
              <a:t>We become more positive as we age</a:t>
            </a:r>
          </a:p>
        </p:txBody>
      </p:sp>
      <p:pic>
        <p:nvPicPr>
          <p:cNvPr id="6" name="Picture 5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7F05BE4F-9DE0-0015-9633-23A7CE35E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536" y="2025650"/>
            <a:ext cx="4089400" cy="2806700"/>
          </a:xfrm>
          <a:prstGeom prst="rect">
            <a:avLst/>
          </a:prstGeom>
        </p:spPr>
      </p:pic>
      <p:pic>
        <p:nvPicPr>
          <p:cNvPr id="10" name="Picture 9" descr="A graph with red and green lines&#10;&#10;AI-generated content may be incorrect.">
            <a:extLst>
              <a:ext uri="{FF2B5EF4-FFF2-40B4-BE49-F238E27FC236}">
                <a16:creationId xmlns:a16="http://schemas.microsoft.com/office/drawing/2014/main" id="{51ADD4DA-CA9D-B2B6-FF68-AFB63B72EB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3890" y="2797421"/>
            <a:ext cx="4101039" cy="2083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47300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0BC44-3DD0-A5C8-E082-BAA30FDA9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46580-D479-8E86-EA33-CD24C320B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8416198" cy="1325563"/>
          </a:xfrm>
        </p:spPr>
        <p:txBody>
          <a:bodyPr>
            <a:normAutofit/>
          </a:bodyPr>
          <a:lstStyle/>
          <a:p>
            <a:r>
              <a:rPr lang="en-US" sz="4000" b="0" dirty="0"/>
              <a:t>The power of language in predicting demographic and psychological traits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772FF6D-5712-762E-7DDF-A6E8AEBE75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050" y="1998476"/>
            <a:ext cx="8024884" cy="3124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0C088DB-D3E9-8176-7EB4-D069E95248AC}"/>
              </a:ext>
            </a:extLst>
          </p:cNvPr>
          <p:cNvSpPr txBox="1"/>
          <p:nvPr/>
        </p:nvSpPr>
        <p:spPr>
          <a:xfrm>
            <a:off x="805347" y="5431231"/>
            <a:ext cx="7368835" cy="369332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C00000"/>
                </a:solidFill>
              </a:rPr>
              <a:t>Especially accurate for predicting gender and age, less so for personality.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358EA55-3C1F-05F6-611F-6AA14730054B}"/>
              </a:ext>
            </a:extLst>
          </p:cNvPr>
          <p:cNvSpPr/>
          <p:nvPr/>
        </p:nvSpPr>
        <p:spPr>
          <a:xfrm>
            <a:off x="1568168" y="2171700"/>
            <a:ext cx="1256675" cy="2351314"/>
          </a:xfrm>
          <a:prstGeom prst="round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0DC1B9E-0DE8-FD2C-67AE-D370272FA437}"/>
              </a:ext>
            </a:extLst>
          </p:cNvPr>
          <p:cNvSpPr/>
          <p:nvPr/>
        </p:nvSpPr>
        <p:spPr>
          <a:xfrm>
            <a:off x="2824843" y="4098471"/>
            <a:ext cx="5664092" cy="310243"/>
          </a:xfrm>
          <a:prstGeom prst="round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7278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 animBg="1"/>
      <p:bldP spid="4" grpId="0" animBg="1"/>
      <p:bldP spid="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81264-57A7-23FD-CC29-BD46B65CC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3322C-6BD3-D052-E3A6-26700C718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8416198" cy="1325563"/>
          </a:xfrm>
        </p:spPr>
        <p:txBody>
          <a:bodyPr>
            <a:normAutofit/>
          </a:bodyPr>
          <a:lstStyle/>
          <a:p>
            <a:r>
              <a:rPr lang="en-US" sz="4000" b="0" dirty="0"/>
              <a:t>Predict mental health &amp; psychology</a:t>
            </a:r>
          </a:p>
        </p:txBody>
      </p:sp>
      <p:pic>
        <p:nvPicPr>
          <p:cNvPr id="5" name="Picture 4" descr="A screenshot of a website&#10;&#10;AI-generated content may be incorrect.">
            <a:extLst>
              <a:ext uri="{FF2B5EF4-FFF2-40B4-BE49-F238E27FC236}">
                <a16:creationId xmlns:a16="http://schemas.microsoft.com/office/drawing/2014/main" id="{50E77A93-D1E9-4DEA-ED5C-0673363BB7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1852292"/>
            <a:ext cx="6233724" cy="150026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</p:pic>
      <p:pic>
        <p:nvPicPr>
          <p:cNvPr id="6" name="Picture 5" descr="A screenshot of a website&#10;&#10;AI-generated content may be incorrect.">
            <a:extLst>
              <a:ext uri="{FF2B5EF4-FFF2-40B4-BE49-F238E27FC236}">
                <a16:creationId xmlns:a16="http://schemas.microsoft.com/office/drawing/2014/main" id="{8314CBA5-FB5A-7582-928F-02EF2DE0A5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0219" y="4013513"/>
            <a:ext cx="6993779" cy="142246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5314545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69138-B955-03C0-F06F-329AD2582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71AFE-36AD-C3F4-C4E8-A7631E079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8416198" cy="1325563"/>
          </a:xfrm>
        </p:spPr>
        <p:txBody>
          <a:bodyPr>
            <a:normAutofit/>
          </a:bodyPr>
          <a:lstStyle/>
          <a:p>
            <a:r>
              <a:rPr lang="en-US" sz="4000" b="0" dirty="0"/>
              <a:t>Detect earthquake using Twitter</a:t>
            </a:r>
          </a:p>
        </p:txBody>
      </p:sp>
      <p:pic>
        <p:nvPicPr>
          <p:cNvPr id="5" name="Picture 4" descr="A close-up of a business card&#10;&#10;AI-generated content may be incorrect.">
            <a:extLst>
              <a:ext uri="{FF2B5EF4-FFF2-40B4-BE49-F238E27FC236}">
                <a16:creationId xmlns:a16="http://schemas.microsoft.com/office/drawing/2014/main" id="{2DF81C23-7ADE-ED26-4E69-A69924EB56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1849882"/>
            <a:ext cx="7772400" cy="2481741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2885039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C5DAF-586A-6F39-CB53-641AEAACA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16B55-D35D-2BD4-5F7C-2351DED34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8416198" cy="1325563"/>
          </a:xfrm>
        </p:spPr>
        <p:txBody>
          <a:bodyPr>
            <a:normAutofit/>
          </a:bodyPr>
          <a:lstStyle/>
          <a:p>
            <a:r>
              <a:rPr lang="en-US" sz="4000" b="0" dirty="0"/>
              <a:t>Detecting earthquake</a:t>
            </a:r>
          </a:p>
        </p:txBody>
      </p:sp>
      <p:pic>
        <p:nvPicPr>
          <p:cNvPr id="4" name="Picture 3" descr="A diagram of a person's event&#10;&#10;AI-generated content may be incorrect.">
            <a:extLst>
              <a:ext uri="{FF2B5EF4-FFF2-40B4-BE49-F238E27FC236}">
                <a16:creationId xmlns:a16="http://schemas.microsoft.com/office/drawing/2014/main" id="{66938383-F0AD-B6CD-645C-422AEF6301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705" y="1569529"/>
            <a:ext cx="4421535" cy="496246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F1264C7-C782-A7B2-E3CC-DDA7B89330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9768" y="1516885"/>
            <a:ext cx="3533220" cy="275641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598C2FA-6EB4-426E-4DD4-0140215D34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5587" y="4420115"/>
            <a:ext cx="3347401" cy="2111881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5D3DDDE-49EB-2537-6526-CC8F2C99032B}"/>
              </a:ext>
            </a:extLst>
          </p:cNvPr>
          <p:cNvSpPr/>
          <p:nvPr/>
        </p:nvSpPr>
        <p:spPr>
          <a:xfrm>
            <a:off x="4949768" y="2372569"/>
            <a:ext cx="3720703" cy="1325563"/>
          </a:xfrm>
          <a:prstGeom prst="round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980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8D09E-8EA7-A918-2D58-794F17950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A9DEE-4A9E-CCB1-FAD9-C56762DC8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8416198" cy="1325563"/>
          </a:xfrm>
        </p:spPr>
        <p:txBody>
          <a:bodyPr>
            <a:normAutofit/>
          </a:bodyPr>
          <a:lstStyle/>
          <a:p>
            <a:r>
              <a:rPr lang="en-US" sz="4000" b="0" dirty="0"/>
              <a:t>Detecting earthquake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8348A1B-0BCF-1935-5A7A-9D3BA8FC31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2326" y="1690689"/>
            <a:ext cx="5367128" cy="13255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  <a:defRPr sz="1800"/>
            </a:pPr>
            <a:r>
              <a:rPr lang="en-US" sz="2400" dirty="0"/>
              <a:t>Classify earthquake-related tweets using:</a:t>
            </a:r>
          </a:p>
          <a:p>
            <a:pPr lvl="1">
              <a:defRPr sz="1800"/>
            </a:pPr>
            <a:r>
              <a:rPr lang="en-US" sz="2200" dirty="0"/>
              <a:t>Semantic features (length, etc.)</a:t>
            </a:r>
          </a:p>
          <a:p>
            <a:pPr lvl="1">
              <a:defRPr sz="1800"/>
            </a:pPr>
            <a:r>
              <a:rPr lang="en-US" sz="2200" dirty="0"/>
              <a:t>Keywords features</a:t>
            </a:r>
          </a:p>
          <a:p>
            <a:pPr lvl="1">
              <a:defRPr sz="1800"/>
            </a:pPr>
            <a:r>
              <a:rPr lang="en-US" sz="2200" dirty="0"/>
              <a:t>Word context features</a:t>
            </a:r>
          </a:p>
          <a:p>
            <a:pPr lvl="1">
              <a:defRPr sz="1800"/>
            </a:pPr>
            <a:endParaRPr lang="en-US" sz="2000" dirty="0"/>
          </a:p>
          <a:p>
            <a:pPr lvl="1">
              <a:defRPr sz="1800"/>
            </a:pPr>
            <a:endParaRPr lang="en-US" sz="2000" dirty="0"/>
          </a:p>
          <a:p>
            <a:pPr lvl="1">
              <a:defRPr sz="1800"/>
            </a:pPr>
            <a:endParaRPr lang="en-US" dirty="0"/>
          </a:p>
          <a:p>
            <a:pPr lvl="1">
              <a:defRPr sz="1800"/>
            </a:pPr>
            <a:endParaRPr lang="en-US" b="1" dirty="0"/>
          </a:p>
          <a:p>
            <a:pPr lvl="1">
              <a:defRPr sz="1800"/>
            </a:pPr>
            <a:endParaRPr lang="en-US" b="1" dirty="0"/>
          </a:p>
          <a:p>
            <a:pPr algn="l">
              <a:defRPr sz="1800"/>
            </a:pPr>
            <a:endParaRPr b="1" dirty="0"/>
          </a:p>
        </p:txBody>
      </p:sp>
      <p:pic>
        <p:nvPicPr>
          <p:cNvPr id="5" name="Picture 4" descr="A table with numbers and a few percentages&#10;&#10;AI-generated content may be incorrect.">
            <a:extLst>
              <a:ext uri="{FF2B5EF4-FFF2-40B4-BE49-F238E27FC236}">
                <a16:creationId xmlns:a16="http://schemas.microsoft.com/office/drawing/2014/main" id="{85727A8B-4888-A68D-05D9-6D9D02A8A7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444" y="3209476"/>
            <a:ext cx="4240991" cy="2768178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E87D1AA-086C-295B-A10A-4D593B03544E}"/>
              </a:ext>
            </a:extLst>
          </p:cNvPr>
          <p:cNvSpPr txBox="1"/>
          <p:nvPr/>
        </p:nvSpPr>
        <p:spPr>
          <a:xfrm>
            <a:off x="799444" y="6141899"/>
            <a:ext cx="674711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rgbClr val="C00000"/>
                </a:solidFill>
              </a:rPr>
              <a:t>Hard case: “Is this an </a:t>
            </a:r>
            <a:r>
              <a:rPr lang="en-US" sz="2200" i="1" dirty="0">
                <a:solidFill>
                  <a:srgbClr val="C00000"/>
                </a:solidFill>
              </a:rPr>
              <a:t>earthquake</a:t>
            </a:r>
            <a:r>
              <a:rPr lang="en-US" sz="2200" dirty="0">
                <a:solidFill>
                  <a:srgbClr val="C00000"/>
                </a:solidFill>
              </a:rPr>
              <a:t> or a truck passing?”</a:t>
            </a:r>
          </a:p>
        </p:txBody>
      </p:sp>
      <p:pic>
        <p:nvPicPr>
          <p:cNvPr id="11" name="Picture 10" descr="A map of japan with a map of the earth showing the earthquake&#10;&#10;AI-generated content may be incorrect.">
            <a:extLst>
              <a:ext uri="{FF2B5EF4-FFF2-40B4-BE49-F238E27FC236}">
                <a16:creationId xmlns:a16="http://schemas.microsoft.com/office/drawing/2014/main" id="{304FDFB2-F20B-B8A3-FB35-5D8B596671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0131" y="2160201"/>
            <a:ext cx="3690650" cy="3817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422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61C4E-0C9C-748B-3E58-DE87EE881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F95C9-9FC2-28B9-F067-10ABE147A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8416198" cy="1325563"/>
          </a:xfrm>
        </p:spPr>
        <p:txBody>
          <a:bodyPr>
            <a:normAutofit/>
          </a:bodyPr>
          <a:lstStyle/>
          <a:p>
            <a:r>
              <a:rPr lang="en-US" sz="4000" b="0" dirty="0"/>
              <a:t>Detecting earthquake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4EF9658-3611-898D-1239-75ABC3667B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2326" y="1534816"/>
            <a:ext cx="7793024" cy="1325563"/>
          </a:xfrm>
        </p:spPr>
        <p:txBody>
          <a:bodyPr>
            <a:normAutofit/>
          </a:bodyPr>
          <a:lstStyle/>
          <a:p>
            <a:pPr marL="0" indent="0">
              <a:buNone/>
              <a:defRPr sz="1800"/>
            </a:pPr>
            <a:r>
              <a:rPr lang="en-US" sz="2200" dirty="0"/>
              <a:t>Real-world performance is very good:</a:t>
            </a:r>
          </a:p>
          <a:p>
            <a:pPr lvl="1">
              <a:defRPr sz="1800"/>
            </a:pPr>
            <a:r>
              <a:rPr lang="en-US" sz="2000" dirty="0"/>
              <a:t>Can detect 96% earthquake with JMA seismic intensity scale +3</a:t>
            </a:r>
          </a:p>
          <a:p>
            <a:pPr lvl="1">
              <a:defRPr sz="1800"/>
            </a:pPr>
            <a:r>
              <a:rPr lang="en-US" sz="2000" dirty="0">
                <a:solidFill>
                  <a:srgbClr val="C00000"/>
                </a:solidFill>
              </a:rPr>
              <a:t>Recency close to 1 minute; better than JMA!</a:t>
            </a:r>
          </a:p>
          <a:p>
            <a:pPr lvl="1">
              <a:defRPr sz="1800"/>
            </a:pPr>
            <a:endParaRPr lang="en-US" sz="2000" dirty="0"/>
          </a:p>
          <a:p>
            <a:pPr lvl="1">
              <a:defRPr sz="1800"/>
            </a:pPr>
            <a:endParaRPr lang="en-US" dirty="0"/>
          </a:p>
          <a:p>
            <a:pPr lvl="1">
              <a:defRPr sz="1800"/>
            </a:pPr>
            <a:endParaRPr lang="en-US" b="1" dirty="0"/>
          </a:p>
          <a:p>
            <a:pPr lvl="1">
              <a:defRPr sz="1800"/>
            </a:pPr>
            <a:endParaRPr lang="en-US" b="1" dirty="0"/>
          </a:p>
          <a:p>
            <a:pPr algn="l">
              <a:defRPr sz="1800"/>
            </a:pPr>
            <a:endParaRPr b="1" dirty="0"/>
          </a:p>
        </p:txBody>
      </p:sp>
      <p:pic>
        <p:nvPicPr>
          <p:cNvPr id="4" name="Picture 3" descr="A black and white text with numbers&#10;&#10;AI-generated content may be incorrect.">
            <a:extLst>
              <a:ext uri="{FF2B5EF4-FFF2-40B4-BE49-F238E27FC236}">
                <a16:creationId xmlns:a16="http://schemas.microsoft.com/office/drawing/2014/main" id="{CA0B3934-0B89-2AC1-2AD5-A9E18EDE09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0276" y="2705882"/>
            <a:ext cx="5812946" cy="1756208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9" name="Picture 8" descr="A table with numbers and text&#10;&#10;AI-generated content may be incorrect.">
            <a:extLst>
              <a:ext uri="{FF2B5EF4-FFF2-40B4-BE49-F238E27FC236}">
                <a16:creationId xmlns:a16="http://schemas.microsoft.com/office/drawing/2014/main" id="{FF3EB4F5-7412-6DFD-E9E2-979B513B54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521" y="4618838"/>
            <a:ext cx="7772400" cy="1954781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8130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5F359-1462-37F1-635A-A38176E5B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2CB29-BC10-BA82-2913-7F44D08F0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8248650" cy="1325563"/>
          </a:xfrm>
        </p:spPr>
        <p:txBody>
          <a:bodyPr/>
          <a:lstStyle/>
          <a:p>
            <a:r>
              <a:rPr lang="en-US" b="0" dirty="0"/>
              <a:t>SMA for social media industry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6234C-B6A0-489C-C180-0B7C76FC8D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824865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Social media companies have the most interest in SMA:</a:t>
            </a:r>
            <a:endParaRPr dirty="0">
              <a:solidFill>
                <a:srgbClr val="C00000"/>
              </a:solidFill>
            </a:endParaRPr>
          </a:p>
          <a:p>
            <a:pPr>
              <a:defRPr sz="1800"/>
            </a:pPr>
            <a:r>
              <a:rPr lang="en-US" sz="2400" dirty="0">
                <a:solidFill>
                  <a:srgbClr val="00B0F0"/>
                </a:solidFill>
              </a:rPr>
              <a:t>User adoption &amp; retention &amp; engagement</a:t>
            </a:r>
            <a:endParaRPr sz="2400" dirty="0">
              <a:solidFill>
                <a:srgbClr val="00B0F0"/>
              </a:solidFill>
            </a:endParaRPr>
          </a:p>
          <a:p>
            <a:pPr algn="l">
              <a:defRPr sz="1800"/>
            </a:pPr>
            <a:r>
              <a:rPr lang="en-US" sz="2400" dirty="0"/>
              <a:t>Reduce m</a:t>
            </a:r>
            <a:r>
              <a:rPr sz="2400" dirty="0"/>
              <a:t>isinformation</a:t>
            </a:r>
            <a:r>
              <a:rPr lang="en-US" sz="2400" dirty="0"/>
              <a:t> / polarization / segregation</a:t>
            </a:r>
          </a:p>
          <a:p>
            <a:pPr algn="l">
              <a:defRPr sz="1800"/>
            </a:pPr>
            <a:r>
              <a:rPr lang="en-US" sz="2400" dirty="0"/>
              <a:t>Target marketing</a:t>
            </a:r>
            <a:endParaRPr sz="2400" dirty="0"/>
          </a:p>
          <a:p>
            <a:pPr algn="l">
              <a:defRPr sz="1800"/>
            </a:pPr>
            <a:r>
              <a:rPr lang="en-US" sz="2400" dirty="0"/>
              <a:t>Personalization</a:t>
            </a:r>
            <a:endParaRPr sz="2400" dirty="0"/>
          </a:p>
        </p:txBody>
      </p:sp>
      <p:pic>
        <p:nvPicPr>
          <p:cNvPr id="7170" name="Picture 2" descr="Jenny Odell - Resisting the Attention Economy - Review - Tricycle">
            <a:extLst>
              <a:ext uri="{FF2B5EF4-FFF2-40B4-BE49-F238E27FC236}">
                <a16:creationId xmlns:a16="http://schemas.microsoft.com/office/drawing/2014/main" id="{BC5FEC4E-24D8-3ABE-057D-121F4BF7B4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0009" y="3429000"/>
            <a:ext cx="5496791" cy="2904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7672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defRPr sz="1800"/>
            </a:pPr>
            <a:r>
              <a:rPr sz="2400" b="1" dirty="0"/>
              <a:t>Reach</a:t>
            </a:r>
            <a:r>
              <a:rPr lang="en-US" sz="2400" dirty="0"/>
              <a:t>: number of </a:t>
            </a:r>
            <a:r>
              <a:rPr lang="en-US" sz="2400" u="sng" dirty="0"/>
              <a:t>unique users</a:t>
            </a:r>
            <a:r>
              <a:rPr lang="en-US" sz="2400" dirty="0"/>
              <a:t> who see the content</a:t>
            </a:r>
          </a:p>
          <a:p>
            <a:pPr lvl="1">
              <a:defRPr sz="1800"/>
            </a:pPr>
            <a:r>
              <a:rPr lang="en-US" sz="2000" dirty="0"/>
              <a:t>E.g., A post seen by 10,000 unique users</a:t>
            </a:r>
            <a:endParaRPr lang="en-US" sz="1800" dirty="0"/>
          </a:p>
          <a:p>
            <a:pPr>
              <a:defRPr sz="1800"/>
            </a:pPr>
            <a:r>
              <a:rPr lang="en-US" sz="2400" b="1" dirty="0"/>
              <a:t>Impressions</a:t>
            </a:r>
            <a:r>
              <a:rPr lang="en-US" sz="2400" dirty="0"/>
              <a:t>: </a:t>
            </a:r>
            <a:r>
              <a:rPr lang="en-US" sz="2400" b="0" i="0" u="sng" dirty="0">
                <a:solidFill>
                  <a:srgbClr val="001D35"/>
                </a:solidFill>
                <a:effectLst/>
                <a:latin typeface="Google Sans"/>
              </a:rPr>
              <a:t>total number of times</a:t>
            </a:r>
            <a:r>
              <a:rPr lang="en-US" sz="2400" b="0" i="0" dirty="0">
                <a:solidFill>
                  <a:srgbClr val="001D35"/>
                </a:solidFill>
                <a:effectLst/>
                <a:latin typeface="Google Sans"/>
              </a:rPr>
              <a:t> a post was displayed</a:t>
            </a:r>
          </a:p>
          <a:p>
            <a:pPr lvl="1">
              <a:defRPr sz="1800"/>
            </a:pPr>
            <a:r>
              <a:rPr lang="en-US" sz="2000" b="0" i="0" dirty="0">
                <a:solidFill>
                  <a:srgbClr val="001D35"/>
                </a:solidFill>
                <a:effectLst/>
                <a:latin typeface="Google Sans"/>
              </a:rPr>
              <a:t>Same post can by viewed multiple times by the same person</a:t>
            </a:r>
            <a:endParaRPr lang="en-US" sz="2000" dirty="0"/>
          </a:p>
          <a:p>
            <a:pPr algn="l">
              <a:defRPr sz="1800"/>
            </a:pPr>
            <a:r>
              <a:rPr lang="en-US" sz="2400" b="1" dirty="0"/>
              <a:t>Engagement</a:t>
            </a:r>
            <a:r>
              <a:rPr lang="en-US" sz="2400" dirty="0"/>
              <a:t>: number of </a:t>
            </a:r>
            <a:r>
              <a:rPr lang="en-US" sz="2400" u="sng" dirty="0"/>
              <a:t>interactions</a:t>
            </a:r>
          </a:p>
          <a:p>
            <a:pPr lvl="1">
              <a:defRPr sz="1800"/>
            </a:pPr>
            <a:r>
              <a:rPr lang="en-US" sz="2000" dirty="0"/>
              <a:t>E.g., Likes, comments, shares</a:t>
            </a:r>
          </a:p>
          <a:p>
            <a:pPr>
              <a:defRPr sz="1800"/>
            </a:pPr>
            <a:r>
              <a:rPr lang="en-US" sz="2400" dirty="0">
                <a:solidFill>
                  <a:srgbClr val="0070C0"/>
                </a:solidFill>
              </a:rPr>
              <a:t>Engagement rate:</a:t>
            </a:r>
            <a:r>
              <a:rPr lang="en-US" sz="2400" dirty="0"/>
              <a:t> (Engagements / Reach) * 100</a:t>
            </a:r>
          </a:p>
          <a:p>
            <a:pPr>
              <a:defRPr sz="1800"/>
            </a:pPr>
            <a:r>
              <a:rPr lang="en-US" sz="2400" dirty="0">
                <a:solidFill>
                  <a:srgbClr val="0070C0"/>
                </a:solidFill>
              </a:rPr>
              <a:t>Click-Through Rate: </a:t>
            </a:r>
            <a:r>
              <a:rPr lang="en-US" sz="2400" dirty="0"/>
              <a:t>Clicks / Impressions</a:t>
            </a:r>
            <a:endParaRPr sz="24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F714A68-12D7-84D4-3623-0143AEEEC83C}"/>
              </a:ext>
            </a:extLst>
          </p:cNvPr>
          <p:cNvSpPr txBox="1">
            <a:spLocks/>
          </p:cNvSpPr>
          <p:nvPr/>
        </p:nvSpPr>
        <p:spPr>
          <a:xfrm>
            <a:off x="628650" y="40436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chemeClr val="tx1"/>
                </a:solidFill>
                <a:latin typeface="LM Sans 12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en-US" b="0" dirty="0"/>
              <a:t>Key metrics in SMA</a:t>
            </a:r>
            <a:endParaRPr lang="en-HK" b="0" dirty="0"/>
          </a:p>
        </p:txBody>
      </p:sp>
      <p:pic>
        <p:nvPicPr>
          <p:cNvPr id="9218" name="Picture 2" descr="How to Track the Right Social Media Engagement Metrics">
            <a:extLst>
              <a:ext uri="{FF2B5EF4-FFF2-40B4-BE49-F238E27FC236}">
                <a16:creationId xmlns:a16="http://schemas.microsoft.com/office/drawing/2014/main" id="{5BF3DA09-6996-7D2B-575D-011901BC34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7414" y="4779790"/>
            <a:ext cx="2653991" cy="1492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1943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AC12F-F020-B9B4-FDAE-01E7F3645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15900-5C94-3B91-8A45-53FA7C982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269" y="266745"/>
            <a:ext cx="8820458" cy="1325563"/>
          </a:xfrm>
        </p:spPr>
        <p:txBody>
          <a:bodyPr>
            <a:normAutofit/>
          </a:bodyPr>
          <a:lstStyle/>
          <a:p>
            <a:r>
              <a:rPr lang="en-US" b="0" dirty="0"/>
              <a:t>Bot detection (main goal of SM sites)</a:t>
            </a:r>
          </a:p>
        </p:txBody>
      </p:sp>
      <p:pic>
        <p:nvPicPr>
          <p:cNvPr id="12" name="Picture 11" descr="A close-up of a text&#10;&#10;AI-generated content may be incorrect.">
            <a:extLst>
              <a:ext uri="{FF2B5EF4-FFF2-40B4-BE49-F238E27FC236}">
                <a16:creationId xmlns:a16="http://schemas.microsoft.com/office/drawing/2014/main" id="{50672E6B-7B09-CE4D-F767-7A4A2827B4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30120"/>
            <a:ext cx="7772400" cy="166391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89BC96-63C5-884F-156F-4691CE7D2C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3318476"/>
            <a:ext cx="8248650" cy="268879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Social bots: </a:t>
            </a:r>
            <a:r>
              <a:rPr lang="en-US" dirty="0"/>
              <a:t>SM accounts controlled by software</a:t>
            </a:r>
            <a:endParaRPr dirty="0"/>
          </a:p>
          <a:p>
            <a:pPr algn="l">
              <a:defRPr sz="1800"/>
            </a:pPr>
            <a:r>
              <a:rPr lang="en-US" sz="2400" dirty="0"/>
              <a:t>Amplifying misinformation</a:t>
            </a:r>
          </a:p>
          <a:p>
            <a:pPr algn="l">
              <a:defRPr sz="1800"/>
            </a:pPr>
            <a:r>
              <a:rPr lang="en-US" sz="2400" dirty="0"/>
              <a:t>Swaying public attention </a:t>
            </a:r>
          </a:p>
          <a:p>
            <a:pPr algn="l">
              <a:defRPr sz="1800"/>
            </a:pPr>
            <a:r>
              <a:rPr lang="en-US" sz="2400" dirty="0"/>
              <a:t>Suppressing speech</a:t>
            </a:r>
          </a:p>
          <a:p>
            <a:pPr algn="l">
              <a:defRPr sz="1800"/>
            </a:pPr>
            <a:r>
              <a:rPr lang="en-US" sz="2400" dirty="0"/>
              <a:t>Spreading spam information</a:t>
            </a:r>
          </a:p>
          <a:p>
            <a:pPr algn="l">
              <a:defRPr sz="1800"/>
            </a:pPr>
            <a:r>
              <a:rPr lang="en-US" sz="2400" dirty="0"/>
              <a:t>Trolling / attacking victims</a:t>
            </a:r>
            <a:endParaRPr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C69857-5A79-AC95-B1DF-F001339E4CD5}"/>
              </a:ext>
            </a:extLst>
          </p:cNvPr>
          <p:cNvSpPr txBox="1"/>
          <p:nvPr/>
        </p:nvSpPr>
        <p:spPr>
          <a:xfrm>
            <a:off x="4325144" y="6007269"/>
            <a:ext cx="471227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Demo</a:t>
            </a:r>
            <a:r>
              <a:rPr lang="en-US" sz="2000" dirty="0"/>
              <a:t>: </a:t>
            </a:r>
            <a:r>
              <a:rPr lang="en-US" sz="2000" dirty="0">
                <a:hlinkClick r:id="rId4"/>
              </a:rPr>
              <a:t>https://botometer.osome.iu.edu/</a:t>
            </a:r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pic>
        <p:nvPicPr>
          <p:cNvPr id="10" name="Picture 9" descr="A blue bird and yellow bird&#10;&#10;AI-generated content may be incorrect.">
            <a:extLst>
              <a:ext uri="{FF2B5EF4-FFF2-40B4-BE49-F238E27FC236}">
                <a16:creationId xmlns:a16="http://schemas.microsoft.com/office/drawing/2014/main" id="{360FD9BB-6DC7-47DF-E385-D22F006C8F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305" y="4257413"/>
            <a:ext cx="2358144" cy="1617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309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660EE0B-743F-C437-F98E-27D84B16B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FBCFF-6673-D9C2-7C42-078E53C6C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469" y="261427"/>
            <a:ext cx="8820458" cy="1325563"/>
          </a:xfrm>
        </p:spPr>
        <p:txBody>
          <a:bodyPr>
            <a:normAutofit/>
          </a:bodyPr>
          <a:lstStyle/>
          <a:p>
            <a:r>
              <a:rPr lang="en-US" b="0" dirty="0"/>
              <a:t>Spread of misinformation</a:t>
            </a:r>
          </a:p>
        </p:txBody>
      </p:sp>
      <p:pic>
        <p:nvPicPr>
          <p:cNvPr id="7" name="Picture 6" descr="A diagram of a number of tweets&#10;&#10;AI-generated content may be incorrect.">
            <a:extLst>
              <a:ext uri="{FF2B5EF4-FFF2-40B4-BE49-F238E27FC236}">
                <a16:creationId xmlns:a16="http://schemas.microsoft.com/office/drawing/2014/main" id="{E1469102-2DFC-6ADF-924C-041F1D1E69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571" y="1247374"/>
            <a:ext cx="6808527" cy="514422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C698152-33B9-58E5-D047-424B2A236075}"/>
              </a:ext>
            </a:extLst>
          </p:cNvPr>
          <p:cNvSpPr txBox="1"/>
          <p:nvPr/>
        </p:nvSpPr>
        <p:spPr>
          <a:xfrm>
            <a:off x="4224834" y="6068429"/>
            <a:ext cx="43593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Shao, C., Ciampaglia, G. L., Varol, O., Yang, K. C., Flammini, A., &amp; Menczer, F. (2018). The spread of low-credibility content by social bots. </a:t>
            </a:r>
            <a:r>
              <a:rPr lang="en-US" sz="12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Nature Communications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sz="12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9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(1), 4787.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9824294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26F54-1D0F-9E19-8F3C-69E74818C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002FA-1A3E-92B5-F7EA-63BAD0723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469" y="261427"/>
            <a:ext cx="8820458" cy="1325563"/>
          </a:xfrm>
        </p:spPr>
        <p:txBody>
          <a:bodyPr>
            <a:normAutofit/>
          </a:bodyPr>
          <a:lstStyle/>
          <a:p>
            <a:r>
              <a:rPr lang="en-US" b="0" dirty="0"/>
              <a:t>Spread of misinformation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4321A1-C6C8-7053-45DC-D5FA94343D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665" y="1933226"/>
            <a:ext cx="8512096" cy="1990619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78B9"/>
                </a:solidFill>
              </a:rPr>
              <a:t>Fake news vs. true news:</a:t>
            </a:r>
            <a:endParaRPr dirty="0">
              <a:solidFill>
                <a:srgbClr val="0078B9"/>
              </a:solidFill>
            </a:endParaRPr>
          </a:p>
          <a:p>
            <a:pPr algn="l">
              <a:defRPr sz="1800"/>
            </a:pPr>
            <a:r>
              <a:rPr lang="en-US" sz="2400" dirty="0"/>
              <a:t>Similar popularity distribution (hard to tell apart just based on popularity)</a:t>
            </a:r>
          </a:p>
          <a:p>
            <a:pPr algn="l">
              <a:defRPr sz="1800"/>
            </a:pPr>
            <a:r>
              <a:rPr lang="en-US" sz="2400" dirty="0"/>
              <a:t>Popularity is very heterogeneous across articles in both groups</a:t>
            </a:r>
          </a:p>
          <a:p>
            <a:pPr>
              <a:defRPr sz="1800"/>
            </a:pPr>
            <a:r>
              <a:rPr lang="en-US" sz="2400" dirty="0"/>
              <a:t>False news is slightly even more viral</a:t>
            </a:r>
          </a:p>
          <a:p>
            <a:pPr algn="l">
              <a:defRPr sz="1800"/>
            </a:pPr>
            <a:r>
              <a:rPr lang="en-US" sz="2400" dirty="0">
                <a:solidFill>
                  <a:srgbClr val="C00000"/>
                </a:solidFill>
              </a:rPr>
              <a:t>Fake news is largely driven by bots with no connections between them.</a:t>
            </a:r>
            <a:endParaRPr sz="2400" dirty="0">
              <a:solidFill>
                <a:srgbClr val="C0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F4BC16-0C5B-1B0B-44BF-A75450738052}"/>
              </a:ext>
            </a:extLst>
          </p:cNvPr>
          <p:cNvSpPr txBox="1"/>
          <p:nvPr/>
        </p:nvSpPr>
        <p:spPr>
          <a:xfrm>
            <a:off x="434151" y="4490934"/>
            <a:ext cx="489858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rgbClr val="0078B9"/>
                </a:solidFill>
              </a:rPr>
              <a:t>Can we utilize network structure of the retweeting network to detect fake news?</a:t>
            </a:r>
          </a:p>
        </p:txBody>
      </p:sp>
      <p:pic>
        <p:nvPicPr>
          <p:cNvPr id="6" name="Picture 5" descr="A diagram of a network&#10;&#10;AI-generated content may be incorrect.">
            <a:extLst>
              <a:ext uri="{FF2B5EF4-FFF2-40B4-BE49-F238E27FC236}">
                <a16:creationId xmlns:a16="http://schemas.microsoft.com/office/drawing/2014/main" id="{D71A9DD5-BF63-DC90-C20F-10ED2D17CC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2732" y="3986685"/>
            <a:ext cx="3043642" cy="2626550"/>
          </a:xfrm>
          <a:prstGeom prst="rect">
            <a:avLst/>
          </a:prstGeom>
        </p:spPr>
      </p:pic>
      <p:pic>
        <p:nvPicPr>
          <p:cNvPr id="9" name="Picture 8" descr="A close-up of a logo&#10;&#10;AI-generated content may be incorrect.">
            <a:extLst>
              <a:ext uri="{FF2B5EF4-FFF2-40B4-BE49-F238E27FC236}">
                <a16:creationId xmlns:a16="http://schemas.microsoft.com/office/drawing/2014/main" id="{099CB5CB-1AB8-A395-002D-685C97CA35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4808" y="261427"/>
            <a:ext cx="2125278" cy="2141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68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defRPr sz="1800"/>
            </a:pPr>
            <a:r>
              <a:rPr sz="2400" dirty="0"/>
              <a:t>Privacy concerns</a:t>
            </a:r>
            <a:r>
              <a:rPr lang="en-US" sz="2400" dirty="0"/>
              <a:t> (consent, anonymity)</a:t>
            </a:r>
            <a:endParaRPr sz="2400" dirty="0"/>
          </a:p>
          <a:p>
            <a:pPr algn="l">
              <a:defRPr sz="1800"/>
            </a:pPr>
            <a:r>
              <a:rPr lang="en-US" sz="2400" dirty="0"/>
              <a:t>Data bias / unrepresentative</a:t>
            </a:r>
          </a:p>
          <a:p>
            <a:pPr algn="l">
              <a:defRPr sz="1800"/>
            </a:pPr>
            <a:r>
              <a:rPr sz="2400" dirty="0"/>
              <a:t>Misinformation</a:t>
            </a:r>
            <a:r>
              <a:rPr lang="en-US" sz="2400" dirty="0"/>
              <a:t> / bots</a:t>
            </a:r>
            <a:endParaRPr sz="2400" dirty="0"/>
          </a:p>
          <a:p>
            <a:pPr algn="l">
              <a:defRPr sz="1800"/>
            </a:pPr>
            <a:r>
              <a:rPr lang="en-US" sz="2400" dirty="0"/>
              <a:t>Proprietary a</a:t>
            </a:r>
            <a:r>
              <a:rPr sz="2400" dirty="0"/>
              <a:t>lgorithm</a:t>
            </a:r>
            <a:r>
              <a:rPr lang="en-US" sz="2400" dirty="0"/>
              <a:t>s</a:t>
            </a:r>
          </a:p>
          <a:p>
            <a:pPr algn="l">
              <a:defRPr sz="1800"/>
            </a:pPr>
            <a:r>
              <a:rPr lang="en-US" sz="2400" dirty="0"/>
              <a:t>Decreasing well-being</a:t>
            </a:r>
            <a:endParaRPr sz="24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2CBAD47-83E4-A7B7-58D1-8414C7720667}"/>
              </a:ext>
            </a:extLst>
          </p:cNvPr>
          <p:cNvSpPr txBox="1">
            <a:spLocks/>
          </p:cNvSpPr>
          <p:nvPr/>
        </p:nvSpPr>
        <p:spPr>
          <a:xfrm>
            <a:off x="628650" y="40436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chemeClr val="tx1"/>
                </a:solidFill>
                <a:latin typeface="LM Sans 12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en-US" b="0" dirty="0"/>
              <a:t>Discussion: Challenges in SMA</a:t>
            </a:r>
            <a:endParaRPr lang="en-HK" b="0" dirty="0"/>
          </a:p>
        </p:txBody>
      </p:sp>
      <p:pic>
        <p:nvPicPr>
          <p:cNvPr id="10242" name="Picture 2" descr="The Dark Side of Social Media - YouTube">
            <a:extLst>
              <a:ext uri="{FF2B5EF4-FFF2-40B4-BE49-F238E27FC236}">
                <a16:creationId xmlns:a16="http://schemas.microsoft.com/office/drawing/2014/main" id="{FFEE3E8B-45BE-91EA-7850-CFCF10F59A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5927" y="3308206"/>
            <a:ext cx="3825009" cy="2868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2832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199FCD6-6236-2550-4183-8626DC378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HK" b="0" dirty="0"/>
              <a:t>Emerging technologies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D25B636-64CC-A35C-4091-B51A73560E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30244"/>
            <a:ext cx="7886700" cy="4351338"/>
          </a:xfrm>
        </p:spPr>
        <p:txBody>
          <a:bodyPr>
            <a:normAutofit fontScale="92500" lnSpcReduction="10000"/>
          </a:bodyPr>
          <a:lstStyle/>
          <a:p>
            <a:pPr algn="l">
              <a:defRPr sz="1800"/>
            </a:pPr>
            <a:r>
              <a:rPr lang="en-US" sz="2400" dirty="0"/>
              <a:t>Intelligent LLM agents</a:t>
            </a:r>
          </a:p>
          <a:p>
            <a:pPr lvl="1">
              <a:defRPr sz="1800"/>
            </a:pPr>
            <a:r>
              <a:rPr lang="en-US" sz="2000" dirty="0"/>
              <a:t>Replaces human moderators</a:t>
            </a:r>
          </a:p>
          <a:p>
            <a:pPr>
              <a:defRPr sz="1800"/>
            </a:pPr>
            <a:r>
              <a:rPr lang="en-US" sz="2400" dirty="0">
                <a:effectLst/>
              </a:rPr>
              <a:t>Immersive technologies (VR/AR/MR)</a:t>
            </a:r>
          </a:p>
          <a:p>
            <a:pPr lvl="1">
              <a:defRPr sz="1800"/>
            </a:pPr>
            <a:r>
              <a:rPr lang="en-US" sz="2000" dirty="0">
                <a:effectLst/>
              </a:rPr>
              <a:t>Enables new forms of engagement, such as virtual events</a:t>
            </a:r>
          </a:p>
          <a:p>
            <a:pPr>
              <a:defRPr sz="1800"/>
            </a:pPr>
            <a:r>
              <a:rPr lang="en-US" sz="2400" dirty="0">
                <a:effectLst/>
              </a:rPr>
              <a:t>Blockchain for data security</a:t>
            </a:r>
          </a:p>
          <a:p>
            <a:pPr lvl="1">
              <a:defRPr sz="1800"/>
            </a:pPr>
            <a:r>
              <a:rPr lang="en-US" sz="2000" dirty="0"/>
              <a:t>E</a:t>
            </a:r>
            <a:r>
              <a:rPr lang="en-US" sz="2000" dirty="0">
                <a:effectLst/>
              </a:rPr>
              <a:t>nhancing data privacy and security in SMA</a:t>
            </a:r>
          </a:p>
          <a:p>
            <a:pPr lvl="1">
              <a:defRPr sz="1800"/>
            </a:pPr>
            <a:r>
              <a:rPr lang="en-US" sz="2000" dirty="0">
                <a:effectLst/>
              </a:rPr>
              <a:t>Ensuring ethical data collection and compliance with regulations</a:t>
            </a:r>
          </a:p>
          <a:p>
            <a:pPr lvl="1">
              <a:defRPr sz="1800"/>
            </a:pPr>
            <a:r>
              <a:rPr lang="en-US" sz="2000" dirty="0">
                <a:effectLst/>
              </a:rPr>
              <a:t>Addressing growing user concerns about data protection</a:t>
            </a:r>
          </a:p>
          <a:p>
            <a:pPr>
              <a:defRPr sz="1800"/>
            </a:pPr>
            <a:r>
              <a:rPr lang="en-US" sz="2400" dirty="0"/>
              <a:t>Video analytics</a:t>
            </a:r>
          </a:p>
          <a:p>
            <a:pPr lvl="1">
              <a:defRPr sz="1800"/>
            </a:pPr>
            <a:r>
              <a:rPr lang="en-US" sz="2000" dirty="0">
                <a:effectLst/>
              </a:rPr>
              <a:t>Provides deeper insights into performance metrics, including engagement, watch time, and audience retention</a:t>
            </a:r>
          </a:p>
          <a:p>
            <a:pPr>
              <a:defRPr sz="1800"/>
            </a:pPr>
            <a:r>
              <a:rPr lang="en-US" sz="2400" dirty="0"/>
              <a:t>Real-time analytics</a:t>
            </a:r>
          </a:p>
          <a:p>
            <a:pPr lvl="1">
              <a:defRPr sz="1800"/>
            </a:pPr>
            <a:r>
              <a:rPr lang="en-US" sz="2000" dirty="0">
                <a:effectLst/>
              </a:rPr>
              <a:t>Responds swiftly to trends or crises; enables proactive strategies</a:t>
            </a:r>
          </a:p>
          <a:p>
            <a:pPr lvl="1">
              <a:defRPr sz="1800"/>
            </a:pPr>
            <a:endParaRPr lang="en-US" sz="2000" dirty="0">
              <a:effectLst/>
            </a:endParaRPr>
          </a:p>
          <a:p>
            <a:pPr lvl="1">
              <a:defRPr sz="1800"/>
            </a:pPr>
            <a:endParaRPr lang="en-US" sz="2000" dirty="0">
              <a:effectLst/>
            </a:endParaRPr>
          </a:p>
          <a:p>
            <a:pPr marL="0" indent="0">
              <a:buNone/>
              <a:defRPr sz="1800"/>
            </a:pPr>
            <a:endParaRPr lang="en-US" sz="2400" dirty="0">
              <a:effectLst/>
            </a:endParaRPr>
          </a:p>
          <a:p>
            <a:pPr lvl="1">
              <a:defRPr sz="1800"/>
            </a:pPr>
            <a:endParaRPr sz="2000" dirty="0"/>
          </a:p>
        </p:txBody>
      </p:sp>
      <p:pic>
        <p:nvPicPr>
          <p:cNvPr id="11266" name="Picture 2" descr="ParkerGale Invests in Workload Automation Software Company, SMA Technologies  — ParkerGale">
            <a:extLst>
              <a:ext uri="{FF2B5EF4-FFF2-40B4-BE49-F238E27FC236}">
                <a16:creationId xmlns:a16="http://schemas.microsoft.com/office/drawing/2014/main" id="{CFF46CC0-3422-F8AE-B791-D41101990F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1871" y="727364"/>
            <a:ext cx="3340831" cy="2205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012267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AE518-AA8D-6CAE-3C7C-D9EBDAEC7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C1A1B-AFF1-B083-C3A2-AE7888D2E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Getting prepared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F8F56-36AE-8C84-0CB5-44038DDC03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dirty="0"/>
              <a:t>Setup Python programming environment</a:t>
            </a:r>
          </a:p>
          <a:p>
            <a:pPr lvl="1"/>
            <a:r>
              <a:rPr lang="en-HK" dirty="0"/>
              <a:t>Install Python</a:t>
            </a:r>
          </a:p>
          <a:p>
            <a:pPr lvl="1"/>
            <a:r>
              <a:rPr lang="en-HK" dirty="0"/>
              <a:t>Install </a:t>
            </a:r>
            <a:r>
              <a:rPr lang="en-HK" dirty="0" err="1"/>
              <a:t>Jupyter</a:t>
            </a:r>
            <a:r>
              <a:rPr lang="en-HK" dirty="0"/>
              <a:t> Notebook for interactive coding</a:t>
            </a:r>
          </a:p>
          <a:p>
            <a:pPr lvl="1"/>
            <a:r>
              <a:rPr lang="en-HK" dirty="0"/>
              <a:t>Install libraries: </a:t>
            </a:r>
            <a:r>
              <a:rPr lang="en-HK" dirty="0" err="1"/>
              <a:t>numpy</a:t>
            </a:r>
            <a:r>
              <a:rPr lang="en-HK" dirty="0"/>
              <a:t>, pandas, matplotlib, etc.</a:t>
            </a:r>
          </a:p>
          <a:p>
            <a:r>
              <a:rPr lang="en-HK" dirty="0"/>
              <a:t>Practice</a:t>
            </a:r>
            <a:r>
              <a:rPr lang="zh-CN" altLang="en-US" dirty="0"/>
              <a:t> </a:t>
            </a:r>
            <a:r>
              <a:rPr lang="en-US" altLang="zh-CN" dirty="0"/>
              <a:t>time</a:t>
            </a:r>
          </a:p>
          <a:p>
            <a:pPr lvl="1"/>
            <a:r>
              <a:rPr lang="en-US" dirty="0"/>
              <a:t>Follow steps to setup computing tools</a:t>
            </a:r>
          </a:p>
          <a:p>
            <a:pPr lvl="1"/>
            <a:r>
              <a:rPr lang="en-US" dirty="0"/>
              <a:t>Consider using virtual environments</a:t>
            </a:r>
          </a:p>
          <a:p>
            <a:pPr lvl="1"/>
            <a:r>
              <a:rPr lang="en-US" dirty="0"/>
              <a:t>Ask questions to resolve issues now</a:t>
            </a:r>
          </a:p>
        </p:txBody>
      </p:sp>
    </p:spTree>
    <p:extLst>
      <p:ext uri="{BB962C8B-B14F-4D97-AF65-F5344CB8AC3E}">
        <p14:creationId xmlns:p14="http://schemas.microsoft.com/office/powerpoint/2010/main" val="41988774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zhang" id="{16B57925-4BF1-1F47-9CC9-F9B8FF84AD2B}" vid="{9FDA24BC-AEBA-8448-BDDE-8ACFED39388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8028</TotalTime>
  <Words>4238</Words>
  <Application>Microsoft Macintosh PowerPoint</Application>
  <PresentationFormat>On-screen Show (4:3)</PresentationFormat>
  <Paragraphs>599</Paragraphs>
  <Slides>56</Slides>
  <Notes>47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5" baseType="lpstr">
      <vt:lpstr>Adobe Garamond Pro</vt:lpstr>
      <vt:lpstr>Google Sans</vt:lpstr>
      <vt:lpstr>LM Sans 12</vt:lpstr>
      <vt:lpstr>STSong</vt:lpstr>
      <vt:lpstr>Abadi MT Condensed Extra Bold</vt:lpstr>
      <vt:lpstr>Abadi MT Condensed Light</vt:lpstr>
      <vt:lpstr>Arial</vt:lpstr>
      <vt:lpstr>Calibri</vt:lpstr>
      <vt:lpstr>Office Theme</vt:lpstr>
      <vt:lpstr>DSC3013 Intro. to Social Media Analytics (Lec. 1)</vt:lpstr>
      <vt:lpstr>Hao PENG (彭浩)</vt:lpstr>
      <vt:lpstr>About this course</vt:lpstr>
      <vt:lpstr>Key topics</vt:lpstr>
      <vt:lpstr>Tutorials (in-class)</vt:lpstr>
      <vt:lpstr>Difference with DSC 2005</vt:lpstr>
      <vt:lpstr>Grading</vt:lpstr>
      <vt:lpstr>Paper presentation (teamwork)</vt:lpstr>
      <vt:lpstr>Group project (teamwork)</vt:lpstr>
      <vt:lpstr>Suggested books</vt:lpstr>
      <vt:lpstr>Late Policy</vt:lpstr>
      <vt:lpstr>Original work policy</vt:lpstr>
      <vt:lpstr>Questions about class logistics?</vt:lpstr>
      <vt:lpstr>Agenda for today</vt:lpstr>
      <vt:lpstr>What is Social Media Analytics (SMA)?</vt:lpstr>
      <vt:lpstr>Primer (why does it matter?)</vt:lpstr>
      <vt:lpstr>The evolution of the Internet </vt:lpstr>
      <vt:lpstr>The evolution of WWW </vt:lpstr>
      <vt:lpstr>Understanding social media</vt:lpstr>
      <vt:lpstr>History of social media</vt:lpstr>
      <vt:lpstr>Characteristics of social media</vt:lpstr>
      <vt:lpstr>Major social media platforms</vt:lpstr>
      <vt:lpstr>Types of social media platforms</vt:lpstr>
      <vt:lpstr>Social networking sites</vt:lpstr>
      <vt:lpstr>Social networking sites</vt:lpstr>
      <vt:lpstr>Social networking sites</vt:lpstr>
      <vt:lpstr>Media sharing sites</vt:lpstr>
      <vt:lpstr>One paper from Week 2</vt:lpstr>
      <vt:lpstr>Content communities</vt:lpstr>
      <vt:lpstr>Online collaborative platforms</vt:lpstr>
      <vt:lpstr>Why should we study SMA?</vt:lpstr>
      <vt:lpstr>SMA in business and economics</vt:lpstr>
      <vt:lpstr>Business applications</vt:lpstr>
      <vt:lpstr>SMA in politics / policy</vt:lpstr>
      <vt:lpstr>BLM OSM predicts offline events</vt:lpstr>
      <vt:lpstr>BLM OSM predicts offline events</vt:lpstr>
      <vt:lpstr>BLM OSM analysis</vt:lpstr>
      <vt:lpstr>BLM OSM analysis</vt:lpstr>
      <vt:lpstr>SMA in public health</vt:lpstr>
      <vt:lpstr>Predict demographic identities</vt:lpstr>
      <vt:lpstr>Our key topics change as we grow up</vt:lpstr>
      <vt:lpstr>We become more positive as we age</vt:lpstr>
      <vt:lpstr>The power of language in predicting demographic and psychological traits</vt:lpstr>
      <vt:lpstr>Predict mental health &amp; psychology</vt:lpstr>
      <vt:lpstr>Detect earthquake using Twitter</vt:lpstr>
      <vt:lpstr>Detecting earthquake</vt:lpstr>
      <vt:lpstr>Detecting earthquake</vt:lpstr>
      <vt:lpstr>Detecting earthquake</vt:lpstr>
      <vt:lpstr>SMA for social media industry</vt:lpstr>
      <vt:lpstr>PowerPoint Presentation</vt:lpstr>
      <vt:lpstr>Bot detection (main goal of SM sites)</vt:lpstr>
      <vt:lpstr>Spread of misinformation</vt:lpstr>
      <vt:lpstr>Spread of misinformation</vt:lpstr>
      <vt:lpstr>PowerPoint Presentation</vt:lpstr>
      <vt:lpstr>Emerging technologies</vt:lpstr>
      <vt:lpstr>Getting prepared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SEEM4112 Computing Methods in Data Analytics 1. Introduction</dc:title>
  <dc:creator>Q Z</dc:creator>
  <cp:lastModifiedBy>Hao PENG</cp:lastModifiedBy>
  <cp:revision>220</cp:revision>
  <dcterms:created xsi:type="dcterms:W3CDTF">2019-01-16T16:49:18Z</dcterms:created>
  <dcterms:modified xsi:type="dcterms:W3CDTF">2026-08-31T14:24:27Z</dcterms:modified>
</cp:coreProperties>
</file>